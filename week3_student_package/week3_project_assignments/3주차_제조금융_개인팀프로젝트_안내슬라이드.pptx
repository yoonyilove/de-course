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3544e4e47c44ce" /><Relationship Type="http://schemas.openxmlformats.org/officeDocument/2006/relationships/extended-properties" Target="/docProps/app.xml" Id="Rd98fc21ff6e34fc9" /><Relationship Type="http://schemas.openxmlformats.org/officeDocument/2006/relationships/officeDocument" Target="/ppt/presentation.xml" Id="R153f247be61e4c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eece100d584482"/>
  </p:sldMasterIdLst>
  <p:notesMasterIdLst>
    <p:notesMasterId xmlns:r="http://schemas.openxmlformats.org/officeDocument/2006/relationships" r:id="R58d824d7f8ce4038"/>
  </p:notesMasterIdLst>
  <p:sldIdLst>
    <p:sldId xmlns:r="http://schemas.openxmlformats.org/officeDocument/2006/relationships" id="256" r:id="R8e5f9e142cd34a7b"/>
    <p:sldId xmlns:r="http://schemas.openxmlformats.org/officeDocument/2006/relationships" id="257" r:id="Rc679d9ef6c46460f"/>
    <p:sldId xmlns:r="http://schemas.openxmlformats.org/officeDocument/2006/relationships" id="258" r:id="R9674e8945e194626"/>
    <p:sldId xmlns:r="http://schemas.openxmlformats.org/officeDocument/2006/relationships" id="259" r:id="R20cc9541a21e407b"/>
    <p:sldId xmlns:r="http://schemas.openxmlformats.org/officeDocument/2006/relationships" id="260" r:id="R09712c3dd4124e0c"/>
    <p:sldId xmlns:r="http://schemas.openxmlformats.org/officeDocument/2006/relationships" id="261" r:id="Rbb16f0115f324882"/>
    <p:sldId xmlns:r="http://schemas.openxmlformats.org/officeDocument/2006/relationships" id="262" r:id="R07b809231207476c"/>
    <p:sldId xmlns:r="http://schemas.openxmlformats.org/officeDocument/2006/relationships" id="263" r:id="R1d11a912971a4d28"/>
    <p:sldId xmlns:r="http://schemas.openxmlformats.org/officeDocument/2006/relationships" id="264" r:id="Raf841fc005a54d55"/>
    <p:sldId xmlns:r="http://schemas.openxmlformats.org/officeDocument/2006/relationships" id="265" r:id="Rd2a421b7ec804dda"/>
    <p:sldId xmlns:r="http://schemas.openxmlformats.org/officeDocument/2006/relationships" id="266" r:id="R7e31d196671d466c"/>
    <p:sldId xmlns:r="http://schemas.openxmlformats.org/officeDocument/2006/relationships" id="267" r:id="R1a8f8fdbb8414910"/>
    <p:sldId xmlns:r="http://schemas.openxmlformats.org/officeDocument/2006/relationships" id="268" r:id="Reae3c3fae8a8483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d89c2ca25c4e5b" /><Relationship Type="http://schemas.openxmlformats.org/officeDocument/2006/relationships/slideMaster" Target="/ppt/slideMasters/slideMaster1.xml" Id="R32eece100d584482" /><Relationship Type="http://schemas.openxmlformats.org/officeDocument/2006/relationships/notesMaster" Target="/ppt/notesMasters/notesMaster1.xml" Id="R58d824d7f8ce4038" /><Relationship Type="http://schemas.openxmlformats.org/officeDocument/2006/relationships/presProps" Target="/ppt/presProps.xml" Id="Rd5b0078d96cd468a" /><Relationship Type="http://schemas.openxmlformats.org/officeDocument/2006/relationships/tableStyles" Target="/ppt/tableStyles.xml" Id="Rb2a3285e415444f0" /><Relationship Type="http://schemas.openxmlformats.org/officeDocument/2006/relationships/slide" Target="/ppt/slides/slide1.xml" Id="R8e5f9e142cd34a7b" /><Relationship Type="http://schemas.openxmlformats.org/officeDocument/2006/relationships/slide" Target="/ppt/slides/slide2.xml" Id="Rc679d9ef6c46460f" /><Relationship Type="http://schemas.openxmlformats.org/officeDocument/2006/relationships/slide" Target="/ppt/slides/slide3.xml" Id="R9674e8945e194626" /><Relationship Type="http://schemas.openxmlformats.org/officeDocument/2006/relationships/slide" Target="/ppt/slides/slide4.xml" Id="R20cc9541a21e407b" /><Relationship Type="http://schemas.openxmlformats.org/officeDocument/2006/relationships/slide" Target="/ppt/slides/slide5.xml" Id="R09712c3dd4124e0c" /><Relationship Type="http://schemas.openxmlformats.org/officeDocument/2006/relationships/slide" Target="/ppt/slides/slide6.xml" Id="Rbb16f0115f324882" /><Relationship Type="http://schemas.openxmlformats.org/officeDocument/2006/relationships/slide" Target="/ppt/slides/slide7.xml" Id="R07b809231207476c" /><Relationship Type="http://schemas.openxmlformats.org/officeDocument/2006/relationships/slide" Target="/ppt/slides/slide8.xml" Id="R1d11a912971a4d28" /><Relationship Type="http://schemas.openxmlformats.org/officeDocument/2006/relationships/slide" Target="/ppt/slides/slide9.xml" Id="Raf841fc005a54d55" /><Relationship Type="http://schemas.openxmlformats.org/officeDocument/2006/relationships/slide" Target="/ppt/slides/slide10.xml" Id="Rd2a421b7ec804dda" /><Relationship Type="http://schemas.openxmlformats.org/officeDocument/2006/relationships/slide" Target="/ppt/slides/slide11.xml" Id="R7e31d196671d466c" /><Relationship Type="http://schemas.openxmlformats.org/officeDocument/2006/relationships/slide" Target="/ppt/slides/slide12.xml" Id="R1a8f8fdbb8414910" /><Relationship Type="http://schemas.openxmlformats.org/officeDocument/2006/relationships/slide" Target="/ppt/slides/slide13.xml" Id="Reae3c3fae8a848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269299040f4b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1456c65bd14021" /><Relationship Type="http://schemas.openxmlformats.org/officeDocument/2006/relationships/notesMaster" Target="/ppt/notesMasters/notesMaster1.xml" Id="R3e45e9316dd149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5830f4df71e4580" /><Relationship Type="http://schemas.openxmlformats.org/officeDocument/2006/relationships/notesMaster" Target="/ppt/notesMasters/notesMaster1.xml" Id="R013e52d0534144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f4ddc27f2c4600" /><Relationship Type="http://schemas.openxmlformats.org/officeDocument/2006/relationships/notesMaster" Target="/ppt/notesMasters/notesMaster1.xml" Id="R4eda6e5b0e7c451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2027934f4e744eb" /><Relationship Type="http://schemas.openxmlformats.org/officeDocument/2006/relationships/notesMaster" Target="/ppt/notesMasters/notesMaster1.xml" Id="Rc1813529cc9c4b3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db3352662f44347" /><Relationship Type="http://schemas.openxmlformats.org/officeDocument/2006/relationships/notesMaster" Target="/ppt/notesMasters/notesMaster1.xml" Id="R9a649f31e13c4ea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4b8898fa2314e8d" /><Relationship Type="http://schemas.openxmlformats.org/officeDocument/2006/relationships/notesMaster" Target="/ppt/notesMasters/notesMaster1.xml" Id="R8235275f7c7b423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344067859534747" /><Relationship Type="http://schemas.openxmlformats.org/officeDocument/2006/relationships/notesMaster" Target="/ppt/notesMasters/notesMaster1.xml" Id="R21ced514c692429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6367813b0ea419e" /><Relationship Type="http://schemas.openxmlformats.org/officeDocument/2006/relationships/notesMaster" Target="/ppt/notesMasters/notesMaster1.xml" Id="Rb2147986c2eb415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22d35177e384a9c" /><Relationship Type="http://schemas.openxmlformats.org/officeDocument/2006/relationships/notesMaster" Target="/ppt/notesMasters/notesMaster1.xml" Id="R2996030e64c4467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9e7cc998b59416c" /><Relationship Type="http://schemas.openxmlformats.org/officeDocument/2006/relationships/notesMaster" Target="/ppt/notesMasters/notesMaster1.xml" Id="Rdf3dbb077ca64f7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fb2a98eac82493c" /><Relationship Type="http://schemas.openxmlformats.org/officeDocument/2006/relationships/notesMaster" Target="/ppt/notesMasters/notesMaster1.xml" Id="R5e83ec2d4957445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a93b0a02fa54434" /><Relationship Type="http://schemas.openxmlformats.org/officeDocument/2006/relationships/notesMaster" Target="/ppt/notesMasters/notesMaster1.xml" Id="R1fa86aaed1f140d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3ec9be7a4354e48" /><Relationship Type="http://schemas.openxmlformats.org/officeDocument/2006/relationships/notesMaster" Target="/ppt/notesMasters/notesMaster1.xml" Id="R6fbd1fe2b8924e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[이 장의 목표]</a:t>
            </a:r>
          </a:p>
          <a:p xmlns:a="http://schemas.openxmlformats.org/drawingml/2006/main">
            <a:r>
              <a:t>3주차 프로젝트가 1·2주차와 별개의 새 과제가 아니라는 점을 설명합니다.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[강사가 먼저 이해할 내용]</a:t>
            </a:r>
          </a:p>
          <a:p xmlns:a="http://schemas.openxmlformats.org/drawingml/2006/main">
            <a:r>
              <a:t>학생은 2주차에서 만든 요약 CSV와 전처리기를 다시 사용합니다. 3주차에는 같은 데이터를 SQLite에 저장하고, API로 제공하고, Streamlit 화면에서 필터링합니다.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[학생에게 그대로 설명할 문장]</a:t>
            </a:r>
          </a:p>
          <a:p xmlns:a="http://schemas.openxmlformats.org/drawingml/2006/main">
            <a:r>
              <a:t>“이번 프로젝트에서는 새 데이터를 처음부터 만드는 대신, 앞에서 만든 결과가 실제로 어디에 쓰이는지 끝까지 연결합니다. 제조를 골랐던 사람은 제조를, 금융을 골랐던 사람은 금융을 이어 갑니다.”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[학생에게 물을 질문]</a:t>
            </a:r>
          </a:p>
          <a:p xmlns:a="http://schemas.openxmlformats.org/drawingml/2006/main">
            <a:r>
              <a:t>“2주차 결과 중 데이터 자체를 담은 파일과 처리 규칙을 담은 파일은 각각 무엇이었나요?”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[기대 답]</a:t>
            </a:r>
          </a:p>
          <a:p xmlns:a="http://schemas.openxmlformats.org/drawingml/2006/main">
            <a:r>
              <a:t>요약 CSV와 preprocessor.joblib입니다.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[이 장의 목표]</a:t>
            </a:r>
          </a:p>
          <a:p xmlns:a="http://schemas.openxmlformats.org/drawingml/2006/main">
            <a:r>
              <a:t>2주차와 3주차의 차이를 구분합니다.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[쉽게 설명]</a:t>
            </a:r>
          </a:p>
          <a:p xmlns:a="http://schemas.openxmlformats.org/drawingml/2006/main">
            <a:r>
              <a:t>2주차는 반복 로그를 한 대상당 한 행으로 줄여 쓸 수 있는 입력을 만드는 단계였습니다. 3주차는 그 입력을 여러 프로그램이 함께 사용하도록 저장하고 제공하는 단계입니다.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[학생에게 물을 질문]</a:t>
            </a:r>
          </a:p>
          <a:p xmlns:a="http://schemas.openxmlformats.org/drawingml/2006/main">
            <a:r>
              <a:t>“요약 CSV를 만들었다면 프로젝트가 끝난 걸까요?”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[기대 답]</a:t>
            </a:r>
          </a:p>
          <a:p xmlns:a="http://schemas.openxmlformats.org/drawingml/2006/main">
            <a:r>
              <a:t>아닙니다. 다시 조회할 저장소, 데이터를 요청할 API, 사람이 볼 화면과 해석이 더 필요합니다.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[이 장의 목표]</a:t>
            </a:r>
          </a:p>
          <a:p xmlns:a="http://schemas.openxmlformats.org/drawingml/2006/main">
            <a:r>
              <a:t>CSV에서 화면까지 데이터가 이동하는 순서를 한 번에 보여 줍니다.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[자료구조]</a:t>
            </a:r>
          </a:p>
          <a:p xmlns:a="http://schemas.openxmlformats.org/drawingml/2006/main">
            <a:r>
              <a:t>시작 CSV를 읽으면 DataFrame이 됩니다. 전처리 결과와 PCA 좌표는 NumPy 배열로 만들어졌다가 DataFrame의 새 열에 들어갑니다. SQLite에는 테이블로 저장되고, FastAPI는 list 안에 dict가 들어 있는 JSON 모양으로 보냅니다. Streamlit은 그 응답을 다시 DataFrame으로 만듭니다.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[학생에게 물을 질문]</a:t>
            </a:r>
          </a:p>
          <a:p xmlns:a="http://schemas.openxmlformats.org/drawingml/2006/main">
            <a:r>
              <a:t>“이 흐름에서 한 행이 계속 같은 대상을 뜻하게 해 주는 열은 무엇인가요?”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[기대 답]</a:t>
            </a:r>
          </a:p>
          <a:p xmlns:a="http://schemas.openxmlformats.org/drawingml/2006/main">
            <a:r>
              <a:t>제조는 equipment_id, 금융은 merchant_id입니다.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[이 장의 목표]</a:t>
            </a:r>
          </a:p>
          <a:p xmlns:a="http://schemas.openxmlformats.org/drawingml/2006/main">
            <a:r>
              <a:t>낯선 영어 열 이름을 처리 역할로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[표 읽는 법]</a:t>
            </a:r>
          </a:p>
          <a:p xmlns:a="http://schemas.openxmlformats.org/drawingml/2006/main">
            <a:r>
              <a:t>가로로 한 줄씩 읽습니다. 예를 들어 제조의 alarm_count와 금융의 risk_signal_total은 업무 뜻은 다르지만, 둘 다 최근 30일 동안 발생한 확인 신호의 횟수로 집단별 평균을 비교할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[주의]</a:t>
            </a:r>
          </a:p>
          <a:p xmlns:a="http://schemas.openxmlformats.org/drawingml/2006/main">
            <a:r>
              <a:t>quality_pass_rate와 approval_rate는 0에서 1 사이의 비율입니다. 0.96은 96%로 읽습니다. 두 교육용 상태 열은 실제 판단을 대신하지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[학생에게 물을 질문]</a:t>
            </a:r>
          </a:p>
          <a:p xmlns:a="http://schemas.openxmlformats.org/drawingml/2006/main">
            <a:r>
              <a:t>“제조와 금융 모두 SQL에서 240행을 확인해야 하는 이유는 무엇인가요?”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[기대 답]</a:t>
            </a:r>
          </a:p>
          <a:p xmlns:a="http://schemas.openxmlformats.org/drawingml/2006/main">
            <a:r>
              <a:t>프로젝트 시작 대상 240개가 저장 과정에서 빠지거나 늘지 않았는지 확인하기 위해서입니다.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[이 장의 목표]</a:t>
            </a:r>
          </a:p>
          <a:p xmlns:a="http://schemas.openxmlformats.org/drawingml/2006/main">
            <a:r>
              <a:t>학생에게 처음 줄 파일과 나중에 공개할 정답을 구분합니다.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[배포 방법]</a:t>
            </a:r>
          </a:p>
          <a:p xmlns:a="http://schemas.openxmlformats.org/drawingml/2006/main">
            <a:r>
              <a:t>학생이 선택한 도메인 폴더를 통째로 압축합니다. 처음 배포본에서는 정답 노트북과 두 answer.py 파일을 제외합니다. data와 artifacts 폴더는 반드시 포함합니다.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[학생에게 그대로 설명할 문장]</a:t>
            </a:r>
          </a:p>
          <a:p xmlns:a="http://schemas.openxmlformats.org/drawingml/2006/main">
            <a:r>
              <a:t>“빈칸 노트북에서 막히더라도 시작 데이터와 전처리기가 없어서 막히는 일은 없도록 기준본을 함께 드립니다. 정답 파일은 제출 뒤 복습할 때 공개합니다.”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[이 장의 목표]</a:t>
            </a:r>
          </a:p>
          <a:p xmlns:a="http://schemas.openxmlformats.org/drawingml/2006/main">
            <a:r>
              <a:t>Q1부터 Q7이 각각 무엇을 만드는지 먼저 알려 줍니다.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[학생 행동]</a:t>
            </a:r>
          </a:p>
          <a:p xmlns:a="http://schemas.openxmlformats.org/drawingml/2006/main">
            <a:r>
              <a:t>Q1~Q5는 노트북에서 실행합니다. Q6은 숫자를 근거로 세 문장을 씁니다. Q7은 Python 파일 두 개의 빈칸을 채우고 터미널 두 개에서 실행합니다.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[학생에게 물을 질문]</a:t>
            </a:r>
          </a:p>
          <a:p xmlns:a="http://schemas.openxmlformats.org/drawingml/2006/main">
            <a:r>
              <a:t>“API와 Streamlit을 실행하기 전에 반드시 만들어야 할 파일은 무엇인가요?”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[기대 답]</a:t>
            </a:r>
          </a:p>
          <a:p xmlns:a="http://schemas.openxmlformats.org/drawingml/2006/main">
            <a:r>
              <a:t>노트북 Q5가 저장하는 dashboard_ready.csv입니다.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[이 장의 목표]</a:t>
            </a:r>
          </a:p>
          <a:p xmlns:a="http://schemas.openxmlformats.org/drawingml/2006/main">
            <a:r>
              <a:t>제조 프로젝트의 업무 질문을 분명하게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[설명]</a:t>
            </a:r>
          </a:p>
          <a:p xmlns:a="http://schemas.openxmlformats.org/drawingml/2006/main">
            <a:r>
              <a:t>PCA의 점이 오른쪽에 있다는 사실만으로 정비 우선순위를 정하지 않습니다. 공장별 평균 알람 수, 품질 통과율, 교육용 상태 라벨과 함께 보면서 추가 확인 대상을 고릅니다.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[학생에게 물을 질문]</a:t>
            </a:r>
          </a:p>
          <a:p xmlns:a="http://schemas.openxmlformats.org/drawingml/2006/main">
            <a:r>
              <a:t>“알람 수가 많다는 사실만으로 고장이라고 말할 수 있을까요?”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[기대 답]</a:t>
            </a:r>
          </a:p>
          <a:p xmlns:a="http://schemas.openxmlformats.org/drawingml/2006/main">
            <a:r>
              <a:t>아닙니다. 센서와 운영 조건을 더 확인해야 하며 이 데이터는 교육용 합성 데이터입니다.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[이 장의 목표]</a:t>
            </a:r>
          </a:p>
          <a:p xmlns:a="http://schemas.openxmlformats.org/drawingml/2006/main">
            <a:r>
              <a:t>제조 학생이 제출할 파일과 화면을 구체적으로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[파일의 역할]</a:t>
            </a:r>
          </a:p>
          <a:p xmlns:a="http://schemas.openxmlformats.org/drawingml/2006/main">
            <a:r>
              <a:t>DB는 저장 결과, PNG는 분석 그림, dashboard_ready.csv는 API와 화면의 공통 입력입니다. API는 이 CSV를 JSON으로 보내고 Streamlit은 그 JSON을 DataFrame으로 읽습니다.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[오류가 나면]</a:t>
            </a:r>
          </a:p>
          <a:p xmlns:a="http://schemas.openxmlformats.org/drawingml/2006/main">
            <a:r>
              <a:t>API 실행 때 dashboard_ready.csv가 없다는 오류가 나오면 노트북 Q5를 먼저 실행합니다.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[이 장의 목표]</a:t>
            </a:r>
          </a:p>
          <a:p xmlns:a="http://schemas.openxmlformats.org/drawingml/2006/main">
            <a:r>
              <a:t>금융 프로젝트의 업무 질문을 분명하게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[설명]</a:t>
            </a:r>
          </a:p>
          <a:p xmlns:a="http://schemas.openxmlformats.org/drawingml/2006/main">
            <a:r>
              <a:t>위험 신호 수와 승인율은 확인 순서를 정하기 위한 운영 지표입니다. 실제 신용 판단이나 제재 결정으로 해석하지 않습니다. 업종별 평균을 비교한 뒤 개별 가맹점 표로 내려가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[학생에게 물을 질문]</a:t>
            </a:r>
          </a:p>
          <a:p xmlns:a="http://schemas.openxmlformats.org/drawingml/2006/main">
            <a:r>
              <a:t>“업종 평균이 높다는 이유만으로 해당 업종의 모든 가맹점을 같은 상태로 볼 수 있을까요?”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[기대 답]</a:t>
            </a:r>
          </a:p>
          <a:p xmlns:a="http://schemas.openxmlformats.org/drawingml/2006/main">
            <a:r>
              <a:t>아닙니다. 평균은 집단의 경향이며 개별 행을 함께 확인해야 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[이 장의 목표]</a:t>
            </a:r>
          </a:p>
          <a:p xmlns:a="http://schemas.openxmlformats.org/drawingml/2006/main">
            <a:r>
              <a:t>금융 학생이 제출할 파일과 화면을 구체적으로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[연결]</a:t>
            </a:r>
          </a:p>
          <a:p xmlns:a="http://schemas.openxmlformats.org/drawingml/2006/main">
            <a:r>
              <a:t>SQLite 테이블과 dashboard_ready.csv의 한 행은 모두 가맹점 한 곳입니다. API /items는 여러 행을 list[dict] 형태로 보내며 Streamlit은 이를 표와 그래프로 보여 줍니다.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[오류가 나면]</a:t>
            </a:r>
          </a:p>
          <a:p xmlns:a="http://schemas.openxmlformats.org/drawingml/2006/main">
            <a:r>
              <a:t>API는 되지만 화면이 비어 있으면 Streamlit 필터에서 업종을 모두 해제하지 않았는지 확인합니다.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[이 장의 목표]</a:t>
            </a:r>
          </a:p>
          <a:p xmlns:a="http://schemas.openxmlformats.org/drawingml/2006/main">
            <a:r>
              <a:t>터미널 두 개가 필요한 이유를 프로그램의 실행 상태로 설명합니다.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[쉽게 설명]</a:t>
            </a:r>
          </a:p>
          <a:p xmlns:a="http://schemas.openxmlformats.org/drawingml/2006/main">
            <a:r>
              <a:t>Uvicorn을 실행하면 명령이 끝나고 프롬프트가 돌아오는 것이 아니라 요청을 기다립니다. Streamlit도 같은 방식으로 화면 요청을 기다립니다. 그래서 하나를 끄지 않고 다른 하나를 실행하려면 터미널이 두 개 필요합니다.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[학생에게 물을 질문]</a:t>
            </a:r>
          </a:p>
          <a:p xmlns:a="http://schemas.openxmlformats.org/drawingml/2006/main">
            <a:r>
              <a:t>“터미널 1을 닫으면 Streamlit은 어떻게 될까요?”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[기대 답]</a:t>
            </a:r>
          </a:p>
          <a:p xmlns:a="http://schemas.openxmlformats.org/drawingml/2006/main">
            <a:r>
              <a:t>Streamlit 자체는 켜져 있어도 API 요청이 실패해 대체 CSV를 사용하거나 오류 메시지를 보여 줍니다.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[이 장의 목표]</a:t>
            </a:r>
          </a:p>
          <a:p xmlns:a="http://schemas.openxmlformats.org/drawingml/2006/main">
            <a:r>
              <a:t>제출 전 확인을 파일·숫자·실행·설명의 네 종류로 묶습니다.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[자동 확인]</a:t>
            </a:r>
          </a:p>
          <a:p xmlns:a="http://schemas.openxmlformats.org/drawingml/2006/main">
            <a:r>
              <a:t>노트북의 assert는 행 수와 파일 존재를 확인합니다. 하지만 인사이트가 타당한지는 사람이 읽어야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[학생에게 물을 질문]</a:t>
            </a:r>
          </a:p>
          <a:p xmlns:a="http://schemas.openxmlformats.org/drawingml/2006/main">
            <a:r>
              <a:t>“화면이 예쁘게 열렸다면 데이터도 반드시 맞다고 볼 수 있을까요?”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[기대 답]</a:t>
            </a:r>
          </a:p>
          <a:p xmlns:a="http://schemas.openxmlformats.org/drawingml/2006/main">
            <a:r>
              <a:t>아닙니다. 240행, ID 고유성, DB COUNT, 필터 결과를 따로 확인해야 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[이 장의 목표]</a:t>
            </a:r>
          </a:p>
          <a:p xmlns:a="http://schemas.openxmlformats.org/drawingml/2006/main">
            <a:r>
              <a:t>평가가 코드 타이핑 속도가 아니라 연결과 설명에 있음을 분명히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[평가 기준]</a:t>
            </a:r>
          </a:p>
          <a:p xmlns:a="http://schemas.openxmlformats.org/drawingml/2006/main">
            <a:r>
              <a:t>데이터 검증, 전처리 재사용, DB, EDA가 60점입니다. API와 Streamlit, 재현성이 40점입니다. 팀은 역할을 나눌 수 있지만 각 팀원이 전체 흐름을 설명해야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[학생에게 그대로 설명할 문장]</a:t>
            </a:r>
          </a:p>
          <a:p xmlns:a="http://schemas.openxmlformats.org/drawingml/2006/main">
            <a:r>
              <a:t>“길고 복잡한 코드를 새로 쓰는 것보다, 앞 단계에서 만든 데이터를 다음 단계가 정확히 이어받게 만드는 것이 이번 프로젝트의 핵심입니다.”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1fa14db8a4424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8e0d8e211bc4e50" /><Relationship Type="http://schemas.openxmlformats.org/officeDocument/2006/relationships/slideLayout" Target="/ppt/slideLayouts/slideLayout1.xml" Id="R1419de0e037a47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19de0e037a47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47b7badc2d44d8" /><Relationship Type="http://schemas.openxmlformats.org/officeDocument/2006/relationships/notesSlide" Target="/ppt/notesSlides/notesSlide1.xml" Id="Rccc278c2ca8a4f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92fed39c26468d" /><Relationship Type="http://schemas.openxmlformats.org/officeDocument/2006/relationships/notesSlide" Target="/ppt/notesSlides/notesSlide2.xml" Id="R6ef5148cc269463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8e7c24d13644d0" /><Relationship Type="http://schemas.openxmlformats.org/officeDocument/2006/relationships/notesSlide" Target="/ppt/notesSlides/notesSlide3.xml" Id="R8bb95d9b8c17433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5679cbafc941d9" /><Relationship Type="http://schemas.openxmlformats.org/officeDocument/2006/relationships/notesSlide" Target="/ppt/notesSlides/notesSlide4.xml" Id="R341471af078b4cb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1fb02a47a94dcf" /><Relationship Type="http://schemas.openxmlformats.org/officeDocument/2006/relationships/notesSlide" Target="/ppt/notesSlides/notesSlide5.xml" Id="R899daa7052e6425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e6d063f0574f26" /><Relationship Type="http://schemas.openxmlformats.org/officeDocument/2006/relationships/notesSlide" Target="/ppt/notesSlides/notesSlide6.xml" Id="Rbc7405d55350473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e59098914a430f" /><Relationship Type="http://schemas.openxmlformats.org/officeDocument/2006/relationships/notesSlide" Target="/ppt/notesSlides/notesSlide7.xml" Id="R054ba30170b948e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7767e478464c9d" /><Relationship Type="http://schemas.openxmlformats.org/officeDocument/2006/relationships/notesSlide" Target="/ppt/notesSlides/notesSlide8.xml" Id="R28c2a88bbfe3441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b3da8d04454bd7" /><Relationship Type="http://schemas.openxmlformats.org/officeDocument/2006/relationships/notesSlide" Target="/ppt/notesSlides/notesSlide9.xml" Id="R0c666a09a9f4439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badb352a524995" /><Relationship Type="http://schemas.openxmlformats.org/officeDocument/2006/relationships/notesSlide" Target="/ppt/notesSlides/notesSlide10.xml" Id="R9f789039f19d457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6912225f1042ce" /><Relationship Type="http://schemas.openxmlformats.org/officeDocument/2006/relationships/notesSlide" Target="/ppt/notesSlides/notesSlide11.xml" Id="Rf3274332407646d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e55a7abbe44150" /><Relationship Type="http://schemas.openxmlformats.org/officeDocument/2006/relationships/notesSlide" Target="/ppt/notesSlides/notesSlide12.xml" Id="R93ac5381235545f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8f6ca26b5d44ba" /><Relationship Type="http://schemas.openxmlformats.org/officeDocument/2006/relationships/notesSlide" Target="/ppt/notesSlides/notesSlide13.xml" Id="Rea91c9428bca49d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A6AC59-3A7F-4E8B-83E7-E7E1841E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데이터 엔지니어링 · 3주차 개인·팀 프로젝트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CB6FCE-387A-4D92-9FCB-B7D1DE6E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10953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2주차 결과를</a:t>
            </a:r>
          </a:p>
          <a:p xmlns:a="http://schemas.openxmlformats.org/drawingml/2006/main">
            <a:pPr algn="l">
              <a:buNone/>
              <a:defRPr sz="36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작동하는 데이터 서비스로 완성하기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719776-0F44-446F-A33C-27FB5189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6712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제조 또는 금융 중 앞 주차에 선택한 도메인을 그대로 이어 갑니다.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909CE9-ADA8-48E5-AC03-0177C6D61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86375"/>
            <a:ext cx="10953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6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65D"/>
                </a:solidFill>
                <a:latin typeface="Apple SD Gothic Neo"/>
                <a:ea typeface="Apple SD Gothic Neo"/>
                <a:cs typeface="Apple SD Gothic Neo"/>
              </a:rPr>
              <a:t>요약 CSV와 전처리기를 SQLite·EDA·PCA·FastAPI·Streamlit으로 연결합니다.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5A2211-BD78-4540-8C92-754F5EA12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38850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6060980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6B7BB1-3353-41C1-AB71-C32926008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14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DATA ENGINEERING · WEEK 3 · INDIVIDUAL / TEAM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410BEF-1FED-456C-AFEF-DC84ED953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714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프로젝트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AC96E3-670E-4706-A6E4-65AEB5655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52450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2주차 결과에서 무엇을 더 만들까요?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3ED23C-A5E3-4E7F-9FC4-10CAEA06B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52550"/>
            <a:ext cx="11315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C3052E-4258-46B8-81A6-5E215383C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5238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14805E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8C9743-59C8-4B60-B7F9-063DFF26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481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4805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4805E"/>
                </a:solidFill>
                <a:latin typeface="Apple SD Gothic Neo"/>
                <a:ea typeface="Apple SD Gothic Neo"/>
                <a:cs typeface="Apple SD Gothic Neo"/>
              </a:rPr>
              <a:t>출발점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18E7A0-0283-459D-BF70-15D80A3F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4819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2주차 · 준비된 결과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21CFF4-845D-42DD-8156-59DAA5865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24150"/>
            <a:ext cx="481965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240행×26열 요약 CSV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저장된 전처리기 joblib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한 행 = 대상 한 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AB5095-561E-449C-BD51-D55C267F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33550"/>
            <a:ext cx="5238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F7DF6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BE0BC3-800A-42AB-8E91-1DFA35055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85950"/>
            <a:ext cx="481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완성물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C176AA-9C6B-45E8-AE44-B05F85BD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90750"/>
            <a:ext cx="4819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3주차 · 작동하는 서비스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FF58B7-3156-4D91-9C24-7929288B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24150"/>
            <a:ext cx="481965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SQLite에 보관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API로 제공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대시보드로 조회·다운로드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02E718-4701-47D2-BAA3-3ECA50288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296025"/>
            <a:ext cx="971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같은 데이터를 저장하고 분석하고 전달하는 흐름을 한 프로젝트에서 연결합니다.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931032-DD51-416B-BF37-581D4A98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579891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AF85C2-7D5B-47EA-A34A-D24F2B2A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14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DATA ENGINEERING · WEEK 3 · INDIVIDUAL / TEAM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883F18-EF5A-4897-AF82-248D489A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714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C9370E-DDAA-4631-8C86-9F3BC0CB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52450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프로젝트 데이터는 어디를 지나갈까요?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5027AA-3627-4712-9929-669D6A03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52550"/>
            <a:ext cx="11315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D6B538-CD92-488B-A7E6-7AF1534A4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19300"/>
            <a:ext cx="2709863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F7DF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100A8A-D435-4B71-BD23-775F589E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24125"/>
            <a:ext cx="2709863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입력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D88BF6-6FFC-4520-8450-202B965EB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14700"/>
            <a:ext cx="2709863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요약 CSV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preprocessor.joblib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2AB19E-C3D0-4D00-A826-512D0A35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463" y="2019300"/>
            <a:ext cx="2709863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F7DF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51C6CA-3C61-4595-95A2-D66F3CC4E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463" y="2524125"/>
            <a:ext cx="2709863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처리·분석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A26C0C-25F4-4827-B12A-34DA44144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463" y="3314700"/>
            <a:ext cx="2709863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transform·PCA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집단별 EDA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CE06CB-01CF-4033-A6EF-AF2EB6CC1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19300"/>
            <a:ext cx="2709863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F7DF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21D67E-D256-43E6-B1BA-219DD478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524125"/>
            <a:ext cx="2709863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저장·제공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0C5A2F-2D37-4BFF-9C34-EAD22F7E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14700"/>
            <a:ext cx="2709863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SQLite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FastAPI /items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C19787-303F-4E45-A03A-D9676A49B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5888" y="2019300"/>
            <a:ext cx="2709863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F7DF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5771B7-B51F-41CE-A96F-97F9CEA3D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5888" y="2524125"/>
            <a:ext cx="2709863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사용 화면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C4B9E9-3B14-44AC-9334-9C2E920D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5888" y="3314700"/>
            <a:ext cx="2709863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Streamlit 필터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지표·그래프·다운로드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ED748D-3D5E-41CC-B6AB-60952D2B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296025"/>
            <a:ext cx="971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파일 이름은 달라도 제조와 금융은 같은 데이터 흐름으로 완성됩니다.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A1ECE6-1205-411F-9229-E0AB3A3F6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79158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AF85C2-7D5B-47EA-A34A-D24F2B2A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14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DATA ENGINEERING · WEEK 3 · INDIVIDUAL / TEAM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883F18-EF5A-4897-AF82-248D489A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714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열별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C9370E-DDAA-4631-8C86-9F3BC0CB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52450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제조와 금융 프로젝트에서 같은 역할을 맡는 데이터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5027AA-3627-4712-9929-669D6A03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52550"/>
            <a:ext cx="11315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C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ED748D-3D5E-41CC-B6AB-60952D2B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296025"/>
            <a:ext cx="971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열 이름을 외우기보다 각 단계에서 그 열이 맡는 역할을 찾습니다.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A1ECE6-1205-411F-9229-E0AB3A3F6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graphicFrame>
        <p:nvGraphicFramePr>
          <p:cNvPr id="27" name="week2-cross-domain-column-map"/>
          <p:cNvGraphicFramePr/>
          <p:nvPr/>
        </p:nvGraphicFramePr>
        <p:xfrm>
          <a:off xmlns:a="http://schemas.openxmlformats.org/drawingml/2006/main" x="438150" y="1524000"/>
          <a:ext xmlns:a="http://schemas.openxmlformats.org/drawingml/2006/main" cx="11315700" cy="447675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2095500"/>
                <a:gridCol w="2762250"/>
                <a:gridCol w="3190875"/>
                <a:gridCol w="3267075"/>
              </a:tblGrid>
              <a:tr h="400050"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프로젝트 단계</a:t>
                      </a:r>
                    </a:p>
                  </a:txBody>
                  <a:tcPr marL="66675" marR="66675" marT="38100" marB="38100">
                    <a:solidFill>
                      <a:srgbClr val="17324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제조</a:t>
                      </a:r>
                    </a:p>
                  </a:txBody>
                  <a:tcPr marL="66675" marR="66675" marT="38100" marB="38100">
                    <a:solidFill>
                      <a:srgbClr val="17324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금융</a:t>
                      </a:r>
                    </a:p>
                  </a:txBody>
                  <a:tcPr marL="66675" marR="66675" marT="38100" marB="38100">
                    <a:solidFill>
                      <a:srgbClr val="17324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학생이 확인할 것</a:t>
                      </a:r>
                    </a:p>
                  </a:txBody>
                  <a:tcPr marL="66675" marR="66675" marT="38100" marB="38100">
                    <a:solidFill>
                      <a:srgbClr val="17324D"/>
                    </a:solidFill>
                  </a:tcPr>
                </a:tc>
              </a:tr>
              <a:tr h="40767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975" b="1">
                          <a:solidFill>
                            <a:srgbClr val="17324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시작 CSV</a:t>
                      </a:r>
                    </a:p>
                  </a:txBody>
                  <a:tcPr marL="66675" marR="66675" marT="38100" marB="38100">
                    <a:solidFill>
                      <a:srgbClr val="EAF2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manufacturing_equipment_summary.csv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finance_merchant_summary.csv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240행×26열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</a:tr>
              <a:tr h="40767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975" b="1">
                          <a:solidFill>
                            <a:srgbClr val="17324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고유 ID</a:t>
                      </a:r>
                    </a:p>
                  </a:txBody>
                  <a:tcPr marL="66675" marR="66675" marT="38100" marB="38100">
                    <a:solidFill>
                      <a:srgbClr val="EAF2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equipment_id</a:t>
                      </a:r>
                    </a:p>
                  </a:txBody>
                  <a:tcPr marL="66675" marR="66675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merchant_id</a:t>
                      </a:r>
                    </a:p>
                  </a:txBody>
                  <a:tcPr marL="66675" marR="66675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중복 없음</a:t>
                      </a:r>
                    </a:p>
                  </a:txBody>
                  <a:tcPr marL="66675" marR="66675" marT="38100" marB="38100">
                    <a:solidFill>
                      <a:srgbClr val="F7F9FC"/>
                    </a:solidFill>
                  </a:tcPr>
                </a:tc>
              </a:tr>
              <a:tr h="40767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975" b="1">
                          <a:solidFill>
                            <a:srgbClr val="17324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비교 집단</a:t>
                      </a:r>
                    </a:p>
                  </a:txBody>
                  <a:tcPr marL="66675" marR="66675" marT="38100" marB="38100">
                    <a:solidFill>
                      <a:srgbClr val="EAF2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plant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industry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공장별·업종별 차이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</a:tr>
              <a:tr h="40767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975" b="1">
                          <a:solidFill>
                            <a:srgbClr val="17324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핵심 횟수</a:t>
                      </a:r>
                    </a:p>
                  </a:txBody>
                  <a:tcPr marL="66675" marR="66675" marT="38100" marB="38100">
                    <a:solidFill>
                      <a:srgbClr val="EAF2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alarm_count</a:t>
                      </a:r>
                    </a:p>
                  </a:txBody>
                  <a:tcPr marL="66675" marR="66675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risk_signal_total</a:t>
                      </a:r>
                    </a:p>
                  </a:txBody>
                  <a:tcPr marL="66675" marR="66675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집단별 평균</a:t>
                      </a:r>
                    </a:p>
                  </a:txBody>
                  <a:tcPr marL="66675" marR="66675" marT="38100" marB="38100">
                    <a:solidFill>
                      <a:srgbClr val="F7F9FC"/>
                    </a:solidFill>
                  </a:tcPr>
                </a:tc>
              </a:tr>
              <a:tr h="40767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975" b="1">
                          <a:solidFill>
                            <a:srgbClr val="17324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핵심 비율</a:t>
                      </a:r>
                    </a:p>
                  </a:txBody>
                  <a:tcPr marL="66675" marR="66675" marT="38100" marB="38100">
                    <a:solidFill>
                      <a:srgbClr val="EAF2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quality_pass_rate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approval_rate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0~1 비율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</a:tr>
              <a:tr h="40767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975" b="1">
                          <a:solidFill>
                            <a:srgbClr val="17324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교육용 상태</a:t>
                      </a:r>
                    </a:p>
                  </a:txBody>
                  <a:tcPr marL="66675" marR="66675" marT="38100" marB="38100">
                    <a:solidFill>
                      <a:srgbClr val="EAF2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maintenance_required</a:t>
                      </a:r>
                    </a:p>
                  </a:txBody>
                  <a:tcPr marL="66675" marR="66675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manual_review_required</a:t>
                      </a:r>
                    </a:p>
                  </a:txBody>
                  <a:tcPr marL="66675" marR="66675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True 개수</a:t>
                      </a:r>
                    </a:p>
                  </a:txBody>
                  <a:tcPr marL="66675" marR="66675" marT="38100" marB="38100">
                    <a:solidFill>
                      <a:srgbClr val="F7F9FC"/>
                    </a:solidFill>
                  </a:tcPr>
                </a:tc>
              </a:tr>
              <a:tr h="40767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975" b="1">
                          <a:solidFill>
                            <a:srgbClr val="17324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PCA 좌표</a:t>
                      </a:r>
                    </a:p>
                  </a:txBody>
                  <a:tcPr marL="66675" marR="66675" marT="38100" marB="38100">
                    <a:solidFill>
                      <a:srgbClr val="EAF2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pca_1, pca_2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pca_1, pca_2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240행×2열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</a:tr>
              <a:tr h="40767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975" b="1">
                          <a:solidFill>
                            <a:srgbClr val="17324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SQLite 표</a:t>
                      </a:r>
                    </a:p>
                  </a:txBody>
                  <a:tcPr marL="66675" marR="66675" marT="38100" marB="38100">
                    <a:solidFill>
                      <a:srgbClr val="EAF2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equipment_dashboard</a:t>
                      </a:r>
                    </a:p>
                  </a:txBody>
                  <a:tcPr marL="66675" marR="66675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merchant_dashboard</a:t>
                      </a:r>
                    </a:p>
                  </a:txBody>
                  <a:tcPr marL="66675" marR="66675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COUNT(*) = 240</a:t>
                      </a:r>
                    </a:p>
                  </a:txBody>
                  <a:tcPr marL="66675" marR="66675" marT="38100" marB="38100">
                    <a:solidFill>
                      <a:srgbClr val="F7F9FC"/>
                    </a:solidFill>
                  </a:tcPr>
                </a:tc>
              </a:tr>
              <a:tr h="40767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975" b="1">
                          <a:solidFill>
                            <a:srgbClr val="17324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API 주소</a:t>
                      </a:r>
                    </a:p>
                  </a:txBody>
                  <a:tcPr marL="66675" marR="66675" marT="38100" marB="38100">
                    <a:solidFill>
                      <a:srgbClr val="EAF2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/health, /items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/health, /items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포트 8010</a:t>
                      </a:r>
                    </a:p>
                  </a:txBody>
                  <a:tcPr marL="66675" marR="66675" marT="38100" marB="38100">
                    <a:solidFill>
                      <a:srgbClr val="FFFFFF"/>
                    </a:solidFill>
                  </a:tcPr>
                </a:tc>
              </a:tr>
              <a:tr h="407670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975" b="1">
                          <a:solidFill>
                            <a:srgbClr val="17324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Streamlit</a:t>
                      </a:r>
                    </a:p>
                  </a:txBody>
                  <a:tcPr marL="66675" marR="66675" marT="38100" marB="38100">
                    <a:solidFill>
                      <a:srgbClr val="EAF2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공장 필터</a:t>
                      </a:r>
                    </a:p>
                  </a:txBody>
                  <a:tcPr marL="66675" marR="66675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업종 필터</a:t>
                      </a:r>
                    </a:p>
                  </a:txBody>
                  <a:tcPr marL="66675" marR="66675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97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포트 8510</a:t>
                      </a:r>
                    </a:p>
                  </a:txBody>
                  <a:tcPr marL="66675" marR="66675" marT="38100" marB="38100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9158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94204C-C77F-40A7-A021-2EC7DAD36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14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DATA ENGINEERING · WEEK 3 · INDIVIDUAL / TEAM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4FA7FC-4CD3-4990-AFEE-B256AECD5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714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배포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8416ED-1004-4DA7-AE09-D2CFDA3B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52450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학생에게 어떤 파일을 먼저 줄까요?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C09510-E150-4E38-9358-3D18DD8B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52550"/>
            <a:ext cx="11315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3AA61B-F453-4140-9AA4-AB928CD18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36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7365D"/>
                </a:solidFill>
                <a:latin typeface="Apple SD Gothic Neo"/>
                <a:ea typeface="Apple SD Gothic Neo"/>
                <a:cs typeface="Apple SD Gothic Neo"/>
              </a:rPr>
              <a:t>정답 파일은 처음부터 함께 배포할까요?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9C6A20-22C6-4CD3-A418-2A59962CD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95550"/>
            <a:ext cx="5143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14805E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AEAF72-767F-466F-81ED-A7042F52E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472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4805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4805E"/>
                </a:solidFill>
                <a:latin typeface="Apple SD Gothic Neo"/>
                <a:ea typeface="Apple SD Gothic Neo"/>
                <a:cs typeface="Apple SD Gothic Neo"/>
              </a:rPr>
              <a:t>처음 배포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171A1F-EE6D-42D5-8080-222173DF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4724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학생 시작 파일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A9FACC-C5A9-449F-8E88-D5FC9B8D7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47244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학생용 빈칸 노트북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data·artifacts 폴더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api_app_student.py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dashboard_student.py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README·데이터 안내·체크리스트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3FB1E8-D656-4C37-841D-BB7A2AB4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95550"/>
            <a:ext cx="5143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F7DF6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E3D3D1-401B-497F-89E5-E8097401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47950"/>
            <a:ext cx="472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제출 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AACED4-383B-4216-9E00-1B7E02F9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52750"/>
            <a:ext cx="4724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복습용 정답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9BBD8E-E6A5-4CEE-BDE6-3D2ABAA6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86150"/>
            <a:ext cx="47244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정답 노트북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api_app_answer.py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dashboard_answer.py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공통 평가 기준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자기 코드와 다른 줄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17D06C-C670-4A84-A536-2E0BDBD58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296025"/>
            <a:ext cx="971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학생은 자기 도메인 폴더를 통째로 받고, 정답은 제출 뒤에 받습니다.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39FF40-F276-4EC8-9E58-4C3C9C16E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087522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3F704D-8C41-4288-B3E7-D83449B8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14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DATA ENGINEERING · WEEK 3 · INDIVIDUAL / TEAM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F7C52D-4AE5-4A29-8BFF-7696D504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714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6EF6D5-4905-4694-8B7F-CC957AE4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52450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프로젝트는 일곱 단계로 진행합니다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DD67F7-E60A-4849-85FC-DB5A819D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52550"/>
            <a:ext cx="11315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7693C9-4A77-4F96-B61B-2913AD70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19300"/>
            <a:ext cx="1491343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F7DF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AF51E-7BEA-4C7F-B08D-7817D557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24125"/>
            <a:ext cx="1491343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검증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DE4B61-A149-41EB-802C-428F0E59B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14700"/>
            <a:ext cx="1491343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Q1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240행·ID 고유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DB39C1-9C2A-45F2-8096-AFB1520FA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0943" y="2019300"/>
            <a:ext cx="1491343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F7DF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2310E0-669A-4CAF-AC0F-AC840D378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0943" y="2524125"/>
            <a:ext cx="1491343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전처리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FA00F5-D221-4772-8AB4-F15E446A0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0943" y="3314700"/>
            <a:ext cx="1491343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Q2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transform·PCA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B02C27-2146-4017-A226-D4655AB24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5636" y="2019300"/>
            <a:ext cx="1491343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F7DF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6B77CE-DA68-403B-A18E-1781BFA19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5636" y="2524125"/>
            <a:ext cx="1491343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저장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65032E-0BBC-417F-AEEB-9B281626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5636" y="3314700"/>
            <a:ext cx="1491343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Q3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SQLite·COUNT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84061E-1D9B-4894-987E-4FAAC4E8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0329" y="2019300"/>
            <a:ext cx="1491343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F7DF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1F99DA-4589-4FE6-BAF7-1250C6D3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0329" y="2524125"/>
            <a:ext cx="1491343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분석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35F5C8-6E40-447A-8BAF-89D8EE1E4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0329" y="3314700"/>
            <a:ext cx="1491343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Q4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집단 비교·그림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465E29-DDF3-4AA5-B5DD-EF6820D9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5021" y="2019300"/>
            <a:ext cx="1491343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F7DF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F3FCAA-7ADB-4801-B001-7DEB75F22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5021" y="2524125"/>
            <a:ext cx="1491343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전달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D50E89-6ED8-447F-930A-B049CA9DC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5021" y="3314700"/>
            <a:ext cx="1491343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Q5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대시보드 CSV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E308AA-6129-4364-A076-2491249E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9714" y="2019300"/>
            <a:ext cx="1491343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F7DF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DEB5A7-7080-4110-96D7-88ED690B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9714" y="2524125"/>
            <a:ext cx="1491343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해석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57D9D7-6EB0-4212-83DC-0EC553ADE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9714" y="3314700"/>
            <a:ext cx="1491343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Q6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관찰·근거·한계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C0173F-5FDD-403F-A139-C56B608E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4407" y="2019300"/>
            <a:ext cx="1491343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F7DF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1569C9-D26C-4F35-BABB-DBD48088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4407" y="2524125"/>
            <a:ext cx="1491343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실행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6EE2C9-EFA5-435B-8B2C-D426003DB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4407" y="3314700"/>
            <a:ext cx="1491343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Q7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API·Streamlit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E5DBAC-8E4B-4C0B-94DC-7273C7966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296025"/>
            <a:ext cx="971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코드 실행만으로 끝나지 않고 숫자의 뜻과 서비스 흐름을 설명해야 합니다.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8B69E0-E0B4-49D4-AF3B-200D4975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471137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18AC06-8234-4C16-BAE7-95DF6466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14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DATA ENGINEERING · WEEK 3 · INDIVIDUAL / TEAM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0FA873-E1EB-40F6-B18B-5238CC02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714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제조 프로젝트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4D3F44-C7A9-434F-8DE1-6966D4FE1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52450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제조 프로젝트는 어떤 질문에 답할까요?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1ED18E-26B9-478E-9807-1880486D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52550"/>
            <a:ext cx="11315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8B94A2-6844-4033-A677-35E1E2A91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36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7365D"/>
                </a:solidFill>
                <a:latin typeface="Apple SD Gothic Neo"/>
                <a:ea typeface="Apple SD Gothic Neo"/>
                <a:cs typeface="Apple SD Gothic Neo"/>
              </a:rPr>
              <a:t>어느 공장과 설비를 먼저 확인해야 하는지 데이터로 설명할 수 있을까요?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D342C7-9B02-44AB-A49E-34C15D135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95550"/>
            <a:ext cx="5143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14805E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07C327-39DF-4366-B577-4F6B17EAF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472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4805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4805E"/>
                </a:solidFill>
                <a:latin typeface="Apple SD Gothic Neo"/>
                <a:ea typeface="Apple SD Gothic Neo"/>
                <a:cs typeface="Apple SD Gothic Neo"/>
              </a:rPr>
              <a:t>분석 재료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710A69-DDA1-426A-8AB0-A4367882C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4724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240대 요약표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18F3A2-8532-4BF0-9AF1-EAF07FDE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47244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공장·라인·설비 유형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30일 알람 수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품질 통과율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온도·압력·진동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교육용 정비 확인 라벨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FDEF46-FD15-432F-ABA6-6BFFCA6C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95550"/>
            <a:ext cx="5143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F7DF6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9D5E11-0241-4D7E-8F74-0132ADFE6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47950"/>
            <a:ext cx="472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완성 화면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3226F5-5EFD-4CF2-94BA-D141FC25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52750"/>
            <a:ext cx="4724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운영 대시보드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A77396-54A9-449E-B6E8-4584B06A4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86150"/>
            <a:ext cx="47244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공장 필터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선택 설비 수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평균 알람 수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확인 필요 설비 수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PCA 위치와 상세 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ED36CE-A7E7-4D3D-B2D7-D3E6BF96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296025"/>
            <a:ext cx="971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합성 데이터의 상태 라벨은 실제 안전 판단을 대신하지 않습니다.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A534A1-B394-42E7-B44B-ADF6C843C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183795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C8BB1F-1CEB-402E-8A54-66EDACB92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14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DATA ENGINEERING · WEEK 3 · INDIVIDUAL / TEAM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19ED4A-62B9-4CE8-8047-BEDFAF232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714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제조 프로젝트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27260E-8EAF-43CF-B317-FCC31D80E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52450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제조 프로젝트를 마치면 무엇이 남을까요?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DCC891-A49F-489C-8F5E-7BEAFFAC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52550"/>
            <a:ext cx="11315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2CAFEB-211F-4360-8ED2-AA5146A71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36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7365D"/>
                </a:solidFill>
                <a:latin typeface="Apple SD Gothic Neo"/>
                <a:ea typeface="Apple SD Gothic Neo"/>
                <a:cs typeface="Apple SD Gothic Neo"/>
              </a:rPr>
              <a:t>노트북 결과와 실행 파일은 어떻게 연결될까요?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1F4647-20F6-4BB4-9930-5D24EBB55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95550"/>
            <a:ext cx="5143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14805E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3A50C2-7617-4979-B64E-7150A9C89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472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4805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4805E"/>
                </a:solidFill>
                <a:latin typeface="Apple SD Gothic Neo"/>
                <a:ea typeface="Apple SD Gothic Neo"/>
                <a:cs typeface="Apple SD Gothic Neo"/>
              </a:rPr>
              <a:t>노트북 산출물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CADFE3-E0DF-46E8-BD5B-E740AB6CC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4724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저장 파일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E4C9E4-A40E-4D88-845C-508D865CA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47244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manufacturing_project.db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manufacturing_pca.png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manufacturing_dashboard_ready.csv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숫자 근거가 있는 인사이트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90BA5B-599F-4CF3-82F0-730E2C3A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95550"/>
            <a:ext cx="5143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F7DF6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D1D563-541A-4929-A92E-C3CEA6150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47950"/>
            <a:ext cx="472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실행 산출물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10AA6C-3EEF-4A3D-B31F-ED0E59C7A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52750"/>
            <a:ext cx="4724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API와 화면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3F5A44-D520-4750-A901-B5B988835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86150"/>
            <a:ext cx="47244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/health 240행 확인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/items?limit=3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공장 필터·지표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막대그래프·PCA 산점도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필터 결과 CSV 다운로드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4DD189-4215-4363-8547-421DDFEEE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296025"/>
            <a:ext cx="971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노트북이 데이터를 만들고 API와 Streamlit이 그 결과를 함께 사용합니다.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058413-D9B9-4C6E-A7C1-250A8EAB7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623093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66A977-5A38-4292-AA66-98D859E1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14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DATA ENGINEERING · WEEK 3 · INDIVIDUAL / TEAM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E1D35B-858A-4C1A-BA3C-CBAC455D7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714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금융 프로젝트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9CA638-3218-4A20-B5BF-6E3A499CD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52450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금융 프로젝트는 어떤 질문에 답할까요?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465852-106E-40F6-ADB2-1E0D6196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52550"/>
            <a:ext cx="11315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548C1D-4EB4-47C4-B5B9-23FFB5AA9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36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7365D"/>
                </a:solidFill>
                <a:latin typeface="Apple SD Gothic Neo"/>
                <a:ea typeface="Apple SD Gothic Neo"/>
                <a:cs typeface="Apple SD Gothic Neo"/>
              </a:rPr>
              <a:t>어느 업종의 가맹점을 먼저 살펴야 하는지 데이터로 설명할 수 있을까요?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721C12-BEB5-451D-A9DB-4FFA8EDD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95550"/>
            <a:ext cx="5143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14805E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0268D8-9488-4E37-8513-F9860A6C2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472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4805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4805E"/>
                </a:solidFill>
                <a:latin typeface="Apple SD Gothic Neo"/>
                <a:ea typeface="Apple SD Gothic Neo"/>
                <a:cs typeface="Apple SD Gothic Neo"/>
              </a:rPr>
              <a:t>분석 재료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F1ECB2-B0B2-40B9-B8FA-A344FD2B8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4724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240곳 요약표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2BDF4A-8275-4995-B64B-58957C160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47244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업종·지역·위험 등급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30일 위험 신호 수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승인율·환불률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거래액·처리 시간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교육용 수동 검토 라벨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FCEFEA-7C89-4DB5-9EBF-3C50247F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95550"/>
            <a:ext cx="5143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F7DF6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41BF37-0881-4726-93BB-E286C34F5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47950"/>
            <a:ext cx="472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완성 화면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BAB259-8C35-4801-AD09-C00A784C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52750"/>
            <a:ext cx="4724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운영 대시보드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DD8831-EAD4-42C6-8969-68C01BB04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86150"/>
            <a:ext cx="47244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업종 필터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선택 가맹점 수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평균 위험 신호 수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수동 검토 필요 수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PCA 위치와 상세 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C58D04-1F71-4DEE-AB6C-49CF25F4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296025"/>
            <a:ext cx="971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합성 데이터의 상태 라벨은 실제 신용·제재 결정을 대신하지 않습니다.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ED2869-80AD-48B6-B215-2E1007906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149998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378C8F-6F43-45BB-ACC8-E09811148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14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DATA ENGINEERING · WEEK 3 · INDIVIDUAL / TEAM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2626E1-A16A-46AE-A774-5CA78B5DC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714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금융 프로젝트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6FD4B3-D989-4EBB-8103-F7BB69637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52450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금융 프로젝트를 마치면 무엇이 남을까요?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082139-276D-4C28-B56F-4F46D43C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52550"/>
            <a:ext cx="11315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73FC3A-1E38-4AC4-9F31-E68045F4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36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7365D"/>
                </a:solidFill>
                <a:latin typeface="Apple SD Gothic Neo"/>
                <a:ea typeface="Apple SD Gothic Neo"/>
                <a:cs typeface="Apple SD Gothic Neo"/>
              </a:rPr>
              <a:t>거래 요약을 운영 화면까지 연결하면 어떤 파일과 주소가 생길까요?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E448BC-941C-4F77-A4BD-BBDF617D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95550"/>
            <a:ext cx="5143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14805E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B7DD62-A7DE-4C1A-AEF1-9122DEE4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472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4805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4805E"/>
                </a:solidFill>
                <a:latin typeface="Apple SD Gothic Neo"/>
                <a:ea typeface="Apple SD Gothic Neo"/>
                <a:cs typeface="Apple SD Gothic Neo"/>
              </a:rPr>
              <a:t>노트북 산출물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252E3E-7DA1-41E6-891E-B9A3EE3F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4724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저장 파일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1EEDE7-8199-417E-8951-7D5874AB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47244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finance_project.db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finance_pca.png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finance_dashboard_ready.csv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숫자 근거가 있는 인사이트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64B68E-1324-472F-8F84-D88D9862A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95550"/>
            <a:ext cx="5143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F7DF6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92CD0A-65CC-42A8-9AAA-71EB17650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47950"/>
            <a:ext cx="472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실행 산출물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FB78C8-AEE8-460F-94FF-4DEC117F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52750"/>
            <a:ext cx="4724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API와 화면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3571B4-079E-442B-A401-8F80E1FC2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86150"/>
            <a:ext cx="47244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/health 240행 확인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/items?limit=3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업종 필터·지표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막대그래프·PCA 산점도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필터 결과 CSV 다운로드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74137F-1507-4461-9DCD-BFACC8C86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296025"/>
            <a:ext cx="971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SQLite·API·Streamlit은 서로 다른 파일이지만 같은 240개 대상을 사용합니다.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AB9738-BFA4-4304-8E82-EC8ED7272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7615277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AA89DA-EDD2-466A-BF93-A58A9EF2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14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DATA ENGINEERING · WEEK 3 · INDIVIDUAL / TEAM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B2A222-0975-4C64-A4C9-0B1269395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714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실행 방법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D17D5D-1C00-46EB-8BEF-60685F52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52450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왜 터미널을 두 개 열어야 할까요?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3F9448-FB07-469E-B003-68244DF3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52550"/>
            <a:ext cx="11315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E76514-E31A-4088-A36A-B1A55F3F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36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7365D"/>
                </a:solidFill>
                <a:latin typeface="Apple SD Gothic Neo"/>
                <a:ea typeface="Apple SD Gothic Neo"/>
                <a:cs typeface="Apple SD Gothic Neo"/>
              </a:rPr>
              <a:t>API와 Streamlit은 각각 무엇을 기다리고 있을까요?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0FD512-AFCF-479A-B34F-75BED913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95550"/>
            <a:ext cx="5143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14805E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551084-FC17-4A50-9214-823EAC106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472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4805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4805E"/>
                </a:solidFill>
                <a:latin typeface="Apple SD Gothic Neo"/>
                <a:ea typeface="Apple SD Gothic Neo"/>
                <a:cs typeface="Apple SD Gothic Neo"/>
              </a:rPr>
              <a:t>터미널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0818A4-91FF-4B26-911B-C44DA73D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4724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FastAPI · 8010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164247-A8B2-468C-88AA-EE118E0EA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47244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uvicorn 실행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/health와 /items 제공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요청을 기다리며 계속 실행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이 터미널은 종료하지 않음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AFCCF3-3F26-44FE-891F-54DC1BAB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95550"/>
            <a:ext cx="5143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F7DF6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867ED9-C9A4-4C02-8B10-4843D8A38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47950"/>
            <a:ext cx="472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터미널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39709E-D544-49F8-B775-62B37F5CB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52750"/>
            <a:ext cx="4724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Streamlit · 8510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4C531E-61B2-45E7-8651-F22D9D12F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86150"/>
            <a:ext cx="47244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streamlit run 실행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API에서 240행을 요청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API 실패 시 CSV 사용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브라우저 화면을 계속 제공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C1BF78-D46B-4150-9DAF-3E504B805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296025"/>
            <a:ext cx="971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두 프로그램이 동시에 실행 중이어야 API에서 받은 데이터를 화면에 보여 줄 수 있습니다.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DBBD49-D005-4A06-AE30-8F4095FAF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3886943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D47585-7794-49E6-A80E-753A6D00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14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DATA ENGINEERING · WEEK 3 · INDIVIDUAL / TEAM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D06CE8-4E05-41C0-9E78-937FC0E2F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714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제출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939C91-EEE8-4776-9D2C-41390B45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52450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제출 전에 무엇을 확인할까요?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276EBD-CF6B-414E-A188-019E82DF2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52550"/>
            <a:ext cx="11315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0ACBD4-12A3-44C7-97E9-D03AA6FA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19300"/>
            <a:ext cx="214122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F7DF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A243E4-974E-4AB1-AE39-186957A06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24125"/>
            <a:ext cx="214122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입력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1A3D80-9D1A-4B11-BB8A-52E6B7E3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14700"/>
            <a:ext cx="214122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240행×26열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ID 고유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5A20E3-AE19-43D9-B821-A1D645059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0820" y="2019300"/>
            <a:ext cx="214122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F7DF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A67C07-B822-44F4-B212-C08A64A2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0820" y="2524125"/>
            <a:ext cx="214122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분석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634D7D-F415-445C-A9EF-4FE84981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0820" y="3314700"/>
            <a:ext cx="214122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PCA 240×2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집단 요약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984EE1-3B74-4B21-88F5-C93D10626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5390" y="2019300"/>
            <a:ext cx="214122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F7DF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B8FD80-65E2-4017-B819-23AED0D2B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5390" y="2524125"/>
            <a:ext cx="214122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저장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05389A-79AA-4D61-92CE-D2978276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5390" y="3314700"/>
            <a:ext cx="214122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DB COUNT 240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CSV 존재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1F3C78-09EF-425B-9218-1A768ABD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960" y="2019300"/>
            <a:ext cx="214122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F7DF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83CDC8-F00A-4F53-86AD-684BED28E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960" y="2524125"/>
            <a:ext cx="214122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실행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7155B4-33AF-4D73-8D8F-3A70D78A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960" y="3314700"/>
            <a:ext cx="214122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/health·/items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Streamlit 화면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84852F-3547-492C-B69D-0AE37DD75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4530" y="2019300"/>
            <a:ext cx="214122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F7DF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CE61DD-9FDC-487E-BE77-A71790BA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4530" y="2524125"/>
            <a:ext cx="214122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설명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DBFCDA-0E2B-4A23-8D3F-55047CDA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4530" y="3314700"/>
            <a:ext cx="214122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숫자 근거 2개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한계 1문장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802E87-B23D-4FF6-83B5-E6EFE549B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296025"/>
            <a:ext cx="971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화면 캡처보다 다른 사람이 같은 순서로 다시 실행할 수 있는지가 더 중요합니다.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E7C458-6F85-4579-98F9-845071C34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5769256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137A54-293F-441C-8F0A-F0CF87FCB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14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DATA ENGINEERING · WEEK 3 · INDIVIDUAL / TEAM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92472E-4663-46A6-9253-1DA75196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714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완료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F25587-C238-4C1E-8A06-9C479226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52450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이 프로젝트에서 가장 중요하게 보는 것은 무엇일까요?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B05FB2-2DF7-4352-9619-DFE4A8B4D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52550"/>
            <a:ext cx="11315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651173-8C16-45CE-BB60-9B35E059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36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7365D"/>
                </a:solidFill>
                <a:latin typeface="Apple SD Gothic Neo"/>
                <a:ea typeface="Apple SD Gothic Neo"/>
                <a:cs typeface="Apple SD Gothic Neo"/>
              </a:rPr>
              <a:t>코드의 길이보다 데이터가 끝까지 이어지는지를 설명할 수 있어야 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0492C3-7CA8-4554-AB3B-DEF49B4F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95550"/>
            <a:ext cx="5143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14805E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096BF2-F0F2-445C-9B46-F7B82813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472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4805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4805E"/>
                </a:solidFill>
                <a:latin typeface="Apple SD Gothic Neo"/>
                <a:ea typeface="Apple SD Gothic Neo"/>
                <a:cs typeface="Apple SD Gothic Neo"/>
              </a:rPr>
              <a:t>평가 비중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15723E-3BCC-4359-A9CC-A8EFAD345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4724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데이터와 분석 · 60점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9A3BFB-06FD-400E-A345-03BBA671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47244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시작 데이터 검증 10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전처리·PCA 15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SQLite 15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EDA와 해석 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A16A00-5593-423F-B3EB-015A09044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95550"/>
            <a:ext cx="5143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F7DF6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107B37-C270-47EF-A548-6B01EFEC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47950"/>
            <a:ext cx="472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평가 비중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6325F4-094E-4511-B62F-C84CDD7B3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52750"/>
            <a:ext cx="4724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서비스와 재현성 · 40점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9095F6-2837-40EC-AB33-55388E7FA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86150"/>
            <a:ext cx="47244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FastAPI 15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Streamlit 20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재현성과 설명 5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팀원 모두 전체 흐름 설명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F06BD9-51E2-448F-9575-50647ACD2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296025"/>
            <a:ext cx="971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최종 설명은 ‘CSV가 API와 화면까지 어떻게 이동했는가’에 답하면 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F443B3-6587-4B8C-B57B-6DE8208B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2582498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2026-09-26T11:21:12.6140000Z</dcterms:created>
  <dcterms:modified xsi:type="dcterms:W3CDTF">2026-09-26T11:21:12.6140000Z</dcterms:modified>
</coreProperties>
</file>