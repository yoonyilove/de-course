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57" r:id="rId3"/>
    <p:sldId id="292" r:id="rId4"/>
    <p:sldId id="293"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69"/>
    <p:restoredTop sz="68952"/>
  </p:normalViewPr>
  <p:slideViewPr>
    <p:cSldViewPr snapToGrid="0">
      <p:cViewPr varScale="1">
        <p:scale>
          <a:sx n="71" d="100"/>
          <a:sy n="71" d="100"/>
        </p:scale>
        <p:origin x="1832" y="176"/>
      </p:cViewPr>
      <p:guideLst/>
    </p:cSldViewPr>
  </p:slideViewPr>
  <p:notesTextViewPr>
    <p:cViewPr>
      <p:scale>
        <a:sx n="1" d="1"/>
        <a:sy n="1" d="1"/>
      </p:scale>
      <p:origin x="0" y="-472"/>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0:00~0:02</a:t>
            </a:r>
          </a:p>
          <a:p>
            <a:r>
              <a:t>[이 장의 역할] 오늘의 질문과 수업이 끝났을 때 남을 자료를 보여줍니다.</a:t>
            </a:r>
          </a:p>
          <a:p>
            <a:r>
              <a:t>[학생이 하는 일] 질문을 읽고, 마지막에 만들어야 할 결과의 크기·파일·객체를 찾아 표시합니다.</a:t>
            </a:r>
          </a:p>
          <a:p>
            <a:r>
              <a:t>[오늘 만들 결과] CSV 25개를 30,000행으로 합치고 1,000행으로 요약한 뒤 36열로 변환해 API 응답까지 확인합니다.</a:t>
            </a:r>
          </a:p>
          <a:p>
            <a:r>
              <a:t>[학생에게 이렇게 설명합니다] “오늘의 질문은 '앞 교시의 핵심 빈칸만 보고 파일 찾기부터 API 확인까지 다시 연결할 수 있을까요?'입니다. 수업이 끝나면 CSV 25개를 30,000행으로 합치고 1,000행으로 요약한 뒤 36열로 변환해 API 응답까지 확인합니다.”</a:t>
            </a:r>
          </a:p>
          <a:p>
            <a:r>
              <a:t>[학생에게 보여 줄 질문] 앞 교시의 핵심 빈칸만 보고 파일 찾기부터 API 확인까지 다시 연결할 수 있을까요?</a:t>
            </a:r>
          </a:p>
          <a:p>
            <a:r>
              <a:t>[다음 장 연결] 다음 장에서 작업 순서를 확인합니다.</a:t>
            </a:r>
          </a:p>
          <a:p>
            <a:r>
              <a:t>[자료 사용] PPT는 질문과 코드 위치를 함께 보는 화면입니다. 학생은 2주차_8교시_학생용_지적실험노트.ipynb의 Q번호에서 입력하고 실행합니다.</a:t>
            </a:r>
          </a:p>
          <a:p>
            <a:endParaRPr/>
          </a:p>
          <a:p>
            <a:r>
              <a:t>[Sources]</a:t>
            </a:r>
          </a:p>
          <a:p>
            <a:r>
              <a:t>- course_materials/week2/lesson8_capstone/00_8교시_흐름_한눈에보기.md</a:t>
            </a:r>
          </a:p>
          <a:p>
            <a:r>
              <a:t>- course_materials/week2/lesson8_capstone/2주차_8교시_학생용_지적실험노트.ipynb</a:t>
            </a: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0:02~0:04</a:t>
            </a:r>
          </a:p>
          <a:p>
            <a:r>
              <a:t>[이 장의 목표]</a:t>
            </a:r>
          </a:p>
          <a:p>
            <a:r>
              <a:t>학생이 50분 동안 사용할 자료와 각 Q의 결과를 먼저 봅니다. 각 단계에서 생기는 표의 크기를 알고 시작하면 코드가 왜 필요한지 연결하기 쉽습니다.</a:t>
            </a:r>
          </a:p>
          <a:p>
            <a:endParaRPr/>
          </a:p>
          <a:p>
            <a:r>
              <a:t>[학생에게 먼저 말할 문장]</a:t>
            </a:r>
          </a:p>
          <a:p>
            <a:r>
              <a:t>"오늘은 다음 순서로 진행합니다. CSV 25개 찾기, 30,000행 결합, 회원별 1,000행 요약, 입력 13열 만들기, 36열로 전처리, API 200 검증. 마지막에는 30,000행 병합, 1,000행 요약, 36열 변환과 API 상태 코드 200 확인이 남습니다."</a:t>
            </a:r>
          </a:p>
          <a:p>
            <a:endParaRPr/>
          </a:p>
          <a:p>
            <a:r>
              <a:t>[화면을 읽는 순서]</a:t>
            </a:r>
          </a:p>
          <a:p>
            <a:r>
              <a:t>1. Q1: CSV 25개 찾기</a:t>
            </a:r>
          </a:p>
          <a:p>
            <a:r>
              <a:t>2. Q2: 30,000행 결합</a:t>
            </a:r>
          </a:p>
          <a:p>
            <a:r>
              <a:t>3. Q3: 회원별 1,000행 요약</a:t>
            </a:r>
          </a:p>
          <a:p>
            <a:r>
              <a:t>4. Q4: 입력 13열 만들기</a:t>
            </a:r>
          </a:p>
          <a:p>
            <a:r>
              <a:t>5. Q5: 36열로 전처리</a:t>
            </a:r>
          </a:p>
          <a:p>
            <a:r>
              <a:t>6. Q6: API 200 검증</a:t>
            </a:r>
          </a:p>
          <a:p>
            <a:endParaRPr/>
          </a:p>
          <a:p>
            <a:r>
              <a:t>[완성 기준]</a:t>
            </a:r>
          </a:p>
          <a:p>
            <a:r>
              <a:t>30,000행 병합, 1,000행 요약, 36열 변환과 API 상태 코드 200 확인</a:t>
            </a:r>
          </a:p>
          <a:p>
            <a:endParaRPr/>
          </a:p>
          <a:p>
            <a:r>
              <a:t>[학생에게 물을 질문]</a:t>
            </a:r>
          </a:p>
          <a:p>
            <a:r>
              <a:t>앞 교시의 핵심 빈칸만 보고 파일 찾기부터 API 확인까지 다시 연결할 수 있을까요?</a:t>
            </a:r>
          </a:p>
          <a:p>
            <a:endParaRPr/>
          </a:p>
          <a:p>
            <a:r>
              <a:t>[학생이 하는 일]</a:t>
            </a:r>
          </a:p>
          <a:p>
            <a:r>
              <a:t>Q1부터 Q5까지 각 단계에서 예상되는 행 수와 열 수를 노트북에 적습니다.</a:t>
            </a:r>
          </a:p>
          <a:p>
            <a:endParaRPr/>
          </a:p>
          <a:p>
            <a:r>
              <a:t>[다음 장 연결]</a:t>
            </a:r>
          </a:p>
          <a:p>
            <a:r>
              <a:t>다음 장에서 오늘 열 학생용 노트북의 파일명을 확인합니다.</a:t>
            </a:r>
          </a:p>
          <a:p>
            <a:endParaRPr/>
          </a:p>
          <a:p>
            <a:r>
              <a:t>[자료 사용]</a:t>
            </a:r>
          </a:p>
          <a:p>
            <a:r>
              <a:t>학생은 2주차_8교시_학생용_지적실험노트.ipynb 하나만 열고, PPT와 같은 Q번호에서 빈칸을 채웁니다.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dirty="0"/>
              <a:t>따라서 8교시에서 새롭게 연습하는 핵심은 새로운 함수가 아니라 다음 세 가지입니다.</a:t>
            </a:r>
          </a:p>
          <a:p>
            <a:pPr lvl="0"/>
            <a:r>
              <a:rPr lang="ko-KR" altLang="ko-KR" dirty="0"/>
              <a:t>이전 단계의 출력이 다음 단계의 입력이 된다는 점</a:t>
            </a:r>
          </a:p>
          <a:p>
            <a:pPr lvl="0"/>
            <a:r>
              <a:rPr lang="ko-KR" altLang="ko-KR" dirty="0"/>
              <a:t>중간 결과가 틀리면 뒤의 작업도 연달아 틀어진다는 점</a:t>
            </a:r>
          </a:p>
          <a:p>
            <a:pPr lvl="0"/>
            <a:r>
              <a:rPr lang="ko-KR" altLang="ko-KR" dirty="0"/>
              <a:t>전체 작업 순서와 각 변수의 역할을 스스로 연결하는 능력</a:t>
            </a:r>
          </a:p>
          <a:p>
            <a:r>
              <a:rPr lang="ko-KR" altLang="ko-KR" b="1" dirty="0"/>
              <a:t>8교시에서 다시 하지 않는 내용</a:t>
            </a:r>
          </a:p>
          <a:p>
            <a:r>
              <a:rPr lang="ko-KR" altLang="ko-KR" dirty="0"/>
              <a:t>현재 8교시는 1~7교시의 모든 내용을 그대로 포함하지 않습니다.</a:t>
            </a:r>
          </a:p>
          <a:p>
            <a:pPr lvl="0"/>
            <a:r>
              <a:rPr lang="ko-KR" altLang="ko-KR" dirty="0"/>
              <a:t>3교시의 </a:t>
            </a:r>
            <a:r>
              <a:rPr lang="ko-KR" altLang="ko-KR" sz="1200" kern="1200" dirty="0" err="1"/>
              <a:t>pivot_table</a:t>
            </a:r>
            <a:r>
              <a:rPr lang="ko-KR" altLang="ko-KR" sz="1200" kern="1200" dirty="0"/>
              <a:t>()</a:t>
            </a:r>
            <a:r>
              <a:rPr lang="ko-KR" altLang="ko-KR" dirty="0"/>
              <a:t>과 </a:t>
            </a:r>
            <a:r>
              <a:rPr lang="ko-KR" altLang="ko-KR" sz="1200" kern="1200" dirty="0" err="1"/>
              <a:t>melt</a:t>
            </a:r>
            <a:r>
              <a:rPr lang="ko-KR" altLang="ko-KR" sz="1200" kern="1200" dirty="0"/>
              <a:t>()</a:t>
            </a:r>
            <a:r>
              <a:rPr lang="ko-KR" altLang="ko-KR" dirty="0"/>
              <a:t>는 다시 하지 않습니다.</a:t>
            </a:r>
          </a:p>
          <a:p>
            <a:pPr lvl="0"/>
            <a:r>
              <a:rPr lang="ko-KR" altLang="ko-KR" dirty="0" err="1"/>
              <a:t>CSV와</a:t>
            </a:r>
            <a:r>
              <a:rPr lang="ko-KR" altLang="ko-KR" dirty="0"/>
              <a:t> </a:t>
            </a:r>
            <a:r>
              <a:rPr lang="ko-KR" altLang="ko-KR" dirty="0" err="1"/>
              <a:t>Parquet</a:t>
            </a:r>
            <a:r>
              <a:rPr lang="ko-KR" altLang="ko-KR" dirty="0"/>
              <a:t> 비교 저장도 생략합니다.</a:t>
            </a:r>
          </a:p>
          <a:p>
            <a:pPr lvl="0"/>
            <a:r>
              <a:rPr lang="ko-KR" altLang="ko-KR" dirty="0"/>
              <a:t>5교시의 </a:t>
            </a:r>
            <a:r>
              <a:rPr lang="ko-KR" altLang="ko-KR" sz="1200" kern="1200" dirty="0"/>
              <a:t>Pipeline</a:t>
            </a:r>
            <a:r>
              <a:rPr lang="ko-KR" altLang="ko-KR" dirty="0"/>
              <a:t>, </a:t>
            </a:r>
            <a:r>
              <a:rPr lang="ko-KR" altLang="ko-KR" sz="1200" kern="1200" dirty="0" err="1"/>
              <a:t>ColumnTransformer</a:t>
            </a:r>
            <a:r>
              <a:rPr lang="ko-KR" altLang="ko-KR" dirty="0" err="1"/>
              <a:t>를</a:t>
            </a:r>
            <a:r>
              <a:rPr lang="ko-KR" altLang="ko-KR" dirty="0"/>
              <a:t> 처음부터 다시 만들지 않습니다.</a:t>
            </a:r>
          </a:p>
          <a:p>
            <a:pPr lvl="0"/>
            <a:r>
              <a:rPr lang="ko-KR" altLang="ko-KR" dirty="0" err="1"/>
              <a:t>학습용·확인용</a:t>
            </a:r>
            <a:r>
              <a:rPr lang="ko-KR" altLang="ko-KR" dirty="0"/>
              <a:t> 데이터를 다시 나누지 않습니다.</a:t>
            </a:r>
          </a:p>
          <a:p>
            <a:pPr lvl="0"/>
            <a:r>
              <a:rPr lang="ko-KR" altLang="ko-KR" dirty="0"/>
              <a:t>6교시의 </a:t>
            </a:r>
            <a:r>
              <a:rPr lang="ko-KR" altLang="ko-KR" sz="1200" kern="1200" dirty="0" err="1"/>
              <a:t>fit_transform</a:t>
            </a:r>
            <a:r>
              <a:rPr lang="ko-KR" altLang="ko-KR" sz="1200" kern="1200" dirty="0"/>
              <a:t>()</a:t>
            </a:r>
            <a:r>
              <a:rPr lang="ko-KR" altLang="ko-KR" dirty="0"/>
              <a:t>과 </a:t>
            </a:r>
            <a:r>
              <a:rPr lang="ko-KR" altLang="ko-KR" sz="1200" kern="1200" dirty="0" err="1"/>
              <a:t>joblib.dump</a:t>
            </a:r>
            <a:r>
              <a:rPr lang="ko-KR" altLang="ko-KR" sz="1200" kern="1200" dirty="0"/>
              <a:t>()</a:t>
            </a:r>
            <a:r>
              <a:rPr lang="ko-KR" altLang="ko-KR" dirty="0"/>
              <a:t>도 다시 하지 않습니다.</a:t>
            </a:r>
          </a:p>
          <a:p>
            <a:pPr lvl="0"/>
            <a:r>
              <a:rPr lang="ko-KR" altLang="ko-KR" dirty="0"/>
              <a:t>7교시처럼 터미널에서 </a:t>
            </a:r>
            <a:r>
              <a:rPr lang="ko-KR" altLang="ko-KR" dirty="0" err="1"/>
              <a:t>Uvicorn</a:t>
            </a:r>
            <a:r>
              <a:rPr lang="ko-KR" altLang="ko-KR" dirty="0"/>
              <a:t> 서버를 실제로 켜지 않고 </a:t>
            </a:r>
            <a:r>
              <a:rPr lang="ko-KR" altLang="ko-KR" sz="1200" kern="1200" dirty="0" err="1"/>
              <a:t>TestClient</a:t>
            </a:r>
            <a:r>
              <a:rPr lang="ko-KR" altLang="ko-KR" dirty="0" err="1"/>
              <a:t>로</a:t>
            </a:r>
            <a:r>
              <a:rPr lang="ko-KR" altLang="ko-KR" dirty="0"/>
              <a:t> </a:t>
            </a:r>
            <a:r>
              <a:rPr lang="ko-KR" altLang="ko-KR" dirty="0" err="1"/>
              <a:t>API를</a:t>
            </a:r>
            <a:r>
              <a:rPr lang="ko-KR" altLang="ko-KR" dirty="0"/>
              <a:t> 검사합니다.</a:t>
            </a:r>
          </a:p>
          <a:p>
            <a:r>
              <a:rPr lang="ko-KR" altLang="ko-KR" dirty="0"/>
              <a:t>왜냐하면 50분 동안 전부 다시 하면 분량이 너무 많기 때문입니다. 8교시는 각 기능의 세부 문법보다는 전체 처리 흐름을 복원하는 데 초점을 둔 것입니다.</a:t>
            </a:r>
          </a:p>
          <a:p>
            <a:r>
              <a:rPr lang="ko-KR" altLang="ko-KR" b="1" dirty="0"/>
              <a:t>특히 중요한 차이</a:t>
            </a:r>
          </a:p>
          <a:p>
            <a:r>
              <a:rPr lang="ko-KR" altLang="ko-KR"/>
              <a:t>8교시 Q5는 전처리기를 새로 학습하지 않습니다.</a:t>
            </a:r>
          </a:p>
          <a:p>
            <a:endParaRPr kumimoji="1" lang="ko-KR" altLang="en-US"/>
          </a:p>
        </p:txBody>
      </p:sp>
      <p:sp>
        <p:nvSpPr>
          <p:cNvPr id="4" name="슬라이드 번호 개체 틀 3"/>
          <p:cNvSpPr>
            <a:spLocks noGrp="1"/>
          </p:cNvSpPr>
          <p:nvPr>
            <p:ph type="sldNum" sz="quarter" idx="5"/>
          </p:nvPr>
        </p:nvSpPr>
        <p:spPr/>
        <p:txBody>
          <a:bodyPr/>
          <a:lstStyle/>
          <a:p>
            <a:endParaRPr lang="ko-KR" altLang="en-US"/>
          </a:p>
        </p:txBody>
      </p:sp>
    </p:spTree>
    <p:extLst>
      <p:ext uri="{BB962C8B-B14F-4D97-AF65-F5344CB8AC3E}">
        <p14:creationId xmlns:p14="http://schemas.microsoft.com/office/powerpoint/2010/main" val="2204690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0:03~0:04</a:t>
            </a:r>
          </a:p>
          <a:p>
            <a:r>
              <a:t>[이 장의 역할] 학생이 여러 파일 가운데 오늘 파일 하나만 열도록 안내합니다.</a:t>
            </a:r>
          </a:p>
          <a:p>
            <a:r>
              <a:t>[학생이 하는 일] 화면에 보이는 파일명을 다운로드 폴더의 이름과 한 글자씩 맞춘 뒤, 커널이 Python (de-course)인지 확인합니다.</a:t>
            </a:r>
          </a:p>
          <a:p>
            <a:r>
              <a:t>[오늘 만들 결과] CSV 25개를 30,000행으로 합치고 1,000행으로 요약한 뒤 36열로 변환해 API 응답까지 확인합니다.</a:t>
            </a:r>
          </a:p>
          <a:p>
            <a:r>
              <a:t>[학생에게 이렇게 설명합니다] “오늘은 이 파일 하나만 엽니다. 다른 교시 파일은 닫아 주세요.”</a:t>
            </a:r>
          </a:p>
          <a:p>
            <a:r>
              <a:t>[학생에게 보여 줄 질문] 앞 교시의 핵심 빈칸만 보고 파일 찾기부터 API 확인까지 다시 연결할 수 있을까요?</a:t>
            </a:r>
          </a:p>
          <a:p>
            <a:r>
              <a:t>[다음 장 연결] 다음 장에서 50분 동안 실습 시간이 어디에 들어가는지 확인합니다.</a:t>
            </a:r>
          </a:p>
          <a:p>
            <a:r>
              <a:t>[자료 사용] PPT는 질문과 코드 위치를 함께 보는 화면입니다. 학생은 2주차_8교시_학생용_지적실험노트.ipynb의 Q번호에서 입력하고 실행합니다.</a:t>
            </a:r>
          </a:p>
          <a:p>
            <a:endParaRPr/>
          </a:p>
          <a:p>
            <a:r>
              <a:t>[Sources]</a:t>
            </a:r>
          </a:p>
          <a:p>
            <a:r>
              <a:t>- course_materials/week2/lesson8_capstone/00_8교시_흐름_한눈에보기.md</a:t>
            </a:r>
          </a:p>
          <a:p>
            <a:r>
              <a:t>- course_materials/week2/lesson8_capstone/2주차_8교시_학생용_지적실험노트.ipynb</a:t>
            </a: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0:04~0:05</a:t>
            </a:r>
          </a:p>
          <a:p>
            <a:r>
              <a:t>[이 장의 역할] 50분 안에 설명과 학생 실습이 번갈아 들어가는 수업 리듬을 공유합니다.</a:t>
            </a:r>
          </a:p>
          <a:p>
            <a:r>
              <a:t>[학생이 하는 일] 학생은 실습 구간에 노트북을 직접 수정하고, 강사는 7분과 14분 지점에 진도를 확인합니다.</a:t>
            </a:r>
          </a:p>
          <a:p>
            <a:r>
              <a:t>[오늘 만들 결과] CSV 25개를 30,000행으로 합치고 1,000행으로 요약한 뒤 36열로 변환해 API 응답까지 확인합니다.</a:t>
            </a:r>
          </a:p>
          <a:p>
            <a:r>
              <a:t>[학생에게 이렇게 설명합니다] “앞 교시의 핵심 빈칸만 보고 파일 찾기부터 API 확인까지 다시 연결할 수 있을까요?”</a:t>
            </a:r>
          </a:p>
          <a:p>
            <a:r>
              <a:t>[학생에게 보여 줄 질문] 앞 교시의 핵심 빈칸만 보고 파일 찾기부터 API 확인까지 다시 연결할 수 있을까요?</a:t>
            </a:r>
          </a:p>
          <a:p>
            <a:r>
              <a:t>[다음 장 연결] 이제 Q1의 업무 질문부터 시작합니다.</a:t>
            </a:r>
          </a:p>
          <a:p>
            <a:r>
              <a:t>[자료 사용] PPT는 질문과 코드 위치를 함께 보는 화면입니다. 학생은 2주차_8교시_학생용_지적실험노트.ipynb의 Q번호에서 입력하고 실행합니다.</a:t>
            </a:r>
          </a:p>
          <a:p>
            <a:endParaRPr/>
          </a:p>
          <a:p>
            <a:r>
              <a:t>[Sources]</a:t>
            </a:r>
          </a:p>
          <a:p>
            <a:r>
              <a:t>- course_materials/week2/lesson8_capstone/00_8교시_흐름_한눈에보기.md</a:t>
            </a:r>
          </a:p>
          <a:p>
            <a:r>
              <a:t>- course_materials/week2/lesson8_capstone/2주차_8교시_학생용_지적실험노트.ipynb</a:t>
            </a: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0:05~0:12</a:t>
            </a:r>
          </a:p>
          <a:p>
            <a:endParaRPr/>
          </a:p>
          <a:p>
            <a:r>
              <a:t>[이 장에서 먼저 이해할 것]</a:t>
            </a:r>
          </a:p>
          <a:p>
            <a:r>
              <a:t>종합실습의 입력 범위를 스스로 확정합니다.</a:t>
            </a:r>
          </a:p>
          <a:p>
            <a:endParaRPr/>
          </a:p>
          <a:p>
            <a:r>
              <a:t>[현재 가지고 있는 자료]</a:t>
            </a:r>
          </a:p>
          <a:p>
            <a:r>
              <a:t>DATA_DIR은 02_week2 데이터 폴더입니다. 종합실습을 새로 시작하므로 앞 교시의 batch_files 변수를 가져오지 않고 다시 만듭니다.</a:t>
            </a:r>
          </a:p>
          <a:p>
            <a:endParaRPr/>
          </a:p>
          <a:p>
            <a:r>
              <a:t>[이 작업이 필요한 이유]</a:t>
            </a:r>
          </a:p>
          <a:p>
            <a:r>
              <a:t>종합실습에서는 입력 범위를 스스로 확정한 뒤에만 다음 단계로 갑니다. assert가 실패하면 병합을 시작하지 않습니다.</a:t>
            </a:r>
          </a:p>
          <a:p>
            <a:endParaRPr/>
          </a:p>
          <a:p>
            <a:r>
              <a:t>[학생에게 이렇게 설명합니다]</a:t>
            </a:r>
          </a:p>
          <a:p>
            <a:r>
              <a:t>“DATA_DIR은 02_week2 데이터 폴더입니다. 종합실습을 새로 시작하므로 앞 교시의 batch_files 변수를 가져오지 않고 다시 만듭니다. 이번에는 CSV 25개의 위치를 찾아 종합실습 입력을 확정합니다. 종합실습에서는 입력 범위를 스스로 확정한 뒤에만 다음 단계로 갑니다. assert가 실패하면 병합을 시작하지 않습니다.”</a:t>
            </a:r>
          </a:p>
          <a:p>
            <a:endParaRPr/>
          </a:p>
          <a:p>
            <a:r>
              <a:t>[학생에게 확인할 질문]</a:t>
            </a:r>
          </a:p>
          <a:p>
            <a:r>
              <a:t>처음부터 다시 시작할 때 가장 먼저 어떤 파일들을 사용할지 어떻게 확인할까요?</a:t>
            </a:r>
          </a:p>
          <a:p>
            <a:endParaRPr/>
          </a:p>
          <a:p>
            <a:r>
              <a:t>[예상 답]</a:t>
            </a:r>
          </a:p>
          <a:p>
            <a:r>
              <a:t>폴더와 파일명 규칙으로 Path 25개를 찾고 개수와 첫·마지막 이름을 확인합니다.</a:t>
            </a:r>
          </a:p>
          <a:p>
            <a:endParaRPr/>
          </a:p>
          <a:p>
            <a:r>
              <a:t>[학생이 하는 일]</a:t>
            </a:r>
          </a:p>
          <a:p>
            <a:r>
              <a:t>코드를 실행하기 전에 질문의 답과 예상 결과를 노트북에 적습니다.</a:t>
            </a:r>
          </a:p>
          <a:p>
            <a:endParaRPr/>
          </a:p>
          <a:p>
            <a:r>
              <a:t>[다음 장 연결]</a:t>
            </a:r>
          </a:p>
          <a:p>
            <a:r>
              <a:t>다음 장에서 현재 다루는 자료가 어떤 형태인지 확인합니다.</a:t>
            </a:r>
          </a:p>
          <a:p>
            <a:endParaRPr/>
          </a:p>
          <a:p>
            <a:r>
              <a:t>[자료 사용]</a:t>
            </a:r>
          </a:p>
          <a:p>
            <a:r>
              <a:t>PPT에는 Q1의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0:05~0:12</a:t>
            </a:r>
          </a:p>
          <a:p>
            <a:endParaRPr/>
          </a:p>
          <a:p>
            <a:r>
              <a:t>[이 장에서 설명할 것]</a:t>
            </a:r>
          </a:p>
          <a:p>
            <a:r>
              <a:t>코드에 들어가는 값과 실행 뒤 생기는 값의 자료구조를 구분합니다.</a:t>
            </a:r>
          </a:p>
          <a:p>
            <a:endParaRPr/>
          </a:p>
          <a:p>
            <a:r>
              <a:t>[지금 준비된 자료]</a:t>
            </a:r>
          </a:p>
          <a:p>
            <a:r>
              <a:t>DATA_DIR은 02_week2 데이터 폴더입니다. 종합실습을 새로 시작하므로 앞 교시의 batch_files 변수를 가져오지 않고 다시 만듭니다.</a:t>
            </a:r>
          </a:p>
          <a:p>
            <a:endParaRPr/>
          </a:p>
          <a:p>
            <a:r>
              <a:t>[실행 뒤 생기는 자료]</a:t>
            </a:r>
          </a:p>
          <a:p>
            <a:r>
              <a:t>batch_files는 Path 25개 list입니다.</a:t>
            </a:r>
          </a:p>
          <a:p>
            <a:endParaRPr/>
          </a:p>
          <a:p>
            <a:r>
              <a:t>[학생에게 이렇게 설명합니다]</a:t>
            </a:r>
          </a:p>
          <a:p>
            <a:r>
              <a:t>“실행 전에는 DATA_DIR은 02_week2 데이터 폴더입니다. 종합실습을 새로 시작하므로 앞 교시의 batch_files 변수를 가져오지 않고 다시 만듭니다. 실행하면 batch_files는 Path 25개 list입니다. batch_dir은 폴더 Path, batch_files는 정렬된 파일 Path 25개 list입니다. 첫 파일과 마지막 파일 이름으로 범위도 확인합니다.”</a:t>
            </a:r>
          </a:p>
          <a:p>
            <a:endParaRPr/>
          </a:p>
          <a:p>
            <a:r>
              <a:t>[학생에게 확인할 질문]</a:t>
            </a:r>
          </a:p>
          <a:p>
            <a:r>
              <a:t>처음부터 다시 시작할 때 가장 먼저 어떤 파일들을 사용할지 어떻게 확인할까요?</a:t>
            </a:r>
          </a:p>
          <a:p>
            <a:endParaRPr/>
          </a:p>
          <a:p>
            <a:r>
              <a:t>[예상 답]</a:t>
            </a:r>
          </a:p>
          <a:p>
            <a:r>
              <a:t>폴더와 파일명 규칙으로 Path 25개를 찾고 개수와 첫·마지막 이름을 확인합니다.</a:t>
            </a:r>
          </a:p>
          <a:p>
            <a:endParaRPr/>
          </a:p>
          <a:p>
            <a:r>
              <a:t>[다음 장 연결]</a:t>
            </a:r>
          </a:p>
          <a:p>
            <a:r>
              <a:t>다음 장에서 노트북의 같은 Q 빈칸을 직접 채웁니다.</a:t>
            </a:r>
          </a:p>
          <a:p>
            <a:endParaRPr/>
          </a:p>
          <a:p>
            <a:r>
              <a:t>[자료 사용]</a:t>
            </a:r>
          </a:p>
          <a:p>
            <a:r>
              <a:t>PPT에는 Q1의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0:05~0:12</a:t>
            </a:r>
          </a:p>
          <a:p>
            <a:endParaRPr/>
          </a:p>
          <a:p>
            <a:r>
              <a:t>[이 장의 목표]</a:t>
            </a:r>
          </a:p>
          <a:p>
            <a:r>
              <a:t>학생용 노트북 Q1에서 코드의 ___ 3개를 직접 채웁니다. 이번에는 아래 한 단계에 집중합니다.</a:t>
            </a:r>
          </a:p>
          <a:p>
            <a:r>
              <a:t>- CSV 25개의 위치를 찾아 종합실습 입력을 확정합니다</a:t>
            </a:r>
          </a:p>
          <a:p>
            <a:r>
              <a:t>다음 Q의 작업은 아직 시작하지 않습니다.</a:t>
            </a:r>
          </a:p>
          <a:p>
            <a:endParaRPr/>
          </a:p>
          <a:p>
            <a:r>
              <a:t>[현재 준비되어 있는 데이터]</a:t>
            </a:r>
          </a:p>
          <a:p>
            <a:r>
              <a:t>DATA_DIR은 02_week2 데이터 폴더입니다. 종합실습을 새로 시작하므로 앞 교시의 batch_files 변수를 가져오지 않고 다시 만듭니다.</a:t>
            </a:r>
          </a:p>
          <a:p>
            <a:endParaRPr/>
          </a:p>
          <a:p>
            <a:r>
              <a:t>[실행하면 새로 생기거나 바뀌는 것]</a:t>
            </a:r>
          </a:p>
          <a:p>
            <a:r>
              <a:t>batch_files는 Path 25개 list입니다.</a:t>
            </a:r>
          </a:p>
          <a:p>
            <a:endParaRPr/>
          </a:p>
          <a:p>
            <a:r>
              <a:t>[왜 이 작업을 하나요?]</a:t>
            </a:r>
          </a:p>
          <a:p>
            <a:r>
              <a:t>종합실습의 입력 범위를 스스로 확정합니다.</a:t>
            </a:r>
          </a:p>
          <a:p>
            <a:r>
              <a:t>종합실습에서는 입력 범위를 스스로 확정한 뒤에만 다음 단계로 갑니다. assert가 실패하면 병합을 시작하지 않습니다.</a:t>
            </a:r>
          </a:p>
          <a:p>
            <a:endParaRPr/>
          </a:p>
          <a:p>
            <a:r>
              <a:t>[학생이 채울 빈칸]</a:t>
            </a:r>
          </a:p>
          <a:p>
            <a:r>
              <a:t>1. 첫 빈칸은 문자열 "activity_batches"입니다.</a:t>
            </a:r>
          </a:p>
          <a:p>
            <a:r>
              <a:t>2. 둘째 빈칸은 문자열 "activity_batch_*.csv"입니다.</a:t>
            </a:r>
          </a:p>
          <a:p>
            <a:r>
              <a:t>3. 셋째 빈칸은 25입니다. 발견 파일 수를 assert로 검사합니다.</a:t>
            </a:r>
          </a:p>
          <a:p>
            <a:endParaRPr/>
          </a:p>
          <a:p>
            <a:r>
              <a:t>[강사용 완성 코드]</a:t>
            </a:r>
          </a:p>
          <a:p>
            <a:r>
              <a:t>batch_dir = DATA_DIR / "activity_batches"</a:t>
            </a:r>
          </a:p>
          <a:p>
            <a:r>
              <a:t>batch_files = sorted(batch_dir.glob("activity_batch_*.csv"))</a:t>
            </a:r>
          </a:p>
          <a:p>
            <a:r>
              <a:t>assert len(batch_files) == 25</a:t>
            </a:r>
          </a:p>
          <a:p>
            <a:r>
              <a:t>print(batch_files[0].name, batch_files[-1].name)</a:t>
            </a:r>
          </a:p>
          <a:p>
            <a:endParaRPr/>
          </a:p>
          <a:p>
            <a:r>
              <a:t>[코드를 위에서 아래로 읽기]</a:t>
            </a:r>
          </a:p>
          <a:p>
            <a:r>
              <a:t>batch_dir은 폴더 Path, batch_files는 정렬된 파일 Path 25개 list입니다. 첫 파일과 마지막 파일 이름으로 범위도 확인합니다.</a:t>
            </a:r>
          </a:p>
          <a:p>
            <a:endParaRPr/>
          </a:p>
          <a:p>
            <a:r>
              <a:t>정렬은 이후 결과와 오류 재현 순서를 고정합니다.</a:t>
            </a:r>
          </a:p>
          <a:p>
            <a:r>
              <a:t>glob 괄호 안에는 찾을 파일명의 규칙을 문자열로 넣습니다. 별표(*)는 파일마다 달라지는 글자 부분을 대신합니다.</a:t>
            </a:r>
          </a:p>
          <a:p>
            <a:r>
              <a:t>sorted는 전달받은 값을 정렬한 새 list를 돌려줍니다. 원래 list를 직접 고치는 sort 메서드와 구분합니다.</a:t>
            </a:r>
          </a:p>
          <a:p>
            <a:r>
              <a:t>assert 뒤 조건이 True이면 조용히 다음 줄로 넘어가고, False이면 그 자리에서 멈춰 잘못된 결과가 다음 단계로 넘어가지 않게 합니다.</a:t>
            </a:r>
          </a:p>
          <a:p>
            <a:endParaRPr/>
          </a:p>
          <a:p>
            <a:r>
              <a:t>[실행하기 전에 먼저 물을 질문]</a:t>
            </a:r>
          </a:p>
          <a:p>
            <a:r>
              <a:t>처음부터 다시 시작할 때 가장 먼저 어떤 파일들을 사용할지 어떻게 확인할까요?</a:t>
            </a:r>
          </a:p>
          <a:p>
            <a:endParaRPr/>
          </a:p>
          <a:p>
            <a:r>
              <a:t>[기대 답]</a:t>
            </a:r>
          </a:p>
          <a:p>
            <a:r>
              <a:t>폴더와 파일명 규칙으로 Path 25개를 찾고 개수와 첫·마지막 이름을 확인합니다.</a:t>
            </a:r>
          </a:p>
          <a:p>
            <a:endParaRPr/>
          </a:p>
          <a:p>
            <a:r>
              <a:t>[정상 결과]</a:t>
            </a:r>
          </a:p>
          <a:p>
            <a:r>
              <a:t>activity_batch_01.csv activity_batch_25.csv</a:t>
            </a:r>
          </a:p>
          <a:p>
            <a:endParaRPr/>
          </a:p>
          <a:p>
            <a:r>
              <a:t>[이 결과를 읽는 법]</a:t>
            </a:r>
          </a:p>
          <a:p>
            <a:r>
              <a:t>정상 결과는 activity_batch_01.csv activity_batch_25.csv입니다. 종합실습에서는 입력 범위를 스스로 확정한 뒤에만 다음 단계로 갑니다. assert가 실패하면 병합을 시작하지 않습니다.</a:t>
            </a:r>
          </a:p>
          <a:p>
            <a:endParaRPr/>
          </a:p>
          <a:p>
            <a:r>
              <a:t>[학생에게 이렇게 설명합니다]</a:t>
            </a:r>
          </a:p>
          <a:p>
            <a:r>
              <a:t>“먼저 '처음부터 다시 시작할 때 가장 먼저 어떤 파일들을 사용할지 어떻게 확인할까요?'에 답해 보세요. 그다음 노트북 Q1에서 빈칸만 채웁니다. 첫 빈칸은 문자열 "activity_batches"입니다. 둘째 빈칸은 문자열 "activity_batch_*.csv"입니다. 셋째 빈칸은 25입니다. 발견 파일 수를 assert로 검사합니다.”</a:t>
            </a:r>
          </a:p>
          <a:p>
            <a:endParaRPr/>
          </a:p>
          <a:p>
            <a:r>
              <a:t>[학생이 하는 일]</a:t>
            </a:r>
          </a:p>
          <a:p>
            <a:r>
              <a:t>1. 노트북에서 Q1를 찾습니다.</a:t>
            </a:r>
          </a:p>
          <a:p>
            <a:r>
              <a:t>2. 처음부터 다시 시작할 때 가장 먼저 어떤 파일들을 사용할지 어떻게 확인할까요?</a:t>
            </a:r>
          </a:p>
          <a:p>
            <a:r>
              <a:t>3. 자기 답을 먼저 적은 뒤 ___ 3개만 채웁니다.</a:t>
            </a:r>
          </a:p>
          <a:p>
            <a:r>
              <a:t>4. 실행한 뒤 다음 정상 결과와 비교합니다: activity_batch_01.csv activity_batch_25.csv</a:t>
            </a:r>
          </a:p>
          <a:p>
            <a:r>
              <a:t>5. 결과가 다르면 바로 다음 Q로 가지 않고 아래 복구 순서를 따릅니다.</a:t>
            </a:r>
          </a:p>
          <a:p>
            <a:endParaRPr/>
          </a:p>
          <a:p>
            <a:r>
              <a:t>[오류가 나면]</a:t>
            </a:r>
          </a:p>
          <a:p>
            <a:r>
              <a:t>증상: AssertionError</a:t>
            </a:r>
          </a:p>
          <a:p>
            <a:r>
              <a:t>복구: 폴더·패턴·첫 파일·마지막 파일을 차례로 출력합니다.</a:t>
            </a:r>
          </a:p>
          <a:p>
            <a:r>
              <a:t>먼저 오류 메시지의 마지막 줄을 읽고, 이 Q의 입력 변수가 직전 셀에서 만들어졌는지 확인합니다.</a:t>
            </a:r>
          </a:p>
          <a:p>
            <a:endParaRPr/>
          </a:p>
          <a:p>
            <a:r>
              <a:t>[학생이 직접 써야 하는 범위]</a:t>
            </a:r>
          </a:p>
          <a:p>
            <a:r>
              <a:t>학생은 ___ 부분만 직접 입력합니다. 출력 확인용 print, 긴 열 목록, 검증용 assert는 제공된 코드를 읽고 결과를 확인하는 데 집중합니다.</a:t>
            </a:r>
          </a:p>
          <a:p>
            <a:endParaRPr/>
          </a:p>
          <a:p>
            <a:r>
              <a:t>[다음 장 연결]</a:t>
            </a:r>
          </a:p>
          <a:p>
            <a:r>
              <a:t>다음 장에서 완성 코드가 값을 만드는 순서를 읽습니다.</a:t>
            </a:r>
          </a:p>
          <a:p>
            <a:endParaRPr/>
          </a:p>
          <a:p>
            <a:r>
              <a:t>[자료 사용]</a:t>
            </a:r>
          </a:p>
          <a:p>
            <a:r>
              <a:t>PPT에는 Q1의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0:05~0:12</a:t>
            </a:r>
          </a:p>
          <a:p>
            <a:endParaRPr/>
          </a:p>
          <a:p>
            <a:r>
              <a:t>[이 장의 목표]</a:t>
            </a:r>
          </a:p>
          <a:p>
            <a:r>
              <a:t>방금 완성한 코드를 다시 타이핑하지 않고, 각 줄에서 어떤 입력이 들어가고 어느 변수에 결과가 저장되는지 읽습니다.</a:t>
            </a:r>
          </a:p>
          <a:p>
            <a:endParaRPr/>
          </a:p>
          <a:p>
            <a:r>
              <a:t>[코드를 읽기 전의 상태]</a:t>
            </a:r>
          </a:p>
          <a:p>
            <a:r>
              <a:t>DATA_DIR은 02_week2 데이터 폴더입니다. 종합실습을 새로 시작하므로 앞 교시의 batch_files 변수를 가져오지 않고 다시 만듭니다.</a:t>
            </a:r>
          </a:p>
          <a:p>
            <a:endParaRPr/>
          </a:p>
          <a:p>
            <a:r>
              <a:t>[완성 코드]</a:t>
            </a:r>
          </a:p>
          <a:p>
            <a:r>
              <a:t>batch_dir = DATA_DIR / "activity_batches"</a:t>
            </a:r>
          </a:p>
          <a:p>
            <a:r>
              <a:t>batch_files = sorted(batch_dir.glob("activity_batch_*.csv"))</a:t>
            </a:r>
          </a:p>
          <a:p>
            <a:r>
              <a:t>assert len(batch_files) == 25</a:t>
            </a:r>
          </a:p>
          <a:p>
            <a:r>
              <a:t>print(batch_files[0].name, batch_files[-1].name)</a:t>
            </a:r>
          </a:p>
          <a:p>
            <a:endParaRPr/>
          </a:p>
          <a:p>
            <a:r>
              <a:t>[코드가 움직이는 순서]</a:t>
            </a:r>
          </a:p>
          <a:p>
            <a:r>
              <a:t>batch_dir은 폴더 Path, batch_files는 정렬된 파일 Path 25개 list입니다. 첫 파일과 마지막 파일 이름으로 범위도 확인합니다.</a:t>
            </a:r>
          </a:p>
          <a:p>
            <a:endParaRPr/>
          </a:p>
          <a:p>
            <a:r>
              <a:t>[기능·기호를 쉽게 읽기]</a:t>
            </a:r>
          </a:p>
          <a:p>
            <a:r>
              <a:t>정렬은 이후 결과와 오류 재현 순서를 고정합니다.</a:t>
            </a:r>
          </a:p>
          <a:p>
            <a:r>
              <a:t>glob 괄호 안에는 찾을 파일명의 규칙을 문자열로 넣습니다. 별표(*)는 파일마다 달라지는 글자 부분을 대신합니다.</a:t>
            </a:r>
          </a:p>
          <a:p>
            <a:r>
              <a:t>sorted는 전달받은 값을 정렬한 새 list를 돌려줍니다. 원래 list를 직접 고치는 sort 메서드와 구분합니다.</a:t>
            </a:r>
          </a:p>
          <a:p>
            <a:r>
              <a:t>assert 뒤 조건이 True이면 조용히 다음 줄로 넘어가고, False이면 그 자리에서 멈춰 잘못된 결과가 다음 단계로 넘어가지 않게 합니다.</a:t>
            </a:r>
          </a:p>
          <a:p>
            <a:endParaRPr/>
          </a:p>
          <a:p>
            <a:r>
              <a:t>[값이 저장되는 곳]</a:t>
            </a:r>
          </a:p>
          <a:p>
            <a:r>
              <a:t>batch_dir, batch_files 이름에 새 값이 저장되거나 기존 값이 갱신됩니다. 등호 왼쪽은 저장할 이름이고, 오른쪽은 그 값을 만드는 계산입니다. 함수나 메서드가 새 값을 돌려주어도 등호로 받지 않으면 다음 줄에서 그 결과를 이름으로 다시 쓰기 어렵습니다.</a:t>
            </a:r>
          </a:p>
          <a:p>
            <a:endParaRPr/>
          </a:p>
          <a:p>
            <a:r>
              <a:t>[괄호·대괄호·따옴표]</a:t>
            </a:r>
          </a:p>
          <a:p>
            <a:r>
              <a:t>소괄호 ()는 기능을 실행하며 필요한 값을 전달하는 자리입니다. 대괄호 []는 list의 위치나 DataFrame의 열을 고릅니다. 따옴표 안의 글자는 Python 변수 이름이 아니라 파일명·열 이름·설정값 같은 문자열입니다.</a:t>
            </a:r>
          </a:p>
          <a:p>
            <a:endParaRPr/>
          </a:p>
          <a:p>
            <a:r>
              <a:t>[학생에게 이렇게 설명합니다]</a:t>
            </a:r>
          </a:p>
          <a:p>
            <a:r>
              <a:t>“batch_dir은 폴더 Path, batch_files는 정렬된 파일 Path 25개 list입니다. 첫 파일과 마지막 파일 이름으로 범위도 확인합니다. 실행 결과는 등호 왼쪽 변수에 저장됩니다. 원본 자료를 직접 바꾸는지 새 자료를 만드는지도 함께 구분합니다.”</a:t>
            </a:r>
          </a:p>
          <a:p>
            <a:endParaRPr/>
          </a:p>
          <a:p>
            <a:r>
              <a:t>[학생에게 물을 질문]</a:t>
            </a:r>
          </a:p>
          <a:p>
            <a:r>
              <a:t>처음부터 다시 시작할 때 가장 먼저 어떤 파일들을 사용할지 어떻게 확인할까요?</a:t>
            </a:r>
          </a:p>
          <a:p>
            <a:endParaRPr/>
          </a:p>
          <a:p>
            <a:r>
              <a:t>[기대 답]</a:t>
            </a:r>
          </a:p>
          <a:p>
            <a:r>
              <a:t>폴더와 파일명 규칙으로 Path 25개를 찾고 개수와 첫·마지막 이름을 확인합니다.</a:t>
            </a:r>
          </a:p>
          <a:p>
            <a:endParaRPr/>
          </a:p>
          <a:p>
            <a:r>
              <a:t>[다음 장 연결]</a:t>
            </a:r>
          </a:p>
          <a:p>
            <a:r>
              <a:t>다음 장에서 정상 결과와 자주 생기는 오류를 비교합니다.</a:t>
            </a:r>
          </a:p>
          <a:p>
            <a:endParaRPr/>
          </a:p>
          <a:p>
            <a:r>
              <a:t>[자료 사용]</a:t>
            </a:r>
          </a:p>
          <a:p>
            <a:r>
              <a:t>PPT에는 Q1의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0:05~0:12</a:t>
            </a:r>
          </a:p>
          <a:p>
            <a:endParaRPr/>
          </a:p>
          <a:p>
            <a:r>
              <a:t>[이 장의 목표]</a:t>
            </a:r>
          </a:p>
          <a:p>
            <a:r>
              <a:t>Q1 코드가 단순히 멈추지 않고 실행된 것이 아니라, 우리가 기대한 자료의 크기·개수·자료형을 만들었는지 확인합니다.</a:t>
            </a:r>
          </a:p>
          <a:p>
            <a:endParaRPr/>
          </a:p>
          <a:p>
            <a:r>
              <a:t>[정상 결과]</a:t>
            </a:r>
          </a:p>
          <a:p>
            <a:r>
              <a:t>activity_batch_01.csv activity_batch_25.csv</a:t>
            </a:r>
          </a:p>
          <a:p>
            <a:endParaRPr/>
          </a:p>
          <a:p>
            <a:r>
              <a:t>[결과를 어떻게 읽나요?]</a:t>
            </a:r>
          </a:p>
          <a:p>
            <a:r>
              <a:t>batch_dir은 폴더 Path, batch_files는 정렬된 파일 Path 25개 list입니다. 첫 파일과 마지막 파일 이름으로 범위도 확인합니다.</a:t>
            </a:r>
          </a:p>
          <a:p>
            <a:r>
              <a:t>종합실습에서는 입력 범위를 스스로 확정한 뒤에만 다음 단계로 갑니다. assert가 실패하면 병합을 시작하지 않습니다.</a:t>
            </a:r>
          </a:p>
          <a:p>
            <a:endParaRPr/>
          </a:p>
          <a:p>
            <a:r>
              <a:t>[어떤 부분을 화면에서 가리키나요?]</a:t>
            </a:r>
          </a:p>
          <a:p>
            <a:r>
              <a:t>출력에서 activity_batch_01.csv activity_batch_25.csv 부분을 가리킵니다. 여러 숫자가 있다면 앞 숫자와 뒤 숫자가 각각 무엇을 세는지 구분해서 말합니다.</a:t>
            </a:r>
          </a:p>
          <a:p>
            <a:endParaRPr/>
          </a:p>
          <a:p>
            <a:r>
              <a:t>[학생에게 이렇게 설명합니다]</a:t>
            </a:r>
          </a:p>
          <a:p>
            <a:r>
              <a:t>“정상 결과는 activity_batch_01.csv activity_batch_25.csv입니다. 종합실습에서는 입력 범위를 스스로 확정한 뒤에만 다음 단계로 갑니다. assert가 실패하면 병합을 시작하지 않습니다.”</a:t>
            </a:r>
          </a:p>
          <a:p>
            <a:endParaRPr/>
          </a:p>
          <a:p>
            <a:r>
              <a:t>[학생에게 물을 질문]</a:t>
            </a:r>
          </a:p>
          <a:p>
            <a:r>
              <a:t>처음부터 다시 시작할 때 가장 먼저 어떤 파일들을 사용할지 어떻게 확인할까요?</a:t>
            </a:r>
          </a:p>
          <a:p>
            <a:endParaRPr/>
          </a:p>
          <a:p>
            <a:r>
              <a:t>[기대 답]</a:t>
            </a:r>
          </a:p>
          <a:p>
            <a:r>
              <a:t>폴더와 파일명 규칙으로 Path 25개를 찾고 개수와 첫·마지막 이름을 확인합니다.</a:t>
            </a:r>
          </a:p>
          <a:p>
            <a:endParaRPr/>
          </a:p>
          <a:p>
            <a:r>
              <a:t>[정상처럼 보여도 주의할 점]</a:t>
            </a:r>
          </a:p>
          <a:p>
            <a:r>
              <a:t>종합실습에서는 입력 범위를 스스로 확정한 뒤에만 다음 단계로 갑니다. assert가 실패하면 병합을 시작하지 않습니다.</a:t>
            </a:r>
          </a:p>
          <a:p>
            <a:endParaRPr/>
          </a:p>
          <a:p>
            <a:r>
              <a:t>[오류가 나면]</a:t>
            </a:r>
          </a:p>
          <a:p>
            <a:r>
              <a:t>보이는 증상: AssertionError</a:t>
            </a:r>
          </a:p>
          <a:p>
            <a:r>
              <a:t>1. 오류 메시지 마지막 줄에서 오류 종류와 변수명을 찾습니다.</a:t>
            </a:r>
          </a:p>
          <a:p>
            <a:r>
              <a:t>2. 폴더·패턴·첫 파일·마지막 파일을 차례로 출력합니다.</a:t>
            </a:r>
          </a:p>
          <a:p>
            <a:r>
              <a:t>3. 직전 셀부터 다시 실행하고 Q1의 정상 결과를 다시 확인합니다.</a:t>
            </a:r>
          </a:p>
          <a:p>
            <a:endParaRPr/>
          </a:p>
          <a:p>
            <a:r>
              <a:t>[다음 장 연결]</a:t>
            </a:r>
          </a:p>
          <a:p>
            <a:r>
              <a:t>다음은 Q2로 이동합니다.</a:t>
            </a:r>
          </a:p>
          <a:p>
            <a:endParaRPr/>
          </a:p>
          <a:p>
            <a:r>
              <a:t>[자료 사용]</a:t>
            </a:r>
          </a:p>
          <a:p>
            <a:r>
              <a:t>PPT에는 Q1의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0:12~0:19</a:t>
            </a:r>
          </a:p>
          <a:p>
            <a:endParaRPr/>
          </a:p>
          <a:p>
            <a:r>
              <a:t>[이 장에서 먼저 이해할 것]</a:t>
            </a:r>
          </a:p>
          <a:p>
            <a:r>
              <a:t>여러 파일 결합과 추적 가능성을 동시에 완성합니다.</a:t>
            </a:r>
          </a:p>
          <a:p>
            <a:endParaRPr/>
          </a:p>
          <a:p>
            <a:r>
              <a:t>[현재 가지고 있는 자료]</a:t>
            </a:r>
          </a:p>
          <a:p>
            <a:r>
              <a:t>batch_files에는 검증된 Path 25개가 있습니다. frames는 빈 list이고 one에는 반복할 때마다 읽은 DataFrame 한 개가 들어갑니다.</a:t>
            </a:r>
          </a:p>
          <a:p>
            <a:endParaRPr/>
          </a:p>
          <a:p>
            <a:r>
              <a:t>[이 작업이 필요한 이유]</a:t>
            </a:r>
          </a:p>
          <a:p>
            <a:r>
              <a:t>source_file 덕분에 30,000행 각각의 출처를 추적할 수 있습니다. 원본 CSV는 수정되지 않습니다.</a:t>
            </a:r>
          </a:p>
          <a:p>
            <a:endParaRPr/>
          </a:p>
          <a:p>
            <a:r>
              <a:t>[학생에게 이렇게 설명합니다]</a:t>
            </a:r>
          </a:p>
          <a:p>
            <a:r>
              <a:t>“batch_files에는 검증된 Path 25개가 있습니다. frames는 빈 list이고 one에는 반복할 때마다 읽은 DataFrame 한 개가 들어갑니다. 이번에는 각 행에 출처를 남기며 CSV 25개를 30,000행으로 합칩니다. source_file 덕분에 30,000행 각각의 출처를 추적할 수 있습니다. 원본 CSV는 수정되지 않습니다.”</a:t>
            </a:r>
          </a:p>
          <a:p>
            <a:endParaRPr/>
          </a:p>
          <a:p>
            <a:r>
              <a:t>[학생에게 확인할 질문]</a:t>
            </a:r>
          </a:p>
          <a:p>
            <a:r>
              <a:t>합치기만 가능해도 source_file 열을 남겨야 하는 이유는 무엇일까요?</a:t>
            </a:r>
          </a:p>
          <a:p>
            <a:endParaRPr/>
          </a:p>
          <a:p>
            <a:r>
              <a:t>[예상 답]</a:t>
            </a:r>
          </a:p>
          <a:p>
            <a:r>
              <a:t>이상한 행이 나왔을 때 어느 원본 CSV에서 왔는지 다시 찾기 위해서입니다.</a:t>
            </a:r>
          </a:p>
          <a:p>
            <a:endParaRPr/>
          </a:p>
          <a:p>
            <a:r>
              <a:t>[학생이 하는 일]</a:t>
            </a:r>
          </a:p>
          <a:p>
            <a:r>
              <a:t>코드를 실행하기 전에 질문의 답과 예상 결과를 노트북에 적습니다.</a:t>
            </a:r>
          </a:p>
          <a:p>
            <a:endParaRPr/>
          </a:p>
          <a:p>
            <a:r>
              <a:t>[다음 장 연결]</a:t>
            </a:r>
          </a:p>
          <a:p>
            <a:r>
              <a:t>다음 장에서 현재 다루는 자료가 어떤 형태인지 확인합니다.</a:t>
            </a:r>
          </a:p>
          <a:p>
            <a:endParaRPr/>
          </a:p>
          <a:p>
            <a:r>
              <a:t>[자료 사용]</a:t>
            </a:r>
          </a:p>
          <a:p>
            <a:r>
              <a:t>PPT에는 Q2의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0:12~0:19</a:t>
            </a:r>
          </a:p>
          <a:p>
            <a:endParaRPr/>
          </a:p>
          <a:p>
            <a:r>
              <a:t>[이 장에서 설명할 것]</a:t>
            </a:r>
          </a:p>
          <a:p>
            <a:r>
              <a:t>코드에 들어가는 값과 실행 뒤 생기는 값의 자료구조를 구분합니다.</a:t>
            </a:r>
          </a:p>
          <a:p>
            <a:endParaRPr/>
          </a:p>
          <a:p>
            <a:r>
              <a:t>[지금 준비된 자료]</a:t>
            </a:r>
          </a:p>
          <a:p>
            <a:r>
              <a:t>batch_files에는 검증된 Path 25개가 있습니다. frames는 빈 list이고 one에는 반복할 때마다 읽은 DataFrame 한 개가 들어갑니다.</a:t>
            </a:r>
          </a:p>
          <a:p>
            <a:endParaRPr/>
          </a:p>
          <a:p>
            <a:r>
              <a:t>[실행 뒤 생기는 자료]</a:t>
            </a:r>
          </a:p>
          <a:p>
            <a:r>
              <a:t>activity는 30,000행×10열 DataFrame입니다.</a:t>
            </a:r>
          </a:p>
          <a:p>
            <a:endParaRPr/>
          </a:p>
          <a:p>
            <a:r>
              <a:t>[학생에게 이렇게 설명합니다]</a:t>
            </a:r>
          </a:p>
          <a:p>
            <a:r>
              <a:t>“실행 전에는 batch_files에는 검증된 Path 25개가 있습니다. frames는 빈 list이고 one에는 반복할 때마다 읽은 DataFrame 한 개가 들어갑니다. 실행하면 activity는 30,000행×10열 DataFrame입니다. 반복 안에서 one은 매번 새 DataFrame을 가리키지만 append된 이전 DataFrame들은 frames에 남습니다. activity는 concat이 새로 만든 최종 DataFrame입니다.”</a:t>
            </a:r>
          </a:p>
          <a:p>
            <a:endParaRPr/>
          </a:p>
          <a:p>
            <a:r>
              <a:t>[학생에게 확인할 질문]</a:t>
            </a:r>
          </a:p>
          <a:p>
            <a:r>
              <a:t>합치기만 가능해도 source_file 열을 남겨야 하는 이유는 무엇일까요?</a:t>
            </a:r>
          </a:p>
          <a:p>
            <a:endParaRPr/>
          </a:p>
          <a:p>
            <a:r>
              <a:t>[예상 답]</a:t>
            </a:r>
          </a:p>
          <a:p>
            <a:r>
              <a:t>이상한 행이 나왔을 때 어느 원본 CSV에서 왔는지 다시 찾기 위해서입니다.</a:t>
            </a:r>
          </a:p>
          <a:p>
            <a:endParaRPr/>
          </a:p>
          <a:p>
            <a:r>
              <a:t>[다음 장 연결]</a:t>
            </a:r>
          </a:p>
          <a:p>
            <a:r>
              <a:t>다음 장에서 노트북의 같은 Q 빈칸을 직접 채웁니다.</a:t>
            </a:r>
          </a:p>
          <a:p>
            <a:endParaRPr/>
          </a:p>
          <a:p>
            <a:r>
              <a:t>[자료 사용]</a:t>
            </a:r>
          </a:p>
          <a:p>
            <a:r>
              <a:t>PPT에는 Q2의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0:12~0:19</a:t>
            </a:r>
          </a:p>
          <a:p>
            <a:endParaRPr/>
          </a:p>
          <a:p>
            <a:r>
              <a:t>[이 장의 목표]</a:t>
            </a:r>
          </a:p>
          <a:p>
            <a:r>
              <a:t>학생용 노트북 Q2에서 코드의 ___ 3개를 직접 채웁니다. 이번에는 아래 한 단계에 집중합니다.</a:t>
            </a:r>
          </a:p>
          <a:p>
            <a:r>
              <a:t>- 각 행에 출처를 남기며 CSV 25개를 30,000행으로 합칩니다</a:t>
            </a:r>
          </a:p>
          <a:p>
            <a:r>
              <a:t>다음 Q의 작업은 아직 시작하지 않습니다.</a:t>
            </a:r>
          </a:p>
          <a:p>
            <a:endParaRPr/>
          </a:p>
          <a:p>
            <a:r>
              <a:t>[현재 준비되어 있는 데이터]</a:t>
            </a:r>
          </a:p>
          <a:p>
            <a:r>
              <a:t>batch_files에는 검증된 Path 25개가 있습니다. frames는 빈 list이고 one에는 반복할 때마다 읽은 DataFrame 한 개가 들어갑니다.</a:t>
            </a:r>
          </a:p>
          <a:p>
            <a:endParaRPr/>
          </a:p>
          <a:p>
            <a:r>
              <a:t>[실행하면 새로 생기거나 바뀌는 것]</a:t>
            </a:r>
          </a:p>
          <a:p>
            <a:r>
              <a:t>activity는 30,000행×10열 DataFrame입니다.</a:t>
            </a:r>
          </a:p>
          <a:p>
            <a:endParaRPr/>
          </a:p>
          <a:p>
            <a:r>
              <a:t>[왜 이 작업을 하나요?]</a:t>
            </a:r>
          </a:p>
          <a:p>
            <a:r>
              <a:t>여러 파일 결합과 추적 가능성을 동시에 완성합니다.</a:t>
            </a:r>
          </a:p>
          <a:p>
            <a:r>
              <a:t>source_file 덕분에 30,000행 각각의 출처를 추적할 수 있습니다. 원본 CSV는 수정되지 않습니다.</a:t>
            </a:r>
          </a:p>
          <a:p>
            <a:endParaRPr/>
          </a:p>
          <a:p>
            <a:r>
              <a:t>[학생이 채울 빈칸]</a:t>
            </a:r>
          </a:p>
          <a:p>
            <a:r>
              <a:t>1. 첫 빈칸은 file_path.name입니다. source_file 열에 현재 원본 파일명을 남깁니다.</a:t>
            </a:r>
          </a:p>
          <a:p>
            <a:r>
              <a:t>2. 둘째 빈칸은 concat입니다. frames의 DataFrame 25개를 아래로 잇습니다.</a:t>
            </a:r>
          </a:p>
          <a:p>
            <a:r>
              <a:t>3. 셋째 빈칸은 tuple (30000, 10)입니다. 결과 크기를 자동 검사합니다.</a:t>
            </a:r>
          </a:p>
          <a:p>
            <a:endParaRPr/>
          </a:p>
          <a:p>
            <a:r>
              <a:t>[강사용 완성 코드]</a:t>
            </a:r>
          </a:p>
          <a:p>
            <a:r>
              <a:t>frames = []</a:t>
            </a:r>
          </a:p>
          <a:p>
            <a:r>
              <a:t>for file_path in batch_files:</a:t>
            </a:r>
          </a:p>
          <a:p>
            <a:r>
              <a:t>    one = pd.read_csv(file_path)</a:t>
            </a:r>
          </a:p>
          <a:p>
            <a:r>
              <a:t>    one["source_file"] = file_path.name</a:t>
            </a:r>
          </a:p>
          <a:p>
            <a:r>
              <a:t>    frames.append(one)</a:t>
            </a:r>
          </a:p>
          <a:p>
            <a:r>
              <a:t>activity = pd.concat(frames, ignore_index=True)</a:t>
            </a:r>
          </a:p>
          <a:p>
            <a:r>
              <a:t>assert activity.shape == (30000, 10)</a:t>
            </a:r>
          </a:p>
          <a:p>
            <a:endParaRPr/>
          </a:p>
          <a:p>
            <a:r>
              <a:t>[코드를 위에서 아래로 읽기]</a:t>
            </a:r>
          </a:p>
          <a:p>
            <a:r>
              <a:t>반복 안에서 one은 매번 새 DataFrame을 가리키지만 append된 이전 DataFrame들은 frames에 남습니다. activity는 concat이 새로 만든 최종 DataFrame입니다.</a:t>
            </a:r>
          </a:p>
          <a:p>
            <a:endParaRPr/>
          </a:p>
          <a:p>
            <a:r>
              <a:t>for는 읽기와 출처 붙이기를 파일 25개에 똑같이 반복합니다.</a:t>
            </a:r>
          </a:p>
          <a:p>
            <a:r>
              <a:t>pd.read_csv는 파일 경로를 받아 표 내용을 Pandas DataFrame으로 읽습니다. 등호 왼쪽 변수에 읽은 표가 저장됩니다.</a:t>
            </a:r>
          </a:p>
          <a:p>
            <a:r>
              <a:t>for는 오른쪽 묶음에서 값을 하나씩 꺼내 같은 들여쓰기 블록을 반복합니다. 반복할 때의 임시 값은 for 뒤 변수에 들어갑니다.</a:t>
            </a:r>
          </a:p>
          <a:p>
            <a:r>
              <a:t>append는 괄호 안의 객체 전체를 list의 항목 하나로 추가합니다. 여기서는 DataFrame 한 개가 frames의 항목 하나가 됩니다.</a:t>
            </a:r>
          </a:p>
          <a:p>
            <a:r>
              <a:t>pd.concat은 frames list 안의 DataFrame들을 이어 하나의 DataFrame을 돌려줍니다. ignore_index=True이면 새 행 번호를 0부터 다시 붙입니다.</a:t>
            </a:r>
          </a:p>
          <a:p>
            <a:r>
              <a:t>assert 뒤 조건이 True이면 조용히 다음 줄로 넘어가고, False이면 그 자리에서 멈춰 잘못된 결과가 다음 단계로 넘어가지 않게 합니다.</a:t>
            </a:r>
          </a:p>
          <a:p>
            <a:endParaRPr/>
          </a:p>
          <a:p>
            <a:r>
              <a:t>[실행하기 전에 먼저 물을 질문]</a:t>
            </a:r>
          </a:p>
          <a:p>
            <a:r>
              <a:t>합치기만 가능해도 source_file 열을 남겨야 하는 이유는 무엇일까요?</a:t>
            </a:r>
          </a:p>
          <a:p>
            <a:endParaRPr/>
          </a:p>
          <a:p>
            <a:r>
              <a:t>[기대 답]</a:t>
            </a:r>
          </a:p>
          <a:p>
            <a:r>
              <a:t>이상한 행이 나왔을 때 어느 원본 CSV에서 왔는지 다시 찾기 위해서입니다.</a:t>
            </a:r>
          </a:p>
          <a:p>
            <a:endParaRPr/>
          </a:p>
          <a:p>
            <a:r>
              <a:t>[정상 결과]</a:t>
            </a:r>
          </a:p>
          <a:p>
            <a:r>
              <a:t>assert 통과, (30000, 10)</a:t>
            </a:r>
          </a:p>
          <a:p>
            <a:endParaRPr/>
          </a:p>
          <a:p>
            <a:r>
              <a:t>[이 결과를 읽는 법]</a:t>
            </a:r>
          </a:p>
          <a:p>
            <a:r>
              <a:t>정상 결과는 assert 통과, (30000, 10)입니다. source_file 덕분에 30,000행 각각의 출처를 추적할 수 있습니다. 원본 CSV는 수정되지 않습니다.</a:t>
            </a:r>
          </a:p>
          <a:p>
            <a:endParaRPr/>
          </a:p>
          <a:p>
            <a:r>
              <a:t>[학생에게 이렇게 설명합니다]</a:t>
            </a:r>
          </a:p>
          <a:p>
            <a:r>
              <a:t>“먼저 '합치기만 가능해도 source_file 열을 남겨야 하는 이유는 무엇일까요?'에 답해 보세요. 그다음 노트북 Q2에서 빈칸만 채웁니다. 첫 빈칸은 file_path.name입니다. source_file 열에 현재 원본 파일명을 남깁니다. 둘째 빈칸은 concat입니다. frames의 DataFrame 25개를 아래로 잇습니다. 셋째 빈칸은 tuple (30000, 10)입니다. 결과 크기를 자동 검사합니다.”</a:t>
            </a:r>
          </a:p>
          <a:p>
            <a:endParaRPr/>
          </a:p>
          <a:p>
            <a:r>
              <a:t>[학생이 하는 일]</a:t>
            </a:r>
          </a:p>
          <a:p>
            <a:r>
              <a:t>1. 노트북에서 Q2를 찾습니다.</a:t>
            </a:r>
          </a:p>
          <a:p>
            <a:r>
              <a:t>2. 합치기만 가능해도 source_file 열을 남겨야 하는 이유는 무엇일까요?</a:t>
            </a:r>
          </a:p>
          <a:p>
            <a:r>
              <a:t>3. 자기 답을 먼저 적은 뒤 ___ 3개만 채웁니다.</a:t>
            </a:r>
          </a:p>
          <a:p>
            <a:r>
              <a:t>4. 실행한 뒤 다음 정상 결과와 비교합니다: assert 통과, (30000, 10)</a:t>
            </a:r>
          </a:p>
          <a:p>
            <a:r>
              <a:t>5. 결과가 다르면 바로 다음 Q로 가지 않고 아래 복구 순서를 따릅니다.</a:t>
            </a:r>
          </a:p>
          <a:p>
            <a:endParaRPr/>
          </a:p>
          <a:p>
            <a:r>
              <a:t>[오류가 나면]</a:t>
            </a:r>
          </a:p>
          <a:p>
            <a:r>
              <a:t>증상: 행·열 불일치</a:t>
            </a:r>
          </a:p>
          <a:p>
            <a:r>
              <a:t>복구: frames 길이와 첫 DataFrame shape를 확인합니다.</a:t>
            </a:r>
          </a:p>
          <a:p>
            <a:r>
              <a:t>먼저 오류 메시지의 마지막 줄을 읽고, 이 Q의 입력 변수가 직전 셀에서 만들어졌는지 확인합니다.</a:t>
            </a:r>
          </a:p>
          <a:p>
            <a:endParaRPr/>
          </a:p>
          <a:p>
            <a:r>
              <a:t>[학생이 직접 써야 하는 범위]</a:t>
            </a:r>
          </a:p>
          <a:p>
            <a:r>
              <a:t>학생은 ___ 부분만 직접 입력합니다. 출력 확인용 print, 긴 열 목록, 검증용 assert는 제공된 코드를 읽고 결과를 확인하는 데 집중합니다.</a:t>
            </a:r>
          </a:p>
          <a:p>
            <a:endParaRPr/>
          </a:p>
          <a:p>
            <a:r>
              <a:t>[다음 장 연결]</a:t>
            </a:r>
          </a:p>
          <a:p>
            <a:r>
              <a:t>다음 장에서 완성 코드가 값을 만드는 순서를 읽습니다.</a:t>
            </a:r>
          </a:p>
          <a:p>
            <a:endParaRPr/>
          </a:p>
          <a:p>
            <a:r>
              <a:t>[자료 사용]</a:t>
            </a:r>
          </a:p>
          <a:p>
            <a:r>
              <a:t>PPT에는 Q2의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0:12~0:19</a:t>
            </a:r>
          </a:p>
          <a:p>
            <a:endParaRPr/>
          </a:p>
          <a:p>
            <a:r>
              <a:t>[이 장의 목표]</a:t>
            </a:r>
          </a:p>
          <a:p>
            <a:r>
              <a:t>방금 완성한 코드를 다시 타이핑하지 않고, 각 줄에서 어떤 입력이 들어가고 어느 변수에 결과가 저장되는지 읽습니다.</a:t>
            </a:r>
          </a:p>
          <a:p>
            <a:endParaRPr/>
          </a:p>
          <a:p>
            <a:r>
              <a:t>[코드를 읽기 전의 상태]</a:t>
            </a:r>
          </a:p>
          <a:p>
            <a:r>
              <a:t>batch_files에는 검증된 Path 25개가 있습니다. frames는 빈 list이고 one에는 반복할 때마다 읽은 DataFrame 한 개가 들어갑니다.</a:t>
            </a:r>
          </a:p>
          <a:p>
            <a:endParaRPr/>
          </a:p>
          <a:p>
            <a:r>
              <a:t>[완성 코드]</a:t>
            </a:r>
          </a:p>
          <a:p>
            <a:r>
              <a:t>frames = []</a:t>
            </a:r>
          </a:p>
          <a:p>
            <a:r>
              <a:t>for file_path in batch_files:</a:t>
            </a:r>
          </a:p>
          <a:p>
            <a:r>
              <a:t>    one = pd.read_csv(file_path)</a:t>
            </a:r>
          </a:p>
          <a:p>
            <a:r>
              <a:t>    one["source_file"] = file_path.name</a:t>
            </a:r>
          </a:p>
          <a:p>
            <a:r>
              <a:t>    frames.append(one)</a:t>
            </a:r>
          </a:p>
          <a:p>
            <a:r>
              <a:t>activity = pd.concat(frames, ignore_index=True)</a:t>
            </a:r>
          </a:p>
          <a:p>
            <a:r>
              <a:t>assert activity.shape == (30000, 10)</a:t>
            </a:r>
          </a:p>
          <a:p>
            <a:endParaRPr/>
          </a:p>
          <a:p>
            <a:r>
              <a:t>[코드가 움직이는 순서]</a:t>
            </a:r>
          </a:p>
          <a:p>
            <a:r>
              <a:t>반복 안에서 one은 매번 새 DataFrame을 가리키지만 append된 이전 DataFrame들은 frames에 남습니다. activity는 concat이 새로 만든 최종 DataFrame입니다.</a:t>
            </a:r>
          </a:p>
          <a:p>
            <a:endParaRPr/>
          </a:p>
          <a:p>
            <a:r>
              <a:t>[기능·기호를 쉽게 읽기]</a:t>
            </a:r>
          </a:p>
          <a:p>
            <a:r>
              <a:t>for는 읽기와 출처 붙이기를 파일 25개에 똑같이 반복합니다.</a:t>
            </a:r>
          </a:p>
          <a:p>
            <a:r>
              <a:t>pd.read_csv는 파일 경로를 받아 표 내용을 Pandas DataFrame으로 읽습니다. 등호 왼쪽 변수에 읽은 표가 저장됩니다.</a:t>
            </a:r>
          </a:p>
          <a:p>
            <a:r>
              <a:t>for는 오른쪽 묶음에서 값을 하나씩 꺼내 같은 들여쓰기 블록을 반복합니다. 반복할 때의 임시 값은 for 뒤 변수에 들어갑니다.</a:t>
            </a:r>
          </a:p>
          <a:p>
            <a:r>
              <a:t>append는 괄호 안의 객체 전체를 list의 항목 하나로 추가합니다. 여기서는 DataFrame 한 개가 frames의 항목 하나가 됩니다.</a:t>
            </a:r>
          </a:p>
          <a:p>
            <a:r>
              <a:t>pd.concat은 frames list 안의 DataFrame들을 이어 하나의 DataFrame을 돌려줍니다. ignore_index=True이면 새 행 번호를 0부터 다시 붙입니다.</a:t>
            </a:r>
          </a:p>
          <a:p>
            <a:r>
              <a:t>assert 뒤 조건이 True이면 조용히 다음 줄로 넘어가고, False이면 그 자리에서 멈춰 잘못된 결과가 다음 단계로 넘어가지 않게 합니다.</a:t>
            </a:r>
          </a:p>
          <a:p>
            <a:endParaRPr/>
          </a:p>
          <a:p>
            <a:r>
              <a:t>[값이 저장되는 곳]</a:t>
            </a:r>
          </a:p>
          <a:p>
            <a:r>
              <a:t>frames, one, one["source_file"], activity 이름에 새 값이 저장되거나 기존 값이 갱신됩니다. 등호 왼쪽은 저장할 이름이고, 오른쪽은 그 값을 만드는 계산입니다. 함수나 메서드가 새 값을 돌려주어도 등호로 받지 않으면 다음 줄에서 그 결과를 이름으로 다시 쓰기 어렵습니다.</a:t>
            </a:r>
          </a:p>
          <a:p>
            <a:endParaRPr/>
          </a:p>
          <a:p>
            <a:r>
              <a:t>[괄호·대괄호·따옴표]</a:t>
            </a:r>
          </a:p>
          <a:p>
            <a:r>
              <a:t>소괄호 ()는 기능을 실행하며 필요한 값을 전달하는 자리입니다. 대괄호 []는 list의 위치나 DataFrame의 열을 고릅니다. 따옴표 안의 글자는 Python 변수 이름이 아니라 파일명·열 이름·설정값 같은 문자열입니다.</a:t>
            </a:r>
          </a:p>
          <a:p>
            <a:endParaRPr/>
          </a:p>
          <a:p>
            <a:r>
              <a:t>[학생에게 이렇게 설명합니다]</a:t>
            </a:r>
          </a:p>
          <a:p>
            <a:r>
              <a:t>“반복 안에서 one은 매번 새 DataFrame을 가리키지만 append된 이전 DataFrame들은 frames에 남습니다. activity는 concat이 새로 만든 최종 DataFrame입니다. 실행 결과는 등호 왼쪽 변수에 저장됩니다. 원본 자료를 직접 바꾸는지 새 자료를 만드는지도 함께 구분합니다.”</a:t>
            </a:r>
          </a:p>
          <a:p>
            <a:endParaRPr/>
          </a:p>
          <a:p>
            <a:r>
              <a:t>[학생에게 물을 질문]</a:t>
            </a:r>
          </a:p>
          <a:p>
            <a:r>
              <a:t>합치기만 가능해도 source_file 열을 남겨야 하는 이유는 무엇일까요?</a:t>
            </a:r>
          </a:p>
          <a:p>
            <a:endParaRPr/>
          </a:p>
          <a:p>
            <a:r>
              <a:t>[기대 답]</a:t>
            </a:r>
          </a:p>
          <a:p>
            <a:r>
              <a:t>이상한 행이 나왔을 때 어느 원본 CSV에서 왔는지 다시 찾기 위해서입니다.</a:t>
            </a:r>
          </a:p>
          <a:p>
            <a:endParaRPr/>
          </a:p>
          <a:p>
            <a:r>
              <a:t>[다음 장 연결]</a:t>
            </a:r>
          </a:p>
          <a:p>
            <a:r>
              <a:t>다음 장에서 정상 결과와 자주 생기는 오류를 비교합니다.</a:t>
            </a:r>
          </a:p>
          <a:p>
            <a:endParaRPr/>
          </a:p>
          <a:p>
            <a:r>
              <a:t>[자료 사용]</a:t>
            </a:r>
          </a:p>
          <a:p>
            <a:r>
              <a:t>PPT에는 Q2의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0:12~0:19</a:t>
            </a:r>
          </a:p>
          <a:p>
            <a:endParaRPr/>
          </a:p>
          <a:p>
            <a:r>
              <a:t>[이 장의 목표]</a:t>
            </a:r>
          </a:p>
          <a:p>
            <a:r>
              <a:t>Q2 코드가 단순히 멈추지 않고 실행된 것이 아니라, 우리가 기대한 자료의 크기·개수·자료형을 만들었는지 확인합니다.</a:t>
            </a:r>
          </a:p>
          <a:p>
            <a:endParaRPr/>
          </a:p>
          <a:p>
            <a:r>
              <a:t>[정상 결과]</a:t>
            </a:r>
          </a:p>
          <a:p>
            <a:r>
              <a:t>assert 통과, (30000, 10)</a:t>
            </a:r>
          </a:p>
          <a:p>
            <a:endParaRPr/>
          </a:p>
          <a:p>
            <a:r>
              <a:t>[결과를 어떻게 읽나요?]</a:t>
            </a:r>
          </a:p>
          <a:p>
            <a:r>
              <a:t>반복 안에서 one은 매번 새 DataFrame을 가리키지만 append된 이전 DataFrame들은 frames에 남습니다. activity는 concat이 새로 만든 최종 DataFrame입니다.</a:t>
            </a:r>
          </a:p>
          <a:p>
            <a:r>
              <a:t>source_file 덕분에 30,000행 각각의 출처를 추적할 수 있습니다. 원본 CSV는 수정되지 않습니다.</a:t>
            </a:r>
          </a:p>
          <a:p>
            <a:endParaRPr/>
          </a:p>
          <a:p>
            <a:r>
              <a:t>[어떤 부분을 화면에서 가리키나요?]</a:t>
            </a:r>
          </a:p>
          <a:p>
            <a:r>
              <a:t>출력에서 assert 통과, (30000, 10) 부분을 가리킵니다. 여러 숫자가 있다면 앞 숫자와 뒤 숫자가 각각 무엇을 세는지 구분해서 말합니다.</a:t>
            </a:r>
          </a:p>
          <a:p>
            <a:endParaRPr/>
          </a:p>
          <a:p>
            <a:r>
              <a:t>[학생에게 이렇게 설명합니다]</a:t>
            </a:r>
          </a:p>
          <a:p>
            <a:r>
              <a:t>“정상 결과는 assert 통과, (30000, 10)입니다. source_file 덕분에 30,000행 각각의 출처를 추적할 수 있습니다. 원본 CSV는 수정되지 않습니다.”</a:t>
            </a:r>
          </a:p>
          <a:p>
            <a:endParaRPr/>
          </a:p>
          <a:p>
            <a:r>
              <a:t>[학생에게 물을 질문]</a:t>
            </a:r>
          </a:p>
          <a:p>
            <a:r>
              <a:t>합치기만 가능해도 source_file 열을 남겨야 하는 이유는 무엇일까요?</a:t>
            </a:r>
          </a:p>
          <a:p>
            <a:endParaRPr/>
          </a:p>
          <a:p>
            <a:r>
              <a:t>[기대 답]</a:t>
            </a:r>
          </a:p>
          <a:p>
            <a:r>
              <a:t>이상한 행이 나왔을 때 어느 원본 CSV에서 왔는지 다시 찾기 위해서입니다.</a:t>
            </a:r>
          </a:p>
          <a:p>
            <a:endParaRPr/>
          </a:p>
          <a:p>
            <a:r>
              <a:t>[정상처럼 보여도 주의할 점]</a:t>
            </a:r>
          </a:p>
          <a:p>
            <a:r>
              <a:t>source_file 덕분에 30,000행 각각의 출처를 추적할 수 있습니다. 원본 CSV는 수정되지 않습니다.</a:t>
            </a:r>
          </a:p>
          <a:p>
            <a:endParaRPr/>
          </a:p>
          <a:p>
            <a:r>
              <a:t>[오류가 나면]</a:t>
            </a:r>
          </a:p>
          <a:p>
            <a:r>
              <a:t>보이는 증상: 행·열 불일치</a:t>
            </a:r>
          </a:p>
          <a:p>
            <a:r>
              <a:t>1. 오류 메시지 마지막 줄에서 오류 종류와 변수명을 찾습니다.</a:t>
            </a:r>
          </a:p>
          <a:p>
            <a:r>
              <a:t>2. frames 길이와 첫 DataFrame shape를 확인합니다.</a:t>
            </a:r>
          </a:p>
          <a:p>
            <a:r>
              <a:t>3. 직전 셀부터 다시 실행하고 Q2의 정상 결과를 다시 확인합니다.</a:t>
            </a:r>
          </a:p>
          <a:p>
            <a:endParaRPr/>
          </a:p>
          <a:p>
            <a:r>
              <a:t>[다음 장 연결]</a:t>
            </a:r>
          </a:p>
          <a:p>
            <a:r>
              <a:t>다음은 Q3로 이동합니다.</a:t>
            </a:r>
          </a:p>
          <a:p>
            <a:endParaRPr/>
          </a:p>
          <a:p>
            <a:r>
              <a:t>[자료 사용]</a:t>
            </a:r>
          </a:p>
          <a:p>
            <a:r>
              <a:t>PPT에는 Q2의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0:19~0:27</a:t>
            </a:r>
          </a:p>
          <a:p>
            <a:endParaRPr/>
          </a:p>
          <a:p>
            <a:r>
              <a:t>[이 장에서 먼저 이해할 것]</a:t>
            </a:r>
          </a:p>
          <a:p>
            <a:r>
              <a:t>원본 로그를 전처리기가 받을 수 있는 회원 단위 지표로 바꿉니다.</a:t>
            </a:r>
          </a:p>
          <a:p>
            <a:endParaRPr/>
          </a:p>
          <a:p>
            <a:r>
              <a:t>[현재 가지고 있는 자료]</a:t>
            </a:r>
          </a:p>
          <a:p>
            <a:r>
              <a:t>activity는 30,000행×10열이며 stay_time_min에 '미측정' 12개가 섞여 있습니다. 한 회원이 30행씩 있으므로 계산형 열을 만든 뒤 회원별로 묶습니다.</a:t>
            </a:r>
          </a:p>
          <a:p>
            <a:endParaRPr/>
          </a:p>
          <a:p>
            <a:r>
              <a:t>[이 작업이 필요한 이유]</a:t>
            </a:r>
          </a:p>
          <a:p>
            <a:r>
              <a:t>이 Q는 긴 코드 전체를 암기하는 문제가 아닙니다. 문자 숫자 처리와 최종 회원 수 검증이라는 두 핵심 빈칸에 집중합니다.</a:t>
            </a:r>
          </a:p>
          <a:p>
            <a:endParaRPr/>
          </a:p>
          <a:p>
            <a:r>
              <a:t>[학생에게 이렇게 설명합니다]</a:t>
            </a:r>
          </a:p>
          <a:p>
            <a:r>
              <a:t>“activity는 30,000행×10열이며 stay_time_min에 '미측정' 12개가 섞여 있습니다. 한 회원이 30행씩 있으므로 계산형 열을 만든 뒤 회원별로 묶습니다. 이번에는 30일 활동을 회원별 한 행으로 요약합니다. 이 Q는 긴 코드 전체를 암기하는 문제가 아닙니다. 문자 숫자 처리와 최종 회원 수 검증이라는 두 핵심 빈칸에 집중합니다.”</a:t>
            </a:r>
          </a:p>
          <a:p>
            <a:endParaRPr/>
          </a:p>
          <a:p>
            <a:r>
              <a:t>[학생에게 확인할 질문]</a:t>
            </a:r>
          </a:p>
          <a:p>
            <a:r>
              <a:t>30,000행을 1,000행으로 줄인 것은 삭제일까요, 요약일까요?</a:t>
            </a:r>
          </a:p>
          <a:p>
            <a:endParaRPr/>
          </a:p>
          <a:p>
            <a:r>
              <a:t>[예상 답]</a:t>
            </a:r>
          </a:p>
          <a:p>
            <a:r>
              <a:t>삭제가 아니라 같은 회원의 30일 기록을 합계·평균·최근 날짜로 요약한 것입니다.</a:t>
            </a:r>
          </a:p>
          <a:p>
            <a:endParaRPr/>
          </a:p>
          <a:p>
            <a:r>
              <a:t>[학생이 하는 일]</a:t>
            </a:r>
          </a:p>
          <a:p>
            <a:r>
              <a:t>코드를 실행하기 전에 질문의 답과 예상 결과를 노트북에 적습니다.</a:t>
            </a:r>
          </a:p>
          <a:p>
            <a:endParaRPr/>
          </a:p>
          <a:p>
            <a:r>
              <a:t>[다음 장 연결]</a:t>
            </a:r>
          </a:p>
          <a:p>
            <a:r>
              <a:t>다음 장에서 현재 다루는 자료가 어떤 형태인지 확인합니다.</a:t>
            </a:r>
          </a:p>
          <a:p>
            <a:endParaRPr/>
          </a:p>
          <a:p>
            <a:r>
              <a:t>[자료 사용]</a:t>
            </a:r>
          </a:p>
          <a:p>
            <a:r>
              <a:t>PPT에는 Q3의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0:19~0:27</a:t>
            </a:r>
          </a:p>
          <a:p>
            <a:endParaRPr/>
          </a:p>
          <a:p>
            <a:r>
              <a:t>[이 장에서 설명할 것]</a:t>
            </a:r>
          </a:p>
          <a:p>
            <a:r>
              <a:t>코드에 들어가는 값과 실행 뒤 생기는 값의 자료구조를 구분합니다.</a:t>
            </a:r>
          </a:p>
          <a:p>
            <a:endParaRPr/>
          </a:p>
          <a:p>
            <a:r>
              <a:t>[지금 준비된 자료]</a:t>
            </a:r>
          </a:p>
          <a:p>
            <a:r>
              <a:t>activity는 30,000행×10열이며 stay_time_min에 '미측정' 12개가 섞여 있습니다. 한 회원이 30행씩 있으므로 계산형 열을 만든 뒤 회원별로 묶습니다.</a:t>
            </a:r>
          </a:p>
          <a:p>
            <a:endParaRPr/>
          </a:p>
          <a:p>
            <a:r>
              <a:t>[실행 뒤 생기는 자료]</a:t>
            </a:r>
          </a:p>
          <a:p>
            <a:r>
              <a:t>member_activity는 1,000행×10열 DataFrame입니다.</a:t>
            </a:r>
          </a:p>
          <a:p>
            <a:endParaRPr/>
          </a:p>
          <a:p>
            <a:r>
              <a:t>[학생에게 이렇게 설명합니다]</a:t>
            </a:r>
          </a:p>
          <a:p>
            <a:r>
              <a:t>“실행 전에는 activity는 30,000행×10열이며 stay_time_min에 '미측정' 12개가 섞여 있습니다. 한 회원이 30행씩 있으므로 계산형 열을 만든 뒤 회원별로 묶습니다. 실행하면 member_activity는 1,000행×10열 DataFrame입니다. to_datetime과 to_numeric이 계산용 열을 만들고, groupby·agg가 같은 회원의 30일을 한 행으로 요약합니다. 마지막에는 기준일과 마지막 활동일의 차이를 일수로 만듭니다.”</a:t>
            </a:r>
          </a:p>
          <a:p>
            <a:endParaRPr/>
          </a:p>
          <a:p>
            <a:r>
              <a:t>[학생에게 확인할 질문]</a:t>
            </a:r>
          </a:p>
          <a:p>
            <a:r>
              <a:t>30,000행을 1,000행으로 줄인 것은 삭제일까요, 요약일까요?</a:t>
            </a:r>
          </a:p>
          <a:p>
            <a:endParaRPr/>
          </a:p>
          <a:p>
            <a:r>
              <a:t>[예상 답]</a:t>
            </a:r>
          </a:p>
          <a:p>
            <a:r>
              <a:t>삭제가 아니라 같은 회원의 30일 기록을 합계·평균·최근 날짜로 요약한 것입니다.</a:t>
            </a:r>
          </a:p>
          <a:p>
            <a:endParaRPr/>
          </a:p>
          <a:p>
            <a:r>
              <a:t>[다음 장 연결]</a:t>
            </a:r>
          </a:p>
          <a:p>
            <a:r>
              <a:t>다음 장에서 노트북의 같은 Q 빈칸을 직접 채웁니다.</a:t>
            </a:r>
          </a:p>
          <a:p>
            <a:endParaRPr/>
          </a:p>
          <a:p>
            <a:r>
              <a:t>[자료 사용]</a:t>
            </a:r>
          </a:p>
          <a:p>
            <a:r>
              <a:t>PPT에는 Q3의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0:19~0:27</a:t>
            </a:r>
          </a:p>
          <a:p>
            <a:endParaRPr/>
          </a:p>
          <a:p>
            <a:r>
              <a:t>[이 장의 목표]</a:t>
            </a:r>
          </a:p>
          <a:p>
            <a:r>
              <a:t>학생용 노트북 Q3에서 코드의 ___ 2개를 직접 채웁니다. 이번에는 아래 한 단계에 집중합니다.</a:t>
            </a:r>
          </a:p>
          <a:p>
            <a:r>
              <a:t>- 30일 활동을 회원별 한 행으로 요약합니다</a:t>
            </a:r>
          </a:p>
          <a:p>
            <a:r>
              <a:t>다음 Q의 작업은 아직 시작하지 않습니다.</a:t>
            </a:r>
          </a:p>
          <a:p>
            <a:endParaRPr/>
          </a:p>
          <a:p>
            <a:r>
              <a:t>[현재 준비되어 있는 데이터]</a:t>
            </a:r>
          </a:p>
          <a:p>
            <a:r>
              <a:t>activity는 30,000행×10열이며 stay_time_min에 '미측정' 12개가 섞여 있습니다. 한 회원이 30행씩 있으므로 계산형 열을 만든 뒤 회원별로 묶습니다.</a:t>
            </a:r>
          </a:p>
          <a:p>
            <a:endParaRPr/>
          </a:p>
          <a:p>
            <a:r>
              <a:t>[실행하면 새로 생기거나 바뀌는 것]</a:t>
            </a:r>
          </a:p>
          <a:p>
            <a:r>
              <a:t>member_activity는 1,000행×10열 DataFrame입니다.</a:t>
            </a:r>
          </a:p>
          <a:p>
            <a:endParaRPr/>
          </a:p>
          <a:p>
            <a:r>
              <a:t>[왜 이 작업을 하나요?]</a:t>
            </a:r>
          </a:p>
          <a:p>
            <a:r>
              <a:t>원본 로그를 전처리기가 받을 수 있는 회원 단위 지표로 바꿉니다.</a:t>
            </a:r>
          </a:p>
          <a:p>
            <a:r>
              <a:t>이 Q는 긴 코드 전체를 암기하는 문제가 아닙니다. 문자 숫자 처리와 최종 회원 수 검증이라는 두 핵심 빈칸에 집중합니다.</a:t>
            </a:r>
          </a:p>
          <a:p>
            <a:endParaRPr/>
          </a:p>
          <a:p>
            <a:r>
              <a:t>[학생이 채울 빈칸]</a:t>
            </a:r>
          </a:p>
          <a:p>
            <a:r>
              <a:t>1. 첫 빈칸은 문자열 "coerce"입니다. 숫자로 못 바꾸는 값을 NaN으로 둡니다.</a:t>
            </a:r>
          </a:p>
          <a:p>
            <a:r>
              <a:t>2. 둘째 빈칸은 1000입니다. member_id별 집계 결과가 회원 수와 같은지 검사합니다.</a:t>
            </a:r>
          </a:p>
          <a:p>
            <a:endParaRPr/>
          </a:p>
          <a:p>
            <a:r>
              <a:t>[강사용 완성 코드]</a:t>
            </a:r>
          </a:p>
          <a:p>
            <a:r>
              <a:t>activity["activity_dt"] = pd.to_datetime(activity["activity_date"], errors="coerce")</a:t>
            </a:r>
          </a:p>
          <a:p>
            <a:r>
              <a:t>activity["stay_time_min_num"] = pd.to_numeric(activity["stay_time_min"], errors="coerce")</a:t>
            </a:r>
          </a:p>
          <a:p>
            <a:r>
              <a:t>activity["active_dt"] = activity["activity_dt"].where(activity["logged_in"])</a:t>
            </a:r>
          </a:p>
          <a:p>
            <a:r>
              <a:t>member_activity = activity.groupby("member_id").agg(</a:t>
            </a:r>
          </a:p>
          <a:p>
            <a:r>
              <a:t>    active_days=("logged_in","sum"), total_app_opens=("app_opens","sum"),</a:t>
            </a:r>
          </a:p>
          <a:p>
            <a:r>
              <a:t>    total_stay_time_min=("stay_time_min_num","sum"), total_profile_views=("profile_views","sum"),</a:t>
            </a:r>
          </a:p>
          <a:p>
            <a:r>
              <a:t>    total_recommendations_viewed=("recommendations_viewed","sum"), total_messages_sent=("messages_sent","sum"),</a:t>
            </a:r>
          </a:p>
          <a:p>
            <a:r>
              <a:t>    avg_reply_delay_sec=("avg_reply_delay_sec","mean"), last_active_date=("active_dt","max")</a:t>
            </a:r>
          </a:p>
          <a:p>
            <a:r>
              <a:t>).reset_index()</a:t>
            </a:r>
          </a:p>
          <a:p>
            <a:r>
              <a:t>member_activity["days_since_last_activity"] = (pd.Timestamp("2026-07-01") - member_activity["last_active_date"]).dt.days</a:t>
            </a:r>
          </a:p>
          <a:p>
            <a:r>
              <a:t>assert len(member_activity) == 1000</a:t>
            </a:r>
          </a:p>
          <a:p>
            <a:endParaRPr/>
          </a:p>
          <a:p>
            <a:r>
              <a:t>[코드를 위에서 아래로 읽기]</a:t>
            </a:r>
          </a:p>
          <a:p>
            <a:r>
              <a:t>to_datetime과 to_numeric이 계산용 열을 만들고, groupby·agg가 같은 회원의 30일을 한 행으로 요약합니다. 마지막에는 기준일과 마지막 활동일의 차이를 일수로 만듭니다.</a:t>
            </a:r>
          </a:p>
          <a:p>
            <a:endParaRPr/>
          </a:p>
          <a:p>
            <a:r>
              <a:t>groupby는 member_id가 같은 행끼리 묶고 agg는 각 묶음에서 합계·평균·최댓값을 계산합니다.</a:t>
            </a:r>
          </a:p>
          <a:p>
            <a:r>
              <a:t>reset_index()는 현재 index를 일반 열로 되돌리고 행 번호를 새로 붙입니다. 그러면 다음 코드에서 그 값을 일반 열처럼 선택하거나 다른 표와 연결할 수 있습니다.</a:t>
            </a:r>
          </a:p>
          <a:p>
            <a:r>
              <a:t>to_numeric은 숫자처럼 보이는 값을 계산 가능한 숫자 자료형으로 바꿉니다. errors='coerce'이면 바꾸지 못한 값은 NaN으로 표시합니다.</a:t>
            </a:r>
          </a:p>
          <a:p>
            <a:r>
              <a:t>to_datetime은 날짜 문자열을 Pandas 날짜 자료형으로 바꿉니다. 그래야 날짜끼리 빼거나 연도와 일수를 꺼낼 수 있습니다.</a:t>
            </a:r>
          </a:p>
          <a:p>
            <a:r>
              <a:t>groupby는 같은 member_id의 여러 행을 한 묶음으로 봅니다. 이어지는 agg가 각 묶음에서 합계·평균·마지막 값을 계산합니다.</a:t>
            </a:r>
          </a:p>
          <a:p>
            <a:r>
              <a:t>agg 안의 결과열=(원본열, 계산방법)은 어떤 열을 어떻게 요약해 어떤 새 열 이름으로 저장할지 정합니다.</a:t>
            </a:r>
          </a:p>
          <a:p>
            <a:r>
              <a:t>pd.Timestamp는 비교 기준으로 사용할 날짜 한 개를 만듭니다. 날짜 차이에 .dt.days를 붙이면 기간에서 일수 숫자만 꺼냅니다.</a:t>
            </a:r>
          </a:p>
          <a:p>
            <a:r>
              <a:t>assert 뒤 조건이 True이면 조용히 다음 줄로 넘어가고, False이면 그 자리에서 멈춰 잘못된 결과가 다음 단계로 넘어가지 않게 합니다.</a:t>
            </a:r>
          </a:p>
          <a:p>
            <a:endParaRPr/>
          </a:p>
          <a:p>
            <a:r>
              <a:t>[실행하기 전에 먼저 물을 질문]</a:t>
            </a:r>
          </a:p>
          <a:p>
            <a:r>
              <a:t>30,000행을 1,000행으로 줄인 것은 삭제일까요, 요약일까요?</a:t>
            </a:r>
          </a:p>
          <a:p>
            <a:endParaRPr/>
          </a:p>
          <a:p>
            <a:r>
              <a:t>[기대 답]</a:t>
            </a:r>
          </a:p>
          <a:p>
            <a:r>
              <a:t>삭제가 아니라 같은 회원의 30일 기록을 합계·평균·최근 날짜로 요약한 것입니다.</a:t>
            </a:r>
          </a:p>
          <a:p>
            <a:endParaRPr/>
          </a:p>
          <a:p>
            <a:r>
              <a:t>[정상 결과]</a:t>
            </a:r>
          </a:p>
          <a:p>
            <a:r>
              <a:t>assert 통과, 1,000명</a:t>
            </a:r>
          </a:p>
          <a:p>
            <a:endParaRPr/>
          </a:p>
          <a:p>
            <a:r>
              <a:t>[이 결과를 읽는 법]</a:t>
            </a:r>
          </a:p>
          <a:p>
            <a:r>
              <a:t>정상 결과는 assert 통과, 1,000명입니다. 이 Q는 긴 코드 전체를 암기하는 문제가 아닙니다. 문자 숫자 처리와 최종 회원 수 검증이라는 두 핵심 빈칸에 집중합니다.</a:t>
            </a:r>
          </a:p>
          <a:p>
            <a:endParaRPr/>
          </a:p>
          <a:p>
            <a:r>
              <a:t>[학생에게 이렇게 설명합니다]</a:t>
            </a:r>
          </a:p>
          <a:p>
            <a:r>
              <a:t>“먼저 '30,000행을 1,000행으로 줄인 것은 삭제일까요, 요약일까요?'에 답해 보세요. 그다음 노트북 Q3에서 빈칸만 채웁니다. 첫 빈칸은 문자열 "coerce"입니다. 숫자로 못 바꾸는 값을 NaN으로 둡니다. 둘째 빈칸은 1000입니다. member_id별 집계 결과가 회원 수와 같은지 검사합니다.”</a:t>
            </a:r>
          </a:p>
          <a:p>
            <a:endParaRPr/>
          </a:p>
          <a:p>
            <a:r>
              <a:t>[학생이 하는 일]</a:t>
            </a:r>
          </a:p>
          <a:p>
            <a:r>
              <a:t>1. 노트북에서 Q3를 찾습니다.</a:t>
            </a:r>
          </a:p>
          <a:p>
            <a:r>
              <a:t>2. 30,000행을 1,000행으로 줄인 것은 삭제일까요, 요약일까요?</a:t>
            </a:r>
          </a:p>
          <a:p>
            <a:r>
              <a:t>3. 자기 답을 먼저 적은 뒤 ___ 2개만 채웁니다.</a:t>
            </a:r>
          </a:p>
          <a:p>
            <a:r>
              <a:t>4. 실행한 뒤 다음 정상 결과와 비교합니다: assert 통과, 1,000명</a:t>
            </a:r>
          </a:p>
          <a:p>
            <a:r>
              <a:t>5. 결과가 다르면 바로 다음 Q로 가지 않고 아래 복구 순서를 따릅니다.</a:t>
            </a:r>
          </a:p>
          <a:p>
            <a:endParaRPr/>
          </a:p>
          <a:p>
            <a:r>
              <a:t>[오류가 나면]</a:t>
            </a:r>
          </a:p>
          <a:p>
            <a:r>
              <a:t>증상: 1,000행이 아니거나 stay_time 변환 오류</a:t>
            </a:r>
          </a:p>
          <a:p>
            <a:r>
              <a:t>복구: member_id 고유값 1,000과 errors='coerce'를 확인합니다.</a:t>
            </a:r>
          </a:p>
          <a:p>
            <a:r>
              <a:t>먼저 오류 메시지의 마지막 줄을 읽고, 이 Q의 입력 변수가 직전 셀에서 만들어졌는지 확인합니다.</a:t>
            </a:r>
          </a:p>
          <a:p>
            <a:endParaRPr/>
          </a:p>
          <a:p>
            <a:r>
              <a:t>[학생이 직접 써야 하는 범위]</a:t>
            </a:r>
          </a:p>
          <a:p>
            <a:r>
              <a:t>학생은 ___ 부분만 직접 입력합니다. 출력 확인용 print, 긴 열 목록, 검증용 assert는 제공된 코드를 읽고 결과를 확인하는 데 집중합니다.</a:t>
            </a:r>
          </a:p>
          <a:p>
            <a:endParaRPr/>
          </a:p>
          <a:p>
            <a:r>
              <a:t>[다음 장 연결]</a:t>
            </a:r>
          </a:p>
          <a:p>
            <a:r>
              <a:t>다음 장에서 완성 코드가 값을 만드는 순서를 읽습니다.</a:t>
            </a:r>
          </a:p>
          <a:p>
            <a:endParaRPr/>
          </a:p>
          <a:p>
            <a:r>
              <a:t>[자료 사용]</a:t>
            </a:r>
          </a:p>
          <a:p>
            <a:r>
              <a:t>PPT에는 Q3의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0:19~0:27</a:t>
            </a:r>
          </a:p>
          <a:p>
            <a:endParaRPr/>
          </a:p>
          <a:p>
            <a:r>
              <a:t>[이 장의 목표]</a:t>
            </a:r>
          </a:p>
          <a:p>
            <a:r>
              <a:t>방금 완성한 코드를 다시 타이핑하지 않고, 각 줄에서 어떤 입력이 들어가고 어느 변수에 결과가 저장되는지 읽습니다.</a:t>
            </a:r>
          </a:p>
          <a:p>
            <a:endParaRPr/>
          </a:p>
          <a:p>
            <a:r>
              <a:t>[코드를 읽기 전의 상태]</a:t>
            </a:r>
          </a:p>
          <a:p>
            <a:r>
              <a:t>activity는 30,000행×10열이며 stay_time_min에 '미측정' 12개가 섞여 있습니다. 한 회원이 30행씩 있으므로 계산형 열을 만든 뒤 회원별로 묶습니다.</a:t>
            </a:r>
          </a:p>
          <a:p>
            <a:endParaRPr/>
          </a:p>
          <a:p>
            <a:r>
              <a:t>[완성 코드]</a:t>
            </a:r>
          </a:p>
          <a:p>
            <a:r>
              <a:t>activity["activity_dt"] = pd.to_datetime(activity["activity_date"], errors="coerce")</a:t>
            </a:r>
          </a:p>
          <a:p>
            <a:r>
              <a:t>activity["stay_time_min_num"] = pd.to_numeric(activity["stay_time_min"], errors="coerce")</a:t>
            </a:r>
          </a:p>
          <a:p>
            <a:r>
              <a:t>activity["active_dt"] = activity["activity_dt"].where(activity["logged_in"])</a:t>
            </a:r>
          </a:p>
          <a:p>
            <a:r>
              <a:t>member_activity = activity.groupby("member_id").agg(</a:t>
            </a:r>
          </a:p>
          <a:p>
            <a:r>
              <a:t>    active_days=("logged_in","sum"), total_app_opens=("app_opens","sum"),</a:t>
            </a:r>
          </a:p>
          <a:p>
            <a:r>
              <a:t>    total_stay_time_min=("stay_time_min_num","sum"), total_profile_views=("profile_views","sum"),</a:t>
            </a:r>
          </a:p>
          <a:p>
            <a:r>
              <a:t>    total_recommendations_viewed=("recommendations_viewed","sum"), total_messages_sent=("messages_sent","sum"),</a:t>
            </a:r>
          </a:p>
          <a:p>
            <a:r>
              <a:t>    avg_reply_delay_sec=("avg_reply_delay_sec","mean"), last_active_date=("active_dt","max")</a:t>
            </a:r>
          </a:p>
          <a:p>
            <a:r>
              <a:t>).reset_index()</a:t>
            </a:r>
          </a:p>
          <a:p>
            <a:r>
              <a:t>member_activity["days_since_last_activity"] = (pd.Timestamp("2026-07-01") - member_activity["last_active_date"]).dt.days</a:t>
            </a:r>
          </a:p>
          <a:p>
            <a:r>
              <a:t>assert len(member_activity) == 1000</a:t>
            </a:r>
          </a:p>
          <a:p>
            <a:endParaRPr/>
          </a:p>
          <a:p>
            <a:r>
              <a:t>[코드가 움직이는 순서]</a:t>
            </a:r>
          </a:p>
          <a:p>
            <a:r>
              <a:t>to_datetime과 to_numeric이 계산용 열을 만들고, groupby·agg가 같은 회원의 30일을 한 행으로 요약합니다. 마지막에는 기준일과 마지막 활동일의 차이를 일수로 만듭니다.</a:t>
            </a:r>
          </a:p>
          <a:p>
            <a:endParaRPr/>
          </a:p>
          <a:p>
            <a:r>
              <a:t>[기능·기호를 쉽게 읽기]</a:t>
            </a:r>
          </a:p>
          <a:p>
            <a:r>
              <a:t>groupby는 member_id가 같은 행끼리 묶고 agg는 각 묶음에서 합계·평균·최댓값을 계산합니다.</a:t>
            </a:r>
          </a:p>
          <a:p>
            <a:r>
              <a:t>reset_index()는 현재 index를 일반 열로 되돌리고 행 번호를 새로 붙입니다. 그러면 다음 코드에서 그 값을 일반 열처럼 선택하거나 다른 표와 연결할 수 있습니다.</a:t>
            </a:r>
          </a:p>
          <a:p>
            <a:r>
              <a:t>to_numeric은 숫자처럼 보이는 값을 계산 가능한 숫자 자료형으로 바꿉니다. errors='coerce'이면 바꾸지 못한 값은 NaN으로 표시합니다.</a:t>
            </a:r>
          </a:p>
          <a:p>
            <a:r>
              <a:t>to_datetime은 날짜 문자열을 Pandas 날짜 자료형으로 바꿉니다. 그래야 날짜끼리 빼거나 연도와 일수를 꺼낼 수 있습니다.</a:t>
            </a:r>
          </a:p>
          <a:p>
            <a:r>
              <a:t>groupby는 같은 member_id의 여러 행을 한 묶음으로 봅니다. 이어지는 agg가 각 묶음에서 합계·평균·마지막 값을 계산합니다.</a:t>
            </a:r>
          </a:p>
          <a:p>
            <a:r>
              <a:t>agg 안의 결과열=(원본열, 계산방법)은 어떤 열을 어떻게 요약해 어떤 새 열 이름으로 저장할지 정합니다.</a:t>
            </a:r>
          </a:p>
          <a:p>
            <a:r>
              <a:t>pd.Timestamp는 비교 기준으로 사용할 날짜 한 개를 만듭니다. 날짜 차이에 .dt.days를 붙이면 기간에서 일수 숫자만 꺼냅니다.</a:t>
            </a:r>
          </a:p>
          <a:p>
            <a:r>
              <a:t>assert 뒤 조건이 True이면 조용히 다음 줄로 넘어가고, False이면 그 자리에서 멈춰 잘못된 결과가 다음 단계로 넘어가지 않게 합니다.</a:t>
            </a:r>
          </a:p>
          <a:p>
            <a:endParaRPr/>
          </a:p>
          <a:p>
            <a:r>
              <a:t>[값이 저장되는 곳]</a:t>
            </a:r>
          </a:p>
          <a:p>
            <a:r>
              <a:t>activity["activity_dt"], activity["stay_time_min_num"], activity["active_dt"], member_activity, active_days, total_stay_time_min, total_recommendations_viewed, avg_reply_delay_sec, member_activity["days_since_last_activity"] 이름에 새 값이 저장되거나 기존 값이 갱신됩니다. 등호 왼쪽은 저장할 이름이고, 오른쪽은 그 값을 만드는 계산입니다. 함수나 메서드가 새 값을 돌려주어도 등호로 받지 않으면 다음 줄에서 그 결과를 이름으로 다시 쓰기 어렵습니다.</a:t>
            </a:r>
          </a:p>
          <a:p>
            <a:endParaRPr/>
          </a:p>
          <a:p>
            <a:r>
              <a:t>[괄호·대괄호·따옴표]</a:t>
            </a:r>
          </a:p>
          <a:p>
            <a:r>
              <a:t>소괄호 ()는 기능을 실행하며 필요한 값을 전달하는 자리입니다. 대괄호 []는 list의 위치나 DataFrame의 열을 고릅니다. 따옴표 안의 글자는 Python 변수 이름이 아니라 파일명·열 이름·설정값 같은 문자열입니다.</a:t>
            </a:r>
          </a:p>
          <a:p>
            <a:endParaRPr/>
          </a:p>
          <a:p>
            <a:r>
              <a:t>[학생에게 이렇게 설명합니다]</a:t>
            </a:r>
          </a:p>
          <a:p>
            <a:r>
              <a:t>“to_datetime과 to_numeric이 계산용 열을 만들고, groupby·agg가 같은 회원의 30일을 한 행으로 요약합니다. 마지막에는 기준일과 마지막 활동일의 차이를 일수로 만듭니다. 실행 결과는 등호 왼쪽 변수에 저장됩니다. 원본 자료를 직접 바꾸는지 새 자료를 만드는지도 함께 구분합니다.”</a:t>
            </a:r>
          </a:p>
          <a:p>
            <a:endParaRPr/>
          </a:p>
          <a:p>
            <a:r>
              <a:t>[학생에게 물을 질문]</a:t>
            </a:r>
          </a:p>
          <a:p>
            <a:r>
              <a:t>30,000행을 1,000행으로 줄인 것은 삭제일까요, 요약일까요?</a:t>
            </a:r>
          </a:p>
          <a:p>
            <a:endParaRPr/>
          </a:p>
          <a:p>
            <a:r>
              <a:t>[기대 답]</a:t>
            </a:r>
          </a:p>
          <a:p>
            <a:r>
              <a:t>삭제가 아니라 같은 회원의 30일 기록을 합계·평균·최근 날짜로 요약한 것입니다.</a:t>
            </a:r>
          </a:p>
          <a:p>
            <a:endParaRPr/>
          </a:p>
          <a:p>
            <a:r>
              <a:t>[다음 장 연결]</a:t>
            </a:r>
          </a:p>
          <a:p>
            <a:r>
              <a:t>다음 장에서 정상 결과와 자주 생기는 오류를 비교합니다.</a:t>
            </a:r>
          </a:p>
          <a:p>
            <a:endParaRPr/>
          </a:p>
          <a:p>
            <a:r>
              <a:t>[자료 사용]</a:t>
            </a:r>
          </a:p>
          <a:p>
            <a:r>
              <a:t>PPT에는 Q3의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0:19~0:27</a:t>
            </a:r>
          </a:p>
          <a:p>
            <a:endParaRPr/>
          </a:p>
          <a:p>
            <a:r>
              <a:t>[이 장의 목표]</a:t>
            </a:r>
          </a:p>
          <a:p>
            <a:r>
              <a:t>Q3 코드가 단순히 멈추지 않고 실행된 것이 아니라, 우리가 기대한 자료의 크기·개수·자료형을 만들었는지 확인합니다.</a:t>
            </a:r>
          </a:p>
          <a:p>
            <a:endParaRPr/>
          </a:p>
          <a:p>
            <a:r>
              <a:t>[정상 결과]</a:t>
            </a:r>
          </a:p>
          <a:p>
            <a:r>
              <a:t>assert 통과, 1,000명</a:t>
            </a:r>
          </a:p>
          <a:p>
            <a:endParaRPr/>
          </a:p>
          <a:p>
            <a:r>
              <a:t>[결과를 어떻게 읽나요?]</a:t>
            </a:r>
          </a:p>
          <a:p>
            <a:r>
              <a:t>to_datetime과 to_numeric이 계산용 열을 만들고, groupby·agg가 같은 회원의 30일을 한 행으로 요약합니다. 마지막에는 기준일과 마지막 활동일의 차이를 일수로 만듭니다.</a:t>
            </a:r>
          </a:p>
          <a:p>
            <a:r>
              <a:t>이 Q는 긴 코드 전체를 암기하는 문제가 아닙니다. 문자 숫자 처리와 최종 회원 수 검증이라는 두 핵심 빈칸에 집중합니다.</a:t>
            </a:r>
          </a:p>
          <a:p>
            <a:endParaRPr/>
          </a:p>
          <a:p>
            <a:r>
              <a:t>[어떤 부분을 화면에서 가리키나요?]</a:t>
            </a:r>
          </a:p>
          <a:p>
            <a:r>
              <a:t>출력에서 assert 통과, 1,000명 부분을 가리킵니다. 여러 숫자가 있다면 앞 숫자와 뒤 숫자가 각각 무엇을 세는지 구분해서 말합니다.</a:t>
            </a:r>
          </a:p>
          <a:p>
            <a:endParaRPr/>
          </a:p>
          <a:p>
            <a:r>
              <a:t>[학생에게 이렇게 설명합니다]</a:t>
            </a:r>
          </a:p>
          <a:p>
            <a:r>
              <a:t>“정상 결과는 assert 통과, 1,000명입니다. 이 Q는 긴 코드 전체를 암기하는 문제가 아닙니다. 문자 숫자 처리와 최종 회원 수 검증이라는 두 핵심 빈칸에 집중합니다.”</a:t>
            </a:r>
          </a:p>
          <a:p>
            <a:endParaRPr/>
          </a:p>
          <a:p>
            <a:r>
              <a:t>[학생에게 물을 질문]</a:t>
            </a:r>
          </a:p>
          <a:p>
            <a:r>
              <a:t>30,000행을 1,000행으로 줄인 것은 삭제일까요, 요약일까요?</a:t>
            </a:r>
          </a:p>
          <a:p>
            <a:endParaRPr/>
          </a:p>
          <a:p>
            <a:r>
              <a:t>[기대 답]</a:t>
            </a:r>
          </a:p>
          <a:p>
            <a:r>
              <a:t>삭제가 아니라 같은 회원의 30일 기록을 합계·평균·최근 날짜로 요약한 것입니다.</a:t>
            </a:r>
          </a:p>
          <a:p>
            <a:endParaRPr/>
          </a:p>
          <a:p>
            <a:r>
              <a:t>[정상처럼 보여도 주의할 점]</a:t>
            </a:r>
          </a:p>
          <a:p>
            <a:r>
              <a:t>이 Q는 긴 코드 전체를 암기하는 문제가 아닙니다. 문자 숫자 처리와 최종 회원 수 검증이라는 두 핵심 빈칸에 집중합니다.</a:t>
            </a:r>
          </a:p>
          <a:p>
            <a:endParaRPr/>
          </a:p>
          <a:p>
            <a:r>
              <a:t>[오류가 나면]</a:t>
            </a:r>
          </a:p>
          <a:p>
            <a:r>
              <a:t>보이는 증상: 1,000행이 아니거나 stay_time 변환 오류</a:t>
            </a:r>
          </a:p>
          <a:p>
            <a:r>
              <a:t>1. 오류 메시지 마지막 줄에서 오류 종류와 변수명을 찾습니다.</a:t>
            </a:r>
          </a:p>
          <a:p>
            <a:r>
              <a:t>2. member_id 고유값 1,000과 errors='coerce'를 확인합니다.</a:t>
            </a:r>
          </a:p>
          <a:p>
            <a:r>
              <a:t>3. 직전 셀부터 다시 실행하고 Q3의 정상 결과를 다시 확인합니다.</a:t>
            </a:r>
          </a:p>
          <a:p>
            <a:endParaRPr/>
          </a:p>
          <a:p>
            <a:r>
              <a:t>[다음 장 연결]</a:t>
            </a:r>
          </a:p>
          <a:p>
            <a:r>
              <a:t>다음은 Q4로 이동합니다.</a:t>
            </a:r>
          </a:p>
          <a:p>
            <a:endParaRPr/>
          </a:p>
          <a:p>
            <a:r>
              <a:t>[자료 사용]</a:t>
            </a:r>
          </a:p>
          <a:p>
            <a:r>
              <a:t>PPT에는 Q3의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0:27~0:34</a:t>
            </a:r>
          </a:p>
          <a:p>
            <a:endParaRPr/>
          </a:p>
          <a:p>
            <a:r>
              <a:t>[이 장에서 먼저 이해할 것]</a:t>
            </a:r>
          </a:p>
          <a:p>
            <a:r>
              <a:t>활동 지표와 나이·지역·회원권 같은 기본정보를 한 행에서 사용합니다.</a:t>
            </a:r>
          </a:p>
          <a:p>
            <a:endParaRPr/>
          </a:p>
          <a:p>
            <a:r>
              <a:t>[현재 가지고 있는 자료]</a:t>
            </a:r>
          </a:p>
          <a:p>
            <a:r>
              <a:t>member_activity는 1,000행의 활동 요약이고 members.csv에는 회원 기본정보가 있습니다. 두 표를 member_id로 결합한 뒤 전처리기에 넣을 13개 입력 열을 고릅니다.</a:t>
            </a:r>
          </a:p>
          <a:p>
            <a:endParaRPr/>
          </a:p>
          <a:p>
            <a:r>
              <a:t>[이 작업이 필요한 이유]</a:t>
            </a:r>
          </a:p>
          <a:p>
            <a:r>
              <a:t>validate="one_to_one"은 결합 전 양쪽 ID 중복을 검사합니다. 결과 행이 1,000보다 늘면 다음 전처리로 넘어가지 않습니다.</a:t>
            </a:r>
          </a:p>
          <a:p>
            <a:endParaRPr/>
          </a:p>
          <a:p>
            <a:r>
              <a:t>[학생에게 이렇게 설명합니다]</a:t>
            </a:r>
          </a:p>
          <a:p>
            <a:r>
              <a:t>“member_activity는 1,000행의 활동 요약이고 members.csv에는 회원 기본정보가 있습니다. 두 표를 member_id로 결합한 뒤 전처리기에 넣을 13개 입력 열을 고릅니다. 이번에는 회원 기본정보를 붙이고 전처리할 13개 열을 고릅니다. validate="one_to_one"은 결합 전 양쪽 ID 중복을 검사합니다. 결과 행이 1,000보다 늘면 다음 전처리로 넘어가지 않습니다.”</a:t>
            </a:r>
          </a:p>
          <a:p>
            <a:endParaRPr/>
          </a:p>
          <a:p>
            <a:r>
              <a:t>[학생에게 확인할 질문]</a:t>
            </a:r>
          </a:p>
          <a:p>
            <a:r>
              <a:t>활동 요약과 회원정보를 붙인 뒤 어떤 열만 전처리기에 넣어야 할까요?</a:t>
            </a:r>
          </a:p>
          <a:p>
            <a:endParaRPr/>
          </a:p>
          <a:p>
            <a:r>
              <a:t>[예상 답]</a:t>
            </a:r>
          </a:p>
          <a:p>
            <a:r>
              <a:t>정답과 식별자를 제외한 숫자 9개 열과 문자 4개 열만 전처리기에 넣습니다.</a:t>
            </a:r>
          </a:p>
          <a:p>
            <a:endParaRPr/>
          </a:p>
          <a:p>
            <a:r>
              <a:t>[학생이 하는 일]</a:t>
            </a:r>
          </a:p>
          <a:p>
            <a:r>
              <a:t>코드를 실행하기 전에 질문의 답과 예상 결과를 노트북에 적습니다.</a:t>
            </a:r>
          </a:p>
          <a:p>
            <a:endParaRPr/>
          </a:p>
          <a:p>
            <a:r>
              <a:t>[다음 장 연결]</a:t>
            </a:r>
          </a:p>
          <a:p>
            <a:r>
              <a:t>다음 장에서 현재 다루는 자료가 어떤 형태인지 확인합니다.</a:t>
            </a:r>
          </a:p>
          <a:p>
            <a:endParaRPr/>
          </a:p>
          <a:p>
            <a:r>
              <a:t>[자료 사용]</a:t>
            </a:r>
          </a:p>
          <a:p>
            <a:r>
              <a:t>PPT에는 Q4의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0:27~0:34</a:t>
            </a:r>
          </a:p>
          <a:p>
            <a:endParaRPr/>
          </a:p>
          <a:p>
            <a:r>
              <a:t>[이 장에서 설명할 것]</a:t>
            </a:r>
          </a:p>
          <a:p>
            <a:r>
              <a:t>코드에 들어가는 값과 실행 뒤 생기는 값의 자료구조를 구분합니다.</a:t>
            </a:r>
          </a:p>
          <a:p>
            <a:endParaRPr/>
          </a:p>
          <a:p>
            <a:r>
              <a:t>[지금 준비된 자료]</a:t>
            </a:r>
          </a:p>
          <a:p>
            <a:r>
              <a:t>member_activity는 1,000행의 활동 요약이고 members.csv에는 회원 기본정보가 있습니다. 두 표를 member_id로 결합한 뒤 전처리기에 넣을 13개 입력 열을 고릅니다.</a:t>
            </a:r>
          </a:p>
          <a:p>
            <a:endParaRPr/>
          </a:p>
          <a:p>
            <a:r>
              <a:t>[실행 뒤 생기는 자료]</a:t>
            </a:r>
          </a:p>
          <a:p>
            <a:r>
              <a:t>model_table은 1,000행×16열, X는 1,000행×13열 DataFrame입니다.</a:t>
            </a:r>
          </a:p>
          <a:p>
            <a:endParaRPr/>
          </a:p>
          <a:p>
            <a:r>
              <a:t>[학생에게 이렇게 설명합니다]</a:t>
            </a:r>
          </a:p>
          <a:p>
            <a:r>
              <a:t>“실행 전에는 member_activity는 1,000행의 활동 요약이고 members.csv에는 회원 기본정보가 있습니다. 두 표를 member_id로 결합한 뒤 전처리기에 넣을 13개 입력 열을 고릅니다. 실행하면 model_table은 1,000행×16열, X는 1,000행×13열 DataFrame입니다. model_table은 1,000행×16열이고 X는 그중 정답과 식별자를 제외한 1,000행×13열입니다. 둘 다 새 DataFrame이며 원본 표를 바꾸지 않습니다.”</a:t>
            </a:r>
          </a:p>
          <a:p>
            <a:endParaRPr/>
          </a:p>
          <a:p>
            <a:r>
              <a:t>[학생에게 확인할 질문]</a:t>
            </a:r>
          </a:p>
          <a:p>
            <a:r>
              <a:t>활동 요약과 회원정보를 붙인 뒤 어떤 열만 전처리기에 넣어야 할까요?</a:t>
            </a:r>
          </a:p>
          <a:p>
            <a:endParaRPr/>
          </a:p>
          <a:p>
            <a:r>
              <a:t>[예상 답]</a:t>
            </a:r>
          </a:p>
          <a:p>
            <a:r>
              <a:t>정답과 식별자를 제외한 숫자 9개 열과 문자 4개 열만 전처리기에 넣습니다.</a:t>
            </a:r>
          </a:p>
          <a:p>
            <a:endParaRPr/>
          </a:p>
          <a:p>
            <a:r>
              <a:t>[다음 장 연결]</a:t>
            </a:r>
          </a:p>
          <a:p>
            <a:r>
              <a:t>다음 장에서 노트북의 같은 Q 빈칸을 직접 채웁니다.</a:t>
            </a:r>
          </a:p>
          <a:p>
            <a:endParaRPr/>
          </a:p>
          <a:p>
            <a:r>
              <a:t>[자료 사용]</a:t>
            </a:r>
          </a:p>
          <a:p>
            <a:r>
              <a:t>PPT에는 Q4의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0:27~0:34</a:t>
            </a:r>
          </a:p>
          <a:p>
            <a:endParaRPr/>
          </a:p>
          <a:p>
            <a:r>
              <a:t>[이 장의 목표]</a:t>
            </a:r>
          </a:p>
          <a:p>
            <a:r>
              <a:t>학생용 노트북 Q4에서 코드의 ___ 2개를 직접 채웁니다. 이번에는 아래 한 단계에 집중합니다.</a:t>
            </a:r>
          </a:p>
          <a:p>
            <a:r>
              <a:t>- 회원 기본정보를 붙이고 전처리할 13개 열을 고릅니다</a:t>
            </a:r>
          </a:p>
          <a:p>
            <a:r>
              <a:t>다음 Q의 작업은 아직 시작하지 않습니다.</a:t>
            </a:r>
          </a:p>
          <a:p>
            <a:endParaRPr/>
          </a:p>
          <a:p>
            <a:r>
              <a:t>[현재 준비되어 있는 데이터]</a:t>
            </a:r>
          </a:p>
          <a:p>
            <a:r>
              <a:t>member_activity는 1,000행의 활동 요약이고 members.csv에는 회원 기본정보가 있습니다. 두 표를 member_id로 결합한 뒤 전처리기에 넣을 13개 입력 열을 고릅니다.</a:t>
            </a:r>
          </a:p>
          <a:p>
            <a:endParaRPr/>
          </a:p>
          <a:p>
            <a:r>
              <a:t>[실행하면 새로 생기거나 바뀌는 것]</a:t>
            </a:r>
          </a:p>
          <a:p>
            <a:r>
              <a:t>model_table은 1,000행×16열, X는 1,000행×13열 DataFrame입니다.</a:t>
            </a:r>
          </a:p>
          <a:p>
            <a:endParaRPr/>
          </a:p>
          <a:p>
            <a:r>
              <a:t>[왜 이 작업을 하나요?]</a:t>
            </a:r>
          </a:p>
          <a:p>
            <a:r>
              <a:t>활동 지표와 나이·지역·회원권 같은 기본정보를 한 행에서 사용합니다.</a:t>
            </a:r>
          </a:p>
          <a:p>
            <a:r>
              <a:t>validate="one_to_one"은 결합 전 양쪽 ID 중복을 검사합니다. 결과 행이 1,000보다 늘면 다음 전처리로 넘어가지 않습니다.</a:t>
            </a:r>
          </a:p>
          <a:p>
            <a:endParaRPr/>
          </a:p>
          <a:p>
            <a:r>
              <a:t>[학생이 채울 빈칸]</a:t>
            </a:r>
          </a:p>
          <a:p>
            <a:r>
              <a:t>1. 첫 빈칸은 문자열 "left"입니다. 회원 기본정보 1,000명을 모두 남깁니다.</a:t>
            </a:r>
          </a:p>
          <a:p>
            <a:r>
              <a:t>2. 둘째 빈칸은 numeric_features + categorical_features입니다. 열 이름 list 두 개를 연결해 X의 13개 열을 선택합니다.</a:t>
            </a:r>
          </a:p>
          <a:p>
            <a:endParaRPr/>
          </a:p>
          <a:p>
            <a:r>
              <a:t>[강사용 완성 코드]</a:t>
            </a:r>
          </a:p>
          <a:p>
            <a:r>
              <a:t>members = pd.read_csv(DATA_DIR / "members.csv")</a:t>
            </a:r>
          </a:p>
          <a:p>
            <a:r>
              <a:t>member_columns = ["member_id","gender","age","residence_region","membership_tier","signup_channel","meeting_scheduled"]</a:t>
            </a:r>
          </a:p>
          <a:p>
            <a:r>
              <a:t>model_table = members[member_columns].merge(member_activity, on="member_id", how="left", validate="one_to_one")</a:t>
            </a:r>
          </a:p>
          <a:p>
            <a:r>
              <a:t>numeric_features = ["age","active_days","total_app_opens","total_stay_time_min","total_profile_views","total_recommendations_viewed","total_messages_sent","avg_reply_delay_sec","days_since_last_activity"]</a:t>
            </a:r>
          </a:p>
          <a:p>
            <a:r>
              <a:t>categorical_features = ["gender","residence_region","membership_tier","signup_channel"]</a:t>
            </a:r>
          </a:p>
          <a:p>
            <a:r>
              <a:t>X = model_table[numeric_features + categorical_features]</a:t>
            </a:r>
          </a:p>
          <a:p>
            <a:r>
              <a:t>print(model_table.shape, X.shape)</a:t>
            </a:r>
          </a:p>
          <a:p>
            <a:endParaRPr/>
          </a:p>
          <a:p>
            <a:r>
              <a:t>[코드를 위에서 아래로 읽기]</a:t>
            </a:r>
          </a:p>
          <a:p>
            <a:r>
              <a:t>model_table은 1,000행×16열이고 X는 그중 정답과 식별자를 제외한 1,000행×13열입니다. 둘 다 새 DataFrame이며 원본 표를 바꾸지 않습니다.</a:t>
            </a:r>
          </a:p>
          <a:p>
            <a:endParaRPr/>
          </a:p>
          <a:p>
            <a:r>
              <a:t>left merge는 members 1,000명을 기준으로 유지합니다.</a:t>
            </a:r>
          </a:p>
          <a:p>
            <a:r>
              <a:t>pd.read_csv는 파일 경로를 받아 표 내용을 Pandas DataFrame으로 읽습니다. 등호 왼쪽 변수에 읽은 표가 저장됩니다.</a:t>
            </a:r>
          </a:p>
          <a:p>
            <a:r>
              <a:t>merge의 on은 두 표에서 같은 사람을 찾을 기준 열입니다. how='left'는 왼쪽 회원을 모두 남기고, validate='one_to_one'은 양쪽 ID가 한 번씩인지 검사합니다.</a:t>
            </a:r>
          </a:p>
          <a:p>
            <a:endParaRPr/>
          </a:p>
          <a:p>
            <a:r>
              <a:t>[실행하기 전에 먼저 물을 질문]</a:t>
            </a:r>
          </a:p>
          <a:p>
            <a:r>
              <a:t>활동 요약과 회원정보를 붙인 뒤 어떤 열만 전처리기에 넣어야 할까요?</a:t>
            </a:r>
          </a:p>
          <a:p>
            <a:endParaRPr/>
          </a:p>
          <a:p>
            <a:r>
              <a:t>[기대 답]</a:t>
            </a:r>
          </a:p>
          <a:p>
            <a:r>
              <a:t>정답과 식별자를 제외한 숫자 9개 열과 문자 4개 열만 전처리기에 넣습니다.</a:t>
            </a:r>
          </a:p>
          <a:p>
            <a:endParaRPr/>
          </a:p>
          <a:p>
            <a:r>
              <a:t>[정상 결과]</a:t>
            </a:r>
          </a:p>
          <a:p>
            <a:r>
              <a:t>(1000, 16) (1000, 13)</a:t>
            </a:r>
          </a:p>
          <a:p>
            <a:endParaRPr/>
          </a:p>
          <a:p>
            <a:r>
              <a:t>[이 결과를 읽는 법]</a:t>
            </a:r>
          </a:p>
          <a:p>
            <a:r>
              <a:t>정상 결과는 (1000, 16) (1000, 13)입니다. validate="one_to_one"은 결합 전 양쪽 ID 중복을 검사합니다. 결과 행이 1,000보다 늘면 다음 전처리로 넘어가지 않습니다.</a:t>
            </a:r>
          </a:p>
          <a:p>
            <a:endParaRPr/>
          </a:p>
          <a:p>
            <a:r>
              <a:t>[학생에게 이렇게 설명합니다]</a:t>
            </a:r>
          </a:p>
          <a:p>
            <a:r>
              <a:t>“먼저 '활동 요약과 회원정보를 붙인 뒤 어떤 열만 전처리기에 넣어야 할까요?'에 답해 보세요. 그다음 노트북 Q4에서 빈칸만 채웁니다. 첫 빈칸은 문자열 "left"입니다. 회원 기본정보 1,000명을 모두 남깁니다. 둘째 빈칸은 numeric_features + categorical_features입니다. 열 이름 list 두 개를 연결해 X의 13개 열을 선택합니다.”</a:t>
            </a:r>
          </a:p>
          <a:p>
            <a:endParaRPr/>
          </a:p>
          <a:p>
            <a:r>
              <a:t>[학생이 하는 일]</a:t>
            </a:r>
          </a:p>
          <a:p>
            <a:r>
              <a:t>1. 노트북에서 Q4를 찾습니다.</a:t>
            </a:r>
          </a:p>
          <a:p>
            <a:r>
              <a:t>2. 활동 요약과 회원정보를 붙인 뒤 어떤 열만 전처리기에 넣어야 할까요?</a:t>
            </a:r>
          </a:p>
          <a:p>
            <a:r>
              <a:t>3. 자기 답을 먼저 적은 뒤 ___ 2개만 채웁니다.</a:t>
            </a:r>
          </a:p>
          <a:p>
            <a:r>
              <a:t>4. 실행한 뒤 다음 정상 결과와 비교합니다: (1000, 16) (1000, 13)</a:t>
            </a:r>
          </a:p>
          <a:p>
            <a:r>
              <a:t>5. 결과가 다르면 바로 다음 Q로 가지 않고 아래 복구 순서를 따릅니다.</a:t>
            </a:r>
          </a:p>
          <a:p>
            <a:endParaRPr/>
          </a:p>
          <a:p>
            <a:r>
              <a:t>[오류가 나면]</a:t>
            </a:r>
          </a:p>
          <a:p>
            <a:r>
              <a:t>증상: KeyError 또는 merge 행 증가</a:t>
            </a:r>
          </a:p>
          <a:p>
            <a:r>
              <a:t>복구: 열 이름과 양쪽 member_id 중복을 확인합니다.</a:t>
            </a:r>
          </a:p>
          <a:p>
            <a:r>
              <a:t>먼저 오류 메시지의 마지막 줄을 읽고, 이 Q의 입력 변수가 직전 셀에서 만들어졌는지 확인합니다.</a:t>
            </a:r>
          </a:p>
          <a:p>
            <a:endParaRPr/>
          </a:p>
          <a:p>
            <a:r>
              <a:t>[학생이 직접 써야 하는 범위]</a:t>
            </a:r>
          </a:p>
          <a:p>
            <a:r>
              <a:t>학생은 ___ 부분만 직접 입력합니다. 출력 확인용 print, 긴 열 목록, 검증용 assert는 제공된 코드를 읽고 결과를 확인하는 데 집중합니다.</a:t>
            </a:r>
          </a:p>
          <a:p>
            <a:endParaRPr/>
          </a:p>
          <a:p>
            <a:r>
              <a:t>[다음 장 연결]</a:t>
            </a:r>
          </a:p>
          <a:p>
            <a:r>
              <a:t>다음 장에서 완성 코드가 값을 만드는 순서를 읽습니다.</a:t>
            </a:r>
          </a:p>
          <a:p>
            <a:endParaRPr/>
          </a:p>
          <a:p>
            <a:r>
              <a:t>[자료 사용]</a:t>
            </a:r>
          </a:p>
          <a:p>
            <a:r>
              <a:t>PPT에는 Q4의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0:27~0:34</a:t>
            </a:r>
          </a:p>
          <a:p>
            <a:endParaRPr/>
          </a:p>
          <a:p>
            <a:r>
              <a:t>[이 장의 목표]</a:t>
            </a:r>
          </a:p>
          <a:p>
            <a:r>
              <a:t>방금 완성한 코드를 다시 타이핑하지 않고, 각 줄에서 어떤 입력이 들어가고 어느 변수에 결과가 저장되는지 읽습니다.</a:t>
            </a:r>
          </a:p>
          <a:p>
            <a:endParaRPr/>
          </a:p>
          <a:p>
            <a:r>
              <a:t>[코드를 읽기 전의 상태]</a:t>
            </a:r>
          </a:p>
          <a:p>
            <a:r>
              <a:t>member_activity는 1,000행의 활동 요약이고 members.csv에는 회원 기본정보가 있습니다. 두 표를 member_id로 결합한 뒤 전처리기에 넣을 13개 입력 열을 고릅니다.</a:t>
            </a:r>
          </a:p>
          <a:p>
            <a:endParaRPr/>
          </a:p>
          <a:p>
            <a:r>
              <a:t>[완성 코드]</a:t>
            </a:r>
          </a:p>
          <a:p>
            <a:r>
              <a:t>members = pd.read_csv(DATA_DIR / "members.csv")</a:t>
            </a:r>
          </a:p>
          <a:p>
            <a:r>
              <a:t>member_columns = ["member_id","gender","age","residence_region","membership_tier","signup_channel","meeting_scheduled"]</a:t>
            </a:r>
          </a:p>
          <a:p>
            <a:r>
              <a:t>model_table = members[member_columns].merge(member_activity, on="member_id", how="left", validate="one_to_one")</a:t>
            </a:r>
          </a:p>
          <a:p>
            <a:r>
              <a:t>numeric_features = ["age","active_days","total_app_opens","total_stay_time_min","total_profile_views","total_recommendations_viewed","total_messages_sent","avg_reply_delay_sec","days_since_last_activity"]</a:t>
            </a:r>
          </a:p>
          <a:p>
            <a:r>
              <a:t>categorical_features = ["gender","residence_region","membership_tier","signup_channel"]</a:t>
            </a:r>
          </a:p>
          <a:p>
            <a:r>
              <a:t>X = model_table[numeric_features + categorical_features]</a:t>
            </a:r>
          </a:p>
          <a:p>
            <a:r>
              <a:t>print(model_table.shape, X.shape)</a:t>
            </a:r>
          </a:p>
          <a:p>
            <a:endParaRPr/>
          </a:p>
          <a:p>
            <a:r>
              <a:t>[코드가 움직이는 순서]</a:t>
            </a:r>
          </a:p>
          <a:p>
            <a:r>
              <a:t>model_table은 1,000행×16열이고 X는 그중 정답과 식별자를 제외한 1,000행×13열입니다. 둘 다 새 DataFrame이며 원본 표를 바꾸지 않습니다.</a:t>
            </a:r>
          </a:p>
          <a:p>
            <a:endParaRPr/>
          </a:p>
          <a:p>
            <a:r>
              <a:t>[기능·기호를 쉽게 읽기]</a:t>
            </a:r>
          </a:p>
          <a:p>
            <a:r>
              <a:t>left merge는 members 1,000명을 기준으로 유지합니다.</a:t>
            </a:r>
          </a:p>
          <a:p>
            <a:r>
              <a:t>pd.read_csv는 파일 경로를 받아 표 내용을 Pandas DataFrame으로 읽습니다. 등호 왼쪽 변수에 읽은 표가 저장됩니다.</a:t>
            </a:r>
          </a:p>
          <a:p>
            <a:r>
              <a:t>merge의 on은 두 표에서 같은 사람을 찾을 기준 열입니다. how='left'는 왼쪽 회원을 모두 남기고, validate='one_to_one'은 양쪽 ID가 한 번씩인지 검사합니다.</a:t>
            </a:r>
          </a:p>
          <a:p>
            <a:endParaRPr/>
          </a:p>
          <a:p>
            <a:r>
              <a:t>[값이 저장되는 곳]</a:t>
            </a:r>
          </a:p>
          <a:p>
            <a:r>
              <a:t>members, member_columns, model_table, numeric_features, categorical_features, X 이름에 새 값이 저장되거나 기존 값이 갱신됩니다. 등호 왼쪽은 저장할 이름이고, 오른쪽은 그 값을 만드는 계산입니다. 함수나 메서드가 새 값을 돌려주어도 등호로 받지 않으면 다음 줄에서 그 결과를 이름으로 다시 쓰기 어렵습니다.</a:t>
            </a:r>
          </a:p>
          <a:p>
            <a:endParaRPr/>
          </a:p>
          <a:p>
            <a:r>
              <a:t>[괄호·대괄호·따옴표]</a:t>
            </a:r>
          </a:p>
          <a:p>
            <a:r>
              <a:t>소괄호 ()는 기능을 실행하며 필요한 값을 전달하는 자리입니다. 대괄호 []는 list의 위치나 DataFrame의 열을 고릅니다. 따옴표 안의 글자는 Python 변수 이름이 아니라 파일명·열 이름·설정값 같은 문자열입니다.</a:t>
            </a:r>
          </a:p>
          <a:p>
            <a:endParaRPr/>
          </a:p>
          <a:p>
            <a:r>
              <a:t>[학생에게 이렇게 설명합니다]</a:t>
            </a:r>
          </a:p>
          <a:p>
            <a:r>
              <a:t>“model_table은 1,000행×16열이고 X는 그중 정답과 식별자를 제외한 1,000행×13열입니다. 둘 다 새 DataFrame이며 원본 표를 바꾸지 않습니다. 실행 결과는 등호 왼쪽 변수에 저장됩니다. 원본 자료를 직접 바꾸는지 새 자료를 만드는지도 함께 구분합니다.”</a:t>
            </a:r>
          </a:p>
          <a:p>
            <a:endParaRPr/>
          </a:p>
          <a:p>
            <a:r>
              <a:t>[학생에게 물을 질문]</a:t>
            </a:r>
          </a:p>
          <a:p>
            <a:r>
              <a:t>활동 요약과 회원정보를 붙인 뒤 어떤 열만 전처리기에 넣어야 할까요?</a:t>
            </a:r>
          </a:p>
          <a:p>
            <a:endParaRPr/>
          </a:p>
          <a:p>
            <a:r>
              <a:t>[기대 답]</a:t>
            </a:r>
          </a:p>
          <a:p>
            <a:r>
              <a:t>정답과 식별자를 제외한 숫자 9개 열과 문자 4개 열만 전처리기에 넣습니다.</a:t>
            </a:r>
          </a:p>
          <a:p>
            <a:endParaRPr/>
          </a:p>
          <a:p>
            <a:r>
              <a:t>[다음 장 연결]</a:t>
            </a:r>
          </a:p>
          <a:p>
            <a:r>
              <a:t>다음 장에서 정상 결과와 자주 생기는 오류를 비교합니다.</a:t>
            </a:r>
          </a:p>
          <a:p>
            <a:endParaRPr/>
          </a:p>
          <a:p>
            <a:r>
              <a:t>[자료 사용]</a:t>
            </a:r>
          </a:p>
          <a:p>
            <a:r>
              <a:t>PPT에는 Q4의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0:27~0:34</a:t>
            </a:r>
          </a:p>
          <a:p>
            <a:endParaRPr/>
          </a:p>
          <a:p>
            <a:r>
              <a:t>[이 장의 목표]</a:t>
            </a:r>
          </a:p>
          <a:p>
            <a:r>
              <a:t>Q4 코드가 단순히 멈추지 않고 실행된 것이 아니라, 우리가 기대한 자료의 크기·개수·자료형을 만들었는지 확인합니다.</a:t>
            </a:r>
          </a:p>
          <a:p>
            <a:endParaRPr/>
          </a:p>
          <a:p>
            <a:r>
              <a:t>[정상 결과]</a:t>
            </a:r>
          </a:p>
          <a:p>
            <a:r>
              <a:t>(1000, 16) (1000, 13)</a:t>
            </a:r>
          </a:p>
          <a:p>
            <a:endParaRPr/>
          </a:p>
          <a:p>
            <a:r>
              <a:t>[결과를 어떻게 읽나요?]</a:t>
            </a:r>
          </a:p>
          <a:p>
            <a:r>
              <a:t>model_table은 1,000행×16열이고 X는 그중 정답과 식별자를 제외한 1,000행×13열입니다. 둘 다 새 DataFrame이며 원본 표를 바꾸지 않습니다.</a:t>
            </a:r>
          </a:p>
          <a:p>
            <a:r>
              <a:t>validate="one_to_one"은 결합 전 양쪽 ID 중복을 검사합니다. 결과 행이 1,000보다 늘면 다음 전처리로 넘어가지 않습니다.</a:t>
            </a:r>
          </a:p>
          <a:p>
            <a:endParaRPr/>
          </a:p>
          <a:p>
            <a:r>
              <a:t>[어떤 부분을 화면에서 가리키나요?]</a:t>
            </a:r>
          </a:p>
          <a:p>
            <a:r>
              <a:t>출력에서 (1000, 16) (1000, 13) 부분을 가리킵니다. 여러 숫자가 있다면 앞 숫자와 뒤 숫자가 각각 무엇을 세는지 구분해서 말합니다.</a:t>
            </a:r>
          </a:p>
          <a:p>
            <a:endParaRPr/>
          </a:p>
          <a:p>
            <a:r>
              <a:t>[학생에게 이렇게 설명합니다]</a:t>
            </a:r>
          </a:p>
          <a:p>
            <a:r>
              <a:t>“정상 결과는 (1000, 16) (1000, 13)입니다. validate="one_to_one"은 결합 전 양쪽 ID 중복을 검사합니다. 결과 행이 1,000보다 늘면 다음 전처리로 넘어가지 않습니다.”</a:t>
            </a:r>
          </a:p>
          <a:p>
            <a:endParaRPr/>
          </a:p>
          <a:p>
            <a:r>
              <a:t>[학생에게 물을 질문]</a:t>
            </a:r>
          </a:p>
          <a:p>
            <a:r>
              <a:t>활동 요약과 회원정보를 붙인 뒤 어떤 열만 전처리기에 넣어야 할까요?</a:t>
            </a:r>
          </a:p>
          <a:p>
            <a:endParaRPr/>
          </a:p>
          <a:p>
            <a:r>
              <a:t>[기대 답]</a:t>
            </a:r>
          </a:p>
          <a:p>
            <a:r>
              <a:t>정답과 식별자를 제외한 숫자 9개 열과 문자 4개 열만 전처리기에 넣습니다.</a:t>
            </a:r>
          </a:p>
          <a:p>
            <a:endParaRPr/>
          </a:p>
          <a:p>
            <a:r>
              <a:t>[정상처럼 보여도 주의할 점]</a:t>
            </a:r>
          </a:p>
          <a:p>
            <a:r>
              <a:t>validate="one_to_one"은 결합 전 양쪽 ID 중복을 검사합니다. 결과 행이 1,000보다 늘면 다음 전처리로 넘어가지 않습니다.</a:t>
            </a:r>
          </a:p>
          <a:p>
            <a:endParaRPr/>
          </a:p>
          <a:p>
            <a:r>
              <a:t>[오류가 나면]</a:t>
            </a:r>
          </a:p>
          <a:p>
            <a:r>
              <a:t>보이는 증상: KeyError 또는 merge 행 증가</a:t>
            </a:r>
          </a:p>
          <a:p>
            <a:r>
              <a:t>1. 오류 메시지 마지막 줄에서 오류 종류와 변수명을 찾습니다.</a:t>
            </a:r>
          </a:p>
          <a:p>
            <a:r>
              <a:t>2. 열 이름과 양쪽 member_id 중복을 확인합니다.</a:t>
            </a:r>
          </a:p>
          <a:p>
            <a:r>
              <a:t>3. 직전 셀부터 다시 실행하고 Q4의 정상 결과를 다시 확인합니다.</a:t>
            </a:r>
          </a:p>
          <a:p>
            <a:endParaRPr/>
          </a:p>
          <a:p>
            <a:r>
              <a:t>[다음 장 연결]</a:t>
            </a:r>
          </a:p>
          <a:p>
            <a:r>
              <a:t>다음은 Q5로 이동합니다.</a:t>
            </a:r>
          </a:p>
          <a:p>
            <a:endParaRPr/>
          </a:p>
          <a:p>
            <a:r>
              <a:t>[자료 사용]</a:t>
            </a:r>
          </a:p>
          <a:p>
            <a:r>
              <a:t>PPT에는 Q4의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0:34~0:41</a:t>
            </a:r>
          </a:p>
          <a:p>
            <a:endParaRPr/>
          </a:p>
          <a:p>
            <a:r>
              <a:t>[이 장에서 먼저 이해할 것]</a:t>
            </a:r>
          </a:p>
          <a:p>
            <a:r>
              <a:t>6교시에서 저장한 기준이 다른 실행에서도 그대로 재사용되는지 확인합니다.</a:t>
            </a:r>
          </a:p>
          <a:p>
            <a:endParaRPr/>
          </a:p>
          <a:p>
            <a:r>
              <a:t>[현재 가지고 있는 자료]</a:t>
            </a:r>
          </a:p>
          <a:p>
            <a:r>
              <a:t>X는 1,000행×13열 DataFrame이고, 6교시에서 학습해 저장한 matchmaking_preprocessor.joblib이 artifacts 폴더에 있어야 합니다.</a:t>
            </a:r>
          </a:p>
          <a:p>
            <a:endParaRPr/>
          </a:p>
          <a:p>
            <a:r>
              <a:t>[이 작업이 필요한 이유]</a:t>
            </a:r>
          </a:p>
          <a:p>
            <a:r>
              <a:t>정상 결과 (1000, 36) 0은 회원 1,000명이 36개 숫자 열로 변환되었고 결측이 남지 않았다는 뜻입니다.</a:t>
            </a:r>
          </a:p>
          <a:p>
            <a:endParaRPr/>
          </a:p>
          <a:p>
            <a:r>
              <a:t>[학생에게 이렇게 설명합니다]</a:t>
            </a:r>
          </a:p>
          <a:p>
            <a:r>
              <a:t>“X는 1,000행×13열 DataFrame이고, 6교시에서 학습해 저장한 matchmaking_preprocessor.joblib이 artifacts 폴더에 있어야 합니다. 이번에는 저장한 전처리기로 1,000명을 36개 숫자 열로 바꿉니다. 정상 결과 (1000, 36) 0은 회원 1,000명이 36개 숫자 열로 변환되었고 결측이 남지 않았다는 뜻입니다.”</a:t>
            </a:r>
          </a:p>
          <a:p>
            <a:endParaRPr/>
          </a:p>
          <a:p>
            <a:r>
              <a:t>[학생에게 확인할 질문]</a:t>
            </a:r>
          </a:p>
          <a:p>
            <a:r>
              <a:t>종합실습에서 전처리 기준을 다시 배우지 않는 이유는 무엇일까요?</a:t>
            </a:r>
          </a:p>
          <a:p>
            <a:endParaRPr/>
          </a:p>
          <a:p>
            <a:r>
              <a:t>[예상 답]</a:t>
            </a:r>
          </a:p>
          <a:p>
            <a:r>
              <a:t>6교시에서 train으로 배운 기준을 그대로 재사용해야 같은 36개 열을 만들 수 있습니다.</a:t>
            </a:r>
          </a:p>
          <a:p>
            <a:endParaRPr/>
          </a:p>
          <a:p>
            <a:r>
              <a:t>[학생이 하는 일]</a:t>
            </a:r>
          </a:p>
          <a:p>
            <a:r>
              <a:t>코드를 실행하기 전에 질문의 답과 예상 결과를 노트북에 적습니다.</a:t>
            </a:r>
          </a:p>
          <a:p>
            <a:endParaRPr/>
          </a:p>
          <a:p>
            <a:r>
              <a:t>[다음 장 연결]</a:t>
            </a:r>
          </a:p>
          <a:p>
            <a:r>
              <a:t>다음 장에서 현재 다루는 자료가 어떤 형태인지 확인합니다.</a:t>
            </a:r>
          </a:p>
          <a:p>
            <a:endParaRPr/>
          </a:p>
          <a:p>
            <a:r>
              <a:t>[자료 사용]</a:t>
            </a:r>
          </a:p>
          <a:p>
            <a:r>
              <a:t>PPT에는 Q5의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0:34~0:41</a:t>
            </a:r>
          </a:p>
          <a:p>
            <a:endParaRPr/>
          </a:p>
          <a:p>
            <a:r>
              <a:t>[이 장에서 설명할 것]</a:t>
            </a:r>
          </a:p>
          <a:p>
            <a:r>
              <a:t>코드에 들어가는 값과 실행 뒤 생기는 값의 자료구조를 구분합니다.</a:t>
            </a:r>
          </a:p>
          <a:p>
            <a:endParaRPr/>
          </a:p>
          <a:p>
            <a:r>
              <a:t>[지금 준비된 자료]</a:t>
            </a:r>
          </a:p>
          <a:p>
            <a:r>
              <a:t>X는 1,000행×13열 DataFrame이고, 6교시에서 학습해 저장한 matchmaking_preprocessor.joblib이 artifacts 폴더에 있어야 합니다.</a:t>
            </a:r>
          </a:p>
          <a:p>
            <a:endParaRPr/>
          </a:p>
          <a:p>
            <a:r>
              <a:t>[실행 뒤 생기는 자료]</a:t>
            </a:r>
          </a:p>
          <a:p>
            <a:r>
              <a:t>preprocessor는 joblib에서 불러온 객체, processed는 1,000행×36열 DataFrame입니다.</a:t>
            </a:r>
          </a:p>
          <a:p>
            <a:endParaRPr/>
          </a:p>
          <a:p>
            <a:r>
              <a:t>[학생에게 이렇게 설명합니다]</a:t>
            </a:r>
          </a:p>
          <a:p>
            <a:r>
              <a:t>“실행 전에는 X는 1,000행×13열 DataFrame이고, 6교시에서 학습해 저장한 matchmaking_preprocessor.joblib이 artifacts 폴더에 있어야 합니다. 실행하면 preprocessor는 joblib에서 불러온 객체, processed는 1,000행×36열 DataFrame입니다. preprocessor는 변환 규칙 객체이고 processed는 실제 변환된 숫자 DataFrame입니다. 두 변수는 자료구조와 역할이 다릅니다.”</a:t>
            </a:r>
          </a:p>
          <a:p>
            <a:endParaRPr/>
          </a:p>
          <a:p>
            <a:r>
              <a:t>[학생에게 확인할 질문]</a:t>
            </a:r>
          </a:p>
          <a:p>
            <a:r>
              <a:t>종합실습에서 전처리 기준을 다시 배우지 않는 이유는 무엇일까요?</a:t>
            </a:r>
          </a:p>
          <a:p>
            <a:endParaRPr/>
          </a:p>
          <a:p>
            <a:r>
              <a:t>[예상 답]</a:t>
            </a:r>
          </a:p>
          <a:p>
            <a:r>
              <a:t>6교시에서 train으로 배운 기준을 그대로 재사용해야 같은 36개 열을 만들 수 있습니다.</a:t>
            </a:r>
          </a:p>
          <a:p>
            <a:endParaRPr/>
          </a:p>
          <a:p>
            <a:r>
              <a:t>[다음 장 연결]</a:t>
            </a:r>
          </a:p>
          <a:p>
            <a:r>
              <a:t>다음 장에서 노트북의 같은 Q 빈칸을 직접 채웁니다.</a:t>
            </a:r>
          </a:p>
          <a:p>
            <a:endParaRPr/>
          </a:p>
          <a:p>
            <a:r>
              <a:t>[자료 사용]</a:t>
            </a:r>
          </a:p>
          <a:p>
            <a:r>
              <a:t>PPT에는 Q5의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0:34~0:41</a:t>
            </a:r>
          </a:p>
          <a:p>
            <a:endParaRPr/>
          </a:p>
          <a:p>
            <a:r>
              <a:t>[이 장의 목표]</a:t>
            </a:r>
          </a:p>
          <a:p>
            <a:r>
              <a:t>학생용 노트북 Q5에서 코드의 ___ 3개를 직접 채웁니다. 이번에는 아래 한 단계에 집중합니다.</a:t>
            </a:r>
          </a:p>
          <a:p>
            <a:r>
              <a:t>- 저장한 전처리기로 1,000명을 36개 숫자 열로 바꿉니다</a:t>
            </a:r>
          </a:p>
          <a:p>
            <a:r>
              <a:t>다음 Q의 작업은 아직 시작하지 않습니다.</a:t>
            </a:r>
          </a:p>
          <a:p>
            <a:endParaRPr/>
          </a:p>
          <a:p>
            <a:r>
              <a:t>[현재 준비되어 있는 데이터]</a:t>
            </a:r>
          </a:p>
          <a:p>
            <a:r>
              <a:t>X는 1,000행×13열 DataFrame이고, 6교시에서 학습해 저장한 matchmaking_preprocessor.joblib이 artifacts 폴더에 있어야 합니다.</a:t>
            </a:r>
          </a:p>
          <a:p>
            <a:endParaRPr/>
          </a:p>
          <a:p>
            <a:r>
              <a:t>[실행하면 새로 생기거나 바뀌는 것]</a:t>
            </a:r>
          </a:p>
          <a:p>
            <a:r>
              <a:t>preprocessor는 joblib에서 불러온 객체, processed는 1,000행×36열 DataFrame입니다.</a:t>
            </a:r>
          </a:p>
          <a:p>
            <a:endParaRPr/>
          </a:p>
          <a:p>
            <a:r>
              <a:t>[왜 이 작업을 하나요?]</a:t>
            </a:r>
          </a:p>
          <a:p>
            <a:r>
              <a:t>6교시에서 저장한 기준이 다른 실행에서도 그대로 재사용되는지 확인합니다.</a:t>
            </a:r>
          </a:p>
          <a:p>
            <a:r>
              <a:t>정상 결과 (1000, 36) 0은 회원 1,000명이 36개 숫자 열로 변환되었고 결측이 남지 않았다는 뜻입니다.</a:t>
            </a:r>
          </a:p>
          <a:p>
            <a:endParaRPr/>
          </a:p>
          <a:p>
            <a:r>
              <a:t>[학생이 채울 빈칸]</a:t>
            </a:r>
          </a:p>
          <a:p>
            <a:r>
              <a:t>1. 첫 빈칸은 load입니다. 파일에서 학습된 전처리 객체를 복원합니다.</a:t>
            </a:r>
          </a:p>
          <a:p>
            <a:r>
              <a:t>2. 둘째 빈칸은 transform입니다. 새 기준을 배우지 않고 저장된 기준으로 X를 바꿉니다.</a:t>
            </a:r>
          </a:p>
          <a:p>
            <a:r>
              <a:t>3. 셋째 빈칸은 tuple (1000, 36)입니다. 결과 행·열을 검사합니다.</a:t>
            </a:r>
          </a:p>
          <a:p>
            <a:endParaRPr/>
          </a:p>
          <a:p>
            <a:r>
              <a:t>[강사용 완성 코드]</a:t>
            </a:r>
          </a:p>
          <a:p>
            <a:r>
              <a:t>import joblib</a:t>
            </a:r>
          </a:p>
          <a:p>
            <a:r>
              <a:t>artifact_path = ARTIFACT_DIR / "matchmaking_preprocessor.joblib"</a:t>
            </a:r>
          </a:p>
          <a:p>
            <a:r>
              <a:t>preprocessor = joblib.load(artifact_path)</a:t>
            </a:r>
          </a:p>
          <a:p>
            <a:r>
              <a:t>processed = preprocessor.transform(X)</a:t>
            </a:r>
          </a:p>
          <a:p>
            <a:r>
              <a:t>assert processed.shape == (1000, 36)</a:t>
            </a:r>
          </a:p>
          <a:p>
            <a:r>
              <a:t>print(processed.shape, processed.isna().sum().sum())</a:t>
            </a:r>
          </a:p>
          <a:p>
            <a:endParaRPr/>
          </a:p>
          <a:p>
            <a:r>
              <a:t>[코드를 위에서 아래로 읽기]</a:t>
            </a:r>
          </a:p>
          <a:p>
            <a:r>
              <a:t>preprocessor는 변환 규칙 객체이고 processed는 실제 변환된 숫자 DataFrame입니다. 두 변수는 자료구조와 역할이 다릅니다.</a:t>
            </a:r>
          </a:p>
          <a:p>
            <a:endParaRPr/>
          </a:p>
          <a:p>
            <a:r>
              <a:t>load는 파일에 저장된 객체를 되살리고 transform은 저장된 기준만 적용합니다.</a:t>
            </a:r>
          </a:p>
          <a:p>
            <a:r>
              <a:t>transform은 이미 배운 기준을 새로 계산하지 않고 다른 데이터에 그대로 적용합니다.</a:t>
            </a:r>
          </a:p>
          <a:p>
            <a:r>
              <a:t>isna()는 값이 비어 있으면 True로 표시합니다. 뒤의 sum()을 두 번 쓰면 열별 개수를 더해 표 전체의 빈값 수를 구합니다.</a:t>
            </a:r>
          </a:p>
          <a:p>
            <a:r>
              <a:t>joblib.load는 저장한 객체 파일을 메모리로 다시 불러옵니다. 불러온 객체도 같은 transform 기능을 사용할 수 있습니다.</a:t>
            </a:r>
          </a:p>
          <a:p>
            <a:r>
              <a:t>assert 뒤 조건이 True이면 조용히 다음 줄로 넘어가고, False이면 그 자리에서 멈춰 잘못된 결과가 다음 단계로 넘어가지 않게 합니다.</a:t>
            </a:r>
          </a:p>
          <a:p>
            <a:endParaRPr/>
          </a:p>
          <a:p>
            <a:r>
              <a:t>[실행하기 전에 먼저 물을 질문]</a:t>
            </a:r>
          </a:p>
          <a:p>
            <a:r>
              <a:t>종합실습에서 전처리 기준을 다시 배우지 않는 이유는 무엇일까요?</a:t>
            </a:r>
          </a:p>
          <a:p>
            <a:endParaRPr/>
          </a:p>
          <a:p>
            <a:r>
              <a:t>[기대 답]</a:t>
            </a:r>
          </a:p>
          <a:p>
            <a:r>
              <a:t>6교시에서 train으로 배운 기준을 그대로 재사용해야 같은 36개 열을 만들 수 있습니다.</a:t>
            </a:r>
          </a:p>
          <a:p>
            <a:endParaRPr/>
          </a:p>
          <a:p>
            <a:r>
              <a:t>[정상 결과]</a:t>
            </a:r>
          </a:p>
          <a:p>
            <a:r>
              <a:t>(1000, 36) 0</a:t>
            </a:r>
          </a:p>
          <a:p>
            <a:endParaRPr/>
          </a:p>
          <a:p>
            <a:r>
              <a:t>[이 결과를 읽는 법]</a:t>
            </a:r>
          </a:p>
          <a:p>
            <a:r>
              <a:t>정상 결과는 (1000, 36) 0입니다. 정상 결과 (1000, 36) 0은 회원 1,000명이 36개 숫자 열로 변환되었고 결측이 남지 않았다는 뜻입니다.</a:t>
            </a:r>
          </a:p>
          <a:p>
            <a:endParaRPr/>
          </a:p>
          <a:p>
            <a:r>
              <a:t>[학생에게 이렇게 설명합니다]</a:t>
            </a:r>
          </a:p>
          <a:p>
            <a:r>
              <a:t>“먼저 '종합실습에서 전처리 기준을 다시 배우지 않는 이유는 무엇일까요?'에 답해 보세요. 그다음 노트북 Q5에서 빈칸만 채웁니다. 첫 빈칸은 load입니다. 파일에서 학습된 전처리 객체를 복원합니다. 둘째 빈칸은 transform입니다. 새 기준을 배우지 않고 저장된 기준으로 X를 바꿉니다. 셋째 빈칸은 tuple (1000, 36)입니다. 결과 행·열을 검사합니다.”</a:t>
            </a:r>
          </a:p>
          <a:p>
            <a:endParaRPr/>
          </a:p>
          <a:p>
            <a:r>
              <a:t>[학생이 하는 일]</a:t>
            </a:r>
          </a:p>
          <a:p>
            <a:r>
              <a:t>1. 노트북에서 Q5를 찾습니다.</a:t>
            </a:r>
          </a:p>
          <a:p>
            <a:r>
              <a:t>2. 종합실습에서 전처리 기준을 다시 배우지 않는 이유는 무엇일까요?</a:t>
            </a:r>
          </a:p>
          <a:p>
            <a:r>
              <a:t>3. 자기 답을 먼저 적은 뒤 ___ 3개만 채웁니다.</a:t>
            </a:r>
          </a:p>
          <a:p>
            <a:r>
              <a:t>4. 실행한 뒤 다음 정상 결과와 비교합니다: (1000, 36) 0</a:t>
            </a:r>
          </a:p>
          <a:p>
            <a:r>
              <a:t>5. 결과가 다르면 바로 다음 Q로 가지 않고 아래 복구 순서를 따릅니다.</a:t>
            </a:r>
          </a:p>
          <a:p>
            <a:endParaRPr/>
          </a:p>
          <a:p>
            <a:r>
              <a:t>[오류가 나면]</a:t>
            </a:r>
          </a:p>
          <a:p>
            <a:r>
              <a:t>증상: FileNotFoundError 또는 NotFittedError</a:t>
            </a:r>
          </a:p>
          <a:p>
            <a:r>
              <a:t>복구: 6교시 전체실행으로 artifact를 먼저 만들고 같은 경로인지 확인합니다.</a:t>
            </a:r>
          </a:p>
          <a:p>
            <a:r>
              <a:t>먼저 오류 메시지의 마지막 줄을 읽고, 이 Q의 입력 변수가 직전 셀에서 만들어졌는지 확인합니다.</a:t>
            </a:r>
          </a:p>
          <a:p>
            <a:endParaRPr/>
          </a:p>
          <a:p>
            <a:r>
              <a:t>[학생이 직접 써야 하는 범위]</a:t>
            </a:r>
          </a:p>
          <a:p>
            <a:r>
              <a:t>학생은 ___ 부분만 직접 입력합니다. 출력 확인용 print, 긴 열 목록, 검증용 assert는 제공된 코드를 읽고 결과를 확인하는 데 집중합니다.</a:t>
            </a:r>
          </a:p>
          <a:p>
            <a:endParaRPr/>
          </a:p>
          <a:p>
            <a:r>
              <a:t>[다음 장 연결]</a:t>
            </a:r>
          </a:p>
          <a:p>
            <a:r>
              <a:t>다음 장에서 완성 코드가 값을 만드는 순서를 읽습니다.</a:t>
            </a:r>
          </a:p>
          <a:p>
            <a:endParaRPr/>
          </a:p>
          <a:p>
            <a:r>
              <a:t>[자료 사용]</a:t>
            </a:r>
          </a:p>
          <a:p>
            <a:r>
              <a:t>PPT에는 Q5의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0:34~0:41</a:t>
            </a:r>
          </a:p>
          <a:p>
            <a:endParaRPr/>
          </a:p>
          <a:p>
            <a:r>
              <a:t>[이 장의 목표]</a:t>
            </a:r>
          </a:p>
          <a:p>
            <a:r>
              <a:t>방금 완성한 코드를 다시 타이핑하지 않고, 각 줄에서 어떤 입력이 들어가고 어느 변수에 결과가 저장되는지 읽습니다.</a:t>
            </a:r>
          </a:p>
          <a:p>
            <a:endParaRPr/>
          </a:p>
          <a:p>
            <a:r>
              <a:t>[코드를 읽기 전의 상태]</a:t>
            </a:r>
          </a:p>
          <a:p>
            <a:r>
              <a:t>X는 1,000행×13열 DataFrame이고, 6교시에서 학습해 저장한 matchmaking_preprocessor.joblib이 artifacts 폴더에 있어야 합니다.</a:t>
            </a:r>
          </a:p>
          <a:p>
            <a:endParaRPr/>
          </a:p>
          <a:p>
            <a:r>
              <a:t>[완성 코드]</a:t>
            </a:r>
          </a:p>
          <a:p>
            <a:r>
              <a:t>import joblib</a:t>
            </a:r>
          </a:p>
          <a:p>
            <a:r>
              <a:t>artifact_path = ARTIFACT_DIR / "matchmaking_preprocessor.joblib"</a:t>
            </a:r>
          </a:p>
          <a:p>
            <a:r>
              <a:t>preprocessor = joblib.load(artifact_path)</a:t>
            </a:r>
          </a:p>
          <a:p>
            <a:r>
              <a:t>processed = preprocessor.transform(X)</a:t>
            </a:r>
          </a:p>
          <a:p>
            <a:r>
              <a:t>assert processed.shape == (1000, 36)</a:t>
            </a:r>
          </a:p>
          <a:p>
            <a:r>
              <a:t>print(processed.shape, processed.isna().sum().sum())</a:t>
            </a:r>
          </a:p>
          <a:p>
            <a:endParaRPr/>
          </a:p>
          <a:p>
            <a:r>
              <a:t>[코드가 움직이는 순서]</a:t>
            </a:r>
          </a:p>
          <a:p>
            <a:r>
              <a:t>preprocessor는 변환 규칙 객체이고 processed는 실제 변환된 숫자 DataFrame입니다. 두 변수는 자료구조와 역할이 다릅니다.</a:t>
            </a:r>
          </a:p>
          <a:p>
            <a:endParaRPr/>
          </a:p>
          <a:p>
            <a:r>
              <a:t>[기능·기호를 쉽게 읽기]</a:t>
            </a:r>
          </a:p>
          <a:p>
            <a:r>
              <a:t>load는 파일에 저장된 객체를 되살리고 transform은 저장된 기준만 적용합니다.</a:t>
            </a:r>
          </a:p>
          <a:p>
            <a:r>
              <a:t>transform은 이미 배운 기준을 새로 계산하지 않고 다른 데이터에 그대로 적용합니다.</a:t>
            </a:r>
          </a:p>
          <a:p>
            <a:r>
              <a:t>isna()는 값이 비어 있으면 True로 표시합니다. 뒤의 sum()을 두 번 쓰면 열별 개수를 더해 표 전체의 빈값 수를 구합니다.</a:t>
            </a:r>
          </a:p>
          <a:p>
            <a:r>
              <a:t>joblib.load는 저장한 객체 파일을 메모리로 다시 불러옵니다. 불러온 객체도 같은 transform 기능을 사용할 수 있습니다.</a:t>
            </a:r>
          </a:p>
          <a:p>
            <a:r>
              <a:t>assert 뒤 조건이 True이면 조용히 다음 줄로 넘어가고, False이면 그 자리에서 멈춰 잘못된 결과가 다음 단계로 넘어가지 않게 합니다.</a:t>
            </a:r>
          </a:p>
          <a:p>
            <a:endParaRPr/>
          </a:p>
          <a:p>
            <a:r>
              <a:t>[값이 저장되는 곳]</a:t>
            </a:r>
          </a:p>
          <a:p>
            <a:r>
              <a:t>artifact_path, preprocessor, processed 이름에 새 값이 저장되거나 기존 값이 갱신됩니다. 등호 왼쪽은 저장할 이름이고, 오른쪽은 그 값을 만드는 계산입니다. 함수나 메서드가 새 값을 돌려주어도 등호로 받지 않으면 다음 줄에서 그 결과를 이름으로 다시 쓰기 어렵습니다.</a:t>
            </a:r>
          </a:p>
          <a:p>
            <a:endParaRPr/>
          </a:p>
          <a:p>
            <a:r>
              <a:t>[괄호·대괄호·따옴표]</a:t>
            </a:r>
          </a:p>
          <a:p>
            <a:r>
              <a:t>소괄호 ()는 기능을 실행하며 필요한 값을 전달하는 자리입니다. 대괄호 []는 list의 위치나 DataFrame의 열을 고릅니다. 따옴표 안의 글자는 Python 변수 이름이 아니라 파일명·열 이름·설정값 같은 문자열입니다.</a:t>
            </a:r>
          </a:p>
          <a:p>
            <a:endParaRPr/>
          </a:p>
          <a:p>
            <a:r>
              <a:t>[학생에게 이렇게 설명합니다]</a:t>
            </a:r>
          </a:p>
          <a:p>
            <a:r>
              <a:t>“preprocessor는 변환 규칙 객체이고 processed는 실제 변환된 숫자 DataFrame입니다. 두 변수는 자료구조와 역할이 다릅니다. 실행 결과는 등호 왼쪽 변수에 저장됩니다. 원본 자료를 직접 바꾸는지 새 자료를 만드는지도 함께 구분합니다.”</a:t>
            </a:r>
          </a:p>
          <a:p>
            <a:endParaRPr/>
          </a:p>
          <a:p>
            <a:r>
              <a:t>[학생에게 물을 질문]</a:t>
            </a:r>
          </a:p>
          <a:p>
            <a:r>
              <a:t>종합실습에서 전처리 기준을 다시 배우지 않는 이유는 무엇일까요?</a:t>
            </a:r>
          </a:p>
          <a:p>
            <a:endParaRPr/>
          </a:p>
          <a:p>
            <a:r>
              <a:t>[기대 답]</a:t>
            </a:r>
          </a:p>
          <a:p>
            <a:r>
              <a:t>6교시에서 train으로 배운 기준을 그대로 재사용해야 같은 36개 열을 만들 수 있습니다.</a:t>
            </a:r>
          </a:p>
          <a:p>
            <a:endParaRPr/>
          </a:p>
          <a:p>
            <a:r>
              <a:t>[다음 장 연결]</a:t>
            </a:r>
          </a:p>
          <a:p>
            <a:r>
              <a:t>다음 장에서 정상 결과와 자주 생기는 오류를 비교합니다.</a:t>
            </a:r>
          </a:p>
          <a:p>
            <a:endParaRPr/>
          </a:p>
          <a:p>
            <a:r>
              <a:t>[자료 사용]</a:t>
            </a:r>
          </a:p>
          <a:p>
            <a:r>
              <a:t>PPT에는 Q5의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0:34~0:41</a:t>
            </a:r>
          </a:p>
          <a:p>
            <a:endParaRPr/>
          </a:p>
          <a:p>
            <a:r>
              <a:t>[이 장의 목표]</a:t>
            </a:r>
          </a:p>
          <a:p>
            <a:r>
              <a:t>Q5 코드가 단순히 멈추지 않고 실행된 것이 아니라, 우리가 기대한 자료의 크기·개수·자료형을 만들었는지 확인합니다.</a:t>
            </a:r>
          </a:p>
          <a:p>
            <a:endParaRPr/>
          </a:p>
          <a:p>
            <a:r>
              <a:t>[정상 결과]</a:t>
            </a:r>
          </a:p>
          <a:p>
            <a:r>
              <a:t>(1000, 36) 0</a:t>
            </a:r>
          </a:p>
          <a:p>
            <a:endParaRPr/>
          </a:p>
          <a:p>
            <a:r>
              <a:t>[결과를 어떻게 읽나요?]</a:t>
            </a:r>
          </a:p>
          <a:p>
            <a:r>
              <a:t>preprocessor는 변환 규칙 객체이고 processed는 실제 변환된 숫자 DataFrame입니다. 두 변수는 자료구조와 역할이 다릅니다.</a:t>
            </a:r>
          </a:p>
          <a:p>
            <a:r>
              <a:t>정상 결과 (1000, 36) 0은 회원 1,000명이 36개 숫자 열로 변환되었고 결측이 남지 않았다는 뜻입니다.</a:t>
            </a:r>
          </a:p>
          <a:p>
            <a:endParaRPr/>
          </a:p>
          <a:p>
            <a:r>
              <a:t>[어떤 부분을 화면에서 가리키나요?]</a:t>
            </a:r>
          </a:p>
          <a:p>
            <a:r>
              <a:t>출력에서 (1000, 36) 0 부분을 가리킵니다. 여러 숫자가 있다면 앞 숫자와 뒤 숫자가 각각 무엇을 세는지 구분해서 말합니다.</a:t>
            </a:r>
          </a:p>
          <a:p>
            <a:endParaRPr/>
          </a:p>
          <a:p>
            <a:r>
              <a:t>[학생에게 이렇게 설명합니다]</a:t>
            </a:r>
          </a:p>
          <a:p>
            <a:r>
              <a:t>“정상 결과는 (1000, 36) 0입니다. 정상 결과 (1000, 36) 0은 회원 1,000명이 36개 숫자 열로 변환되었고 결측이 남지 않았다는 뜻입니다.”</a:t>
            </a:r>
          </a:p>
          <a:p>
            <a:endParaRPr/>
          </a:p>
          <a:p>
            <a:r>
              <a:t>[학생에게 물을 질문]</a:t>
            </a:r>
          </a:p>
          <a:p>
            <a:r>
              <a:t>종합실습에서 전처리 기준을 다시 배우지 않는 이유는 무엇일까요?</a:t>
            </a:r>
          </a:p>
          <a:p>
            <a:endParaRPr/>
          </a:p>
          <a:p>
            <a:r>
              <a:t>[기대 답]</a:t>
            </a:r>
          </a:p>
          <a:p>
            <a:r>
              <a:t>6교시에서 train으로 배운 기준을 그대로 재사용해야 같은 36개 열을 만들 수 있습니다.</a:t>
            </a:r>
          </a:p>
          <a:p>
            <a:endParaRPr/>
          </a:p>
          <a:p>
            <a:r>
              <a:t>[정상처럼 보여도 주의할 점]</a:t>
            </a:r>
          </a:p>
          <a:p>
            <a:r>
              <a:t>정상 결과 (1000, 36) 0은 회원 1,000명이 36개 숫자 열로 변환되었고 결측이 남지 않았다는 뜻입니다.</a:t>
            </a:r>
          </a:p>
          <a:p>
            <a:endParaRPr/>
          </a:p>
          <a:p>
            <a:r>
              <a:t>[오류가 나면]</a:t>
            </a:r>
          </a:p>
          <a:p>
            <a:r>
              <a:t>보이는 증상: FileNotFoundError 또는 NotFittedError</a:t>
            </a:r>
          </a:p>
          <a:p>
            <a:r>
              <a:t>1. 오류 메시지 마지막 줄에서 오류 종류와 변수명을 찾습니다.</a:t>
            </a:r>
          </a:p>
          <a:p>
            <a:r>
              <a:t>2. 6교시 전체실행으로 artifact를 먼저 만들고 같은 경로인지 확인합니다.</a:t>
            </a:r>
          </a:p>
          <a:p>
            <a:r>
              <a:t>3. 직전 셀부터 다시 실행하고 Q5의 정상 결과를 다시 확인합니다.</a:t>
            </a:r>
          </a:p>
          <a:p>
            <a:endParaRPr/>
          </a:p>
          <a:p>
            <a:r>
              <a:t>[다음 장 연결]</a:t>
            </a:r>
          </a:p>
          <a:p>
            <a:r>
              <a:t>다음은 Q6로 이동합니다.</a:t>
            </a:r>
          </a:p>
          <a:p>
            <a:endParaRPr/>
          </a:p>
          <a:p>
            <a:r>
              <a:t>[자료 사용]</a:t>
            </a:r>
          </a:p>
          <a:p>
            <a:r>
              <a:t>PPT에는 Q5의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0:41~0:49</a:t>
            </a:r>
          </a:p>
          <a:p>
            <a:endParaRPr/>
          </a:p>
          <a:p>
            <a:r>
              <a:t>[이 장에서 먼저 이해할 것]</a:t>
            </a:r>
          </a:p>
          <a:p>
            <a:r>
              <a:t>데이터 처리 결과가 실제 서버 응답까지 연결되는지 확인합니다.</a:t>
            </a:r>
          </a:p>
          <a:p>
            <a:endParaRPr/>
          </a:p>
          <a:p>
            <a:r>
              <a:t>[현재 가지고 있는 자료]</a:t>
            </a:r>
          </a:p>
          <a:p>
            <a:r>
              <a:t>model_table은 API가 읽을 1,000행×16열 요약표입니다. lesson7의 api_app_answer.py는 이 CSV를 읽어 /health와 /members 응답을 만듭니다.</a:t>
            </a:r>
          </a:p>
          <a:p>
            <a:endParaRPr/>
          </a:p>
          <a:p>
            <a:r>
              <a:t>[이 작업이 필요한 이유]</a:t>
            </a:r>
          </a:p>
          <a:p>
            <a:r>
              <a:t>이 Q는 모델 정확도를 평가하지 않습니다. 25개 파일에서 만든 결과가 저장되고 API의 두 주소로 전달되는 연결 전체를 검사합니다.</a:t>
            </a:r>
          </a:p>
          <a:p>
            <a:endParaRPr/>
          </a:p>
          <a:p>
            <a:r>
              <a:t>[학생에게 이렇게 설명합니다]</a:t>
            </a:r>
          </a:p>
          <a:p>
            <a:r>
              <a:t>“model_table은 API가 읽을 1,000행×16열 요약표입니다. lesson7의 api_app_answer.py는 이 CSV를 읽어 /health와 /members 응답을 만듭니다. 이번에는 요약표를 저장하고 API 두 주소의 응답을 검사합니다. 이 Q는 모델 정확도를 평가하지 않습니다. 25개 파일에서 만든 결과가 저장되고 API의 두 주소로 전달되는 연결 전체를 검사합니다.”</a:t>
            </a:r>
          </a:p>
          <a:p>
            <a:endParaRPr/>
          </a:p>
          <a:p>
            <a:r>
              <a:t>[학생에게 확인할 질문]</a:t>
            </a:r>
          </a:p>
          <a:p>
            <a:r>
              <a:t>브라우저를 열지 않고도 API 응답을 확인할 수 있는 이유는 무엇일까요?</a:t>
            </a:r>
          </a:p>
          <a:p>
            <a:endParaRPr/>
          </a:p>
          <a:p>
            <a:r>
              <a:t>[예상 답]</a:t>
            </a:r>
          </a:p>
          <a:p>
            <a:r>
              <a:t>TestClient가 프로그램 안에서 FastAPI 주소에 요청을 보내고 Response를 돌려주기 때문입니다.</a:t>
            </a:r>
          </a:p>
          <a:p>
            <a:endParaRPr/>
          </a:p>
          <a:p>
            <a:r>
              <a:t>[학생이 하는 일]</a:t>
            </a:r>
          </a:p>
          <a:p>
            <a:r>
              <a:t>코드를 실행하기 전에 질문의 답과 예상 결과를 노트북에 적습니다.</a:t>
            </a:r>
          </a:p>
          <a:p>
            <a:endParaRPr/>
          </a:p>
          <a:p>
            <a:r>
              <a:t>[다음 장 연결]</a:t>
            </a:r>
          </a:p>
          <a:p>
            <a:r>
              <a:t>다음 장에서 현재 다루는 자료가 어떤 형태인지 확인합니다.</a:t>
            </a:r>
          </a:p>
          <a:p>
            <a:endParaRPr/>
          </a:p>
          <a:p>
            <a:r>
              <a:t>[자료 사용]</a:t>
            </a:r>
          </a:p>
          <a:p>
            <a:r>
              <a:t>PPT에는 Q6의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0:41~0:49</a:t>
            </a:r>
          </a:p>
          <a:p>
            <a:endParaRPr/>
          </a:p>
          <a:p>
            <a:r>
              <a:t>[이 장에서 설명할 것]</a:t>
            </a:r>
          </a:p>
          <a:p>
            <a:r>
              <a:t>코드에 들어가는 값과 실행 뒤 생기는 값의 자료구조를 구분합니다.</a:t>
            </a:r>
          </a:p>
          <a:p>
            <a:endParaRPr/>
          </a:p>
          <a:p>
            <a:r>
              <a:t>[지금 준비된 자료]</a:t>
            </a:r>
          </a:p>
          <a:p>
            <a:r>
              <a:t>model_table은 API가 읽을 1,000행×16열 요약표입니다. lesson7의 api_app_answer.py는 이 CSV를 읽어 /health와 /members 응답을 만듭니다.</a:t>
            </a:r>
          </a:p>
          <a:p>
            <a:endParaRPr/>
          </a:p>
          <a:p>
            <a:r>
              <a:t>[실행 뒤 생기는 자료]</a:t>
            </a:r>
          </a:p>
          <a:p>
            <a:r>
              <a:t>model_table은 CSV로 저장되고 TestClient 응답은 status_code와 JSON 데이터를 가집니다.</a:t>
            </a:r>
          </a:p>
          <a:p>
            <a:endParaRPr/>
          </a:p>
          <a:p>
            <a:r>
              <a:t>[학생에게 이렇게 설명합니다]</a:t>
            </a:r>
          </a:p>
          <a:p>
            <a:r>
              <a:t>“실행 전에는 model_table은 API가 읽을 1,000행×16열 요약표입니다. lesson7의 api_app_answer.py는 이 CSV를 읽어 /health와 /members 응답을 만듭니다. 실행하면 model_table은 CSV로 저장되고 TestClient 응답은 status_code와 JSON 데이터를 가집니다. health와 members_response는 각각 Response 객체입니다. .json()은 응답 본문을 dict 또는 list로 바꾸며 members 응답 list 길이는 3이어야 합니다.”</a:t>
            </a:r>
          </a:p>
          <a:p>
            <a:endParaRPr/>
          </a:p>
          <a:p>
            <a:r>
              <a:t>[학생에게 확인할 질문]</a:t>
            </a:r>
          </a:p>
          <a:p>
            <a:r>
              <a:t>브라우저를 열지 않고도 API 응답을 확인할 수 있는 이유는 무엇일까요?</a:t>
            </a:r>
          </a:p>
          <a:p>
            <a:endParaRPr/>
          </a:p>
          <a:p>
            <a:r>
              <a:t>[예상 답]</a:t>
            </a:r>
          </a:p>
          <a:p>
            <a:r>
              <a:t>TestClient가 프로그램 안에서 FastAPI 주소에 요청을 보내고 Response를 돌려주기 때문입니다.</a:t>
            </a:r>
          </a:p>
          <a:p>
            <a:endParaRPr/>
          </a:p>
          <a:p>
            <a:r>
              <a:t>[다음 장 연결]</a:t>
            </a:r>
          </a:p>
          <a:p>
            <a:r>
              <a:t>다음 장에서 노트북의 같은 Q 빈칸을 직접 채웁니다.</a:t>
            </a:r>
          </a:p>
          <a:p>
            <a:endParaRPr/>
          </a:p>
          <a:p>
            <a:r>
              <a:t>[자료 사용]</a:t>
            </a:r>
          </a:p>
          <a:p>
            <a:r>
              <a:t>PPT에는 Q6의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0:41~0:49</a:t>
            </a:r>
          </a:p>
          <a:p>
            <a:endParaRPr/>
          </a:p>
          <a:p>
            <a:r>
              <a:t>[이 장의 목표]</a:t>
            </a:r>
          </a:p>
          <a:p>
            <a:r>
              <a:t>학생용 노트북 Q6에서 코드의 ___ 3개를 직접 채웁니다. 이번에는 아래 한 단계에 집중합니다.</a:t>
            </a:r>
          </a:p>
          <a:p>
            <a:r>
              <a:t>- 요약표를 저장하고 API 두 주소의 응답을 검사합니다</a:t>
            </a:r>
          </a:p>
          <a:p>
            <a:r>
              <a:t>다음 Q의 작업은 아직 시작하지 않습니다.</a:t>
            </a:r>
          </a:p>
          <a:p>
            <a:endParaRPr/>
          </a:p>
          <a:p>
            <a:r>
              <a:t>[현재 준비되어 있는 데이터]</a:t>
            </a:r>
          </a:p>
          <a:p>
            <a:r>
              <a:t>model_table은 API가 읽을 1,000행×16열 요약표입니다. lesson7의 api_app_answer.py는 이 CSV를 읽어 /health와 /members 응답을 만듭니다.</a:t>
            </a:r>
          </a:p>
          <a:p>
            <a:endParaRPr/>
          </a:p>
          <a:p>
            <a:r>
              <a:t>[실행하면 새로 생기거나 바뀌는 것]</a:t>
            </a:r>
          </a:p>
          <a:p>
            <a:r>
              <a:t>model_table은 CSV로 저장되고 TestClient 응답은 status_code와 JSON 데이터를 가집니다.</a:t>
            </a:r>
          </a:p>
          <a:p>
            <a:endParaRPr/>
          </a:p>
          <a:p>
            <a:r>
              <a:t>[왜 이 작업을 하나요?]</a:t>
            </a:r>
          </a:p>
          <a:p>
            <a:r>
              <a:t>데이터 처리 결과가 실제 서버 응답까지 연결되는지 확인합니다.</a:t>
            </a:r>
          </a:p>
          <a:p>
            <a:r>
              <a:t>이 Q는 모델 정확도를 평가하지 않습니다. 25개 파일에서 만든 결과가 저장되고 API의 두 주소로 전달되는 연결 전체를 검사합니다.</a:t>
            </a:r>
          </a:p>
          <a:p>
            <a:endParaRPr/>
          </a:p>
          <a:p>
            <a:r>
              <a:t>[학생이 채울 빈칸]</a:t>
            </a:r>
          </a:p>
          <a:p>
            <a:r>
              <a:t>1. 첫 빈칸은 문자열 "/health"입니다.</a:t>
            </a:r>
          </a:p>
          <a:p>
            <a:r>
              <a:t>2. 둘째 빈칸은 문자열 "/members?limit=3"입니다. 물음표 뒤는 요청 개수 설정입니다.</a:t>
            </a:r>
          </a:p>
          <a:p>
            <a:r>
              <a:t>3. 셋째 빈칸은 200입니다. HTTP 정상 처리 상태 코드를 검사합니다.</a:t>
            </a:r>
          </a:p>
          <a:p>
            <a:endParaRPr/>
          </a:p>
          <a:p>
            <a:r>
              <a:t>[강사용 완성 코드]</a:t>
            </a:r>
          </a:p>
          <a:p>
            <a:r>
              <a:t>summary_path = OUTPUT_DIR / "member_activity_summary.csv"</a:t>
            </a:r>
          </a:p>
          <a:p>
            <a:r>
              <a:t>model_table.to_csv(summary_path, index=False)</a:t>
            </a:r>
          </a:p>
          <a:p>
            <a:endParaRPr/>
          </a:p>
          <a:p>
            <a:r>
              <a:t>from fastapi.testclient import TestClient</a:t>
            </a:r>
          </a:p>
          <a:p>
            <a:r>
              <a:t>import sys</a:t>
            </a:r>
          </a:p>
          <a:p>
            <a:r>
              <a:t>lesson7_dir = WEEK2_DIR / "lesson7_fastapi"</a:t>
            </a:r>
          </a:p>
          <a:p>
            <a:r>
              <a:t>sys.path.insert(0, str(lesson7_dir))</a:t>
            </a:r>
          </a:p>
          <a:p>
            <a:r>
              <a:t>from api_app_answer import app</a:t>
            </a:r>
          </a:p>
          <a:p>
            <a:r>
              <a:t>client = TestClient(app)</a:t>
            </a:r>
          </a:p>
          <a:p>
            <a:r>
              <a:t>health = client.get("/health")</a:t>
            </a:r>
          </a:p>
          <a:p>
            <a:r>
              <a:t>members_response = client.get("/members?limit=3")</a:t>
            </a:r>
          </a:p>
          <a:p>
            <a:r>
              <a:t>assert health.status_code == 200</a:t>
            </a:r>
          </a:p>
          <a:p>
            <a:r>
              <a:t>assert len(members_response.json()) == 3</a:t>
            </a:r>
          </a:p>
          <a:p>
            <a:r>
              <a:t>print(health.json(), len(members_response.json()))</a:t>
            </a:r>
          </a:p>
          <a:p>
            <a:endParaRPr/>
          </a:p>
          <a:p>
            <a:r>
              <a:t>[코드를 위에서 아래로 읽기]</a:t>
            </a:r>
          </a:p>
          <a:p>
            <a:r>
              <a:t>health와 members_response는 각각 Response 객체입니다. .json()은 응답 본문을 dict 또는 list로 바꾸며 members 응답 list 길이는 3이어야 합니다.</a:t>
            </a:r>
          </a:p>
          <a:p>
            <a:endParaRPr/>
          </a:p>
          <a:p>
            <a:r>
              <a:t>TestClient는 실제 서버 포트를 열지 않고도 FastAPI 주소의 응답을 테스트합니다.</a:t>
            </a:r>
          </a:p>
          <a:p>
            <a:r>
              <a:t>to_csv는 DataFrame을 CSV 파일로 저장합니다. index=False는 Pandas의 0, 1, 2 행 번호를 별도 열로 쓰지 않겠다는 설정입니다.</a:t>
            </a:r>
          </a:p>
          <a:p>
            <a:r>
              <a:t>TestClient는 실제 브라우저를 열지 않고도 프로그램 안에서 API 요청을 보내 상태 코드와 응답 내용을 검사합니다.</a:t>
            </a:r>
          </a:p>
          <a:p>
            <a:r>
              <a:t>assert 뒤 조건이 True이면 조용히 다음 줄로 넘어가고, False이면 그 자리에서 멈춰 잘못된 결과가 다음 단계로 넘어가지 않게 합니다.</a:t>
            </a:r>
          </a:p>
          <a:p>
            <a:endParaRPr/>
          </a:p>
          <a:p>
            <a:r>
              <a:t>[실행하기 전에 먼저 물을 질문]</a:t>
            </a:r>
          </a:p>
          <a:p>
            <a:r>
              <a:t>브라우저를 열지 않고도 API 응답을 확인할 수 있는 이유는 무엇일까요?</a:t>
            </a:r>
          </a:p>
          <a:p>
            <a:endParaRPr/>
          </a:p>
          <a:p>
            <a:r>
              <a:t>[기대 답]</a:t>
            </a:r>
          </a:p>
          <a:p>
            <a:r>
              <a:t>TestClient가 프로그램 안에서 FastAPI 주소에 요청을 보내고 Response를 돌려주기 때문입니다.</a:t>
            </a:r>
          </a:p>
          <a:p>
            <a:endParaRPr/>
          </a:p>
          <a:p>
            <a:r>
              <a:t>[정상 결과]</a:t>
            </a:r>
          </a:p>
          <a:p>
            <a:r>
              <a:t>{'status': 'ok', 'rows': 1000} 3</a:t>
            </a:r>
          </a:p>
          <a:p>
            <a:endParaRPr/>
          </a:p>
          <a:p>
            <a:r>
              <a:t>[이 결과를 읽는 법]</a:t>
            </a:r>
          </a:p>
          <a:p>
            <a:r>
              <a:t>정상 결과는 {'status': 'ok', 'rows': 1000} 3입니다. 이 Q는 모델 정확도를 평가하지 않습니다. 25개 파일에서 만든 결과가 저장되고 API의 두 주소로 전달되는 연결 전체를 검사합니다.</a:t>
            </a:r>
          </a:p>
          <a:p>
            <a:endParaRPr/>
          </a:p>
          <a:p>
            <a:r>
              <a:t>[학생에게 이렇게 설명합니다]</a:t>
            </a:r>
          </a:p>
          <a:p>
            <a:r>
              <a:t>“먼저 '브라우저를 열지 않고도 API 응답을 확인할 수 있는 이유는 무엇일까요?'에 답해 보세요. 그다음 노트북 Q6에서 빈칸만 채웁니다. 첫 빈칸은 문자열 "/health"입니다. 둘째 빈칸은 문자열 "/members?limit=3"입니다. 물음표 뒤는 요청 개수 설정입니다. 셋째 빈칸은 200입니다. HTTP 정상 처리 상태 코드를 검사합니다.”</a:t>
            </a:r>
          </a:p>
          <a:p>
            <a:endParaRPr/>
          </a:p>
          <a:p>
            <a:r>
              <a:t>[학생이 하는 일]</a:t>
            </a:r>
          </a:p>
          <a:p>
            <a:r>
              <a:t>1. 노트북에서 Q6를 찾습니다.</a:t>
            </a:r>
          </a:p>
          <a:p>
            <a:r>
              <a:t>2. 브라우저를 열지 않고도 API 응답을 확인할 수 있는 이유는 무엇일까요?</a:t>
            </a:r>
          </a:p>
          <a:p>
            <a:r>
              <a:t>3. 자기 답을 먼저 적은 뒤 ___ 3개만 채웁니다.</a:t>
            </a:r>
          </a:p>
          <a:p>
            <a:r>
              <a:t>4. 실행한 뒤 다음 정상 결과와 비교합니다: {'status': 'ok', 'rows': 1000} 3</a:t>
            </a:r>
          </a:p>
          <a:p>
            <a:r>
              <a:t>5. 결과가 다르면 바로 다음 Q로 가지 않고 아래 복구 순서를 따릅니다.</a:t>
            </a:r>
          </a:p>
          <a:p>
            <a:endParaRPr/>
          </a:p>
          <a:p>
            <a:r>
              <a:t>[오류가 나면]</a:t>
            </a:r>
          </a:p>
          <a:p>
            <a:r>
              <a:t>증상: ModuleNotFoundError 또는 500</a:t>
            </a:r>
          </a:p>
          <a:p>
            <a:r>
              <a:t>복구: lesson7 경로와 api_app_answer.py, summary CSV 존재를 확인합니다.</a:t>
            </a:r>
          </a:p>
          <a:p>
            <a:r>
              <a:t>먼저 오류 메시지의 마지막 줄을 읽고, 이 Q의 입력 변수가 직전 셀에서 만들어졌는지 확인합니다.</a:t>
            </a:r>
          </a:p>
          <a:p>
            <a:endParaRPr/>
          </a:p>
          <a:p>
            <a:r>
              <a:t>[학생이 직접 써야 하는 범위]</a:t>
            </a:r>
          </a:p>
          <a:p>
            <a:r>
              <a:t>학생은 ___ 부분만 직접 입력합니다. 출력 확인용 print, 긴 열 목록, 검증용 assert는 제공된 코드를 읽고 결과를 확인하는 데 집중합니다.</a:t>
            </a:r>
          </a:p>
          <a:p>
            <a:endParaRPr/>
          </a:p>
          <a:p>
            <a:r>
              <a:t>[다음 장 연결]</a:t>
            </a:r>
          </a:p>
          <a:p>
            <a:r>
              <a:t>다음 장에서 완성 코드가 값을 만드는 순서를 읽습니다.</a:t>
            </a:r>
          </a:p>
          <a:p>
            <a:endParaRPr/>
          </a:p>
          <a:p>
            <a:r>
              <a:t>[자료 사용]</a:t>
            </a:r>
          </a:p>
          <a:p>
            <a:r>
              <a:t>PPT에는 Q6의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0:41~0:49</a:t>
            </a:r>
          </a:p>
          <a:p>
            <a:endParaRPr/>
          </a:p>
          <a:p>
            <a:r>
              <a:t>[이 장의 목표]</a:t>
            </a:r>
          </a:p>
          <a:p>
            <a:r>
              <a:t>방금 완성한 코드를 다시 타이핑하지 않고, 각 줄에서 어떤 입력이 들어가고 어느 변수에 결과가 저장되는지 읽습니다.</a:t>
            </a:r>
          </a:p>
          <a:p>
            <a:endParaRPr/>
          </a:p>
          <a:p>
            <a:r>
              <a:t>[코드를 읽기 전의 상태]</a:t>
            </a:r>
          </a:p>
          <a:p>
            <a:r>
              <a:t>model_table은 API가 읽을 1,000행×16열 요약표입니다. lesson7의 api_app_answer.py는 이 CSV를 읽어 /health와 /members 응답을 만듭니다.</a:t>
            </a:r>
          </a:p>
          <a:p>
            <a:endParaRPr/>
          </a:p>
          <a:p>
            <a:r>
              <a:t>[완성 코드]</a:t>
            </a:r>
          </a:p>
          <a:p>
            <a:r>
              <a:t>summary_path = OUTPUT_DIR / "member_activity_summary.csv"</a:t>
            </a:r>
          </a:p>
          <a:p>
            <a:r>
              <a:t>model_table.to_csv(summary_path, index=False)</a:t>
            </a:r>
          </a:p>
          <a:p>
            <a:endParaRPr/>
          </a:p>
          <a:p>
            <a:r>
              <a:t>from fastapi.testclient import TestClient</a:t>
            </a:r>
          </a:p>
          <a:p>
            <a:r>
              <a:t>import sys</a:t>
            </a:r>
          </a:p>
          <a:p>
            <a:r>
              <a:t>lesson7_dir = WEEK2_DIR / "lesson7_fastapi"</a:t>
            </a:r>
          </a:p>
          <a:p>
            <a:r>
              <a:t>sys.path.insert(0, str(lesson7_dir))</a:t>
            </a:r>
          </a:p>
          <a:p>
            <a:r>
              <a:t>from api_app_answer import app</a:t>
            </a:r>
          </a:p>
          <a:p>
            <a:r>
              <a:t>client = TestClient(app)</a:t>
            </a:r>
          </a:p>
          <a:p>
            <a:r>
              <a:t>health = client.get("/health")</a:t>
            </a:r>
          </a:p>
          <a:p>
            <a:r>
              <a:t>members_response = client.get("/members?limit=3")</a:t>
            </a:r>
          </a:p>
          <a:p>
            <a:r>
              <a:t>assert health.status_code == 200</a:t>
            </a:r>
          </a:p>
          <a:p>
            <a:r>
              <a:t>assert len(members_response.json()) == 3</a:t>
            </a:r>
          </a:p>
          <a:p>
            <a:r>
              <a:t>print(health.json(), len(members_response.json()))</a:t>
            </a:r>
          </a:p>
          <a:p>
            <a:endParaRPr/>
          </a:p>
          <a:p>
            <a:r>
              <a:t>[코드가 움직이는 순서]</a:t>
            </a:r>
          </a:p>
          <a:p>
            <a:r>
              <a:t>health와 members_response는 각각 Response 객체입니다. .json()은 응답 본문을 dict 또는 list로 바꾸며 members 응답 list 길이는 3이어야 합니다.</a:t>
            </a:r>
          </a:p>
          <a:p>
            <a:endParaRPr/>
          </a:p>
          <a:p>
            <a:r>
              <a:t>[기능·기호를 쉽게 읽기]</a:t>
            </a:r>
          </a:p>
          <a:p>
            <a:r>
              <a:t>TestClient는 실제 서버 포트를 열지 않고도 FastAPI 주소의 응답을 테스트합니다.</a:t>
            </a:r>
          </a:p>
          <a:p>
            <a:r>
              <a:t>to_csv는 DataFrame을 CSV 파일로 저장합니다. index=False는 Pandas의 0, 1, 2 행 번호를 별도 열로 쓰지 않겠다는 설정입니다.</a:t>
            </a:r>
          </a:p>
          <a:p>
            <a:r>
              <a:t>TestClient는 실제 브라우저를 열지 않고도 프로그램 안에서 API 요청을 보내 상태 코드와 응답 내용을 검사합니다.</a:t>
            </a:r>
          </a:p>
          <a:p>
            <a:r>
              <a:t>assert 뒤 조건이 True이면 조용히 다음 줄로 넘어가고, False이면 그 자리에서 멈춰 잘못된 결과가 다음 단계로 넘어가지 않게 합니다.</a:t>
            </a:r>
          </a:p>
          <a:p>
            <a:endParaRPr/>
          </a:p>
          <a:p>
            <a:r>
              <a:t>[값이 저장되는 곳]</a:t>
            </a:r>
          </a:p>
          <a:p>
            <a:r>
              <a:t>summary_path, lesson7_dir, client, health, members_response 이름에 새 값이 저장되거나 기존 값이 갱신됩니다. 등호 왼쪽은 저장할 이름이고, 오른쪽은 그 값을 만드는 계산입니다. 함수나 메서드가 새 값을 돌려주어도 등호로 받지 않으면 다음 줄에서 그 결과를 이름으로 다시 쓰기 어렵습니다.</a:t>
            </a:r>
          </a:p>
          <a:p>
            <a:endParaRPr/>
          </a:p>
          <a:p>
            <a:r>
              <a:t>[괄호·대괄호·따옴표]</a:t>
            </a:r>
          </a:p>
          <a:p>
            <a:r>
              <a:t>소괄호 ()는 기능을 실행하며 필요한 값을 전달하는 자리입니다. 대괄호 []는 list의 위치나 DataFrame의 열을 고릅니다. 따옴표 안의 글자는 Python 변수 이름이 아니라 파일명·열 이름·설정값 같은 문자열입니다.</a:t>
            </a:r>
          </a:p>
          <a:p>
            <a:endParaRPr/>
          </a:p>
          <a:p>
            <a:r>
              <a:t>[학생에게 이렇게 설명합니다]</a:t>
            </a:r>
          </a:p>
          <a:p>
            <a:r>
              <a:t>“health와 members_response는 각각 Response 객체입니다. .json()은 응답 본문을 dict 또는 list로 바꾸며 members 응답 list 길이는 3이어야 합니다. 실행 결과는 등호 왼쪽 변수에 저장됩니다. 원본 자료를 직접 바꾸는지 새 자료를 만드는지도 함께 구분합니다.”</a:t>
            </a:r>
          </a:p>
          <a:p>
            <a:endParaRPr/>
          </a:p>
          <a:p>
            <a:r>
              <a:t>[학생에게 물을 질문]</a:t>
            </a:r>
          </a:p>
          <a:p>
            <a:r>
              <a:t>브라우저를 열지 않고도 API 응답을 확인할 수 있는 이유는 무엇일까요?</a:t>
            </a:r>
          </a:p>
          <a:p>
            <a:endParaRPr/>
          </a:p>
          <a:p>
            <a:r>
              <a:t>[기대 답]</a:t>
            </a:r>
          </a:p>
          <a:p>
            <a:r>
              <a:t>TestClient가 프로그램 안에서 FastAPI 주소에 요청을 보내고 Response를 돌려주기 때문입니다.</a:t>
            </a:r>
          </a:p>
          <a:p>
            <a:endParaRPr/>
          </a:p>
          <a:p>
            <a:r>
              <a:t>[다음 장 연결]</a:t>
            </a:r>
          </a:p>
          <a:p>
            <a:r>
              <a:t>다음 장에서 정상 결과와 자주 생기는 오류를 비교합니다.</a:t>
            </a:r>
          </a:p>
          <a:p>
            <a:endParaRPr/>
          </a:p>
          <a:p>
            <a:r>
              <a:t>[자료 사용]</a:t>
            </a:r>
          </a:p>
          <a:p>
            <a:r>
              <a:t>PPT에는 Q6의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0:41~0:49</a:t>
            </a:r>
          </a:p>
          <a:p>
            <a:endParaRPr/>
          </a:p>
          <a:p>
            <a:r>
              <a:t>[이 장의 목표]</a:t>
            </a:r>
          </a:p>
          <a:p>
            <a:r>
              <a:t>Q6 코드가 단순히 멈추지 않고 실행된 것이 아니라, 우리가 기대한 자료의 크기·개수·자료형을 만들었는지 확인합니다.</a:t>
            </a:r>
          </a:p>
          <a:p>
            <a:endParaRPr/>
          </a:p>
          <a:p>
            <a:r>
              <a:t>[정상 결과]</a:t>
            </a:r>
          </a:p>
          <a:p>
            <a:r>
              <a:t>{'status': 'ok', 'rows': 1000} 3</a:t>
            </a:r>
          </a:p>
          <a:p>
            <a:endParaRPr/>
          </a:p>
          <a:p>
            <a:r>
              <a:t>[결과를 어떻게 읽나요?]</a:t>
            </a:r>
          </a:p>
          <a:p>
            <a:r>
              <a:t>health와 members_response는 각각 Response 객체입니다. .json()은 응답 본문을 dict 또는 list로 바꾸며 members 응답 list 길이는 3이어야 합니다.</a:t>
            </a:r>
          </a:p>
          <a:p>
            <a:r>
              <a:t>이 Q는 모델 정확도를 평가하지 않습니다. 25개 파일에서 만든 결과가 저장되고 API의 두 주소로 전달되는 연결 전체를 검사합니다.</a:t>
            </a:r>
          </a:p>
          <a:p>
            <a:endParaRPr/>
          </a:p>
          <a:p>
            <a:r>
              <a:t>[어떤 부분을 화면에서 가리키나요?]</a:t>
            </a:r>
          </a:p>
          <a:p>
            <a:r>
              <a:t>출력에서 {'status': 'ok', 'rows': 1000} 3 부분을 가리킵니다. 여러 숫자가 있다면 앞 숫자와 뒤 숫자가 각각 무엇을 세는지 구분해서 말합니다.</a:t>
            </a:r>
          </a:p>
          <a:p>
            <a:endParaRPr/>
          </a:p>
          <a:p>
            <a:r>
              <a:t>[학생에게 이렇게 설명합니다]</a:t>
            </a:r>
          </a:p>
          <a:p>
            <a:r>
              <a:t>“정상 결과는 {'status': 'ok', 'rows': 1000} 3입니다. 이 Q는 모델 정확도를 평가하지 않습니다. 25개 파일에서 만든 결과가 저장되고 API의 두 주소로 전달되는 연결 전체를 검사합니다.”</a:t>
            </a:r>
          </a:p>
          <a:p>
            <a:endParaRPr/>
          </a:p>
          <a:p>
            <a:r>
              <a:t>[학생에게 물을 질문]</a:t>
            </a:r>
          </a:p>
          <a:p>
            <a:r>
              <a:t>브라우저를 열지 않고도 API 응답을 확인할 수 있는 이유는 무엇일까요?</a:t>
            </a:r>
          </a:p>
          <a:p>
            <a:endParaRPr/>
          </a:p>
          <a:p>
            <a:r>
              <a:t>[기대 답]</a:t>
            </a:r>
          </a:p>
          <a:p>
            <a:r>
              <a:t>TestClient가 프로그램 안에서 FastAPI 주소에 요청을 보내고 Response를 돌려주기 때문입니다.</a:t>
            </a:r>
          </a:p>
          <a:p>
            <a:endParaRPr/>
          </a:p>
          <a:p>
            <a:r>
              <a:t>[정상처럼 보여도 주의할 점]</a:t>
            </a:r>
          </a:p>
          <a:p>
            <a:r>
              <a:t>이 Q는 모델 정확도를 평가하지 않습니다. 25개 파일에서 만든 결과가 저장되고 API의 두 주소로 전달되는 연결 전체를 검사합니다.</a:t>
            </a:r>
          </a:p>
          <a:p>
            <a:endParaRPr/>
          </a:p>
          <a:p>
            <a:r>
              <a:t>[오류가 나면]</a:t>
            </a:r>
          </a:p>
          <a:p>
            <a:r>
              <a:t>보이는 증상: ModuleNotFoundError 또는 500</a:t>
            </a:r>
          </a:p>
          <a:p>
            <a:r>
              <a:t>1. 오류 메시지 마지막 줄에서 오류 종류와 변수명을 찾습니다.</a:t>
            </a:r>
          </a:p>
          <a:p>
            <a:r>
              <a:t>2. lesson7 경로와 api_app_answer.py, summary CSV 존재를 확인합니다.</a:t>
            </a:r>
          </a:p>
          <a:p>
            <a:r>
              <a:t>3. 직전 셀부터 다시 실행하고 Q6의 정상 결과를 다시 확인합니다.</a:t>
            </a:r>
          </a:p>
          <a:p>
            <a:endParaRPr/>
          </a:p>
          <a:p>
            <a:r>
              <a:t>[다음 장 연결]</a:t>
            </a:r>
          </a:p>
          <a:p>
            <a:r>
              <a:t>다음 장에서 오늘 전체 흐름을 회수합니다.</a:t>
            </a:r>
          </a:p>
          <a:p>
            <a:endParaRPr/>
          </a:p>
          <a:p>
            <a:r>
              <a:t>[자료 사용]</a:t>
            </a:r>
          </a:p>
          <a:p>
            <a:r>
              <a:t>PPT에는 Q6의 목적과 코드 위치를 보여 줍니다. 학생은 2주차_8교시_학생용_지적실험노트.ipynb의 같은 Q에서만 입력하고 실행합니다. 강사는 02_강사용_정답과운영.ipynb에서 완성 코드와 실제 결과를 확인합니다. 수업 뒤에는 04_학생용_복습완성본.ipynb를 제공합니다.</a:t>
            </a:r>
          </a:p>
          <a:p>
            <a:endParaRPr/>
          </a:p>
          <a:p>
            <a:endParaRPr/>
          </a:p>
          <a:p>
            <a:endParaRPr/>
          </a:p>
          <a:p>
            <a:r>
              <a:t>[Sources]</a:t>
            </a:r>
          </a:p>
          <a:p>
            <a:endParaRPr/>
          </a:p>
          <a:p>
            <a:r>
              <a:t>- course_materials/week2/lesson8_capstone/00_8교시_흐름_한눈에보기.md</a:t>
            </a:r>
          </a:p>
          <a:p>
            <a:endParaRPr/>
          </a:p>
          <a:p>
            <a:r>
              <a:t>- course_materials/week2/lesson8_capstone/2주차_8교시_학생용_지적실험노트.ipynb</a:t>
            </a:r>
          </a:p>
          <a:p>
            <a:endParaRP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0:49~0:50</a:t>
            </a:r>
          </a:p>
          <a:p>
            <a:r>
              <a:t>[이 장의 역할] 각 Q를 코드 이름이 아니라 자료의 변화와 정상 결과로 회수합니다.</a:t>
            </a:r>
          </a:p>
          <a:p>
            <a:r>
              <a:t>[학생이 하는 일] 학생이 Q1부터 마지막 Q까지 결과 숫자나 파일명을 한 줄씩 말합니다.</a:t>
            </a:r>
          </a:p>
          <a:p>
            <a:r>
              <a:t>[오늘 만들 결과] CSV 25개를 30,000행으로 합치고 1,000행으로 요약한 뒤 36열로 변환해 API 응답까지 확인합니다.</a:t>
            </a:r>
          </a:p>
          <a:p>
            <a:r>
              <a:t>[학생에게 이렇게 설명합니다] “CSV 25개를 30,000행으로 합치고 1,000행으로 요약한 뒤 36열로 변환해 API 응답까지 확인합니다.”</a:t>
            </a:r>
          </a:p>
          <a:p>
            <a:r>
              <a:t>[학생에게 보여 줄 질문] 앞 교시의 핵심 빈칸만 보고 파일 찾기부터 API 확인까지 다시 연결할 수 있을까요?</a:t>
            </a:r>
          </a:p>
          <a:p>
            <a:r>
              <a:t>[다음 장 연결] 마지막 장에서 복습완성본 제공 시점과 다음 교시 연결을 확인합니다.</a:t>
            </a:r>
          </a:p>
          <a:p>
            <a:r>
              <a:t>[자료 사용] PPT는 질문과 코드 위치를 함께 보는 화면입니다. 학생은 2주차_8교시_학생용_지적실험노트.ipynb의 Q번호에서 입력하고 실행합니다.</a:t>
            </a:r>
          </a:p>
          <a:p>
            <a:endParaRPr/>
          </a:p>
          <a:p>
            <a:r>
              <a:t>[Sources]</a:t>
            </a:r>
          </a:p>
          <a:p>
            <a:r>
              <a:t>- course_materials/week2/lesson8_capstone/00_8교시_흐름_한눈에보기.md</a:t>
            </a:r>
          </a:p>
          <a:p>
            <a:r>
              <a:t>- course_materials/week2/lesson8_capstone/2주차_8교시_학생용_지적실험노트.ipynb</a:t>
            </a: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 시각] 수업 종료 직전</a:t>
            </a:r>
          </a:p>
          <a:p>
            <a:r>
              <a:t>[이 장의 역할] 저장할 파일과 수업 종료 뒤 제공할 해답 파일을 구분합니다.</a:t>
            </a:r>
          </a:p>
          <a:p>
            <a:r>
              <a:t>[학생이 하는 일] 학생이 자신의 노트북을 저장했는지 확인하고, 복습완성본은 실습 종료 후에만 제공합니다.</a:t>
            </a:r>
          </a:p>
          <a:p>
            <a:r>
              <a:t>[오늘 만들 결과] CSV 25개를 30,000행으로 합치고 1,000행으로 요약한 뒤 36열로 변환해 API 응답까지 확인합니다.</a:t>
            </a:r>
          </a:p>
          <a:p>
            <a:r>
              <a:t>[학생에게 이렇게 설명합니다] “지금은 여러분이 채운 파일을 저장합니다. 복습완성본은 수업이 끝난 뒤 드립니다.”</a:t>
            </a:r>
          </a:p>
          <a:p>
            <a:r>
              <a:t>[학생에게 보여 줄 질문] 앞 교시의 핵심 빈칸만 보고 파일 찾기부터 API 확인까지 다시 연결할 수 있을까요?</a:t>
            </a:r>
          </a:p>
          <a:p>
            <a:r>
              <a:t>[다음 장 연결] 이 교시를 종료합니다.</a:t>
            </a:r>
          </a:p>
          <a:p>
            <a:r>
              <a:t>[자료 사용] PPT는 질문과 코드 위치를 함께 보는 화면입니다. 학생은 2주차_8교시_학생용_지적실험노트.ipynb의 Q번호에서 입력하고 실행합니다.</a:t>
            </a:r>
          </a:p>
          <a:p>
            <a:endParaRPr/>
          </a:p>
          <a:p>
            <a:r>
              <a:t>[Sources]</a:t>
            </a:r>
          </a:p>
          <a:p>
            <a:r>
              <a:t>- course_materials/week2/lesson8_capstone/00_8교시_흐름_한눈에보기.md</a:t>
            </a:r>
          </a:p>
          <a:p>
            <a:r>
              <a:t>- course_materials/week2/lesson8_capstone/2주차_8교시_학생용_지적실험노트.ipynb</a:t>
            </a:r>
          </a:p>
          <a:p>
            <a:r>
              <a:t>- course_materials/matchmaking_data/02_week2/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C41FCC74-FA75-46E9-BCB9-6BCBC0810D60}"/>
              </a:ext>
            </a:extLst>
          </p:cNvPr>
          <p:cNvSpPr>
            <a:spLocks noGrp="1"/>
          </p:cNvSpPr>
          <p:nvPr/>
        </p:nvSpPr>
        <p:spPr>
          <a:xfrm>
            <a:off x="514350" y="438150"/>
            <a:ext cx="6667500" cy="285750"/>
          </a:xfrm>
          <a:prstGeom prst="rect">
            <a:avLst/>
          </a:prstGeom>
          <a:noFill/>
          <a:ln w="0">
            <a:noFill/>
          </a:ln>
        </p:spPr>
        <p:txBody>
          <a:bodyPr lIns="0" tIns="0" rIns="0" bIns="0" anchor="t">
            <a:normAutofit/>
          </a:bodyPr>
          <a:lstStyle/>
          <a:p>
            <a:pPr algn="l">
              <a:defRPr sz="1425" b="1">
                <a:solidFill>
                  <a:srgbClr val="5F6B78"/>
                </a:solidFill>
                <a:latin typeface="Apple SD Gothic Neo"/>
                <a:ea typeface="Apple SD Gothic Neo"/>
                <a:cs typeface="Apple SD Gothic Neo"/>
              </a:defRPr>
            </a:pPr>
            <a:r>
              <a:rPr sz="1425" b="1">
                <a:solidFill>
                  <a:srgbClr val="5F6B78"/>
                </a:solidFill>
                <a:latin typeface="Apple SD Gothic Neo"/>
                <a:ea typeface="Apple SD Gothic Neo"/>
                <a:cs typeface="Apple SD Gothic Neo"/>
              </a:rPr>
              <a:t>데이터 엔지니어링 · 2주차 8교시</a:t>
            </a:r>
          </a:p>
        </p:txBody>
      </p:sp>
      <p:sp>
        <p:nvSpPr>
          <p:cNvPr id="2" name="직사각형 1">
            <a:extLst>
              <a:ext uri="{FF2B5EF4-FFF2-40B4-BE49-F238E27FC236}">
                <a16:creationId xmlns:a16="http://schemas.microsoft.com/office/drawing/2014/main" id="{62431DFA-AD19-47BF-B0A9-EDC736694ADF}"/>
              </a:ext>
            </a:extLst>
          </p:cNvPr>
          <p:cNvSpPr>
            <a:spLocks noGrp="1"/>
          </p:cNvSpPr>
          <p:nvPr/>
        </p:nvSpPr>
        <p:spPr>
          <a:xfrm>
            <a:off x="514350" y="1762125"/>
            <a:ext cx="10668000" cy="1809750"/>
          </a:xfrm>
          <a:prstGeom prst="rect">
            <a:avLst/>
          </a:prstGeom>
          <a:noFill/>
          <a:ln w="0">
            <a:noFill/>
          </a:ln>
        </p:spPr>
        <p:txBody>
          <a:bodyPr lIns="0" tIns="0" rIns="0" bIns="0" anchor="b">
            <a:normAutofit/>
          </a:bodyPr>
          <a:lstStyle/>
          <a:p>
            <a:pPr algn="l">
              <a:defRPr sz="4350" b="1">
                <a:solidFill>
                  <a:srgbClr val="17202A"/>
                </a:solidFill>
                <a:latin typeface="Apple SD Gothic Neo"/>
                <a:ea typeface="Apple SD Gothic Neo"/>
                <a:cs typeface="Apple SD Gothic Neo"/>
              </a:defRPr>
            </a:pPr>
            <a:r>
              <a:rPr sz="4350" b="1">
                <a:solidFill>
                  <a:srgbClr val="17202A"/>
                </a:solidFill>
                <a:latin typeface="Apple SD Gothic Neo"/>
                <a:ea typeface="Apple SD Gothic Neo"/>
                <a:cs typeface="Apple SD Gothic Neo"/>
              </a:rPr>
              <a:t>CSV 25개에서 API 응답까지 전체 흐름 다시 만들기</a:t>
            </a:r>
          </a:p>
        </p:txBody>
      </p:sp>
      <p:sp>
        <p:nvSpPr>
          <p:cNvPr id="3" name="직사각형 2">
            <a:extLst>
              <a:ext uri="{FF2B5EF4-FFF2-40B4-BE49-F238E27FC236}">
                <a16:creationId xmlns:a16="http://schemas.microsoft.com/office/drawing/2014/main" id="{5C491DA0-9AC0-40F7-962A-DE0ED5F20CA1}"/>
              </a:ext>
            </a:extLst>
          </p:cNvPr>
          <p:cNvSpPr>
            <a:spLocks noGrp="1"/>
          </p:cNvSpPr>
          <p:nvPr/>
        </p:nvSpPr>
        <p:spPr>
          <a:xfrm>
            <a:off x="514350" y="4048125"/>
            <a:ext cx="9906000" cy="762000"/>
          </a:xfrm>
          <a:prstGeom prst="rect">
            <a:avLst/>
          </a:prstGeom>
          <a:noFill/>
          <a:ln w="0">
            <a:noFill/>
          </a:ln>
        </p:spPr>
        <p:txBody>
          <a:bodyPr lIns="0" tIns="0" rIns="0" bIns="0" anchor="t">
            <a:normAutofit/>
          </a:bodyPr>
          <a:lstStyle/>
          <a:p>
            <a:pPr algn="l">
              <a:defRPr sz="2025" b="0">
                <a:solidFill>
                  <a:srgbClr val="5F6B78"/>
                </a:solidFill>
                <a:latin typeface="Apple SD Gothic Neo"/>
                <a:ea typeface="Apple SD Gothic Neo"/>
                <a:cs typeface="Apple SD Gothic Neo"/>
              </a:defRPr>
            </a:pPr>
            <a:r>
              <a:rPr sz="2025" b="0">
                <a:solidFill>
                  <a:srgbClr val="5F6B78"/>
                </a:solidFill>
                <a:latin typeface="Apple SD Gothic Neo"/>
                <a:ea typeface="Apple SD Gothic Neo"/>
                <a:cs typeface="Apple SD Gothic Neo"/>
              </a:rPr>
              <a:t>앞 교시의 핵심 빈칸만 보고 파일 찾기부터 API 확인까지 다시 연결할 수 있을까요?</a:t>
            </a:r>
          </a:p>
        </p:txBody>
      </p:sp>
      <p:sp>
        <p:nvSpPr>
          <p:cNvPr id="4" name="모서리가 둥근 직사각형 3">
            <a:extLst>
              <a:ext uri="{FF2B5EF4-FFF2-40B4-BE49-F238E27FC236}">
                <a16:creationId xmlns:a16="http://schemas.microsoft.com/office/drawing/2014/main" id="{5BFDC478-9195-4CA8-92BF-066CE61443AD}"/>
              </a:ext>
            </a:extLst>
          </p:cNvPr>
          <p:cNvSpPr>
            <a:spLocks noGrp="1"/>
          </p:cNvSpPr>
          <p:nvPr/>
        </p:nvSpPr>
        <p:spPr>
          <a:xfrm>
            <a:off x="514350" y="5391150"/>
            <a:ext cx="10668000" cy="552450"/>
          </a:xfrm>
          <a:prstGeom prst="roundRect">
            <a:avLst>
              <a:gd name="adj" fmla="val 20690"/>
            </a:avLst>
          </a:prstGeom>
          <a:solidFill>
            <a:srgbClr val="EAF3FF"/>
          </a:solidFill>
          <a:ln w="0">
            <a:noFill/>
          </a:ln>
        </p:spPr>
        <p:txBody>
          <a:bodyPr/>
          <a:lstStyle/>
          <a:p>
            <a:endParaRPr lang="ko-KR" altLang="en-US"/>
          </a:p>
        </p:txBody>
      </p:sp>
      <p:sp>
        <p:nvSpPr>
          <p:cNvPr id="5" name="직사각형 4">
            <a:extLst>
              <a:ext uri="{FF2B5EF4-FFF2-40B4-BE49-F238E27FC236}">
                <a16:creationId xmlns:a16="http://schemas.microsoft.com/office/drawing/2014/main" id="{3266D4F0-7E57-4EC5-870D-179991B8A3C4}"/>
              </a:ext>
            </a:extLst>
          </p:cNvPr>
          <p:cNvSpPr>
            <a:spLocks noGrp="1"/>
          </p:cNvSpPr>
          <p:nvPr/>
        </p:nvSpPr>
        <p:spPr>
          <a:xfrm>
            <a:off x="781050" y="5534025"/>
            <a:ext cx="10134600" cy="304800"/>
          </a:xfrm>
          <a:prstGeom prst="rect">
            <a:avLst/>
          </a:prstGeom>
          <a:noFill/>
          <a:ln w="0">
            <a:noFill/>
          </a:ln>
        </p:spPr>
        <p:txBody>
          <a:bodyPr lIns="0" tIns="0" rIns="0" bIns="0" anchor="t">
            <a:normAutofit/>
          </a:bodyPr>
          <a:lstStyle/>
          <a:p>
            <a:pPr algn="ctr">
              <a:defRPr sz="1650" b="1">
                <a:solidFill>
                  <a:srgbClr val="17324D"/>
                </a:solidFill>
                <a:latin typeface="Apple SD Gothic Neo"/>
                <a:ea typeface="Apple SD Gothic Neo"/>
                <a:cs typeface="Apple SD Gothic Neo"/>
              </a:defRPr>
            </a:pPr>
            <a:r>
              <a:rPr sz="1650" b="1">
                <a:solidFill>
                  <a:srgbClr val="17324D"/>
                </a:solidFill>
                <a:latin typeface="Apple SD Gothic Neo"/>
                <a:ea typeface="Apple SD Gothic Neo"/>
                <a:cs typeface="Apple SD Gothic Neo"/>
              </a:rPr>
              <a:t>CSV 25개를 30,000행으로 합치고 1,000행으로 요약한 뒤 36열로 변환해 API 응답까지 확인합니다.</a:t>
            </a:r>
          </a:p>
        </p:txBody>
      </p:sp>
      <p:sp>
        <p:nvSpPr>
          <p:cNvPr id="6" name="직사각형 5">
            <a:extLst>
              <a:ext uri="{FF2B5EF4-FFF2-40B4-BE49-F238E27FC236}">
                <a16:creationId xmlns:a16="http://schemas.microsoft.com/office/drawing/2014/main" id="{0D393A59-2D66-4949-9A3C-FF6DCB78BD44}"/>
              </a:ext>
            </a:extLst>
          </p:cNvPr>
          <p:cNvSpPr>
            <a:spLocks noGrp="1"/>
          </p:cNvSpPr>
          <p:nvPr/>
        </p:nvSpPr>
        <p:spPr>
          <a:xfrm>
            <a:off x="514350" y="6086475"/>
            <a:ext cx="2286000" cy="76200"/>
          </a:xfrm>
          <a:prstGeom prst="rect">
            <a:avLst/>
          </a:prstGeom>
          <a:solidFill>
            <a:srgbClr val="2F7DF4"/>
          </a:solidFill>
          <a:ln w="0">
            <a:noFill/>
          </a:ln>
        </p:spPr>
        <p:txBody>
          <a:bodyPr/>
          <a:lstStyle/>
          <a:p>
            <a:endParaRPr lang="ko-KR" altLang="en-US"/>
          </a:p>
        </p:txBody>
      </p:sp>
    </p:spTree>
    <p:extLst>
      <p:ext uri="{BB962C8B-B14F-4D97-AF65-F5344CB8AC3E}">
        <p14:creationId xmlns:p14="http://schemas.microsoft.com/office/powerpoint/2010/main" val="441773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직사각형 28">
            <a:extLst>
              <a:ext uri="{FF2B5EF4-FFF2-40B4-BE49-F238E27FC236}">
                <a16:creationId xmlns:a16="http://schemas.microsoft.com/office/drawing/2014/main" id="{7A0159C4-D35E-4CE5-8D08-C2E5F7374D65}"/>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BA32514B-37AE-4A88-9EC9-2F6DE4B5963B}"/>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50분 뒤 무엇이 남아야 할까요?</a:t>
            </a:r>
          </a:p>
        </p:txBody>
      </p:sp>
      <p:sp>
        <p:nvSpPr>
          <p:cNvPr id="3" name="직선 연결선[R] 2">
            <a:extLst>
              <a:ext uri="{FF2B5EF4-FFF2-40B4-BE49-F238E27FC236}">
                <a16:creationId xmlns:a16="http://schemas.microsoft.com/office/drawing/2014/main" id="{92661A2E-04D1-49A7-971E-318413F1CA54}"/>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A7B89463-09D3-4022-9B8C-546B3043597C}"/>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완성 기준</a:t>
            </a:r>
          </a:p>
        </p:txBody>
      </p:sp>
      <p:sp>
        <p:nvSpPr>
          <p:cNvPr id="5" name="직사각형 4">
            <a:extLst>
              <a:ext uri="{FF2B5EF4-FFF2-40B4-BE49-F238E27FC236}">
                <a16:creationId xmlns:a16="http://schemas.microsoft.com/office/drawing/2014/main" id="{CC0958BA-38B0-4E4F-AC14-0B16C107B957}"/>
              </a:ext>
            </a:extLst>
          </p:cNvPr>
          <p:cNvSpPr>
            <a:spLocks noGrp="1"/>
          </p:cNvSpPr>
          <p:nvPr/>
        </p:nvSpPr>
        <p:spPr>
          <a:xfrm>
            <a:off x="609600" y="1666875"/>
            <a:ext cx="10972800" cy="361950"/>
          </a:xfrm>
          <a:prstGeom prst="rect">
            <a:avLst/>
          </a:prstGeom>
          <a:noFill/>
          <a:ln w="0">
            <a:noFill/>
          </a:ln>
        </p:spPr>
        <p:txBody>
          <a:bodyPr lIns="0" tIns="0" rIns="0" bIns="0" anchor="t">
            <a:normAutofit/>
          </a:bodyPr>
          <a:lstStyle/>
          <a:p>
            <a:pPr algn="ctr">
              <a:defRPr sz="1650" b="1">
                <a:solidFill>
                  <a:srgbClr val="5F6B78"/>
                </a:solidFill>
                <a:latin typeface="Apple SD Gothic Neo"/>
                <a:ea typeface="Apple SD Gothic Neo"/>
                <a:cs typeface="Apple SD Gothic Neo"/>
              </a:defRPr>
            </a:pPr>
            <a:r>
              <a:rPr sz="1650" b="1">
                <a:solidFill>
                  <a:srgbClr val="5F6B78"/>
                </a:solidFill>
                <a:latin typeface="Apple SD Gothic Neo"/>
                <a:ea typeface="Apple SD Gothic Neo"/>
                <a:cs typeface="Apple SD Gothic Neo"/>
              </a:rPr>
              <a:t>파일 찾기부터 API 응답까지 여섯 단계를 빈칸이 있는 코드 골격으로 다시 연결합니다</a:t>
            </a:r>
          </a:p>
        </p:txBody>
      </p:sp>
      <p:sp>
        <p:nvSpPr>
          <p:cNvPr id="6" name="직사각형 5">
            <a:extLst>
              <a:ext uri="{FF2B5EF4-FFF2-40B4-BE49-F238E27FC236}">
                <a16:creationId xmlns:a16="http://schemas.microsoft.com/office/drawing/2014/main" id="{84D3BE6E-6C9F-45C0-93E7-3A7BE7611C5E}"/>
              </a:ext>
            </a:extLst>
          </p:cNvPr>
          <p:cNvSpPr>
            <a:spLocks noGrp="1"/>
          </p:cNvSpPr>
          <p:nvPr/>
        </p:nvSpPr>
        <p:spPr>
          <a:xfrm>
            <a:off x="666750" y="2333625"/>
            <a:ext cx="3048000" cy="228600"/>
          </a:xfrm>
          <a:prstGeom prst="rect">
            <a:avLst/>
          </a:prstGeom>
          <a:noFill/>
          <a:ln w="0">
            <a:noFill/>
          </a:ln>
        </p:spPr>
        <p:txBody>
          <a:bodyPr lIns="0" tIns="0" rIns="0" bIns="0" anchor="t">
            <a:normAutofit/>
          </a:bodyPr>
          <a:lstStyle/>
          <a:p>
            <a:pPr algn="ctr">
              <a:defRPr sz="1275" b="1">
                <a:solidFill>
                  <a:srgbClr val="2F7DF4"/>
                </a:solidFill>
                <a:latin typeface="Apple SD Gothic Neo"/>
                <a:ea typeface="Apple SD Gothic Neo"/>
                <a:cs typeface="Apple SD Gothic Neo"/>
              </a:defRPr>
            </a:pPr>
            <a:r>
              <a:rPr sz="1275" b="1">
                <a:solidFill>
                  <a:srgbClr val="2F7DF4"/>
                </a:solidFill>
                <a:latin typeface="Apple SD Gothic Neo"/>
                <a:ea typeface="Apple SD Gothic Neo"/>
                <a:cs typeface="Apple SD Gothic Neo"/>
              </a:rPr>
              <a:t>Q1</a:t>
            </a:r>
          </a:p>
        </p:txBody>
      </p:sp>
      <p:sp>
        <p:nvSpPr>
          <p:cNvPr id="7" name="직사각형 6">
            <a:extLst>
              <a:ext uri="{FF2B5EF4-FFF2-40B4-BE49-F238E27FC236}">
                <a16:creationId xmlns:a16="http://schemas.microsoft.com/office/drawing/2014/main" id="{8F37035B-D379-488E-9327-40E82E6B8BBF}"/>
              </a:ext>
            </a:extLst>
          </p:cNvPr>
          <p:cNvSpPr>
            <a:spLocks noGrp="1"/>
          </p:cNvSpPr>
          <p:nvPr/>
        </p:nvSpPr>
        <p:spPr>
          <a:xfrm>
            <a:off x="666750" y="2676525"/>
            <a:ext cx="3048000" cy="419100"/>
          </a:xfrm>
          <a:prstGeom prst="rect">
            <a:avLst/>
          </a:prstGeom>
          <a:noFill/>
          <a:ln w="0">
            <a:noFill/>
          </a:ln>
        </p:spPr>
        <p:txBody>
          <a:bodyPr lIns="0" tIns="0" rIns="0" bIns="0" anchor="t">
            <a:normAutofit/>
          </a:bodyPr>
          <a:lstStyle/>
          <a:p>
            <a:pPr algn="ctr">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CSV 25개 찾기</a:t>
            </a:r>
          </a:p>
        </p:txBody>
      </p:sp>
      <p:sp>
        <p:nvSpPr>
          <p:cNvPr id="8" name="직선 연결선[R] 7">
            <a:extLst>
              <a:ext uri="{FF2B5EF4-FFF2-40B4-BE49-F238E27FC236}">
                <a16:creationId xmlns:a16="http://schemas.microsoft.com/office/drawing/2014/main" id="{2A60591F-7525-4AC2-8F64-62114DCC30EE}"/>
              </a:ext>
            </a:extLst>
          </p:cNvPr>
          <p:cNvSpPr>
            <a:spLocks noGrp="1"/>
          </p:cNvSpPr>
          <p:nvPr/>
        </p:nvSpPr>
        <p:spPr>
          <a:xfrm>
            <a:off x="742950" y="3209925"/>
            <a:ext cx="2895600" cy="0"/>
          </a:xfrm>
          <a:prstGeom prst="line">
            <a:avLst/>
          </a:prstGeom>
          <a:noFill/>
          <a:ln w="19050">
            <a:solidFill>
              <a:srgbClr val="D5DEE8"/>
            </a:solidFill>
          </a:ln>
        </p:spPr>
        <p:txBody>
          <a:bodyPr/>
          <a:lstStyle/>
          <a:p>
            <a:endParaRPr lang="ko-KR" altLang="en-US"/>
          </a:p>
        </p:txBody>
      </p:sp>
      <p:sp>
        <p:nvSpPr>
          <p:cNvPr id="9" name="직사각형 8">
            <a:extLst>
              <a:ext uri="{FF2B5EF4-FFF2-40B4-BE49-F238E27FC236}">
                <a16:creationId xmlns:a16="http://schemas.microsoft.com/office/drawing/2014/main" id="{67C96F17-1B3C-4CBA-B339-E223DC59A8B2}"/>
              </a:ext>
            </a:extLst>
          </p:cNvPr>
          <p:cNvSpPr>
            <a:spLocks noGrp="1"/>
          </p:cNvSpPr>
          <p:nvPr/>
        </p:nvSpPr>
        <p:spPr>
          <a:xfrm>
            <a:off x="4476750" y="2333625"/>
            <a:ext cx="3048000" cy="228600"/>
          </a:xfrm>
          <a:prstGeom prst="rect">
            <a:avLst/>
          </a:prstGeom>
          <a:noFill/>
          <a:ln w="0">
            <a:noFill/>
          </a:ln>
        </p:spPr>
        <p:txBody>
          <a:bodyPr lIns="0" tIns="0" rIns="0" bIns="0" anchor="t">
            <a:normAutofit/>
          </a:bodyPr>
          <a:lstStyle/>
          <a:p>
            <a:pPr algn="ctr">
              <a:defRPr sz="1275" b="1">
                <a:solidFill>
                  <a:srgbClr val="2F7DF4"/>
                </a:solidFill>
                <a:latin typeface="Apple SD Gothic Neo"/>
                <a:ea typeface="Apple SD Gothic Neo"/>
                <a:cs typeface="Apple SD Gothic Neo"/>
              </a:defRPr>
            </a:pPr>
            <a:r>
              <a:rPr sz="1275" b="1">
                <a:solidFill>
                  <a:srgbClr val="2F7DF4"/>
                </a:solidFill>
                <a:latin typeface="Apple SD Gothic Neo"/>
                <a:ea typeface="Apple SD Gothic Neo"/>
                <a:cs typeface="Apple SD Gothic Neo"/>
              </a:rPr>
              <a:t>Q2</a:t>
            </a:r>
          </a:p>
        </p:txBody>
      </p:sp>
      <p:sp>
        <p:nvSpPr>
          <p:cNvPr id="10" name="직사각형 9">
            <a:extLst>
              <a:ext uri="{FF2B5EF4-FFF2-40B4-BE49-F238E27FC236}">
                <a16:creationId xmlns:a16="http://schemas.microsoft.com/office/drawing/2014/main" id="{AA4E7AA0-FE2D-41A4-AE2E-07939A1A9FA5}"/>
              </a:ext>
            </a:extLst>
          </p:cNvPr>
          <p:cNvSpPr>
            <a:spLocks noGrp="1"/>
          </p:cNvSpPr>
          <p:nvPr/>
        </p:nvSpPr>
        <p:spPr>
          <a:xfrm>
            <a:off x="4476750" y="2676525"/>
            <a:ext cx="3048000" cy="419100"/>
          </a:xfrm>
          <a:prstGeom prst="rect">
            <a:avLst/>
          </a:prstGeom>
          <a:noFill/>
          <a:ln w="0">
            <a:noFill/>
          </a:ln>
        </p:spPr>
        <p:txBody>
          <a:bodyPr lIns="0" tIns="0" rIns="0" bIns="0" anchor="t">
            <a:normAutofit/>
          </a:bodyPr>
          <a:lstStyle/>
          <a:p>
            <a:pPr algn="ctr">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30,000행 결합</a:t>
            </a:r>
          </a:p>
        </p:txBody>
      </p:sp>
      <p:sp>
        <p:nvSpPr>
          <p:cNvPr id="11" name="직선 연결선[R] 10">
            <a:extLst>
              <a:ext uri="{FF2B5EF4-FFF2-40B4-BE49-F238E27FC236}">
                <a16:creationId xmlns:a16="http://schemas.microsoft.com/office/drawing/2014/main" id="{F9584B71-2646-4502-9A22-04B2E0B18E2D}"/>
              </a:ext>
            </a:extLst>
          </p:cNvPr>
          <p:cNvSpPr>
            <a:spLocks noGrp="1"/>
          </p:cNvSpPr>
          <p:nvPr/>
        </p:nvSpPr>
        <p:spPr>
          <a:xfrm>
            <a:off x="4552950" y="3209925"/>
            <a:ext cx="2895600" cy="0"/>
          </a:xfrm>
          <a:prstGeom prst="line">
            <a:avLst/>
          </a:prstGeom>
          <a:noFill/>
          <a:ln w="19050">
            <a:solidFill>
              <a:srgbClr val="D5DEE8"/>
            </a:solidFill>
          </a:ln>
        </p:spPr>
        <p:txBody>
          <a:bodyPr/>
          <a:lstStyle/>
          <a:p>
            <a:endParaRPr lang="ko-KR" altLang="en-US"/>
          </a:p>
        </p:txBody>
      </p:sp>
      <p:sp>
        <p:nvSpPr>
          <p:cNvPr id="12" name="직사각형 11">
            <a:extLst>
              <a:ext uri="{FF2B5EF4-FFF2-40B4-BE49-F238E27FC236}">
                <a16:creationId xmlns:a16="http://schemas.microsoft.com/office/drawing/2014/main" id="{C06A0C99-C191-4968-AAA6-40FD4DEA91B0}"/>
              </a:ext>
            </a:extLst>
          </p:cNvPr>
          <p:cNvSpPr>
            <a:spLocks noGrp="1"/>
          </p:cNvSpPr>
          <p:nvPr/>
        </p:nvSpPr>
        <p:spPr>
          <a:xfrm>
            <a:off x="8286750" y="2333625"/>
            <a:ext cx="3048000" cy="228600"/>
          </a:xfrm>
          <a:prstGeom prst="rect">
            <a:avLst/>
          </a:prstGeom>
          <a:noFill/>
          <a:ln w="0">
            <a:noFill/>
          </a:ln>
        </p:spPr>
        <p:txBody>
          <a:bodyPr lIns="0" tIns="0" rIns="0" bIns="0" anchor="t">
            <a:normAutofit/>
          </a:bodyPr>
          <a:lstStyle/>
          <a:p>
            <a:pPr algn="ctr">
              <a:defRPr sz="1275" b="1">
                <a:solidFill>
                  <a:srgbClr val="2F7DF4"/>
                </a:solidFill>
                <a:latin typeface="Apple SD Gothic Neo"/>
                <a:ea typeface="Apple SD Gothic Neo"/>
                <a:cs typeface="Apple SD Gothic Neo"/>
              </a:defRPr>
            </a:pPr>
            <a:r>
              <a:rPr sz="1275" b="1">
                <a:solidFill>
                  <a:srgbClr val="2F7DF4"/>
                </a:solidFill>
                <a:latin typeface="Apple SD Gothic Neo"/>
                <a:ea typeface="Apple SD Gothic Neo"/>
                <a:cs typeface="Apple SD Gothic Neo"/>
              </a:rPr>
              <a:t>Q3</a:t>
            </a:r>
          </a:p>
        </p:txBody>
      </p:sp>
      <p:sp>
        <p:nvSpPr>
          <p:cNvPr id="13" name="직사각형 12">
            <a:extLst>
              <a:ext uri="{FF2B5EF4-FFF2-40B4-BE49-F238E27FC236}">
                <a16:creationId xmlns:a16="http://schemas.microsoft.com/office/drawing/2014/main" id="{0693B21F-1AA6-4761-ABF3-05AA276D2C89}"/>
              </a:ext>
            </a:extLst>
          </p:cNvPr>
          <p:cNvSpPr>
            <a:spLocks noGrp="1"/>
          </p:cNvSpPr>
          <p:nvPr/>
        </p:nvSpPr>
        <p:spPr>
          <a:xfrm>
            <a:off x="8286750" y="2676525"/>
            <a:ext cx="3048000" cy="419100"/>
          </a:xfrm>
          <a:prstGeom prst="rect">
            <a:avLst/>
          </a:prstGeom>
          <a:noFill/>
          <a:ln w="0">
            <a:noFill/>
          </a:ln>
        </p:spPr>
        <p:txBody>
          <a:bodyPr lIns="0" tIns="0" rIns="0" bIns="0" anchor="t">
            <a:normAutofit/>
          </a:bodyPr>
          <a:lstStyle/>
          <a:p>
            <a:pPr algn="ctr">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회원별 1,000행 요약</a:t>
            </a:r>
          </a:p>
        </p:txBody>
      </p:sp>
      <p:sp>
        <p:nvSpPr>
          <p:cNvPr id="14" name="직선 연결선[R] 13">
            <a:extLst>
              <a:ext uri="{FF2B5EF4-FFF2-40B4-BE49-F238E27FC236}">
                <a16:creationId xmlns:a16="http://schemas.microsoft.com/office/drawing/2014/main" id="{28F162E0-7622-4126-930B-D744E1B1D5FE}"/>
              </a:ext>
            </a:extLst>
          </p:cNvPr>
          <p:cNvSpPr>
            <a:spLocks noGrp="1"/>
          </p:cNvSpPr>
          <p:nvPr/>
        </p:nvSpPr>
        <p:spPr>
          <a:xfrm>
            <a:off x="8362950" y="3209925"/>
            <a:ext cx="2895600" cy="0"/>
          </a:xfrm>
          <a:prstGeom prst="line">
            <a:avLst/>
          </a:prstGeom>
          <a:noFill/>
          <a:ln w="19050">
            <a:solidFill>
              <a:srgbClr val="D5DEE8"/>
            </a:solidFill>
          </a:ln>
        </p:spPr>
        <p:txBody>
          <a:bodyPr/>
          <a:lstStyle/>
          <a:p>
            <a:endParaRPr lang="ko-KR" altLang="en-US"/>
          </a:p>
        </p:txBody>
      </p:sp>
      <p:sp>
        <p:nvSpPr>
          <p:cNvPr id="15" name="직사각형 14">
            <a:extLst>
              <a:ext uri="{FF2B5EF4-FFF2-40B4-BE49-F238E27FC236}">
                <a16:creationId xmlns:a16="http://schemas.microsoft.com/office/drawing/2014/main" id="{EA56D83C-3FD8-4FB2-BC1A-AA194C2A88B1}"/>
              </a:ext>
            </a:extLst>
          </p:cNvPr>
          <p:cNvSpPr>
            <a:spLocks noGrp="1"/>
          </p:cNvSpPr>
          <p:nvPr/>
        </p:nvSpPr>
        <p:spPr>
          <a:xfrm>
            <a:off x="666750" y="3667125"/>
            <a:ext cx="3048000" cy="228600"/>
          </a:xfrm>
          <a:prstGeom prst="rect">
            <a:avLst/>
          </a:prstGeom>
          <a:noFill/>
          <a:ln w="0">
            <a:noFill/>
          </a:ln>
        </p:spPr>
        <p:txBody>
          <a:bodyPr lIns="0" tIns="0" rIns="0" bIns="0" anchor="t">
            <a:normAutofit/>
          </a:bodyPr>
          <a:lstStyle/>
          <a:p>
            <a:pPr algn="ctr">
              <a:defRPr sz="1275" b="1">
                <a:solidFill>
                  <a:srgbClr val="2F7DF4"/>
                </a:solidFill>
                <a:latin typeface="Apple SD Gothic Neo"/>
                <a:ea typeface="Apple SD Gothic Neo"/>
                <a:cs typeface="Apple SD Gothic Neo"/>
              </a:defRPr>
            </a:pPr>
            <a:r>
              <a:rPr sz="1275" b="1">
                <a:solidFill>
                  <a:srgbClr val="2F7DF4"/>
                </a:solidFill>
                <a:latin typeface="Apple SD Gothic Neo"/>
                <a:ea typeface="Apple SD Gothic Neo"/>
                <a:cs typeface="Apple SD Gothic Neo"/>
              </a:rPr>
              <a:t>Q4</a:t>
            </a:r>
          </a:p>
        </p:txBody>
      </p:sp>
      <p:sp>
        <p:nvSpPr>
          <p:cNvPr id="16" name="직사각형 15">
            <a:extLst>
              <a:ext uri="{FF2B5EF4-FFF2-40B4-BE49-F238E27FC236}">
                <a16:creationId xmlns:a16="http://schemas.microsoft.com/office/drawing/2014/main" id="{662F04EE-E684-426C-A4E4-8C4C31DF166C}"/>
              </a:ext>
            </a:extLst>
          </p:cNvPr>
          <p:cNvSpPr>
            <a:spLocks noGrp="1"/>
          </p:cNvSpPr>
          <p:nvPr/>
        </p:nvSpPr>
        <p:spPr>
          <a:xfrm>
            <a:off x="666750" y="4010025"/>
            <a:ext cx="3048000" cy="419100"/>
          </a:xfrm>
          <a:prstGeom prst="rect">
            <a:avLst/>
          </a:prstGeom>
          <a:noFill/>
          <a:ln w="0">
            <a:noFill/>
          </a:ln>
        </p:spPr>
        <p:txBody>
          <a:bodyPr lIns="0" tIns="0" rIns="0" bIns="0" anchor="t">
            <a:normAutofit/>
          </a:bodyPr>
          <a:lstStyle/>
          <a:p>
            <a:pPr algn="ctr">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입력 13열 만들기</a:t>
            </a:r>
          </a:p>
        </p:txBody>
      </p:sp>
      <p:sp>
        <p:nvSpPr>
          <p:cNvPr id="17" name="직선 연결선[R] 16">
            <a:extLst>
              <a:ext uri="{FF2B5EF4-FFF2-40B4-BE49-F238E27FC236}">
                <a16:creationId xmlns:a16="http://schemas.microsoft.com/office/drawing/2014/main" id="{73AA24FB-A098-4B18-B69E-4F366CB128C9}"/>
              </a:ext>
            </a:extLst>
          </p:cNvPr>
          <p:cNvSpPr>
            <a:spLocks noGrp="1"/>
          </p:cNvSpPr>
          <p:nvPr/>
        </p:nvSpPr>
        <p:spPr>
          <a:xfrm>
            <a:off x="742950" y="4543425"/>
            <a:ext cx="2895600" cy="0"/>
          </a:xfrm>
          <a:prstGeom prst="line">
            <a:avLst/>
          </a:prstGeom>
          <a:noFill/>
          <a:ln w="19050">
            <a:solidFill>
              <a:srgbClr val="D5DEE8"/>
            </a:solidFill>
          </a:ln>
        </p:spPr>
        <p:txBody>
          <a:bodyPr/>
          <a:lstStyle/>
          <a:p>
            <a:endParaRPr lang="ko-KR" altLang="en-US"/>
          </a:p>
        </p:txBody>
      </p:sp>
      <p:sp>
        <p:nvSpPr>
          <p:cNvPr id="18" name="직사각형 17">
            <a:extLst>
              <a:ext uri="{FF2B5EF4-FFF2-40B4-BE49-F238E27FC236}">
                <a16:creationId xmlns:a16="http://schemas.microsoft.com/office/drawing/2014/main" id="{AEC56F01-2F60-4E2E-93CD-79CB6AB09D24}"/>
              </a:ext>
            </a:extLst>
          </p:cNvPr>
          <p:cNvSpPr>
            <a:spLocks noGrp="1"/>
          </p:cNvSpPr>
          <p:nvPr/>
        </p:nvSpPr>
        <p:spPr>
          <a:xfrm>
            <a:off x="4476750" y="3667125"/>
            <a:ext cx="3048000" cy="228600"/>
          </a:xfrm>
          <a:prstGeom prst="rect">
            <a:avLst/>
          </a:prstGeom>
          <a:noFill/>
          <a:ln w="0">
            <a:noFill/>
          </a:ln>
        </p:spPr>
        <p:txBody>
          <a:bodyPr lIns="0" tIns="0" rIns="0" bIns="0" anchor="t">
            <a:normAutofit/>
          </a:bodyPr>
          <a:lstStyle/>
          <a:p>
            <a:pPr algn="ctr">
              <a:defRPr sz="1275" b="1">
                <a:solidFill>
                  <a:srgbClr val="2F7DF4"/>
                </a:solidFill>
                <a:latin typeface="Apple SD Gothic Neo"/>
                <a:ea typeface="Apple SD Gothic Neo"/>
                <a:cs typeface="Apple SD Gothic Neo"/>
              </a:defRPr>
            </a:pPr>
            <a:r>
              <a:rPr sz="1275" b="1">
                <a:solidFill>
                  <a:srgbClr val="2F7DF4"/>
                </a:solidFill>
                <a:latin typeface="Apple SD Gothic Neo"/>
                <a:ea typeface="Apple SD Gothic Neo"/>
                <a:cs typeface="Apple SD Gothic Neo"/>
              </a:rPr>
              <a:t>Q5</a:t>
            </a:r>
          </a:p>
        </p:txBody>
      </p:sp>
      <p:sp>
        <p:nvSpPr>
          <p:cNvPr id="19" name="직사각형 18">
            <a:extLst>
              <a:ext uri="{FF2B5EF4-FFF2-40B4-BE49-F238E27FC236}">
                <a16:creationId xmlns:a16="http://schemas.microsoft.com/office/drawing/2014/main" id="{DDAA4C73-50BE-4646-9159-639E79E1A10E}"/>
              </a:ext>
            </a:extLst>
          </p:cNvPr>
          <p:cNvSpPr>
            <a:spLocks noGrp="1"/>
          </p:cNvSpPr>
          <p:nvPr/>
        </p:nvSpPr>
        <p:spPr>
          <a:xfrm>
            <a:off x="4476750" y="4010025"/>
            <a:ext cx="3048000" cy="419100"/>
          </a:xfrm>
          <a:prstGeom prst="rect">
            <a:avLst/>
          </a:prstGeom>
          <a:noFill/>
          <a:ln w="0">
            <a:noFill/>
          </a:ln>
        </p:spPr>
        <p:txBody>
          <a:bodyPr lIns="0" tIns="0" rIns="0" bIns="0" anchor="t">
            <a:normAutofit/>
          </a:bodyPr>
          <a:lstStyle/>
          <a:p>
            <a:pPr algn="ctr">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36열로 전처리</a:t>
            </a:r>
          </a:p>
        </p:txBody>
      </p:sp>
      <p:sp>
        <p:nvSpPr>
          <p:cNvPr id="20" name="직선 연결선[R] 19">
            <a:extLst>
              <a:ext uri="{FF2B5EF4-FFF2-40B4-BE49-F238E27FC236}">
                <a16:creationId xmlns:a16="http://schemas.microsoft.com/office/drawing/2014/main" id="{112F5BE2-40D3-4F9F-B85D-F7E8C55652E9}"/>
              </a:ext>
            </a:extLst>
          </p:cNvPr>
          <p:cNvSpPr>
            <a:spLocks noGrp="1"/>
          </p:cNvSpPr>
          <p:nvPr/>
        </p:nvSpPr>
        <p:spPr>
          <a:xfrm>
            <a:off x="4552950" y="4543425"/>
            <a:ext cx="2895600" cy="0"/>
          </a:xfrm>
          <a:prstGeom prst="line">
            <a:avLst/>
          </a:prstGeom>
          <a:noFill/>
          <a:ln w="19050">
            <a:solidFill>
              <a:srgbClr val="D5DEE8"/>
            </a:solidFill>
          </a:ln>
        </p:spPr>
        <p:txBody>
          <a:bodyPr/>
          <a:lstStyle/>
          <a:p>
            <a:endParaRPr lang="ko-KR" altLang="en-US"/>
          </a:p>
        </p:txBody>
      </p:sp>
      <p:sp>
        <p:nvSpPr>
          <p:cNvPr id="21" name="직사각형 20">
            <a:extLst>
              <a:ext uri="{FF2B5EF4-FFF2-40B4-BE49-F238E27FC236}">
                <a16:creationId xmlns:a16="http://schemas.microsoft.com/office/drawing/2014/main" id="{D5267891-DAE8-4F1C-BB50-A656C4F096D8}"/>
              </a:ext>
            </a:extLst>
          </p:cNvPr>
          <p:cNvSpPr>
            <a:spLocks noGrp="1"/>
          </p:cNvSpPr>
          <p:nvPr/>
        </p:nvSpPr>
        <p:spPr>
          <a:xfrm>
            <a:off x="8286750" y="3667125"/>
            <a:ext cx="3048000" cy="228600"/>
          </a:xfrm>
          <a:prstGeom prst="rect">
            <a:avLst/>
          </a:prstGeom>
          <a:noFill/>
          <a:ln w="0">
            <a:noFill/>
          </a:ln>
        </p:spPr>
        <p:txBody>
          <a:bodyPr lIns="0" tIns="0" rIns="0" bIns="0" anchor="t">
            <a:normAutofit/>
          </a:bodyPr>
          <a:lstStyle/>
          <a:p>
            <a:pPr algn="ctr">
              <a:defRPr sz="1275" b="1">
                <a:solidFill>
                  <a:srgbClr val="18794E"/>
                </a:solidFill>
                <a:latin typeface="Apple SD Gothic Neo"/>
                <a:ea typeface="Apple SD Gothic Neo"/>
                <a:cs typeface="Apple SD Gothic Neo"/>
              </a:defRPr>
            </a:pPr>
            <a:r>
              <a:rPr sz="1275" b="1">
                <a:solidFill>
                  <a:srgbClr val="18794E"/>
                </a:solidFill>
                <a:latin typeface="Apple SD Gothic Neo"/>
                <a:ea typeface="Apple SD Gothic Neo"/>
                <a:cs typeface="Apple SD Gothic Neo"/>
              </a:rPr>
              <a:t>Q6</a:t>
            </a:r>
          </a:p>
        </p:txBody>
      </p:sp>
      <p:sp>
        <p:nvSpPr>
          <p:cNvPr id="22" name="직사각형 21">
            <a:extLst>
              <a:ext uri="{FF2B5EF4-FFF2-40B4-BE49-F238E27FC236}">
                <a16:creationId xmlns:a16="http://schemas.microsoft.com/office/drawing/2014/main" id="{12B426C2-D86D-43F4-96EB-F23805CC604F}"/>
              </a:ext>
            </a:extLst>
          </p:cNvPr>
          <p:cNvSpPr>
            <a:spLocks noGrp="1"/>
          </p:cNvSpPr>
          <p:nvPr/>
        </p:nvSpPr>
        <p:spPr>
          <a:xfrm>
            <a:off x="8286750" y="4010025"/>
            <a:ext cx="3048000" cy="419100"/>
          </a:xfrm>
          <a:prstGeom prst="rect">
            <a:avLst/>
          </a:prstGeom>
          <a:noFill/>
          <a:ln w="0">
            <a:noFill/>
          </a:ln>
        </p:spPr>
        <p:txBody>
          <a:bodyPr lIns="0" tIns="0" rIns="0" bIns="0" anchor="t">
            <a:normAutofit/>
          </a:bodyPr>
          <a:lstStyle/>
          <a:p>
            <a:pPr algn="ctr">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API 200 검증</a:t>
            </a:r>
          </a:p>
        </p:txBody>
      </p:sp>
      <p:sp>
        <p:nvSpPr>
          <p:cNvPr id="23" name="직선 연결선[R] 22">
            <a:extLst>
              <a:ext uri="{FF2B5EF4-FFF2-40B4-BE49-F238E27FC236}">
                <a16:creationId xmlns:a16="http://schemas.microsoft.com/office/drawing/2014/main" id="{FA143C90-733D-4570-9342-718CA5CD6AC1}"/>
              </a:ext>
            </a:extLst>
          </p:cNvPr>
          <p:cNvSpPr>
            <a:spLocks noGrp="1"/>
          </p:cNvSpPr>
          <p:nvPr/>
        </p:nvSpPr>
        <p:spPr>
          <a:xfrm>
            <a:off x="8362950" y="4543425"/>
            <a:ext cx="2895600" cy="0"/>
          </a:xfrm>
          <a:prstGeom prst="line">
            <a:avLst/>
          </a:prstGeom>
          <a:noFill/>
          <a:ln w="28575">
            <a:solidFill>
              <a:srgbClr val="18794E"/>
            </a:solidFill>
          </a:ln>
        </p:spPr>
        <p:txBody>
          <a:bodyPr/>
          <a:lstStyle/>
          <a:p>
            <a:endParaRPr lang="ko-KR" altLang="en-US"/>
          </a:p>
        </p:txBody>
      </p:sp>
      <p:sp>
        <p:nvSpPr>
          <p:cNvPr id="24" name="모서리가 둥근 직사각형 23">
            <a:extLst>
              <a:ext uri="{FF2B5EF4-FFF2-40B4-BE49-F238E27FC236}">
                <a16:creationId xmlns:a16="http://schemas.microsoft.com/office/drawing/2014/main" id="{7E9C4092-AD69-41AD-ACC8-A3F204CE84E3}"/>
              </a:ext>
            </a:extLst>
          </p:cNvPr>
          <p:cNvSpPr>
            <a:spLocks noGrp="1"/>
          </p:cNvSpPr>
          <p:nvPr/>
        </p:nvSpPr>
        <p:spPr>
          <a:xfrm>
            <a:off x="1190625" y="5095875"/>
            <a:ext cx="9810750" cy="647700"/>
          </a:xfrm>
          <a:prstGeom prst="roundRect">
            <a:avLst>
              <a:gd name="adj" fmla="val 17647"/>
            </a:avLst>
          </a:prstGeom>
          <a:solidFill>
            <a:srgbClr val="EAF3FF"/>
          </a:solidFill>
          <a:ln w="9525">
            <a:solidFill>
              <a:srgbClr val="2F7DF4"/>
            </a:solidFill>
          </a:ln>
        </p:spPr>
        <p:txBody>
          <a:bodyPr/>
          <a:lstStyle/>
          <a:p>
            <a:endParaRPr lang="ko-KR" altLang="en-US"/>
          </a:p>
        </p:txBody>
      </p:sp>
      <p:sp>
        <p:nvSpPr>
          <p:cNvPr id="25" name="직사각형 24">
            <a:extLst>
              <a:ext uri="{FF2B5EF4-FFF2-40B4-BE49-F238E27FC236}">
                <a16:creationId xmlns:a16="http://schemas.microsoft.com/office/drawing/2014/main" id="{0D16A1C8-C815-4626-AD35-588F486A40AF}"/>
              </a:ext>
            </a:extLst>
          </p:cNvPr>
          <p:cNvSpPr>
            <a:spLocks noGrp="1"/>
          </p:cNvSpPr>
          <p:nvPr/>
        </p:nvSpPr>
        <p:spPr>
          <a:xfrm>
            <a:off x="1476375" y="5276850"/>
            <a:ext cx="9239250" cy="285750"/>
          </a:xfrm>
          <a:prstGeom prst="rect">
            <a:avLst/>
          </a:prstGeom>
          <a:noFill/>
          <a:ln w="0">
            <a:noFill/>
          </a:ln>
        </p:spPr>
        <p:txBody>
          <a:bodyPr lIns="0" tIns="0" rIns="0" bIns="0" anchor="t">
            <a:normAutofit/>
          </a:bodyPr>
          <a:lstStyle/>
          <a:p>
            <a:pPr algn="ctr">
              <a:defRPr sz="1500" b="1">
                <a:solidFill>
                  <a:srgbClr val="17324D"/>
                </a:solidFill>
                <a:latin typeface="Apple SD Gothic Neo"/>
                <a:ea typeface="Apple SD Gothic Neo"/>
                <a:cs typeface="Apple SD Gothic Neo"/>
              </a:defRPr>
            </a:pPr>
            <a:r>
              <a:rPr sz="1500" b="1">
                <a:solidFill>
                  <a:srgbClr val="17324D"/>
                </a:solidFill>
                <a:latin typeface="Apple SD Gothic Neo"/>
                <a:ea typeface="Apple SD Gothic Neo"/>
                <a:cs typeface="Apple SD Gothic Neo"/>
              </a:rPr>
              <a:t>마지막에 남는 것 · 30,000행 병합, 1,000행 요약, 36열 변환과 API 상태 코드 200 확인</a:t>
            </a:r>
          </a:p>
        </p:txBody>
      </p:sp>
      <p:sp>
        <p:nvSpPr>
          <p:cNvPr id="26" name="직선 연결선[R] 25">
            <a:extLst>
              <a:ext uri="{FF2B5EF4-FFF2-40B4-BE49-F238E27FC236}">
                <a16:creationId xmlns:a16="http://schemas.microsoft.com/office/drawing/2014/main" id="{0D618549-AC90-416C-821E-BAC5E1939F5A}"/>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27" name="직사각형 26">
            <a:extLst>
              <a:ext uri="{FF2B5EF4-FFF2-40B4-BE49-F238E27FC236}">
                <a16:creationId xmlns:a16="http://schemas.microsoft.com/office/drawing/2014/main" id="{A58B7AC1-494C-4B0B-AB39-B82AFB7B493C}"/>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각 Q가 끝날 때 결과를 확인하면 마지막 목표인 '30,000행 병합, 1,000행 요약, 36열 변환과 API 상태 코드 200 확인'까지 흐름을 놓치지 않습니다.</a:t>
            </a:r>
          </a:p>
        </p:txBody>
      </p:sp>
      <p:sp>
        <p:nvSpPr>
          <p:cNvPr id="28" name="직사각형 27">
            <a:extLst>
              <a:ext uri="{FF2B5EF4-FFF2-40B4-BE49-F238E27FC236}">
                <a16:creationId xmlns:a16="http://schemas.microsoft.com/office/drawing/2014/main" id="{C818ED32-E165-47E1-9371-35F34D4E5825}"/>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02</a:t>
            </a:r>
          </a:p>
        </p:txBody>
      </p:sp>
    </p:spTree>
    <p:extLst>
      <p:ext uri="{BB962C8B-B14F-4D97-AF65-F5344CB8AC3E}">
        <p14:creationId xmlns:p14="http://schemas.microsoft.com/office/powerpoint/2010/main" val="1758226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DC3BD249-63A9-687A-D814-3D911F4D2E84}"/>
              </a:ext>
            </a:extLst>
          </p:cNvPr>
          <p:cNvPicPr>
            <a:picLocks noChangeAspect="1"/>
          </p:cNvPicPr>
          <p:nvPr/>
        </p:nvPicPr>
        <p:blipFill>
          <a:blip r:embed="rId3"/>
          <a:stretch>
            <a:fillRect/>
          </a:stretch>
        </p:blipFill>
        <p:spPr>
          <a:xfrm>
            <a:off x="1850758" y="1200150"/>
            <a:ext cx="8490483" cy="4133850"/>
          </a:xfrm>
          <a:prstGeom prst="rect">
            <a:avLst/>
          </a:prstGeom>
        </p:spPr>
      </p:pic>
    </p:spTree>
    <p:extLst>
      <p:ext uri="{BB962C8B-B14F-4D97-AF65-F5344CB8AC3E}">
        <p14:creationId xmlns:p14="http://schemas.microsoft.com/office/powerpoint/2010/main" val="2669930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04CE0737-E05D-56B2-03E0-5BFED30A75D8}"/>
              </a:ext>
            </a:extLst>
          </p:cNvPr>
          <p:cNvPicPr>
            <a:picLocks noChangeAspect="1"/>
          </p:cNvPicPr>
          <p:nvPr/>
        </p:nvPicPr>
        <p:blipFill>
          <a:blip r:embed="rId2"/>
          <a:stretch>
            <a:fillRect/>
          </a:stretch>
        </p:blipFill>
        <p:spPr>
          <a:xfrm>
            <a:off x="1134533" y="1894416"/>
            <a:ext cx="3762023" cy="2821517"/>
          </a:xfrm>
          <a:prstGeom prst="rect">
            <a:avLst/>
          </a:prstGeom>
        </p:spPr>
      </p:pic>
      <p:pic>
        <p:nvPicPr>
          <p:cNvPr id="3" name="그림 2">
            <a:extLst>
              <a:ext uri="{FF2B5EF4-FFF2-40B4-BE49-F238E27FC236}">
                <a16:creationId xmlns:a16="http://schemas.microsoft.com/office/drawing/2014/main" id="{0A53E97D-C5B0-B653-0D51-6D24F5CCFF43}"/>
              </a:ext>
            </a:extLst>
          </p:cNvPr>
          <p:cNvPicPr>
            <a:picLocks noChangeAspect="1"/>
          </p:cNvPicPr>
          <p:nvPr/>
        </p:nvPicPr>
        <p:blipFill>
          <a:blip r:embed="rId3"/>
          <a:stretch>
            <a:fillRect/>
          </a:stretch>
        </p:blipFill>
        <p:spPr>
          <a:xfrm>
            <a:off x="6678081" y="1894416"/>
            <a:ext cx="3662231" cy="3083984"/>
          </a:xfrm>
          <a:prstGeom prst="rect">
            <a:avLst/>
          </a:prstGeom>
        </p:spPr>
      </p:pic>
      <p:sp>
        <p:nvSpPr>
          <p:cNvPr id="4" name="오른쪽 화살표[R] 3">
            <a:extLst>
              <a:ext uri="{FF2B5EF4-FFF2-40B4-BE49-F238E27FC236}">
                <a16:creationId xmlns:a16="http://schemas.microsoft.com/office/drawing/2014/main" id="{CEFFF32F-D29B-0672-14E8-45B6D4AB2D1F}"/>
              </a:ext>
            </a:extLst>
          </p:cNvPr>
          <p:cNvSpPr/>
          <p:nvPr/>
        </p:nvSpPr>
        <p:spPr>
          <a:xfrm>
            <a:off x="5317067" y="3242733"/>
            <a:ext cx="922866" cy="27940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884357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60EF7790-73E0-498D-9E7B-30FA8EB85249}"/>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AA0CAF84-FC4D-46AD-8643-2A120207270E}"/>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오늘은 이 노트북 하나만 엽니다</a:t>
            </a:r>
          </a:p>
        </p:txBody>
      </p:sp>
      <p:sp>
        <p:nvSpPr>
          <p:cNvPr id="3" name="직선 연결선[R] 2">
            <a:extLst>
              <a:ext uri="{FF2B5EF4-FFF2-40B4-BE49-F238E27FC236}">
                <a16:creationId xmlns:a16="http://schemas.microsoft.com/office/drawing/2014/main" id="{066BBFEF-2B41-4DB9-B203-25E0331CE124}"/>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9884CC77-1EFF-4AC8-9932-CD1C920EF4E5}"/>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파일 안내</a:t>
            </a:r>
          </a:p>
        </p:txBody>
      </p:sp>
      <p:sp>
        <p:nvSpPr>
          <p:cNvPr id="5" name="모서리가 둥근 직사각형 4">
            <a:extLst>
              <a:ext uri="{FF2B5EF4-FFF2-40B4-BE49-F238E27FC236}">
                <a16:creationId xmlns:a16="http://schemas.microsoft.com/office/drawing/2014/main" id="{164B1C6B-D0CB-4061-847E-84780DDB9302}"/>
              </a:ext>
            </a:extLst>
          </p:cNvPr>
          <p:cNvSpPr>
            <a:spLocks noGrp="1"/>
          </p:cNvSpPr>
          <p:nvPr/>
        </p:nvSpPr>
        <p:spPr>
          <a:xfrm>
            <a:off x="904875" y="2095500"/>
            <a:ext cx="10382250" cy="2000250"/>
          </a:xfrm>
          <a:prstGeom prst="roundRect">
            <a:avLst>
              <a:gd name="adj" fmla="val 5714"/>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43F36BB9-B27D-4B20-9B44-073C50CCE03F}"/>
              </a:ext>
            </a:extLst>
          </p:cNvPr>
          <p:cNvSpPr>
            <a:spLocks noGrp="1"/>
          </p:cNvSpPr>
          <p:nvPr/>
        </p:nvSpPr>
        <p:spPr>
          <a:xfrm>
            <a:off x="1285875" y="2619375"/>
            <a:ext cx="9620250" cy="571500"/>
          </a:xfrm>
          <a:prstGeom prst="rect">
            <a:avLst/>
          </a:prstGeom>
          <a:noFill/>
          <a:ln w="0">
            <a:noFill/>
          </a:ln>
        </p:spPr>
        <p:txBody>
          <a:bodyPr lIns="0" tIns="0" rIns="0" bIns="0" anchor="t">
            <a:normAutofit/>
          </a:bodyPr>
          <a:lstStyle/>
          <a:p>
            <a:pPr algn="ctr">
              <a:defRPr sz="2325" b="1">
                <a:solidFill>
                  <a:srgbClr val="17324D"/>
                </a:solidFill>
                <a:latin typeface="Apple SD Gothic Neo"/>
                <a:ea typeface="Apple SD Gothic Neo"/>
                <a:cs typeface="Apple SD Gothic Neo"/>
              </a:defRPr>
            </a:pPr>
            <a:r>
              <a:rPr sz="2325" b="1">
                <a:solidFill>
                  <a:srgbClr val="17324D"/>
                </a:solidFill>
                <a:latin typeface="Apple SD Gothic Neo"/>
                <a:ea typeface="Apple SD Gothic Neo"/>
                <a:cs typeface="Apple SD Gothic Neo"/>
              </a:rPr>
              <a:t>2주차_8교시_학생용_지적실험노트.ipynb</a:t>
            </a:r>
          </a:p>
        </p:txBody>
      </p:sp>
      <p:sp>
        <p:nvSpPr>
          <p:cNvPr id="7" name="직사각형 6">
            <a:extLst>
              <a:ext uri="{FF2B5EF4-FFF2-40B4-BE49-F238E27FC236}">
                <a16:creationId xmlns:a16="http://schemas.microsoft.com/office/drawing/2014/main" id="{8C6A1735-ABDE-4EE6-AF1E-41E15F7C2014}"/>
              </a:ext>
            </a:extLst>
          </p:cNvPr>
          <p:cNvSpPr>
            <a:spLocks noGrp="1"/>
          </p:cNvSpPr>
          <p:nvPr/>
        </p:nvSpPr>
        <p:spPr>
          <a:xfrm>
            <a:off x="1285875" y="3476625"/>
            <a:ext cx="9620250" cy="381000"/>
          </a:xfrm>
          <a:prstGeom prst="rect">
            <a:avLst/>
          </a:prstGeom>
          <a:noFill/>
          <a:ln w="0">
            <a:noFill/>
          </a:ln>
        </p:spPr>
        <p:txBody>
          <a:bodyPr lIns="0" tIns="0" rIns="0" bIns="0" anchor="t">
            <a:normAutofit/>
          </a:bodyPr>
          <a:lstStyle/>
          <a:p>
            <a:pPr algn="ctr">
              <a:defRPr sz="1575" b="0">
                <a:solidFill>
                  <a:srgbClr val="5F6B78"/>
                </a:solidFill>
                <a:latin typeface="Apple SD Gothic Neo"/>
                <a:ea typeface="Apple SD Gothic Neo"/>
                <a:cs typeface="Apple SD Gothic Neo"/>
              </a:defRPr>
            </a:pPr>
            <a:r>
              <a:rPr sz="1575" b="0">
                <a:solidFill>
                  <a:srgbClr val="5F6B78"/>
                </a:solidFill>
                <a:latin typeface="Apple SD Gothic Neo"/>
                <a:ea typeface="Apple SD Gothic Neo"/>
                <a:cs typeface="Apple SD Gothic Neo"/>
              </a:rPr>
              <a:t>PPT의 Q번호를 보고 노트북의 같은 Q에서 예상하고, 빈칸을 채운 뒤 실행합니다</a:t>
            </a:r>
          </a:p>
        </p:txBody>
      </p:sp>
      <p:sp>
        <p:nvSpPr>
          <p:cNvPr id="8" name="모서리가 둥근 직사각형 7">
            <a:extLst>
              <a:ext uri="{FF2B5EF4-FFF2-40B4-BE49-F238E27FC236}">
                <a16:creationId xmlns:a16="http://schemas.microsoft.com/office/drawing/2014/main" id="{24A94E8A-9AF7-43A7-93CE-5B3D56EAFB21}"/>
              </a:ext>
            </a:extLst>
          </p:cNvPr>
          <p:cNvSpPr>
            <a:spLocks noGrp="1"/>
          </p:cNvSpPr>
          <p:nvPr/>
        </p:nvSpPr>
        <p:spPr>
          <a:xfrm>
            <a:off x="2238375" y="4619625"/>
            <a:ext cx="7715250" cy="628650"/>
          </a:xfrm>
          <a:prstGeom prst="roundRect">
            <a:avLst>
              <a:gd name="adj" fmla="val 18182"/>
            </a:avLst>
          </a:prstGeom>
          <a:solidFill>
            <a:srgbClr val="FFF5DF"/>
          </a:solidFill>
          <a:ln w="9525">
            <a:solidFill>
              <a:srgbClr val="9A5B13"/>
            </a:solidFill>
          </a:ln>
        </p:spPr>
        <p:txBody>
          <a:bodyPr/>
          <a:lstStyle/>
          <a:p>
            <a:endParaRPr lang="ko-KR" altLang="en-US"/>
          </a:p>
        </p:txBody>
      </p:sp>
      <p:sp>
        <p:nvSpPr>
          <p:cNvPr id="9" name="직사각형 8">
            <a:extLst>
              <a:ext uri="{FF2B5EF4-FFF2-40B4-BE49-F238E27FC236}">
                <a16:creationId xmlns:a16="http://schemas.microsoft.com/office/drawing/2014/main" id="{D9E6DEF0-CAC4-46E2-8F20-B6ED12D2D802}"/>
              </a:ext>
            </a:extLst>
          </p:cNvPr>
          <p:cNvSpPr>
            <a:spLocks noGrp="1"/>
          </p:cNvSpPr>
          <p:nvPr/>
        </p:nvSpPr>
        <p:spPr>
          <a:xfrm>
            <a:off x="2476500" y="4800600"/>
            <a:ext cx="7239000" cy="285750"/>
          </a:xfrm>
          <a:prstGeom prst="rect">
            <a:avLst/>
          </a:prstGeom>
          <a:noFill/>
          <a:ln w="0">
            <a:noFill/>
          </a:ln>
        </p:spPr>
        <p:txBody>
          <a:bodyPr lIns="0" tIns="0" rIns="0" bIns="0" anchor="t">
            <a:normAutofit/>
          </a:bodyPr>
          <a:lstStyle/>
          <a:p>
            <a:pPr algn="ctr">
              <a:defRPr sz="1500" b="1">
                <a:solidFill>
                  <a:srgbClr val="9A5B13"/>
                </a:solidFill>
                <a:latin typeface="Apple SD Gothic Neo"/>
                <a:ea typeface="Apple SD Gothic Neo"/>
                <a:cs typeface="Apple SD Gothic Neo"/>
              </a:defRPr>
            </a:pPr>
            <a:r>
              <a:rPr sz="1500" b="1">
                <a:solidFill>
                  <a:srgbClr val="9A5B13"/>
                </a:solidFill>
                <a:latin typeface="Apple SD Gothic Neo"/>
                <a:ea typeface="Apple SD Gothic Neo"/>
                <a:cs typeface="Apple SD Gothic Neo"/>
              </a:rPr>
              <a:t>강사용 정답과 전체실행 파일은 지금 학생에게 주지 않습니다.</a:t>
            </a:r>
          </a:p>
        </p:txBody>
      </p:sp>
      <p:sp>
        <p:nvSpPr>
          <p:cNvPr id="10" name="직선 연결선[R] 9">
            <a:extLst>
              <a:ext uri="{FF2B5EF4-FFF2-40B4-BE49-F238E27FC236}">
                <a16:creationId xmlns:a16="http://schemas.microsoft.com/office/drawing/2014/main" id="{3FABD68B-523D-4DB8-A3ED-5EA6205A85A0}"/>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1" name="직사각형 10">
            <a:extLst>
              <a:ext uri="{FF2B5EF4-FFF2-40B4-BE49-F238E27FC236}">
                <a16:creationId xmlns:a16="http://schemas.microsoft.com/office/drawing/2014/main" id="{6DD8ED2C-993F-4723-9209-C4A42027EA88}"/>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파일명에 2주차_8교시가 적혀 있는지 확인하고 커널은 Python (de-course)를 선택합니다.</a:t>
            </a:r>
          </a:p>
        </p:txBody>
      </p:sp>
      <p:sp>
        <p:nvSpPr>
          <p:cNvPr id="12" name="직사각형 11">
            <a:extLst>
              <a:ext uri="{FF2B5EF4-FFF2-40B4-BE49-F238E27FC236}">
                <a16:creationId xmlns:a16="http://schemas.microsoft.com/office/drawing/2014/main" id="{F4C99A30-FCF8-48D8-931D-240CB9481B46}"/>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03</a:t>
            </a:r>
          </a:p>
        </p:txBody>
      </p:sp>
    </p:spTree>
    <p:extLst>
      <p:ext uri="{BB962C8B-B14F-4D97-AF65-F5344CB8AC3E}">
        <p14:creationId xmlns:p14="http://schemas.microsoft.com/office/powerpoint/2010/main" val="1275221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직사각형 28">
            <a:extLst>
              <a:ext uri="{FF2B5EF4-FFF2-40B4-BE49-F238E27FC236}">
                <a16:creationId xmlns:a16="http://schemas.microsoft.com/office/drawing/2014/main" id="{6F92004B-B24E-43D3-BB22-CEE615B7B3DC}"/>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DB6B5B41-6409-442F-9A27-1FC9285C94D6}"/>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설명과 실습을 번갈아 진행합니다</a:t>
            </a:r>
          </a:p>
        </p:txBody>
      </p:sp>
      <p:sp>
        <p:nvSpPr>
          <p:cNvPr id="3" name="직선 연결선[R] 2">
            <a:extLst>
              <a:ext uri="{FF2B5EF4-FFF2-40B4-BE49-F238E27FC236}">
                <a16:creationId xmlns:a16="http://schemas.microsoft.com/office/drawing/2014/main" id="{B6759A73-9E77-4C6B-91CB-C14B62FC0C7A}"/>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8E3ED829-AB57-497F-88DE-D458E5017A77}"/>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50분 리듬</a:t>
            </a:r>
          </a:p>
        </p:txBody>
      </p:sp>
      <p:sp>
        <p:nvSpPr>
          <p:cNvPr id="5" name="직사각형 4">
            <a:extLst>
              <a:ext uri="{FF2B5EF4-FFF2-40B4-BE49-F238E27FC236}">
                <a16:creationId xmlns:a16="http://schemas.microsoft.com/office/drawing/2014/main" id="{18101315-8F37-4EC1-B617-14908203A30B}"/>
              </a:ext>
            </a:extLst>
          </p:cNvPr>
          <p:cNvSpPr>
            <a:spLocks noGrp="1"/>
          </p:cNvSpPr>
          <p:nvPr/>
        </p:nvSpPr>
        <p:spPr>
          <a:xfrm>
            <a:off x="666750" y="1866900"/>
            <a:ext cx="1381125"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0~5분</a:t>
            </a:r>
          </a:p>
        </p:txBody>
      </p:sp>
      <p:sp>
        <p:nvSpPr>
          <p:cNvPr id="6" name="모서리가 둥근 직사각형 5">
            <a:extLst>
              <a:ext uri="{FF2B5EF4-FFF2-40B4-BE49-F238E27FC236}">
                <a16:creationId xmlns:a16="http://schemas.microsoft.com/office/drawing/2014/main" id="{AB5D7A6D-2423-48FE-BC40-B7F397ABC974}"/>
              </a:ext>
            </a:extLst>
          </p:cNvPr>
          <p:cNvSpPr>
            <a:spLocks noGrp="1"/>
          </p:cNvSpPr>
          <p:nvPr/>
        </p:nvSpPr>
        <p:spPr>
          <a:xfrm>
            <a:off x="2143125" y="1819275"/>
            <a:ext cx="8810625" cy="400050"/>
          </a:xfrm>
          <a:prstGeom prst="roundRect">
            <a:avLst>
              <a:gd name="adj" fmla="val 28571"/>
            </a:avLst>
          </a:prstGeom>
          <a:solidFill>
            <a:srgbClr val="EAF3FF"/>
          </a:solidFill>
          <a:ln w="0">
            <a:noFill/>
          </a:ln>
        </p:spPr>
        <p:txBody>
          <a:bodyPr/>
          <a:lstStyle/>
          <a:p>
            <a:endParaRPr lang="ko-KR" altLang="en-US"/>
          </a:p>
        </p:txBody>
      </p:sp>
      <p:sp>
        <p:nvSpPr>
          <p:cNvPr id="7" name="직사각형 6">
            <a:extLst>
              <a:ext uri="{FF2B5EF4-FFF2-40B4-BE49-F238E27FC236}">
                <a16:creationId xmlns:a16="http://schemas.microsoft.com/office/drawing/2014/main" id="{52BE8282-196A-4BD3-90E8-2D0DCC10D5FF}"/>
              </a:ext>
            </a:extLst>
          </p:cNvPr>
          <p:cNvSpPr>
            <a:spLocks noGrp="1"/>
          </p:cNvSpPr>
          <p:nvPr/>
        </p:nvSpPr>
        <p:spPr>
          <a:xfrm>
            <a:off x="2362200" y="1895475"/>
            <a:ext cx="8334375" cy="266700"/>
          </a:xfrm>
          <a:prstGeom prst="rect">
            <a:avLst/>
          </a:prstGeom>
          <a:noFill/>
          <a:ln w="0">
            <a:noFill/>
          </a:ln>
        </p:spPr>
        <p:txBody>
          <a:bodyPr lIns="0" tIns="0" rIns="0" bIns="0" anchor="t">
            <a:normAutofit/>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완성 기준 확인</a:t>
            </a:r>
          </a:p>
        </p:txBody>
      </p:sp>
      <p:sp>
        <p:nvSpPr>
          <p:cNvPr id="8" name="직사각형 7">
            <a:extLst>
              <a:ext uri="{FF2B5EF4-FFF2-40B4-BE49-F238E27FC236}">
                <a16:creationId xmlns:a16="http://schemas.microsoft.com/office/drawing/2014/main" id="{AF500A83-E508-47D2-A1D5-D3390522F74A}"/>
              </a:ext>
            </a:extLst>
          </p:cNvPr>
          <p:cNvSpPr>
            <a:spLocks noGrp="1"/>
          </p:cNvSpPr>
          <p:nvPr/>
        </p:nvSpPr>
        <p:spPr>
          <a:xfrm>
            <a:off x="666750" y="2419350"/>
            <a:ext cx="1381125"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5~12분</a:t>
            </a:r>
          </a:p>
        </p:txBody>
      </p:sp>
      <p:sp>
        <p:nvSpPr>
          <p:cNvPr id="9" name="모서리가 둥근 직사각형 8">
            <a:extLst>
              <a:ext uri="{FF2B5EF4-FFF2-40B4-BE49-F238E27FC236}">
                <a16:creationId xmlns:a16="http://schemas.microsoft.com/office/drawing/2014/main" id="{F68FD571-F4A6-49AB-9894-372D9F7224F6}"/>
              </a:ext>
            </a:extLst>
          </p:cNvPr>
          <p:cNvSpPr>
            <a:spLocks noGrp="1"/>
          </p:cNvSpPr>
          <p:nvPr/>
        </p:nvSpPr>
        <p:spPr>
          <a:xfrm>
            <a:off x="2143125" y="2371725"/>
            <a:ext cx="8810625" cy="400050"/>
          </a:xfrm>
          <a:prstGeom prst="roundRect">
            <a:avLst>
              <a:gd name="adj" fmla="val 28571"/>
            </a:avLst>
          </a:prstGeom>
          <a:solidFill>
            <a:srgbClr val="F5F7FA"/>
          </a:solidFill>
          <a:ln w="0">
            <a:noFill/>
          </a:ln>
        </p:spPr>
        <p:txBody>
          <a:bodyPr/>
          <a:lstStyle/>
          <a:p>
            <a:endParaRPr lang="ko-KR" altLang="en-US"/>
          </a:p>
        </p:txBody>
      </p:sp>
      <p:sp>
        <p:nvSpPr>
          <p:cNvPr id="10" name="직사각형 9">
            <a:extLst>
              <a:ext uri="{FF2B5EF4-FFF2-40B4-BE49-F238E27FC236}">
                <a16:creationId xmlns:a16="http://schemas.microsoft.com/office/drawing/2014/main" id="{452001B5-C594-4387-BFA6-3577DEA41DE4}"/>
              </a:ext>
            </a:extLst>
          </p:cNvPr>
          <p:cNvSpPr>
            <a:spLocks noGrp="1"/>
          </p:cNvSpPr>
          <p:nvPr/>
        </p:nvSpPr>
        <p:spPr>
          <a:xfrm>
            <a:off x="2362200" y="2447925"/>
            <a:ext cx="8334375" cy="266700"/>
          </a:xfrm>
          <a:prstGeom prst="rect">
            <a:avLst/>
          </a:prstGeom>
          <a:noFill/>
          <a:ln w="0">
            <a:noFill/>
          </a:ln>
        </p:spPr>
        <p:txBody>
          <a:bodyPr lIns="0" tIns="0" rIns="0" bIns="0" anchor="t">
            <a:normAutofit/>
          </a:bodyPr>
          <a:lstStyle/>
          <a:p>
            <a:pPr algn="l">
              <a:defRPr sz="1500" b="0">
                <a:solidFill>
                  <a:srgbClr val="17202A"/>
                </a:solidFill>
                <a:latin typeface="Apple SD Gothic Neo"/>
                <a:ea typeface="Apple SD Gothic Neo"/>
                <a:cs typeface="Apple SD Gothic Neo"/>
              </a:defRPr>
            </a:pPr>
            <a:r>
              <a:rPr sz="1500" b="0">
                <a:solidFill>
                  <a:srgbClr val="17202A"/>
                </a:solidFill>
                <a:latin typeface="Apple SD Gothic Neo"/>
                <a:ea typeface="Apple SD Gothic Neo"/>
                <a:cs typeface="Apple SD Gothic Neo"/>
              </a:rPr>
              <a:t>파일 찾기</a:t>
            </a:r>
          </a:p>
        </p:txBody>
      </p:sp>
      <p:sp>
        <p:nvSpPr>
          <p:cNvPr id="11" name="직사각형 10">
            <a:extLst>
              <a:ext uri="{FF2B5EF4-FFF2-40B4-BE49-F238E27FC236}">
                <a16:creationId xmlns:a16="http://schemas.microsoft.com/office/drawing/2014/main" id="{AE96C7AD-03D9-4F68-91CD-0D9A2D93C8D1}"/>
              </a:ext>
            </a:extLst>
          </p:cNvPr>
          <p:cNvSpPr>
            <a:spLocks noGrp="1"/>
          </p:cNvSpPr>
          <p:nvPr/>
        </p:nvSpPr>
        <p:spPr>
          <a:xfrm>
            <a:off x="666750" y="2971800"/>
            <a:ext cx="1381125"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12~20분</a:t>
            </a:r>
          </a:p>
        </p:txBody>
      </p:sp>
      <p:sp>
        <p:nvSpPr>
          <p:cNvPr id="12" name="모서리가 둥근 직사각형 11">
            <a:extLst>
              <a:ext uri="{FF2B5EF4-FFF2-40B4-BE49-F238E27FC236}">
                <a16:creationId xmlns:a16="http://schemas.microsoft.com/office/drawing/2014/main" id="{8CE4345C-A3F6-4C81-959D-5A6F96FE96A6}"/>
              </a:ext>
            </a:extLst>
          </p:cNvPr>
          <p:cNvSpPr>
            <a:spLocks noGrp="1"/>
          </p:cNvSpPr>
          <p:nvPr/>
        </p:nvSpPr>
        <p:spPr>
          <a:xfrm>
            <a:off x="2143125" y="2924175"/>
            <a:ext cx="8810625" cy="400050"/>
          </a:xfrm>
          <a:prstGeom prst="roundRect">
            <a:avLst>
              <a:gd name="adj" fmla="val 28571"/>
            </a:avLst>
          </a:prstGeom>
          <a:solidFill>
            <a:srgbClr val="EAF3FF"/>
          </a:solidFill>
          <a:ln w="0">
            <a:noFill/>
          </a:ln>
        </p:spPr>
        <p:txBody>
          <a:bodyPr/>
          <a:lstStyle/>
          <a:p>
            <a:endParaRPr lang="ko-KR" altLang="en-US"/>
          </a:p>
        </p:txBody>
      </p:sp>
      <p:sp>
        <p:nvSpPr>
          <p:cNvPr id="13" name="직사각형 12">
            <a:extLst>
              <a:ext uri="{FF2B5EF4-FFF2-40B4-BE49-F238E27FC236}">
                <a16:creationId xmlns:a16="http://schemas.microsoft.com/office/drawing/2014/main" id="{5D581E2C-A9AB-480D-B496-BD19B20FB8E7}"/>
              </a:ext>
            </a:extLst>
          </p:cNvPr>
          <p:cNvSpPr>
            <a:spLocks noGrp="1"/>
          </p:cNvSpPr>
          <p:nvPr/>
        </p:nvSpPr>
        <p:spPr>
          <a:xfrm>
            <a:off x="2362200" y="3000375"/>
            <a:ext cx="8334375" cy="266700"/>
          </a:xfrm>
          <a:prstGeom prst="rect">
            <a:avLst/>
          </a:prstGeom>
          <a:noFill/>
          <a:ln w="0">
            <a:noFill/>
          </a:ln>
        </p:spPr>
        <p:txBody>
          <a:bodyPr lIns="0" tIns="0" rIns="0" bIns="0" anchor="t">
            <a:normAutofit/>
          </a:bodyPr>
          <a:lstStyle/>
          <a:p>
            <a:pPr algn="l">
              <a:defRPr sz="1500" b="0">
                <a:solidFill>
                  <a:srgbClr val="17202A"/>
                </a:solidFill>
                <a:latin typeface="Apple SD Gothic Neo"/>
                <a:ea typeface="Apple SD Gothic Neo"/>
                <a:cs typeface="Apple SD Gothic Neo"/>
              </a:defRPr>
            </a:pPr>
            <a:r>
              <a:rPr sz="1500" b="0">
                <a:solidFill>
                  <a:srgbClr val="17202A"/>
                </a:solidFill>
                <a:latin typeface="Apple SD Gothic Neo"/>
                <a:ea typeface="Apple SD Gothic Neo"/>
                <a:cs typeface="Apple SD Gothic Neo"/>
              </a:rPr>
              <a:t>출처·concat</a:t>
            </a:r>
          </a:p>
        </p:txBody>
      </p:sp>
      <p:sp>
        <p:nvSpPr>
          <p:cNvPr id="14" name="직사각형 13">
            <a:extLst>
              <a:ext uri="{FF2B5EF4-FFF2-40B4-BE49-F238E27FC236}">
                <a16:creationId xmlns:a16="http://schemas.microsoft.com/office/drawing/2014/main" id="{DC298A56-7A6B-4BD3-AC32-B72BCDC9AEAB}"/>
              </a:ext>
            </a:extLst>
          </p:cNvPr>
          <p:cNvSpPr>
            <a:spLocks noGrp="1"/>
          </p:cNvSpPr>
          <p:nvPr/>
        </p:nvSpPr>
        <p:spPr>
          <a:xfrm>
            <a:off x="666750" y="3524250"/>
            <a:ext cx="1381125"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20~30분</a:t>
            </a:r>
          </a:p>
        </p:txBody>
      </p:sp>
      <p:sp>
        <p:nvSpPr>
          <p:cNvPr id="15" name="모서리가 둥근 직사각형 14">
            <a:extLst>
              <a:ext uri="{FF2B5EF4-FFF2-40B4-BE49-F238E27FC236}">
                <a16:creationId xmlns:a16="http://schemas.microsoft.com/office/drawing/2014/main" id="{8FF7058A-1868-4694-BDF9-94DAE5DF062B}"/>
              </a:ext>
            </a:extLst>
          </p:cNvPr>
          <p:cNvSpPr>
            <a:spLocks noGrp="1"/>
          </p:cNvSpPr>
          <p:nvPr/>
        </p:nvSpPr>
        <p:spPr>
          <a:xfrm>
            <a:off x="2143125" y="3476625"/>
            <a:ext cx="8810625" cy="400050"/>
          </a:xfrm>
          <a:prstGeom prst="roundRect">
            <a:avLst>
              <a:gd name="adj" fmla="val 28571"/>
            </a:avLst>
          </a:prstGeom>
          <a:solidFill>
            <a:srgbClr val="F5F7FA"/>
          </a:solidFill>
          <a:ln w="0">
            <a:noFill/>
          </a:ln>
        </p:spPr>
        <p:txBody>
          <a:bodyPr/>
          <a:lstStyle/>
          <a:p>
            <a:endParaRPr lang="ko-KR" altLang="en-US"/>
          </a:p>
        </p:txBody>
      </p:sp>
      <p:sp>
        <p:nvSpPr>
          <p:cNvPr id="16" name="직사각형 15">
            <a:extLst>
              <a:ext uri="{FF2B5EF4-FFF2-40B4-BE49-F238E27FC236}">
                <a16:creationId xmlns:a16="http://schemas.microsoft.com/office/drawing/2014/main" id="{5DDAD5F5-5030-41B7-BC06-C561906E52C7}"/>
              </a:ext>
            </a:extLst>
          </p:cNvPr>
          <p:cNvSpPr>
            <a:spLocks noGrp="1"/>
          </p:cNvSpPr>
          <p:nvPr/>
        </p:nvSpPr>
        <p:spPr>
          <a:xfrm>
            <a:off x="2362200" y="3552825"/>
            <a:ext cx="8334375" cy="266700"/>
          </a:xfrm>
          <a:prstGeom prst="rect">
            <a:avLst/>
          </a:prstGeom>
          <a:noFill/>
          <a:ln w="0">
            <a:noFill/>
          </a:ln>
        </p:spPr>
        <p:txBody>
          <a:bodyPr lIns="0" tIns="0" rIns="0" bIns="0" anchor="t">
            <a:normAutofit/>
          </a:bodyPr>
          <a:lstStyle/>
          <a:p>
            <a:pPr algn="l">
              <a:defRPr sz="1500" b="0">
                <a:solidFill>
                  <a:srgbClr val="17202A"/>
                </a:solidFill>
                <a:latin typeface="Apple SD Gothic Neo"/>
                <a:ea typeface="Apple SD Gothic Neo"/>
                <a:cs typeface="Apple SD Gothic Neo"/>
              </a:defRPr>
            </a:pPr>
            <a:r>
              <a:rPr sz="1500" b="0">
                <a:solidFill>
                  <a:srgbClr val="17202A"/>
                </a:solidFill>
                <a:latin typeface="Apple SD Gothic Neo"/>
                <a:ea typeface="Apple SD Gothic Neo"/>
                <a:cs typeface="Apple SD Gothic Neo"/>
              </a:rPr>
              <a:t>회원별 요약</a:t>
            </a:r>
          </a:p>
        </p:txBody>
      </p:sp>
      <p:sp>
        <p:nvSpPr>
          <p:cNvPr id="17" name="직사각형 16">
            <a:extLst>
              <a:ext uri="{FF2B5EF4-FFF2-40B4-BE49-F238E27FC236}">
                <a16:creationId xmlns:a16="http://schemas.microsoft.com/office/drawing/2014/main" id="{CFF1CE3D-92D7-4EC0-8974-C5D14439EE90}"/>
              </a:ext>
            </a:extLst>
          </p:cNvPr>
          <p:cNvSpPr>
            <a:spLocks noGrp="1"/>
          </p:cNvSpPr>
          <p:nvPr/>
        </p:nvSpPr>
        <p:spPr>
          <a:xfrm>
            <a:off x="666750" y="4076700"/>
            <a:ext cx="1381125"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30~38분</a:t>
            </a:r>
          </a:p>
        </p:txBody>
      </p:sp>
      <p:sp>
        <p:nvSpPr>
          <p:cNvPr id="18" name="모서리가 둥근 직사각형 17">
            <a:extLst>
              <a:ext uri="{FF2B5EF4-FFF2-40B4-BE49-F238E27FC236}">
                <a16:creationId xmlns:a16="http://schemas.microsoft.com/office/drawing/2014/main" id="{F740F2DE-D0C2-4283-9EFF-B627194B6DBF}"/>
              </a:ext>
            </a:extLst>
          </p:cNvPr>
          <p:cNvSpPr>
            <a:spLocks noGrp="1"/>
          </p:cNvSpPr>
          <p:nvPr/>
        </p:nvSpPr>
        <p:spPr>
          <a:xfrm>
            <a:off x="2143125" y="4029075"/>
            <a:ext cx="8810625" cy="400050"/>
          </a:xfrm>
          <a:prstGeom prst="roundRect">
            <a:avLst>
              <a:gd name="adj" fmla="val 28571"/>
            </a:avLst>
          </a:prstGeom>
          <a:solidFill>
            <a:srgbClr val="EAF3FF"/>
          </a:solidFill>
          <a:ln w="0">
            <a:noFill/>
          </a:ln>
        </p:spPr>
        <p:txBody>
          <a:bodyPr/>
          <a:lstStyle/>
          <a:p>
            <a:endParaRPr lang="ko-KR" altLang="en-US"/>
          </a:p>
        </p:txBody>
      </p:sp>
      <p:sp>
        <p:nvSpPr>
          <p:cNvPr id="19" name="직사각형 18">
            <a:extLst>
              <a:ext uri="{FF2B5EF4-FFF2-40B4-BE49-F238E27FC236}">
                <a16:creationId xmlns:a16="http://schemas.microsoft.com/office/drawing/2014/main" id="{69C796DB-8796-4A16-B73D-76B1E88F4F33}"/>
              </a:ext>
            </a:extLst>
          </p:cNvPr>
          <p:cNvSpPr>
            <a:spLocks noGrp="1"/>
          </p:cNvSpPr>
          <p:nvPr/>
        </p:nvSpPr>
        <p:spPr>
          <a:xfrm>
            <a:off x="2362200" y="4105275"/>
            <a:ext cx="8334375" cy="266700"/>
          </a:xfrm>
          <a:prstGeom prst="rect">
            <a:avLst/>
          </a:prstGeom>
          <a:noFill/>
          <a:ln w="0">
            <a:noFill/>
          </a:ln>
        </p:spPr>
        <p:txBody>
          <a:bodyPr lIns="0" tIns="0" rIns="0" bIns="0" anchor="t">
            <a:normAutofit/>
          </a:bodyPr>
          <a:lstStyle/>
          <a:p>
            <a:pPr algn="l">
              <a:defRPr sz="1500" b="0">
                <a:solidFill>
                  <a:srgbClr val="17202A"/>
                </a:solidFill>
                <a:latin typeface="Apple SD Gothic Neo"/>
                <a:ea typeface="Apple SD Gothic Neo"/>
                <a:cs typeface="Apple SD Gothic Neo"/>
              </a:defRPr>
            </a:pPr>
            <a:r>
              <a:rPr sz="1500" b="0">
                <a:solidFill>
                  <a:srgbClr val="17202A"/>
                </a:solidFill>
                <a:latin typeface="Apple SD Gothic Neo"/>
                <a:ea typeface="Apple SD Gothic Neo"/>
                <a:cs typeface="Apple SD Gothic Neo"/>
              </a:rPr>
              <a:t>저장 전처리기 적용</a:t>
            </a:r>
          </a:p>
        </p:txBody>
      </p:sp>
      <p:sp>
        <p:nvSpPr>
          <p:cNvPr id="20" name="직사각형 19">
            <a:extLst>
              <a:ext uri="{FF2B5EF4-FFF2-40B4-BE49-F238E27FC236}">
                <a16:creationId xmlns:a16="http://schemas.microsoft.com/office/drawing/2014/main" id="{8C8833A9-4017-45F7-9819-C691CFA971A4}"/>
              </a:ext>
            </a:extLst>
          </p:cNvPr>
          <p:cNvSpPr>
            <a:spLocks noGrp="1"/>
          </p:cNvSpPr>
          <p:nvPr/>
        </p:nvSpPr>
        <p:spPr>
          <a:xfrm>
            <a:off x="666750" y="4629150"/>
            <a:ext cx="1381125"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38~46분</a:t>
            </a:r>
          </a:p>
        </p:txBody>
      </p:sp>
      <p:sp>
        <p:nvSpPr>
          <p:cNvPr id="21" name="모서리가 둥근 직사각형 20">
            <a:extLst>
              <a:ext uri="{FF2B5EF4-FFF2-40B4-BE49-F238E27FC236}">
                <a16:creationId xmlns:a16="http://schemas.microsoft.com/office/drawing/2014/main" id="{BDA04D52-6909-4114-A336-A67C7337A472}"/>
              </a:ext>
            </a:extLst>
          </p:cNvPr>
          <p:cNvSpPr>
            <a:spLocks noGrp="1"/>
          </p:cNvSpPr>
          <p:nvPr/>
        </p:nvSpPr>
        <p:spPr>
          <a:xfrm>
            <a:off x="2143125" y="4581525"/>
            <a:ext cx="8810625" cy="400050"/>
          </a:xfrm>
          <a:prstGeom prst="roundRect">
            <a:avLst>
              <a:gd name="adj" fmla="val 28571"/>
            </a:avLst>
          </a:prstGeom>
          <a:solidFill>
            <a:srgbClr val="F5F7FA"/>
          </a:solidFill>
          <a:ln w="0">
            <a:noFill/>
          </a:ln>
        </p:spPr>
        <p:txBody>
          <a:bodyPr/>
          <a:lstStyle/>
          <a:p>
            <a:endParaRPr lang="ko-KR" altLang="en-US"/>
          </a:p>
        </p:txBody>
      </p:sp>
      <p:sp>
        <p:nvSpPr>
          <p:cNvPr id="22" name="직사각형 21">
            <a:extLst>
              <a:ext uri="{FF2B5EF4-FFF2-40B4-BE49-F238E27FC236}">
                <a16:creationId xmlns:a16="http://schemas.microsoft.com/office/drawing/2014/main" id="{BEF33A60-DF01-4932-95F4-22DD75A76CD3}"/>
              </a:ext>
            </a:extLst>
          </p:cNvPr>
          <p:cNvSpPr>
            <a:spLocks noGrp="1"/>
          </p:cNvSpPr>
          <p:nvPr/>
        </p:nvSpPr>
        <p:spPr>
          <a:xfrm>
            <a:off x="2362200" y="4657725"/>
            <a:ext cx="8334375" cy="266700"/>
          </a:xfrm>
          <a:prstGeom prst="rect">
            <a:avLst/>
          </a:prstGeom>
          <a:noFill/>
          <a:ln w="0">
            <a:noFill/>
          </a:ln>
        </p:spPr>
        <p:txBody>
          <a:bodyPr lIns="0" tIns="0" rIns="0" bIns="0" anchor="t">
            <a:normAutofit/>
          </a:bodyPr>
          <a:lstStyle/>
          <a:p>
            <a:pPr algn="l">
              <a:defRPr sz="1500" b="0">
                <a:solidFill>
                  <a:srgbClr val="17202A"/>
                </a:solidFill>
                <a:latin typeface="Apple SD Gothic Neo"/>
                <a:ea typeface="Apple SD Gothic Neo"/>
                <a:cs typeface="Apple SD Gothic Neo"/>
              </a:defRPr>
            </a:pPr>
            <a:r>
              <a:rPr sz="1500" b="0">
                <a:solidFill>
                  <a:srgbClr val="17202A"/>
                </a:solidFill>
                <a:latin typeface="Apple SD Gothic Neo"/>
                <a:ea typeface="Apple SD Gothic Neo"/>
                <a:cs typeface="Apple SD Gothic Neo"/>
              </a:rPr>
              <a:t>API 검증</a:t>
            </a:r>
          </a:p>
        </p:txBody>
      </p:sp>
      <p:sp>
        <p:nvSpPr>
          <p:cNvPr id="23" name="직사각형 22">
            <a:extLst>
              <a:ext uri="{FF2B5EF4-FFF2-40B4-BE49-F238E27FC236}">
                <a16:creationId xmlns:a16="http://schemas.microsoft.com/office/drawing/2014/main" id="{3BAA0B7B-77FA-4EA0-A381-3BB1C0FD634F}"/>
              </a:ext>
            </a:extLst>
          </p:cNvPr>
          <p:cNvSpPr>
            <a:spLocks noGrp="1"/>
          </p:cNvSpPr>
          <p:nvPr/>
        </p:nvSpPr>
        <p:spPr>
          <a:xfrm>
            <a:off x="666750" y="5181600"/>
            <a:ext cx="1381125"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46~50분</a:t>
            </a:r>
          </a:p>
        </p:txBody>
      </p:sp>
      <p:sp>
        <p:nvSpPr>
          <p:cNvPr id="24" name="모서리가 둥근 직사각형 23">
            <a:extLst>
              <a:ext uri="{FF2B5EF4-FFF2-40B4-BE49-F238E27FC236}">
                <a16:creationId xmlns:a16="http://schemas.microsoft.com/office/drawing/2014/main" id="{81C3DC11-B5A2-4A1F-B7AA-DF7EAE73C54D}"/>
              </a:ext>
            </a:extLst>
          </p:cNvPr>
          <p:cNvSpPr>
            <a:spLocks noGrp="1"/>
          </p:cNvSpPr>
          <p:nvPr/>
        </p:nvSpPr>
        <p:spPr>
          <a:xfrm>
            <a:off x="2143125" y="5133975"/>
            <a:ext cx="8810625" cy="400050"/>
          </a:xfrm>
          <a:prstGeom prst="roundRect">
            <a:avLst>
              <a:gd name="adj" fmla="val 28571"/>
            </a:avLst>
          </a:prstGeom>
          <a:solidFill>
            <a:srgbClr val="EAF3FF"/>
          </a:solidFill>
          <a:ln w="0">
            <a:noFill/>
          </a:ln>
        </p:spPr>
        <p:txBody>
          <a:bodyPr/>
          <a:lstStyle/>
          <a:p>
            <a:endParaRPr lang="ko-KR" altLang="en-US"/>
          </a:p>
        </p:txBody>
      </p:sp>
      <p:sp>
        <p:nvSpPr>
          <p:cNvPr id="25" name="직사각형 24">
            <a:extLst>
              <a:ext uri="{FF2B5EF4-FFF2-40B4-BE49-F238E27FC236}">
                <a16:creationId xmlns:a16="http://schemas.microsoft.com/office/drawing/2014/main" id="{D0130B6F-1B1C-4E9A-AFD1-4966DE63240F}"/>
              </a:ext>
            </a:extLst>
          </p:cNvPr>
          <p:cNvSpPr>
            <a:spLocks noGrp="1"/>
          </p:cNvSpPr>
          <p:nvPr/>
        </p:nvSpPr>
        <p:spPr>
          <a:xfrm>
            <a:off x="2362200" y="5210175"/>
            <a:ext cx="8334375" cy="266700"/>
          </a:xfrm>
          <a:prstGeom prst="rect">
            <a:avLst/>
          </a:prstGeom>
          <a:noFill/>
          <a:ln w="0">
            <a:noFill/>
          </a:ln>
        </p:spPr>
        <p:txBody>
          <a:bodyPr lIns="0" tIns="0" rIns="0" bIns="0" anchor="t">
            <a:normAutofit/>
          </a:bodyPr>
          <a:lstStyle/>
          <a:p>
            <a:pPr algn="l">
              <a:defRPr sz="1500" b="0">
                <a:solidFill>
                  <a:srgbClr val="17202A"/>
                </a:solidFill>
                <a:latin typeface="Apple SD Gothic Neo"/>
                <a:ea typeface="Apple SD Gothic Neo"/>
                <a:cs typeface="Apple SD Gothic Neo"/>
              </a:defRPr>
            </a:pPr>
            <a:r>
              <a:rPr sz="1500" b="0">
                <a:solidFill>
                  <a:srgbClr val="17202A"/>
                </a:solidFill>
                <a:latin typeface="Apple SD Gothic Neo"/>
                <a:ea typeface="Apple SD Gothic Neo"/>
                <a:cs typeface="Apple SD Gothic Neo"/>
              </a:rPr>
              <a:t>assert·회고</a:t>
            </a:r>
          </a:p>
        </p:txBody>
      </p:sp>
      <p:sp>
        <p:nvSpPr>
          <p:cNvPr id="26" name="직선 연결선[R] 25">
            <a:extLst>
              <a:ext uri="{FF2B5EF4-FFF2-40B4-BE49-F238E27FC236}">
                <a16:creationId xmlns:a16="http://schemas.microsoft.com/office/drawing/2014/main" id="{D6E84D2D-A972-4411-9713-497037C44A62}"/>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27" name="직사각형 26">
            <a:extLst>
              <a:ext uri="{FF2B5EF4-FFF2-40B4-BE49-F238E27FC236}">
                <a16:creationId xmlns:a16="http://schemas.microsoft.com/office/drawing/2014/main" id="{4FD861F1-8B20-456C-9011-15F355E6E78C}"/>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각 Q에서 결과를 먼저 예상하고, 빈칸을 채우고, 실제 숫자와 비교합니다.</a:t>
            </a:r>
          </a:p>
        </p:txBody>
      </p:sp>
      <p:sp>
        <p:nvSpPr>
          <p:cNvPr id="28" name="직사각형 27">
            <a:extLst>
              <a:ext uri="{FF2B5EF4-FFF2-40B4-BE49-F238E27FC236}">
                <a16:creationId xmlns:a16="http://schemas.microsoft.com/office/drawing/2014/main" id="{AC25F62C-17AB-4678-A9CD-7064683A253D}"/>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04</a:t>
            </a:r>
          </a:p>
        </p:txBody>
      </p:sp>
    </p:spTree>
    <p:extLst>
      <p:ext uri="{BB962C8B-B14F-4D97-AF65-F5344CB8AC3E}">
        <p14:creationId xmlns:p14="http://schemas.microsoft.com/office/powerpoint/2010/main" val="1705805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34AD8E5-731D-4399-8A3A-3C3C086670CE}"/>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C5A8BB97-0202-48A9-956B-F7E85EDA89EC}"/>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Q1. CSV 25개의 위치를 찾아 종합실습 입력을 확정합니다</a:t>
            </a:r>
          </a:p>
        </p:txBody>
      </p:sp>
      <p:sp>
        <p:nvSpPr>
          <p:cNvPr id="3" name="직선 연결선[R] 2">
            <a:extLst>
              <a:ext uri="{FF2B5EF4-FFF2-40B4-BE49-F238E27FC236}">
                <a16:creationId xmlns:a16="http://schemas.microsoft.com/office/drawing/2014/main" id="{98FF2B09-715E-4CB3-8522-500360653CAA}"/>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76FA1590-5740-4DFA-9CE4-D4DBA3DBA014}"/>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왜 필요한가</a:t>
            </a:r>
          </a:p>
        </p:txBody>
      </p:sp>
      <p:sp>
        <p:nvSpPr>
          <p:cNvPr id="5" name="직사각형 4">
            <a:extLst>
              <a:ext uri="{FF2B5EF4-FFF2-40B4-BE49-F238E27FC236}">
                <a16:creationId xmlns:a16="http://schemas.microsoft.com/office/drawing/2014/main" id="{0F1BD702-F113-4F2B-BD94-ADDF7BBCE7CA}"/>
              </a:ext>
            </a:extLst>
          </p:cNvPr>
          <p:cNvSpPr>
            <a:spLocks noGrp="1"/>
          </p:cNvSpPr>
          <p:nvPr/>
        </p:nvSpPr>
        <p:spPr>
          <a:xfrm>
            <a:off x="666750" y="1857375"/>
            <a:ext cx="10858500" cy="857250"/>
          </a:xfrm>
          <a:prstGeom prst="rect">
            <a:avLst/>
          </a:prstGeom>
          <a:noFill/>
          <a:ln w="0">
            <a:noFill/>
          </a:ln>
        </p:spPr>
        <p:txBody>
          <a:bodyPr lIns="0" tIns="0" rIns="0" bIns="0" anchor="t">
            <a:normAutofit/>
          </a:bodyPr>
          <a:lstStyle/>
          <a:p>
            <a:pPr algn="ctr">
              <a:defRPr sz="2775" b="1">
                <a:solidFill>
                  <a:srgbClr val="17324D"/>
                </a:solidFill>
                <a:latin typeface="Apple SD Gothic Neo"/>
                <a:ea typeface="Apple SD Gothic Neo"/>
                <a:cs typeface="Apple SD Gothic Neo"/>
              </a:defRPr>
            </a:pPr>
            <a:r>
              <a:rPr sz="2775" b="1">
                <a:solidFill>
                  <a:srgbClr val="17324D"/>
                </a:solidFill>
                <a:latin typeface="Apple SD Gothic Neo"/>
                <a:ea typeface="Apple SD Gothic Neo"/>
                <a:cs typeface="Apple SD Gothic Neo"/>
              </a:rPr>
              <a:t>처음부터 다시 시작할 때 가장 먼저 어떤 파일들을 사용할지 어떻게 확인할까요?</a:t>
            </a:r>
          </a:p>
        </p:txBody>
      </p:sp>
      <p:sp>
        <p:nvSpPr>
          <p:cNvPr id="6" name="모서리가 둥근 직사각형 5">
            <a:extLst>
              <a:ext uri="{FF2B5EF4-FFF2-40B4-BE49-F238E27FC236}">
                <a16:creationId xmlns:a16="http://schemas.microsoft.com/office/drawing/2014/main" id="{6ABA8298-401F-450B-A7A8-D5C4B16C1B29}"/>
              </a:ext>
            </a:extLst>
          </p:cNvPr>
          <p:cNvSpPr>
            <a:spLocks noGrp="1"/>
          </p:cNvSpPr>
          <p:nvPr/>
        </p:nvSpPr>
        <p:spPr>
          <a:xfrm>
            <a:off x="1047750" y="3190875"/>
            <a:ext cx="10096500" cy="1428750"/>
          </a:xfrm>
          <a:prstGeom prst="roundRect">
            <a:avLst>
              <a:gd name="adj" fmla="val 8000"/>
            </a:avLst>
          </a:prstGeom>
          <a:solidFill>
            <a:srgbClr val="EAF3FF"/>
          </a:solidFill>
          <a:ln w="9525">
            <a:solidFill>
              <a:srgbClr val="2F7DF4"/>
            </a:solidFill>
          </a:ln>
        </p:spPr>
        <p:txBody>
          <a:bodyPr/>
          <a:lstStyle/>
          <a:p>
            <a:endParaRPr lang="ko-KR" altLang="en-US"/>
          </a:p>
        </p:txBody>
      </p:sp>
      <p:sp>
        <p:nvSpPr>
          <p:cNvPr id="7" name="직사각형 6">
            <a:extLst>
              <a:ext uri="{FF2B5EF4-FFF2-40B4-BE49-F238E27FC236}">
                <a16:creationId xmlns:a16="http://schemas.microsoft.com/office/drawing/2014/main" id="{C52DBC94-874C-400B-BF33-D37A5E987E36}"/>
              </a:ext>
            </a:extLst>
          </p:cNvPr>
          <p:cNvSpPr>
            <a:spLocks noGrp="1"/>
          </p:cNvSpPr>
          <p:nvPr/>
        </p:nvSpPr>
        <p:spPr>
          <a:xfrm>
            <a:off x="1381125" y="3476625"/>
            <a:ext cx="2190750" cy="285750"/>
          </a:xfrm>
          <a:prstGeom prst="rect">
            <a:avLst/>
          </a:prstGeom>
          <a:noFill/>
          <a:ln w="0">
            <a:noFill/>
          </a:ln>
        </p:spPr>
        <p:txBody>
          <a:bodyPr lIns="0" tIns="0" rIns="0" bIns="0" anchor="t">
            <a:normAutofit/>
          </a:bodyPr>
          <a:lstStyle/>
          <a:p>
            <a:pPr algn="l">
              <a:defRPr sz="1425" b="1">
                <a:solidFill>
                  <a:srgbClr val="2F7DF4"/>
                </a:solidFill>
                <a:latin typeface="Apple SD Gothic Neo"/>
                <a:ea typeface="Apple SD Gothic Neo"/>
                <a:cs typeface="Apple SD Gothic Neo"/>
              </a:defRPr>
            </a:pPr>
            <a:r>
              <a:rPr sz="1425" b="1">
                <a:solidFill>
                  <a:srgbClr val="2F7DF4"/>
                </a:solidFill>
                <a:latin typeface="Apple SD Gothic Neo"/>
                <a:ea typeface="Apple SD Gothic Neo"/>
                <a:cs typeface="Apple SD Gothic Neo"/>
              </a:rPr>
              <a:t>이 일을 하는 이유</a:t>
            </a:r>
          </a:p>
        </p:txBody>
      </p:sp>
      <p:sp>
        <p:nvSpPr>
          <p:cNvPr id="8" name="직사각형 7">
            <a:extLst>
              <a:ext uri="{FF2B5EF4-FFF2-40B4-BE49-F238E27FC236}">
                <a16:creationId xmlns:a16="http://schemas.microsoft.com/office/drawing/2014/main" id="{DDD44325-BC13-493D-8C8B-0E81BF1564F7}"/>
              </a:ext>
            </a:extLst>
          </p:cNvPr>
          <p:cNvSpPr>
            <a:spLocks noGrp="1"/>
          </p:cNvSpPr>
          <p:nvPr/>
        </p:nvSpPr>
        <p:spPr>
          <a:xfrm>
            <a:off x="3810000" y="3429000"/>
            <a:ext cx="6858000" cy="742950"/>
          </a:xfrm>
          <a:prstGeom prst="rect">
            <a:avLst/>
          </a:prstGeom>
          <a:noFill/>
          <a:ln w="0">
            <a:noFill/>
          </a:ln>
        </p:spPr>
        <p:txBody>
          <a:bodyPr lIns="0" tIns="0" rIns="0" bIns="0" anchor="t">
            <a:normAutofit/>
          </a:bodyPr>
          <a:lstStyle/>
          <a:p>
            <a:pPr algn="l">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종합실습의 입력 범위를 스스로 확정합니다.</a:t>
            </a:r>
          </a:p>
        </p:txBody>
      </p:sp>
      <p:sp>
        <p:nvSpPr>
          <p:cNvPr id="9" name="직선 연결선[R] 8">
            <a:extLst>
              <a:ext uri="{FF2B5EF4-FFF2-40B4-BE49-F238E27FC236}">
                <a16:creationId xmlns:a16="http://schemas.microsoft.com/office/drawing/2014/main" id="{189283B2-09EA-41DA-A4A4-59B283844116}"/>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9C8A2AA3-5534-4737-AA57-B2D688EAA30B}"/>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종합실습의 입력 범위를 스스로 확정합니다.</a:t>
            </a:r>
          </a:p>
        </p:txBody>
      </p:sp>
      <p:sp>
        <p:nvSpPr>
          <p:cNvPr id="11" name="직사각형 10">
            <a:extLst>
              <a:ext uri="{FF2B5EF4-FFF2-40B4-BE49-F238E27FC236}">
                <a16:creationId xmlns:a16="http://schemas.microsoft.com/office/drawing/2014/main" id="{A81E5C91-88E6-46DA-B2C0-D2B1BA3FFA6B}"/>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05</a:t>
            </a:r>
          </a:p>
        </p:txBody>
      </p:sp>
    </p:spTree>
    <p:extLst>
      <p:ext uri="{BB962C8B-B14F-4D97-AF65-F5344CB8AC3E}">
        <p14:creationId xmlns:p14="http://schemas.microsoft.com/office/powerpoint/2010/main" val="849148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DF19A037-8C1A-4792-831B-C5C34F6142F0}"/>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EBA53DFC-A513-4414-A184-08E5AAC855FE}"/>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파일 수와 양 끝 이름을 왜 함께 볼까요?</a:t>
            </a:r>
          </a:p>
        </p:txBody>
      </p:sp>
      <p:sp>
        <p:nvSpPr>
          <p:cNvPr id="3" name="직선 연결선[R] 2">
            <a:extLst>
              <a:ext uri="{FF2B5EF4-FFF2-40B4-BE49-F238E27FC236}">
                <a16:creationId xmlns:a16="http://schemas.microsoft.com/office/drawing/2014/main" id="{5EE18FF9-88A3-49F7-8AE9-130B9E236C6F}"/>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4CB9711E-FD80-4DE8-A6C4-9FBFB0FD0EBF}"/>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자료구조</a:t>
            </a:r>
          </a:p>
        </p:txBody>
      </p:sp>
      <p:sp>
        <p:nvSpPr>
          <p:cNvPr id="5" name="모서리가 둥근 직사각형 4">
            <a:extLst>
              <a:ext uri="{FF2B5EF4-FFF2-40B4-BE49-F238E27FC236}">
                <a16:creationId xmlns:a16="http://schemas.microsoft.com/office/drawing/2014/main" id="{64A1723D-7DA3-4520-9092-945F4EE6EAA4}"/>
              </a:ext>
            </a:extLst>
          </p:cNvPr>
          <p:cNvSpPr>
            <a:spLocks noGrp="1"/>
          </p:cNvSpPr>
          <p:nvPr/>
        </p:nvSpPr>
        <p:spPr>
          <a:xfrm>
            <a:off x="704850" y="1952625"/>
            <a:ext cx="10782300" cy="1762125"/>
          </a:xfrm>
          <a:prstGeom prst="roundRect">
            <a:avLst>
              <a:gd name="adj" fmla="val 648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83EEEF2A-8BC3-4D41-999C-EEF0E206739E}"/>
              </a:ext>
            </a:extLst>
          </p:cNvPr>
          <p:cNvSpPr>
            <a:spLocks noGrp="1"/>
          </p:cNvSpPr>
          <p:nvPr/>
        </p:nvSpPr>
        <p:spPr>
          <a:xfrm>
            <a:off x="1047750" y="2362200"/>
            <a:ext cx="10096500" cy="952500"/>
          </a:xfrm>
          <a:prstGeom prst="rect">
            <a:avLst/>
          </a:prstGeom>
          <a:noFill/>
          <a:ln w="0">
            <a:noFill/>
          </a:ln>
        </p:spPr>
        <p:txBody>
          <a:bodyPr lIns="0" tIns="0" rIns="0" bIns="0" anchor="t">
            <a:normAutofit/>
          </a:bodyPr>
          <a:lstStyle/>
          <a:p>
            <a:pPr algn="ctr">
              <a:defRPr sz="2175" b="1">
                <a:solidFill>
                  <a:srgbClr val="17202A"/>
                </a:solidFill>
                <a:latin typeface="Apple SD Gothic Neo"/>
                <a:ea typeface="Apple SD Gothic Neo"/>
                <a:cs typeface="Apple SD Gothic Neo"/>
              </a:defRPr>
            </a:pPr>
            <a:r>
              <a:rPr sz="2175" b="1">
                <a:solidFill>
                  <a:srgbClr val="17202A"/>
                </a:solidFill>
                <a:latin typeface="Apple SD Gothic Neo"/>
                <a:ea typeface="Apple SD Gothic Neo"/>
                <a:cs typeface="Apple SD Gothic Neo"/>
              </a:rPr>
              <a:t>batch_files는 Path 25개 list입니다.</a:t>
            </a:r>
          </a:p>
        </p:txBody>
      </p:sp>
      <p:sp>
        <p:nvSpPr>
          <p:cNvPr id="7" name="모서리가 둥근 직사각형 6">
            <a:extLst>
              <a:ext uri="{FF2B5EF4-FFF2-40B4-BE49-F238E27FC236}">
                <a16:creationId xmlns:a16="http://schemas.microsoft.com/office/drawing/2014/main" id="{6DD9467E-3BCB-47F3-8A27-8745A4DE490B}"/>
              </a:ext>
            </a:extLst>
          </p:cNvPr>
          <p:cNvSpPr>
            <a:spLocks noGrp="1"/>
          </p:cNvSpPr>
          <p:nvPr/>
        </p:nvSpPr>
        <p:spPr>
          <a:xfrm>
            <a:off x="2047875" y="4286250"/>
            <a:ext cx="2095500" cy="904875"/>
          </a:xfrm>
          <a:prstGeom prst="roundRect">
            <a:avLst>
              <a:gd name="adj" fmla="val 12632"/>
            </a:avLst>
          </a:prstGeom>
          <a:solidFill>
            <a:srgbClr val="EAF3FF"/>
          </a:solidFill>
          <a:ln w="9525">
            <a:solidFill>
              <a:srgbClr val="2F7DF4"/>
            </a:solidFill>
          </a:ln>
        </p:spPr>
        <p:txBody>
          <a:bodyPr/>
          <a:lstStyle/>
          <a:p>
            <a:endParaRPr lang="ko-KR" altLang="en-US"/>
          </a:p>
        </p:txBody>
      </p:sp>
      <p:sp>
        <p:nvSpPr>
          <p:cNvPr id="8" name="직사각형 7">
            <a:extLst>
              <a:ext uri="{FF2B5EF4-FFF2-40B4-BE49-F238E27FC236}">
                <a16:creationId xmlns:a16="http://schemas.microsoft.com/office/drawing/2014/main" id="{1B19A623-23E6-4CDD-8F1F-2EF2D75625C4}"/>
              </a:ext>
            </a:extLst>
          </p:cNvPr>
          <p:cNvSpPr>
            <a:spLocks noGrp="1"/>
          </p:cNvSpPr>
          <p:nvPr/>
        </p:nvSpPr>
        <p:spPr>
          <a:xfrm>
            <a:off x="2143125" y="4429125"/>
            <a:ext cx="1905000" cy="619125"/>
          </a:xfrm>
          <a:prstGeom prst="rect">
            <a:avLst/>
          </a:prstGeom>
          <a:noFill/>
          <a:ln w="0">
            <a:noFill/>
          </a:ln>
        </p:spPr>
        <p:txBody>
          <a:bodyPr lIns="0" tIns="0" rIns="0" bIns="0" anchor="t">
            <a:normAutofit/>
          </a:bodyPr>
          <a:lstStyle/>
          <a:p>
            <a:pPr algn="ctr">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02_week2 데이터 폴더</a:t>
            </a:r>
          </a:p>
        </p:txBody>
      </p:sp>
      <p:sp>
        <p:nvSpPr>
          <p:cNvPr id="9" name="직선 연결선[R] 8">
            <a:extLst>
              <a:ext uri="{FF2B5EF4-FFF2-40B4-BE49-F238E27FC236}">
                <a16:creationId xmlns:a16="http://schemas.microsoft.com/office/drawing/2014/main" id="{9E068211-9E8F-4734-A166-010FFFEC80B2}"/>
              </a:ext>
            </a:extLst>
          </p:cNvPr>
          <p:cNvSpPr>
            <a:spLocks noGrp="1"/>
          </p:cNvSpPr>
          <p:nvPr/>
        </p:nvSpPr>
        <p:spPr>
          <a:xfrm>
            <a:off x="4191000" y="4733925"/>
            <a:ext cx="857250" cy="0"/>
          </a:xfrm>
          <a:prstGeom prst="line">
            <a:avLst/>
          </a:prstGeom>
          <a:noFill/>
          <a:ln w="28575">
            <a:solidFill>
              <a:srgbClr val="2F7DF4"/>
            </a:solidFill>
          </a:ln>
        </p:spPr>
        <p:txBody>
          <a:bodyPr/>
          <a:lstStyle/>
          <a:p>
            <a:endParaRPr lang="ko-KR" altLang="en-US"/>
          </a:p>
        </p:txBody>
      </p:sp>
      <p:sp>
        <p:nvSpPr>
          <p:cNvPr id="10" name="모서리가 둥근 직사각형 9">
            <a:extLst>
              <a:ext uri="{FF2B5EF4-FFF2-40B4-BE49-F238E27FC236}">
                <a16:creationId xmlns:a16="http://schemas.microsoft.com/office/drawing/2014/main" id="{CD5C6507-6514-437A-BADB-E37F0AF77717}"/>
              </a:ext>
            </a:extLst>
          </p:cNvPr>
          <p:cNvSpPr>
            <a:spLocks noGrp="1"/>
          </p:cNvSpPr>
          <p:nvPr/>
        </p:nvSpPr>
        <p:spPr>
          <a:xfrm>
            <a:off x="5191125" y="4286250"/>
            <a:ext cx="2095500" cy="904875"/>
          </a:xfrm>
          <a:prstGeom prst="roundRect">
            <a:avLst>
              <a:gd name="adj" fmla="val 12632"/>
            </a:avLst>
          </a:prstGeom>
          <a:solidFill>
            <a:srgbClr val="EAF3FF"/>
          </a:solidFill>
          <a:ln w="9525">
            <a:solidFill>
              <a:srgbClr val="2F7DF4"/>
            </a:solidFill>
          </a:ln>
        </p:spPr>
        <p:txBody>
          <a:bodyPr/>
          <a:lstStyle/>
          <a:p>
            <a:endParaRPr lang="ko-KR" altLang="en-US"/>
          </a:p>
        </p:txBody>
      </p:sp>
      <p:sp>
        <p:nvSpPr>
          <p:cNvPr id="11" name="직사각형 10">
            <a:extLst>
              <a:ext uri="{FF2B5EF4-FFF2-40B4-BE49-F238E27FC236}">
                <a16:creationId xmlns:a16="http://schemas.microsoft.com/office/drawing/2014/main" id="{95EC19D5-4FEC-48E0-9B3D-2C3DE0E837CE}"/>
              </a:ext>
            </a:extLst>
          </p:cNvPr>
          <p:cNvSpPr>
            <a:spLocks noGrp="1"/>
          </p:cNvSpPr>
          <p:nvPr/>
        </p:nvSpPr>
        <p:spPr>
          <a:xfrm>
            <a:off x="5286375" y="4429125"/>
            <a:ext cx="1905000" cy="619125"/>
          </a:xfrm>
          <a:prstGeom prst="rect">
            <a:avLst/>
          </a:prstGeom>
          <a:noFill/>
          <a:ln w="0">
            <a:noFill/>
          </a:ln>
        </p:spPr>
        <p:txBody>
          <a:bodyPr lIns="0" tIns="0" rIns="0" bIns="0" anchor="t">
            <a:normAutofit/>
          </a:bodyPr>
          <a:lstStyle/>
          <a:p>
            <a:pPr algn="ctr">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폴더·패턴·개수 검사</a:t>
            </a:r>
          </a:p>
        </p:txBody>
      </p:sp>
      <p:sp>
        <p:nvSpPr>
          <p:cNvPr id="12" name="직선 연결선[R] 11">
            <a:extLst>
              <a:ext uri="{FF2B5EF4-FFF2-40B4-BE49-F238E27FC236}">
                <a16:creationId xmlns:a16="http://schemas.microsoft.com/office/drawing/2014/main" id="{A9F42652-B95F-4A5A-BC10-E7E5EA85478A}"/>
              </a:ext>
            </a:extLst>
          </p:cNvPr>
          <p:cNvSpPr>
            <a:spLocks noGrp="1"/>
          </p:cNvSpPr>
          <p:nvPr/>
        </p:nvSpPr>
        <p:spPr>
          <a:xfrm>
            <a:off x="7334250" y="4733925"/>
            <a:ext cx="857250" cy="0"/>
          </a:xfrm>
          <a:prstGeom prst="line">
            <a:avLst/>
          </a:prstGeom>
          <a:noFill/>
          <a:ln w="28575">
            <a:solidFill>
              <a:srgbClr val="2F7DF4"/>
            </a:solidFill>
          </a:ln>
        </p:spPr>
        <p:txBody>
          <a:bodyPr/>
          <a:lstStyle/>
          <a:p>
            <a:endParaRPr lang="ko-KR" altLang="en-US"/>
          </a:p>
        </p:txBody>
      </p:sp>
      <p:sp>
        <p:nvSpPr>
          <p:cNvPr id="13" name="모서리가 둥근 직사각형 12">
            <a:extLst>
              <a:ext uri="{FF2B5EF4-FFF2-40B4-BE49-F238E27FC236}">
                <a16:creationId xmlns:a16="http://schemas.microsoft.com/office/drawing/2014/main" id="{B34CA67C-D233-4A98-BB16-C22E27DF8A6B}"/>
              </a:ext>
            </a:extLst>
          </p:cNvPr>
          <p:cNvSpPr>
            <a:spLocks noGrp="1"/>
          </p:cNvSpPr>
          <p:nvPr/>
        </p:nvSpPr>
        <p:spPr>
          <a:xfrm>
            <a:off x="8334375" y="4286250"/>
            <a:ext cx="2095500" cy="904875"/>
          </a:xfrm>
          <a:prstGeom prst="roundRect">
            <a:avLst>
              <a:gd name="adj" fmla="val 12632"/>
            </a:avLst>
          </a:prstGeom>
          <a:solidFill>
            <a:srgbClr val="EAF7F0"/>
          </a:solidFill>
          <a:ln w="9525">
            <a:solidFill>
              <a:srgbClr val="18794E"/>
            </a:solidFill>
          </a:ln>
        </p:spPr>
        <p:txBody>
          <a:bodyPr/>
          <a:lstStyle/>
          <a:p>
            <a:endParaRPr lang="ko-KR" altLang="en-US"/>
          </a:p>
        </p:txBody>
      </p:sp>
      <p:sp>
        <p:nvSpPr>
          <p:cNvPr id="14" name="직사각형 13">
            <a:extLst>
              <a:ext uri="{FF2B5EF4-FFF2-40B4-BE49-F238E27FC236}">
                <a16:creationId xmlns:a16="http://schemas.microsoft.com/office/drawing/2014/main" id="{F6D1B30A-AB6A-494C-BFDA-682D2D15C42C}"/>
              </a:ext>
            </a:extLst>
          </p:cNvPr>
          <p:cNvSpPr>
            <a:spLocks noGrp="1"/>
          </p:cNvSpPr>
          <p:nvPr/>
        </p:nvSpPr>
        <p:spPr>
          <a:xfrm>
            <a:off x="8429625" y="4429125"/>
            <a:ext cx="1905000" cy="619125"/>
          </a:xfrm>
          <a:prstGeom prst="rect">
            <a:avLst/>
          </a:prstGeom>
          <a:noFill/>
          <a:ln w="0">
            <a:noFill/>
          </a:ln>
        </p:spPr>
        <p:txBody>
          <a:bodyPr lIns="0" tIns="0" rIns="0" bIns="0" anchor="t">
            <a:normAutofit/>
          </a:bodyPr>
          <a:lstStyle/>
          <a:p>
            <a:pPr algn="ctr">
              <a:defRPr sz="1350" b="1">
                <a:solidFill>
                  <a:srgbClr val="18794E"/>
                </a:solidFill>
                <a:latin typeface="Apple SD Gothic Neo"/>
                <a:ea typeface="Apple SD Gothic Neo"/>
                <a:cs typeface="Apple SD Gothic Neo"/>
              </a:defRPr>
            </a:pPr>
            <a:r>
              <a:rPr sz="1350" b="1">
                <a:solidFill>
                  <a:srgbClr val="18794E"/>
                </a:solidFill>
                <a:latin typeface="Apple SD Gothic Neo"/>
                <a:ea typeface="Apple SD Gothic Neo"/>
                <a:cs typeface="Apple SD Gothic Neo"/>
              </a:rPr>
              <a:t>정렬된 Path 25개 list</a:t>
            </a:r>
          </a:p>
        </p:txBody>
      </p:sp>
      <p:sp>
        <p:nvSpPr>
          <p:cNvPr id="15" name="직선 연결선[R] 14">
            <a:extLst>
              <a:ext uri="{FF2B5EF4-FFF2-40B4-BE49-F238E27FC236}">
                <a16:creationId xmlns:a16="http://schemas.microsoft.com/office/drawing/2014/main" id="{0BBAAF28-0568-4879-AA92-3DF1CC3E122D}"/>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6" name="직사각형 15">
            <a:extLst>
              <a:ext uri="{FF2B5EF4-FFF2-40B4-BE49-F238E27FC236}">
                <a16:creationId xmlns:a16="http://schemas.microsoft.com/office/drawing/2014/main" id="{DDC0ACE1-2B35-431A-97C3-74B65E86B2B7}"/>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02_week2 데이터 폴더에서 정렬된 Path 25개 list이 만들어지는 동안 자료의 모양과 역할이 어떻게 달라지는지 확인합니다.</a:t>
            </a:r>
          </a:p>
        </p:txBody>
      </p:sp>
      <p:sp>
        <p:nvSpPr>
          <p:cNvPr id="17" name="직사각형 16">
            <a:extLst>
              <a:ext uri="{FF2B5EF4-FFF2-40B4-BE49-F238E27FC236}">
                <a16:creationId xmlns:a16="http://schemas.microsoft.com/office/drawing/2014/main" id="{F0892E64-D406-4CB0-896A-2D114472570A}"/>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06</a:t>
            </a:r>
          </a:p>
        </p:txBody>
      </p:sp>
    </p:spTree>
    <p:extLst>
      <p:ext uri="{BB962C8B-B14F-4D97-AF65-F5344CB8AC3E}">
        <p14:creationId xmlns:p14="http://schemas.microsoft.com/office/powerpoint/2010/main" val="859403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AE7B94C5-065F-4835-A068-FB3A51F2E3EC}"/>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ADA53928-FA98-496E-8425-7C5ED47680F2}"/>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폴더명, 파일명 규칙과 25를 채워 입력을 확정해 봅시다</a:t>
            </a:r>
          </a:p>
        </p:txBody>
      </p:sp>
      <p:sp>
        <p:nvSpPr>
          <p:cNvPr id="3" name="직선 연결선[R] 2">
            <a:extLst>
              <a:ext uri="{FF2B5EF4-FFF2-40B4-BE49-F238E27FC236}">
                <a16:creationId xmlns:a16="http://schemas.microsoft.com/office/drawing/2014/main" id="{14C991FD-379D-4A20-8361-21E8006DAF25}"/>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57A42D86-8F1A-4E0D-90BC-C980359176F5}"/>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학생 실습</a:t>
            </a:r>
          </a:p>
        </p:txBody>
      </p:sp>
      <p:sp>
        <p:nvSpPr>
          <p:cNvPr id="5" name="모서리가 둥근 직사각형 4">
            <a:extLst>
              <a:ext uri="{FF2B5EF4-FFF2-40B4-BE49-F238E27FC236}">
                <a16:creationId xmlns:a16="http://schemas.microsoft.com/office/drawing/2014/main" id="{50B007B8-79EB-46FA-953C-CAF6C529B881}"/>
              </a:ext>
            </a:extLst>
          </p:cNvPr>
          <p:cNvSpPr>
            <a:spLocks noGrp="1"/>
          </p:cNvSpPr>
          <p:nvPr/>
        </p:nvSpPr>
        <p:spPr>
          <a:xfrm>
            <a:off x="428625" y="1714500"/>
            <a:ext cx="7524750" cy="4095750"/>
          </a:xfrm>
          <a:prstGeom prst="roundRect">
            <a:avLst>
              <a:gd name="adj" fmla="val 2791"/>
            </a:avLst>
          </a:prstGeom>
          <a:solidFill>
            <a:srgbClr val="F7F8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080A8B62-B7EF-46F8-8D16-D720939C018E}"/>
              </a:ext>
            </a:extLst>
          </p:cNvPr>
          <p:cNvSpPr>
            <a:spLocks noGrp="1"/>
          </p:cNvSpPr>
          <p:nvPr/>
        </p:nvSpPr>
        <p:spPr>
          <a:xfrm>
            <a:off x="428625" y="1714500"/>
            <a:ext cx="85725" cy="4095750"/>
          </a:xfrm>
          <a:prstGeom prst="rect">
            <a:avLst/>
          </a:prstGeom>
          <a:solidFill>
            <a:srgbClr val="2F7DF4"/>
          </a:solidFill>
          <a:ln w="0">
            <a:noFill/>
          </a:ln>
        </p:spPr>
        <p:txBody>
          <a:bodyPr/>
          <a:lstStyle/>
          <a:p>
            <a:endParaRPr lang="ko-KR" altLang="en-US"/>
          </a:p>
        </p:txBody>
      </p:sp>
      <p:sp>
        <p:nvSpPr>
          <p:cNvPr id="7" name="직사각형 6">
            <a:extLst>
              <a:ext uri="{FF2B5EF4-FFF2-40B4-BE49-F238E27FC236}">
                <a16:creationId xmlns:a16="http://schemas.microsoft.com/office/drawing/2014/main" id="{2A4297DD-E7CE-4060-A621-B4B1E7584E6F}"/>
              </a:ext>
            </a:extLst>
          </p:cNvPr>
          <p:cNvSpPr>
            <a:spLocks noGrp="1"/>
          </p:cNvSpPr>
          <p:nvPr/>
        </p:nvSpPr>
        <p:spPr>
          <a:xfrm>
            <a:off x="742950" y="1952625"/>
            <a:ext cx="6858000" cy="3524250"/>
          </a:xfrm>
          <a:prstGeom prst="rect">
            <a:avLst/>
          </a:prstGeom>
          <a:noFill/>
          <a:ln w="0">
            <a:noFill/>
          </a:ln>
        </p:spPr>
        <p:txBody>
          <a:bodyPr lIns="0" tIns="0" rIns="0" bIns="0" anchor="t">
            <a:normAutofit/>
          </a:bodyPr>
          <a:lstStyle/>
          <a:p>
            <a:pPr algn="l">
              <a:defRPr sz="1275" b="0">
                <a:solidFill>
                  <a:srgbClr val="17202A"/>
                </a:solidFill>
                <a:latin typeface="Menlo"/>
                <a:ea typeface="Menlo"/>
                <a:cs typeface="Menlo"/>
              </a:defRPr>
            </a:pPr>
            <a:r>
              <a:rPr sz="1275" b="0">
                <a:solidFill>
                  <a:srgbClr val="17202A"/>
                </a:solidFill>
                <a:latin typeface="Menlo"/>
                <a:ea typeface="Menlo"/>
                <a:cs typeface="Menlo"/>
              </a:rPr>
              <a:t>batch_dir = DATA_DIR / ___</a:t>
            </a:r>
          </a:p>
          <a:p>
            <a:pPr algn="l">
              <a:defRPr sz="1275" b="0">
                <a:solidFill>
                  <a:srgbClr val="17202A"/>
                </a:solidFill>
                <a:latin typeface="Menlo"/>
                <a:ea typeface="Menlo"/>
                <a:cs typeface="Menlo"/>
              </a:defRPr>
            </a:pPr>
            <a:r>
              <a:rPr sz="1275" b="0">
                <a:solidFill>
                  <a:srgbClr val="17202A"/>
                </a:solidFill>
                <a:latin typeface="Menlo"/>
                <a:ea typeface="Menlo"/>
                <a:cs typeface="Menlo"/>
              </a:rPr>
              <a:t>batch_files = sorted(batch_dir.glob(___))</a:t>
            </a:r>
          </a:p>
          <a:p>
            <a:pPr algn="l">
              <a:defRPr sz="1275" b="0">
                <a:solidFill>
                  <a:srgbClr val="17202A"/>
                </a:solidFill>
                <a:latin typeface="Menlo"/>
                <a:ea typeface="Menlo"/>
                <a:cs typeface="Menlo"/>
              </a:defRPr>
            </a:pPr>
            <a:r>
              <a:rPr sz="1275" b="0">
                <a:solidFill>
                  <a:srgbClr val="17202A"/>
                </a:solidFill>
                <a:latin typeface="Menlo"/>
                <a:ea typeface="Menlo"/>
                <a:cs typeface="Menlo"/>
              </a:rPr>
              <a:t>assert len(batch_files) == ___</a:t>
            </a:r>
          </a:p>
          <a:p>
            <a:pPr algn="l">
              <a:defRPr sz="1275" b="0">
                <a:solidFill>
                  <a:srgbClr val="17202A"/>
                </a:solidFill>
                <a:latin typeface="Menlo"/>
                <a:ea typeface="Menlo"/>
                <a:cs typeface="Menlo"/>
              </a:defRPr>
            </a:pPr>
            <a:r>
              <a:rPr sz="1275" b="0">
                <a:solidFill>
                  <a:srgbClr val="17202A"/>
                </a:solidFill>
                <a:latin typeface="Menlo"/>
                <a:ea typeface="Menlo"/>
                <a:cs typeface="Menlo"/>
              </a:rPr>
              <a:t>print(batch_files[0].name, batch_files[-1].name)</a:t>
            </a:r>
          </a:p>
        </p:txBody>
      </p:sp>
      <p:sp>
        <p:nvSpPr>
          <p:cNvPr id="8" name="모서리가 둥근 직사각형 7">
            <a:extLst>
              <a:ext uri="{FF2B5EF4-FFF2-40B4-BE49-F238E27FC236}">
                <a16:creationId xmlns:a16="http://schemas.microsoft.com/office/drawing/2014/main" id="{59386181-7614-4244-9558-DC6C3A59319A}"/>
              </a:ext>
            </a:extLst>
          </p:cNvPr>
          <p:cNvSpPr>
            <a:spLocks noGrp="1"/>
          </p:cNvSpPr>
          <p:nvPr/>
        </p:nvSpPr>
        <p:spPr>
          <a:xfrm>
            <a:off x="8286750" y="1857375"/>
            <a:ext cx="3143250" cy="1095375"/>
          </a:xfrm>
          <a:prstGeom prst="roundRect">
            <a:avLst>
              <a:gd name="adj" fmla="val 10435"/>
            </a:avLst>
          </a:prstGeom>
          <a:solidFill>
            <a:srgbClr val="FFF5DF"/>
          </a:solidFill>
          <a:ln w="9525">
            <a:solidFill>
              <a:srgbClr val="9A5B13"/>
            </a:solidFill>
          </a:ln>
        </p:spPr>
        <p:txBody>
          <a:bodyPr/>
          <a:lstStyle/>
          <a:p>
            <a:endParaRPr lang="ko-KR" altLang="en-US"/>
          </a:p>
        </p:txBody>
      </p:sp>
      <p:sp>
        <p:nvSpPr>
          <p:cNvPr id="9" name="직사각형 8">
            <a:extLst>
              <a:ext uri="{FF2B5EF4-FFF2-40B4-BE49-F238E27FC236}">
                <a16:creationId xmlns:a16="http://schemas.microsoft.com/office/drawing/2014/main" id="{839514EB-B5C1-4852-950F-727EA943BA39}"/>
              </a:ext>
            </a:extLst>
          </p:cNvPr>
          <p:cNvSpPr>
            <a:spLocks noGrp="1"/>
          </p:cNvSpPr>
          <p:nvPr/>
        </p:nvSpPr>
        <p:spPr>
          <a:xfrm>
            <a:off x="8524875" y="2076450"/>
            <a:ext cx="2667000" cy="238125"/>
          </a:xfrm>
          <a:prstGeom prst="rect">
            <a:avLst/>
          </a:prstGeom>
          <a:noFill/>
          <a:ln w="0">
            <a:noFill/>
          </a:ln>
        </p:spPr>
        <p:txBody>
          <a:bodyPr lIns="0" tIns="0" rIns="0" bIns="0" anchor="t">
            <a:normAutofit/>
          </a:bodyPr>
          <a:lstStyle/>
          <a:p>
            <a:pPr algn="l">
              <a:defRPr sz="1350" b="1">
                <a:solidFill>
                  <a:srgbClr val="9A5B13"/>
                </a:solidFill>
                <a:latin typeface="Apple SD Gothic Neo"/>
                <a:ea typeface="Apple SD Gothic Neo"/>
                <a:cs typeface="Apple SD Gothic Neo"/>
              </a:defRPr>
            </a:pPr>
            <a:r>
              <a:rPr sz="1350" b="1">
                <a:solidFill>
                  <a:srgbClr val="9A5B13"/>
                </a:solidFill>
                <a:latin typeface="Apple SD Gothic Neo"/>
                <a:ea typeface="Apple SD Gothic Neo"/>
                <a:cs typeface="Apple SD Gothic Neo"/>
              </a:rPr>
              <a:t>실행 전 예상</a:t>
            </a:r>
          </a:p>
        </p:txBody>
      </p:sp>
      <p:sp>
        <p:nvSpPr>
          <p:cNvPr id="10" name="직사각형 9">
            <a:extLst>
              <a:ext uri="{FF2B5EF4-FFF2-40B4-BE49-F238E27FC236}">
                <a16:creationId xmlns:a16="http://schemas.microsoft.com/office/drawing/2014/main" id="{BF408B39-C3BB-4386-9C9B-9AADB3CFC2D6}"/>
              </a:ext>
            </a:extLst>
          </p:cNvPr>
          <p:cNvSpPr>
            <a:spLocks noGrp="1"/>
          </p:cNvSpPr>
          <p:nvPr/>
        </p:nvSpPr>
        <p:spPr>
          <a:xfrm>
            <a:off x="8524875" y="2428875"/>
            <a:ext cx="2667000" cy="419100"/>
          </a:xfrm>
          <a:prstGeom prst="rect">
            <a:avLst/>
          </a:prstGeom>
          <a:noFill/>
          <a:ln w="0">
            <a:noFill/>
          </a:ln>
        </p:spPr>
        <p:txBody>
          <a:bodyPr lIns="0" tIns="0" rIns="0" bIns="0" anchor="t">
            <a:normAutofit fontScale="86197"/>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폴더와 파일명 규칙으로 Path 25개를 찾고 개수와 첫·마지막 이름을 확인합니다.</a:t>
            </a:r>
          </a:p>
        </p:txBody>
      </p:sp>
      <p:sp>
        <p:nvSpPr>
          <p:cNvPr id="11" name="모서리가 둥근 직사각형 10">
            <a:extLst>
              <a:ext uri="{FF2B5EF4-FFF2-40B4-BE49-F238E27FC236}">
                <a16:creationId xmlns:a16="http://schemas.microsoft.com/office/drawing/2014/main" id="{3AF576B6-794B-4B4D-82E2-1CC46B605CAC}"/>
              </a:ext>
            </a:extLst>
          </p:cNvPr>
          <p:cNvSpPr>
            <a:spLocks noGrp="1"/>
          </p:cNvSpPr>
          <p:nvPr/>
        </p:nvSpPr>
        <p:spPr>
          <a:xfrm>
            <a:off x="8286750" y="3238500"/>
            <a:ext cx="3143250" cy="1476375"/>
          </a:xfrm>
          <a:prstGeom prst="roundRect">
            <a:avLst>
              <a:gd name="adj" fmla="val 7742"/>
            </a:avLst>
          </a:prstGeom>
          <a:solidFill>
            <a:srgbClr val="EAF3FF"/>
          </a:solidFill>
          <a:ln w="9525">
            <a:solidFill>
              <a:srgbClr val="2F7DF4"/>
            </a:solidFill>
          </a:ln>
        </p:spPr>
        <p:txBody>
          <a:bodyPr/>
          <a:lstStyle/>
          <a:p>
            <a:endParaRPr lang="ko-KR" altLang="en-US"/>
          </a:p>
        </p:txBody>
      </p:sp>
      <p:sp>
        <p:nvSpPr>
          <p:cNvPr id="12" name="직사각형 11">
            <a:extLst>
              <a:ext uri="{FF2B5EF4-FFF2-40B4-BE49-F238E27FC236}">
                <a16:creationId xmlns:a16="http://schemas.microsoft.com/office/drawing/2014/main" id="{AE44BB3C-E553-4F8F-B2D4-56D7C0F3F08A}"/>
              </a:ext>
            </a:extLst>
          </p:cNvPr>
          <p:cNvSpPr>
            <a:spLocks noGrp="1"/>
          </p:cNvSpPr>
          <p:nvPr/>
        </p:nvSpPr>
        <p:spPr>
          <a:xfrm>
            <a:off x="8524875" y="3457575"/>
            <a:ext cx="2667000" cy="238125"/>
          </a:xfrm>
          <a:prstGeom prst="rect">
            <a:avLst/>
          </a:prstGeom>
          <a:noFill/>
          <a:ln w="0">
            <a:noFill/>
          </a:ln>
        </p:spPr>
        <p:txBody>
          <a:bodyPr lIns="0" tIns="0" rIns="0" bIns="0" anchor="t">
            <a:normAutofit/>
          </a:bodyPr>
          <a:lstStyle/>
          <a:p>
            <a:pPr algn="l">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코드 읽기</a:t>
            </a:r>
          </a:p>
        </p:txBody>
      </p:sp>
      <p:sp>
        <p:nvSpPr>
          <p:cNvPr id="13" name="직사각형 12">
            <a:extLst>
              <a:ext uri="{FF2B5EF4-FFF2-40B4-BE49-F238E27FC236}">
                <a16:creationId xmlns:a16="http://schemas.microsoft.com/office/drawing/2014/main" id="{52FE0E94-FE66-44C7-A7AB-27AB2034D8A7}"/>
              </a:ext>
            </a:extLst>
          </p:cNvPr>
          <p:cNvSpPr>
            <a:spLocks noGrp="1"/>
          </p:cNvSpPr>
          <p:nvPr/>
        </p:nvSpPr>
        <p:spPr>
          <a:xfrm>
            <a:off x="8524875" y="3810000"/>
            <a:ext cx="2667000" cy="714375"/>
          </a:xfrm>
          <a:prstGeom prst="rect">
            <a:avLst/>
          </a:prstGeom>
          <a:noFill/>
          <a:ln w="0">
            <a:noFill/>
          </a:ln>
        </p:spPr>
        <p:txBody>
          <a:bodyPr lIns="0" tIns="0" rIns="0" bIns="0" anchor="t">
            <a:normAutofit/>
          </a:bodyPr>
          <a:lstStyle/>
          <a:p>
            <a:pPr algn="l">
              <a:defRPr sz="1425" b="1">
                <a:solidFill>
                  <a:srgbClr val="17202A"/>
                </a:solidFill>
                <a:latin typeface="Apple SD Gothic Neo"/>
                <a:ea typeface="Apple SD Gothic Neo"/>
                <a:cs typeface="Apple SD Gothic Neo"/>
              </a:defRPr>
            </a:pPr>
            <a:r>
              <a:rPr sz="1425" b="1">
                <a:solidFill>
                  <a:srgbClr val="17202A"/>
                </a:solidFill>
                <a:latin typeface="Apple SD Gothic Neo"/>
                <a:ea typeface="Apple SD Gothic Neo"/>
                <a:cs typeface="Apple SD Gothic Neo"/>
              </a:rPr>
              <a:t>정렬은 이후 결과와 오류 재현 순서를 고정합니다.</a:t>
            </a:r>
          </a:p>
        </p:txBody>
      </p:sp>
      <p:sp>
        <p:nvSpPr>
          <p:cNvPr id="14" name="직사각형 13">
            <a:extLst>
              <a:ext uri="{FF2B5EF4-FFF2-40B4-BE49-F238E27FC236}">
                <a16:creationId xmlns:a16="http://schemas.microsoft.com/office/drawing/2014/main" id="{2AB3A04D-F3A8-4550-AD77-8D92BBA35336}"/>
              </a:ext>
            </a:extLst>
          </p:cNvPr>
          <p:cNvSpPr>
            <a:spLocks noGrp="1"/>
          </p:cNvSpPr>
          <p:nvPr/>
        </p:nvSpPr>
        <p:spPr>
          <a:xfrm>
            <a:off x="8334375" y="5238750"/>
            <a:ext cx="3048000" cy="238125"/>
          </a:xfrm>
          <a:prstGeom prst="rect">
            <a:avLst/>
          </a:prstGeom>
          <a:noFill/>
          <a:ln w="0">
            <a:noFill/>
          </a:ln>
        </p:spPr>
        <p:txBody>
          <a:bodyPr lIns="0" tIns="0" rIns="0" bIns="0" anchor="t">
            <a:normAutofit/>
          </a:bodyPr>
          <a:lstStyle/>
          <a:p>
            <a:pPr algn="ctr">
              <a:defRPr sz="1200" b="0">
                <a:solidFill>
                  <a:srgbClr val="5F6B78"/>
                </a:solidFill>
                <a:latin typeface="Apple SD Gothic Neo"/>
                <a:ea typeface="Apple SD Gothic Neo"/>
                <a:cs typeface="Apple SD Gothic Neo"/>
              </a:defRPr>
            </a:pPr>
            <a:r>
              <a:rPr sz="1200" b="0">
                <a:solidFill>
                  <a:srgbClr val="5F6B78"/>
                </a:solidFill>
                <a:latin typeface="Apple SD Gothic Neo"/>
                <a:ea typeface="Apple SD Gothic Neo"/>
                <a:cs typeface="Apple SD Gothic Neo"/>
              </a:rPr>
              <a:t>학생 노트북 · Q1</a:t>
            </a:r>
          </a:p>
        </p:txBody>
      </p:sp>
      <p:sp>
        <p:nvSpPr>
          <p:cNvPr id="15" name="직선 연결선[R] 14">
            <a:extLst>
              <a:ext uri="{FF2B5EF4-FFF2-40B4-BE49-F238E27FC236}">
                <a16:creationId xmlns:a16="http://schemas.microsoft.com/office/drawing/2014/main" id="{BFBA68E2-2F0A-43DD-ABE4-B073EA02B698}"/>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6" name="직사각형 15">
            <a:extLst>
              <a:ext uri="{FF2B5EF4-FFF2-40B4-BE49-F238E27FC236}">
                <a16:creationId xmlns:a16="http://schemas.microsoft.com/office/drawing/2014/main" id="{796646E4-EA9B-4B67-AC94-E829409974EC}"/>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학생 노트북 Q1에서 ___만 채우고 정상 결과 activity_batch_01.csv activity_batch_25.csv을 확인합니다.</a:t>
            </a:r>
          </a:p>
        </p:txBody>
      </p:sp>
      <p:sp>
        <p:nvSpPr>
          <p:cNvPr id="17" name="직사각형 16">
            <a:extLst>
              <a:ext uri="{FF2B5EF4-FFF2-40B4-BE49-F238E27FC236}">
                <a16:creationId xmlns:a16="http://schemas.microsoft.com/office/drawing/2014/main" id="{2BA848CA-9E23-45F9-A6A2-91008267004C}"/>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07</a:t>
            </a:r>
          </a:p>
        </p:txBody>
      </p:sp>
    </p:spTree>
    <p:extLst>
      <p:ext uri="{BB962C8B-B14F-4D97-AF65-F5344CB8AC3E}">
        <p14:creationId xmlns:p14="http://schemas.microsoft.com/office/powerpoint/2010/main" val="625266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ED6022BC-6E6E-41DF-9269-2E9BBDFD3483}"/>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37140D64-5898-4B8B-B96D-7F9669E993E5}"/>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1교시의 세 단계를 한 코드에서 다시 읽어봅시다</a:t>
            </a:r>
          </a:p>
        </p:txBody>
      </p:sp>
      <p:sp>
        <p:nvSpPr>
          <p:cNvPr id="3" name="직선 연결선[R] 2">
            <a:extLst>
              <a:ext uri="{FF2B5EF4-FFF2-40B4-BE49-F238E27FC236}">
                <a16:creationId xmlns:a16="http://schemas.microsoft.com/office/drawing/2014/main" id="{72D231B3-5994-4082-B622-95D52D58875E}"/>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80F44C4B-43D4-4945-AFDF-4D1784C71AC2}"/>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코드 해석</a:t>
            </a:r>
          </a:p>
        </p:txBody>
      </p:sp>
      <p:sp>
        <p:nvSpPr>
          <p:cNvPr id="5" name="모서리가 둥근 직사각형 4">
            <a:extLst>
              <a:ext uri="{FF2B5EF4-FFF2-40B4-BE49-F238E27FC236}">
                <a16:creationId xmlns:a16="http://schemas.microsoft.com/office/drawing/2014/main" id="{4F3FCCE8-995B-467D-AB25-E76EF88511B3}"/>
              </a:ext>
            </a:extLst>
          </p:cNvPr>
          <p:cNvSpPr>
            <a:spLocks noGrp="1"/>
          </p:cNvSpPr>
          <p:nvPr/>
        </p:nvSpPr>
        <p:spPr>
          <a:xfrm>
            <a:off x="523875" y="2143125"/>
            <a:ext cx="3429000" cy="2428875"/>
          </a:xfrm>
          <a:prstGeom prst="roundRect">
            <a:avLst>
              <a:gd name="adj" fmla="val 470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0C894896-BE0A-4180-A058-1597C78F10D9}"/>
              </a:ext>
            </a:extLst>
          </p:cNvPr>
          <p:cNvSpPr>
            <a:spLocks noGrp="1"/>
          </p:cNvSpPr>
          <p:nvPr/>
        </p:nvSpPr>
        <p:spPr>
          <a:xfrm>
            <a:off x="771525" y="2400300"/>
            <a:ext cx="2933700"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1 · 입력 확인</a:t>
            </a:r>
          </a:p>
        </p:txBody>
      </p:sp>
      <p:sp>
        <p:nvSpPr>
          <p:cNvPr id="7" name="직사각형 6">
            <a:extLst>
              <a:ext uri="{FF2B5EF4-FFF2-40B4-BE49-F238E27FC236}">
                <a16:creationId xmlns:a16="http://schemas.microsoft.com/office/drawing/2014/main" id="{9DC2A79C-C8ED-4AF4-A137-7CAC9307F5E3}"/>
              </a:ext>
            </a:extLst>
          </p:cNvPr>
          <p:cNvSpPr>
            <a:spLocks noGrp="1"/>
          </p:cNvSpPr>
          <p:nvPr/>
        </p:nvSpPr>
        <p:spPr>
          <a:xfrm>
            <a:off x="77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batch_files는 Path 25개 list입니다.</a:t>
            </a:r>
          </a:p>
        </p:txBody>
      </p:sp>
      <p:sp>
        <p:nvSpPr>
          <p:cNvPr id="8" name="직선 연결선[R] 7">
            <a:extLst>
              <a:ext uri="{FF2B5EF4-FFF2-40B4-BE49-F238E27FC236}">
                <a16:creationId xmlns:a16="http://schemas.microsoft.com/office/drawing/2014/main" id="{7010C2E6-CF6D-4E7E-B868-E0D2992E4842}"/>
              </a:ext>
            </a:extLst>
          </p:cNvPr>
          <p:cNvSpPr>
            <a:spLocks noGrp="1"/>
          </p:cNvSpPr>
          <p:nvPr/>
        </p:nvSpPr>
        <p:spPr>
          <a:xfrm>
            <a:off x="4000500" y="3333750"/>
            <a:ext cx="285750" cy="0"/>
          </a:xfrm>
          <a:prstGeom prst="line">
            <a:avLst/>
          </a:prstGeom>
          <a:noFill/>
          <a:ln w="28575">
            <a:solidFill>
              <a:srgbClr val="2F7DF4"/>
            </a:solidFill>
          </a:ln>
        </p:spPr>
        <p:txBody>
          <a:bodyPr/>
          <a:lstStyle/>
          <a:p>
            <a:endParaRPr lang="ko-KR" altLang="en-US"/>
          </a:p>
        </p:txBody>
      </p:sp>
      <p:sp>
        <p:nvSpPr>
          <p:cNvPr id="9" name="모서리가 둥근 직사각형 8">
            <a:extLst>
              <a:ext uri="{FF2B5EF4-FFF2-40B4-BE49-F238E27FC236}">
                <a16:creationId xmlns:a16="http://schemas.microsoft.com/office/drawing/2014/main" id="{3B3C7F04-EF89-414C-8829-30B7F0593A70}"/>
              </a:ext>
            </a:extLst>
          </p:cNvPr>
          <p:cNvSpPr>
            <a:spLocks noGrp="1"/>
          </p:cNvSpPr>
          <p:nvPr/>
        </p:nvSpPr>
        <p:spPr>
          <a:xfrm>
            <a:off x="4333875" y="2143125"/>
            <a:ext cx="3429000" cy="2428875"/>
          </a:xfrm>
          <a:prstGeom prst="roundRect">
            <a:avLst>
              <a:gd name="adj" fmla="val 4706"/>
            </a:avLst>
          </a:prstGeom>
          <a:solidFill>
            <a:srgbClr val="F5F7FA"/>
          </a:solid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AA68DB10-359D-49B2-A051-D6E5CA66B160}"/>
              </a:ext>
            </a:extLst>
          </p:cNvPr>
          <p:cNvSpPr>
            <a:spLocks noGrp="1"/>
          </p:cNvSpPr>
          <p:nvPr/>
        </p:nvSpPr>
        <p:spPr>
          <a:xfrm>
            <a:off x="4581525" y="2400300"/>
            <a:ext cx="2933700"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2 · 기능 적용</a:t>
            </a:r>
          </a:p>
        </p:txBody>
      </p:sp>
      <p:sp>
        <p:nvSpPr>
          <p:cNvPr id="11" name="직사각형 10">
            <a:extLst>
              <a:ext uri="{FF2B5EF4-FFF2-40B4-BE49-F238E27FC236}">
                <a16:creationId xmlns:a16="http://schemas.microsoft.com/office/drawing/2014/main" id="{4EE913FA-6256-4450-B5D4-C7D4D1AB52F4}"/>
              </a:ext>
            </a:extLst>
          </p:cNvPr>
          <p:cNvSpPr>
            <a:spLocks noGrp="1"/>
          </p:cNvSpPr>
          <p:nvPr/>
        </p:nvSpPr>
        <p:spPr>
          <a:xfrm>
            <a:off x="458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정렬은 이후 결과와 오류 재현 순서를 고정합니다.</a:t>
            </a:r>
          </a:p>
        </p:txBody>
      </p:sp>
      <p:sp>
        <p:nvSpPr>
          <p:cNvPr id="12" name="직선 연결선[R] 11">
            <a:extLst>
              <a:ext uri="{FF2B5EF4-FFF2-40B4-BE49-F238E27FC236}">
                <a16:creationId xmlns:a16="http://schemas.microsoft.com/office/drawing/2014/main" id="{8593F763-40B1-4FEA-8FBE-32E552560004}"/>
              </a:ext>
            </a:extLst>
          </p:cNvPr>
          <p:cNvSpPr>
            <a:spLocks noGrp="1"/>
          </p:cNvSpPr>
          <p:nvPr/>
        </p:nvSpPr>
        <p:spPr>
          <a:xfrm>
            <a:off x="7810500" y="3333750"/>
            <a:ext cx="285750" cy="0"/>
          </a:xfrm>
          <a:prstGeom prst="line">
            <a:avLst/>
          </a:prstGeom>
          <a:noFill/>
          <a:ln w="28575">
            <a:solidFill>
              <a:srgbClr val="2F7DF4"/>
            </a:solidFill>
          </a:ln>
        </p:spPr>
        <p:txBody>
          <a:bodyPr/>
          <a:lstStyle/>
          <a:p>
            <a:endParaRPr lang="ko-KR" altLang="en-US"/>
          </a:p>
        </p:txBody>
      </p:sp>
      <p:sp>
        <p:nvSpPr>
          <p:cNvPr id="13" name="모서리가 둥근 직사각형 12">
            <a:extLst>
              <a:ext uri="{FF2B5EF4-FFF2-40B4-BE49-F238E27FC236}">
                <a16:creationId xmlns:a16="http://schemas.microsoft.com/office/drawing/2014/main" id="{5D6A9F2C-9303-4C18-B482-EEB0448E9B0D}"/>
              </a:ext>
            </a:extLst>
          </p:cNvPr>
          <p:cNvSpPr>
            <a:spLocks noGrp="1"/>
          </p:cNvSpPr>
          <p:nvPr/>
        </p:nvSpPr>
        <p:spPr>
          <a:xfrm>
            <a:off x="8143875" y="2143125"/>
            <a:ext cx="3429000" cy="2428875"/>
          </a:xfrm>
          <a:prstGeom prst="roundRect">
            <a:avLst>
              <a:gd name="adj" fmla="val 4706"/>
            </a:avLst>
          </a:prstGeom>
          <a:solidFill>
            <a:srgbClr val="EAF7F0"/>
          </a:solidFill>
          <a:ln w="9525">
            <a:solidFill>
              <a:srgbClr val="18794E"/>
            </a:solidFill>
          </a:ln>
        </p:spPr>
        <p:txBody>
          <a:bodyPr/>
          <a:lstStyle/>
          <a:p>
            <a:endParaRPr lang="ko-KR" altLang="en-US"/>
          </a:p>
        </p:txBody>
      </p:sp>
      <p:sp>
        <p:nvSpPr>
          <p:cNvPr id="14" name="직사각형 13">
            <a:extLst>
              <a:ext uri="{FF2B5EF4-FFF2-40B4-BE49-F238E27FC236}">
                <a16:creationId xmlns:a16="http://schemas.microsoft.com/office/drawing/2014/main" id="{E8C0E65B-9AA2-4200-A770-6C938BAFF446}"/>
              </a:ext>
            </a:extLst>
          </p:cNvPr>
          <p:cNvSpPr>
            <a:spLocks noGrp="1"/>
          </p:cNvSpPr>
          <p:nvPr/>
        </p:nvSpPr>
        <p:spPr>
          <a:xfrm>
            <a:off x="8391525" y="2400300"/>
            <a:ext cx="2933700" cy="323850"/>
          </a:xfrm>
          <a:prstGeom prst="rect">
            <a:avLst/>
          </a:prstGeom>
          <a:noFill/>
          <a:ln w="0">
            <a:noFill/>
          </a:ln>
        </p:spPr>
        <p:txBody>
          <a:bodyPr lIns="0" tIns="0" rIns="0" bIns="0" anchor="t">
            <a:normAutofit/>
          </a:bodyPr>
          <a:lstStyle/>
          <a:p>
            <a:pPr algn="l">
              <a:defRPr sz="1500" b="1">
                <a:solidFill>
                  <a:srgbClr val="18794E"/>
                </a:solidFill>
                <a:latin typeface="Apple SD Gothic Neo"/>
                <a:ea typeface="Apple SD Gothic Neo"/>
                <a:cs typeface="Apple SD Gothic Neo"/>
              </a:defRPr>
            </a:pPr>
            <a:r>
              <a:rPr sz="1500" b="1">
                <a:solidFill>
                  <a:srgbClr val="18794E"/>
                </a:solidFill>
                <a:latin typeface="Apple SD Gothic Neo"/>
                <a:ea typeface="Apple SD Gothic Neo"/>
                <a:cs typeface="Apple SD Gothic Neo"/>
              </a:rPr>
              <a:t>3 · 결과 확인</a:t>
            </a:r>
          </a:p>
        </p:txBody>
      </p:sp>
      <p:sp>
        <p:nvSpPr>
          <p:cNvPr id="15" name="직사각형 14">
            <a:extLst>
              <a:ext uri="{FF2B5EF4-FFF2-40B4-BE49-F238E27FC236}">
                <a16:creationId xmlns:a16="http://schemas.microsoft.com/office/drawing/2014/main" id="{61AC46F7-3A3B-4310-B136-D4741E364D20}"/>
              </a:ext>
            </a:extLst>
          </p:cNvPr>
          <p:cNvSpPr>
            <a:spLocks noGrp="1"/>
          </p:cNvSpPr>
          <p:nvPr/>
        </p:nvSpPr>
        <p:spPr>
          <a:xfrm>
            <a:off x="839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activity_batch_01.csv activity_batch_25.csv</a:t>
            </a:r>
          </a:p>
        </p:txBody>
      </p:sp>
      <p:sp>
        <p:nvSpPr>
          <p:cNvPr id="16" name="모서리가 둥근 직사각형 15">
            <a:extLst>
              <a:ext uri="{FF2B5EF4-FFF2-40B4-BE49-F238E27FC236}">
                <a16:creationId xmlns:a16="http://schemas.microsoft.com/office/drawing/2014/main" id="{02B768D1-B8CC-4626-A5C5-FD99489CB734}"/>
              </a:ext>
            </a:extLst>
          </p:cNvPr>
          <p:cNvSpPr>
            <a:spLocks noGrp="1"/>
          </p:cNvSpPr>
          <p:nvPr/>
        </p:nvSpPr>
        <p:spPr>
          <a:xfrm>
            <a:off x="1143000" y="5048250"/>
            <a:ext cx="9906000" cy="590550"/>
          </a:xfrm>
          <a:prstGeom prst="roundRect">
            <a:avLst>
              <a:gd name="adj" fmla="val 19355"/>
            </a:avLst>
          </a:prstGeom>
          <a:solidFill>
            <a:srgbClr val="EAF3FF"/>
          </a:solidFill>
          <a:ln w="0">
            <a:noFill/>
          </a:ln>
        </p:spPr>
        <p:txBody>
          <a:bodyPr/>
          <a:lstStyle/>
          <a:p>
            <a:endParaRPr lang="ko-KR" altLang="en-US"/>
          </a:p>
        </p:txBody>
      </p:sp>
      <p:sp>
        <p:nvSpPr>
          <p:cNvPr id="17" name="직사각형 16">
            <a:extLst>
              <a:ext uri="{FF2B5EF4-FFF2-40B4-BE49-F238E27FC236}">
                <a16:creationId xmlns:a16="http://schemas.microsoft.com/office/drawing/2014/main" id="{14713F21-6829-4B00-951B-4D69E0D3B947}"/>
              </a:ext>
            </a:extLst>
          </p:cNvPr>
          <p:cNvSpPr>
            <a:spLocks noGrp="1"/>
          </p:cNvSpPr>
          <p:nvPr/>
        </p:nvSpPr>
        <p:spPr>
          <a:xfrm>
            <a:off x="1428750" y="5219700"/>
            <a:ext cx="9334500" cy="285750"/>
          </a:xfrm>
          <a:prstGeom prst="rect">
            <a:avLst/>
          </a:prstGeom>
          <a:noFill/>
          <a:ln w="0">
            <a:noFill/>
          </a:ln>
        </p:spPr>
        <p:txBody>
          <a:bodyPr lIns="0" tIns="0" rIns="0" bIns="0" anchor="t">
            <a:normAutofit/>
          </a:bodyPr>
          <a:lstStyle/>
          <a:p>
            <a:pPr algn="ctr">
              <a:defRPr sz="1575" b="1">
                <a:solidFill>
                  <a:srgbClr val="17324D"/>
                </a:solidFill>
                <a:latin typeface="Apple SD Gothic Neo"/>
                <a:ea typeface="Apple SD Gothic Neo"/>
                <a:cs typeface="Apple SD Gothic Neo"/>
              </a:defRPr>
            </a:pPr>
            <a:r>
              <a:rPr sz="1575" b="1">
                <a:solidFill>
                  <a:srgbClr val="17324D"/>
                </a:solidFill>
                <a:latin typeface="Apple SD Gothic Neo"/>
                <a:ea typeface="Apple SD Gothic Neo"/>
                <a:cs typeface="Apple SD Gothic Neo"/>
              </a:rPr>
              <a:t>정상 결과 · activity_batch_01.csv activity_batch_25.csv</a:t>
            </a:r>
          </a:p>
        </p:txBody>
      </p:sp>
      <p:sp>
        <p:nvSpPr>
          <p:cNvPr id="18" name="직선 연결선[R] 17">
            <a:extLst>
              <a:ext uri="{FF2B5EF4-FFF2-40B4-BE49-F238E27FC236}">
                <a16:creationId xmlns:a16="http://schemas.microsoft.com/office/drawing/2014/main" id="{CCBD0C3A-CE15-4831-931E-5C0FF4497CC0}"/>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9" name="직사각형 18">
            <a:extLst>
              <a:ext uri="{FF2B5EF4-FFF2-40B4-BE49-F238E27FC236}">
                <a16:creationId xmlns:a16="http://schemas.microsoft.com/office/drawing/2014/main" id="{C4508817-3F3E-4B6F-9020-BDAB9236CC83}"/>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소괄호 안에 들어가는 값, 실행되는 기능과 등호 왼쪽에 저장되는 결과를 차례로 읽습니다.</a:t>
            </a:r>
          </a:p>
        </p:txBody>
      </p:sp>
      <p:sp>
        <p:nvSpPr>
          <p:cNvPr id="20" name="직사각형 19">
            <a:extLst>
              <a:ext uri="{FF2B5EF4-FFF2-40B4-BE49-F238E27FC236}">
                <a16:creationId xmlns:a16="http://schemas.microsoft.com/office/drawing/2014/main" id="{EDE6759C-E1E3-4659-BBA9-F509A2A8F704}"/>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08</a:t>
            </a:r>
          </a:p>
        </p:txBody>
      </p:sp>
    </p:spTree>
    <p:extLst>
      <p:ext uri="{BB962C8B-B14F-4D97-AF65-F5344CB8AC3E}">
        <p14:creationId xmlns:p14="http://schemas.microsoft.com/office/powerpoint/2010/main" val="1137249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5393C508-574F-471C-A828-643720B7BBEC}"/>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6011D745-2DA6-40E3-BAEA-40FA773E8DF8}"/>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01번과 25번이 나오면 어떤 범위를 찾은 걸까요?</a:t>
            </a:r>
          </a:p>
        </p:txBody>
      </p:sp>
      <p:sp>
        <p:nvSpPr>
          <p:cNvPr id="3" name="직선 연결선[R] 2">
            <a:extLst>
              <a:ext uri="{FF2B5EF4-FFF2-40B4-BE49-F238E27FC236}">
                <a16:creationId xmlns:a16="http://schemas.microsoft.com/office/drawing/2014/main" id="{8AF850B4-BB40-4EF8-918B-37D28E8F4179}"/>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B98773A9-2CEF-4F6D-9AF3-8E089B07F286}"/>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결과와 복구</a:t>
            </a:r>
          </a:p>
        </p:txBody>
      </p:sp>
      <p:sp>
        <p:nvSpPr>
          <p:cNvPr id="5" name="모서리가 둥근 직사각형 4">
            <a:extLst>
              <a:ext uri="{FF2B5EF4-FFF2-40B4-BE49-F238E27FC236}">
                <a16:creationId xmlns:a16="http://schemas.microsoft.com/office/drawing/2014/main" id="{DDDC5988-2ACC-43C0-BF93-EFCBB2D58300}"/>
              </a:ext>
            </a:extLst>
          </p:cNvPr>
          <p:cNvSpPr>
            <a:spLocks noGrp="1"/>
          </p:cNvSpPr>
          <p:nvPr/>
        </p:nvSpPr>
        <p:spPr>
          <a:xfrm>
            <a:off x="666750" y="1952625"/>
            <a:ext cx="5095875" cy="2524125"/>
          </a:xfrm>
          <a:prstGeom prst="roundRect">
            <a:avLst>
              <a:gd name="adj" fmla="val 4528"/>
            </a:avLst>
          </a:prstGeom>
          <a:solidFill>
            <a:srgbClr val="EAF7F0"/>
          </a:solidFill>
          <a:ln w="9525">
            <a:solidFill>
              <a:srgbClr val="18794E"/>
            </a:solidFill>
          </a:ln>
        </p:spPr>
        <p:txBody>
          <a:bodyPr/>
          <a:lstStyle/>
          <a:p>
            <a:endParaRPr lang="ko-KR" altLang="en-US"/>
          </a:p>
        </p:txBody>
      </p:sp>
      <p:sp>
        <p:nvSpPr>
          <p:cNvPr id="6" name="직사각형 5">
            <a:extLst>
              <a:ext uri="{FF2B5EF4-FFF2-40B4-BE49-F238E27FC236}">
                <a16:creationId xmlns:a16="http://schemas.microsoft.com/office/drawing/2014/main" id="{A1A4A223-0A0E-49A6-8DD2-C5DCE3907B0A}"/>
              </a:ext>
            </a:extLst>
          </p:cNvPr>
          <p:cNvSpPr>
            <a:spLocks noGrp="1"/>
          </p:cNvSpPr>
          <p:nvPr/>
        </p:nvSpPr>
        <p:spPr>
          <a:xfrm>
            <a:off x="1000125" y="2266950"/>
            <a:ext cx="4429125" cy="323850"/>
          </a:xfrm>
          <a:prstGeom prst="rect">
            <a:avLst/>
          </a:prstGeom>
          <a:noFill/>
          <a:ln w="0">
            <a:noFill/>
          </a:ln>
        </p:spPr>
        <p:txBody>
          <a:bodyPr lIns="0" tIns="0" rIns="0" bIns="0" anchor="t">
            <a:normAutofit/>
          </a:bodyPr>
          <a:lstStyle/>
          <a:p>
            <a:pPr algn="l">
              <a:defRPr sz="1650" b="1">
                <a:solidFill>
                  <a:srgbClr val="18794E"/>
                </a:solidFill>
                <a:latin typeface="Apple SD Gothic Neo"/>
                <a:ea typeface="Apple SD Gothic Neo"/>
                <a:cs typeface="Apple SD Gothic Neo"/>
              </a:defRPr>
            </a:pPr>
            <a:r>
              <a:rPr sz="1650" b="1">
                <a:solidFill>
                  <a:srgbClr val="18794E"/>
                </a:solidFill>
                <a:latin typeface="Apple SD Gothic Neo"/>
                <a:ea typeface="Apple SD Gothic Neo"/>
                <a:cs typeface="Apple SD Gothic Neo"/>
              </a:rPr>
              <a:t>정상이라면</a:t>
            </a:r>
          </a:p>
        </p:txBody>
      </p:sp>
      <p:sp>
        <p:nvSpPr>
          <p:cNvPr id="7" name="직사각형 6">
            <a:extLst>
              <a:ext uri="{FF2B5EF4-FFF2-40B4-BE49-F238E27FC236}">
                <a16:creationId xmlns:a16="http://schemas.microsoft.com/office/drawing/2014/main" id="{6072CB08-A105-43F6-94E5-B44F715780F9}"/>
              </a:ext>
            </a:extLst>
          </p:cNvPr>
          <p:cNvSpPr>
            <a:spLocks noGrp="1"/>
          </p:cNvSpPr>
          <p:nvPr/>
        </p:nvSpPr>
        <p:spPr>
          <a:xfrm>
            <a:off x="1000125" y="2905125"/>
            <a:ext cx="4429125" cy="1000125"/>
          </a:xfrm>
          <a:prstGeom prst="rect">
            <a:avLst/>
          </a:prstGeom>
          <a:noFill/>
          <a:ln w="0">
            <a:noFill/>
          </a:ln>
        </p:spPr>
        <p:txBody>
          <a:bodyPr lIns="0" tIns="0" rIns="0" bIns="0" anchor="t">
            <a:normAutofit/>
          </a:bodyPr>
          <a:lstStyle/>
          <a:p>
            <a:pPr algn="ctr">
              <a:defRPr sz="2175" b="1">
                <a:solidFill>
                  <a:srgbClr val="17202A"/>
                </a:solidFill>
                <a:latin typeface="Apple SD Gothic Neo"/>
                <a:ea typeface="Apple SD Gothic Neo"/>
                <a:cs typeface="Apple SD Gothic Neo"/>
              </a:defRPr>
            </a:pPr>
            <a:r>
              <a:rPr sz="2175" b="1">
                <a:solidFill>
                  <a:srgbClr val="17202A"/>
                </a:solidFill>
                <a:latin typeface="Apple SD Gothic Neo"/>
                <a:ea typeface="Apple SD Gothic Neo"/>
                <a:cs typeface="Apple SD Gothic Neo"/>
              </a:rPr>
              <a:t>activity_batch_01.csv activity_batch_25.csv</a:t>
            </a:r>
          </a:p>
        </p:txBody>
      </p:sp>
      <p:sp>
        <p:nvSpPr>
          <p:cNvPr id="8" name="모서리가 둥근 직사각형 7">
            <a:extLst>
              <a:ext uri="{FF2B5EF4-FFF2-40B4-BE49-F238E27FC236}">
                <a16:creationId xmlns:a16="http://schemas.microsoft.com/office/drawing/2014/main" id="{4EE74348-1D71-4D9A-8AF3-B52D7518F89F}"/>
              </a:ext>
            </a:extLst>
          </p:cNvPr>
          <p:cNvSpPr>
            <a:spLocks noGrp="1"/>
          </p:cNvSpPr>
          <p:nvPr/>
        </p:nvSpPr>
        <p:spPr>
          <a:xfrm>
            <a:off x="6429375" y="1952625"/>
            <a:ext cx="5095875" cy="2524125"/>
          </a:xfrm>
          <a:prstGeom prst="roundRect">
            <a:avLst>
              <a:gd name="adj" fmla="val 4528"/>
            </a:avLst>
          </a:prstGeom>
          <a:solidFill>
            <a:srgbClr val="FFF0EE"/>
          </a:solidFill>
          <a:ln w="9525">
            <a:solidFill>
              <a:srgbClr val="B42318"/>
            </a:solidFill>
          </a:ln>
        </p:spPr>
        <p:txBody>
          <a:bodyPr/>
          <a:lstStyle/>
          <a:p>
            <a:endParaRPr lang="ko-KR" altLang="en-US"/>
          </a:p>
        </p:txBody>
      </p:sp>
      <p:sp>
        <p:nvSpPr>
          <p:cNvPr id="9" name="직사각형 8">
            <a:extLst>
              <a:ext uri="{FF2B5EF4-FFF2-40B4-BE49-F238E27FC236}">
                <a16:creationId xmlns:a16="http://schemas.microsoft.com/office/drawing/2014/main" id="{E195BA08-9F9C-408B-A54E-2C42FF8B233F}"/>
              </a:ext>
            </a:extLst>
          </p:cNvPr>
          <p:cNvSpPr>
            <a:spLocks noGrp="1"/>
          </p:cNvSpPr>
          <p:nvPr/>
        </p:nvSpPr>
        <p:spPr>
          <a:xfrm>
            <a:off x="6762750" y="2266950"/>
            <a:ext cx="4429125" cy="323850"/>
          </a:xfrm>
          <a:prstGeom prst="rect">
            <a:avLst/>
          </a:prstGeom>
          <a:noFill/>
          <a:ln w="0">
            <a:noFill/>
          </a:ln>
        </p:spPr>
        <p:txBody>
          <a:bodyPr lIns="0" tIns="0" rIns="0" bIns="0" anchor="t">
            <a:normAutofit/>
          </a:bodyPr>
          <a:lstStyle/>
          <a:p>
            <a:pPr algn="l">
              <a:defRPr sz="1650" b="1">
                <a:solidFill>
                  <a:srgbClr val="B42318"/>
                </a:solidFill>
                <a:latin typeface="Apple SD Gothic Neo"/>
                <a:ea typeface="Apple SD Gothic Neo"/>
                <a:cs typeface="Apple SD Gothic Neo"/>
              </a:defRPr>
            </a:pPr>
            <a:r>
              <a:rPr sz="1650" b="1">
                <a:solidFill>
                  <a:srgbClr val="B42318"/>
                </a:solidFill>
                <a:latin typeface="Apple SD Gothic Neo"/>
                <a:ea typeface="Apple SD Gothic Neo"/>
                <a:cs typeface="Apple SD Gothic Neo"/>
              </a:rPr>
              <a:t>막혔다면</a:t>
            </a:r>
          </a:p>
        </p:txBody>
      </p:sp>
      <p:sp>
        <p:nvSpPr>
          <p:cNvPr id="10" name="직사각형 9">
            <a:extLst>
              <a:ext uri="{FF2B5EF4-FFF2-40B4-BE49-F238E27FC236}">
                <a16:creationId xmlns:a16="http://schemas.microsoft.com/office/drawing/2014/main" id="{C0F85762-3F8A-4185-B07C-159E895CA4C6}"/>
              </a:ext>
            </a:extLst>
          </p:cNvPr>
          <p:cNvSpPr>
            <a:spLocks noGrp="1"/>
          </p:cNvSpPr>
          <p:nvPr/>
        </p:nvSpPr>
        <p:spPr>
          <a:xfrm>
            <a:off x="6762750" y="2838450"/>
            <a:ext cx="4429125" cy="1095375"/>
          </a:xfrm>
          <a:prstGeom prst="rect">
            <a:avLst/>
          </a:prstGeom>
          <a:noFill/>
          <a:ln w="0">
            <a:noFill/>
          </a:ln>
        </p:spPr>
        <p:txBody>
          <a:bodyPr lIns="0" tIns="0" rIns="0" bIns="0" anchor="t">
            <a:normAutofit/>
          </a:bodyPr>
          <a:lstStyle/>
          <a:p>
            <a:pPr algn="ctr">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폴더·패턴·첫 파일·마지막 파일을 차례로 출력합니다.</a:t>
            </a:r>
          </a:p>
        </p:txBody>
      </p:sp>
      <p:sp>
        <p:nvSpPr>
          <p:cNvPr id="11" name="모서리가 둥근 직사각형 10">
            <a:extLst>
              <a:ext uri="{FF2B5EF4-FFF2-40B4-BE49-F238E27FC236}">
                <a16:creationId xmlns:a16="http://schemas.microsoft.com/office/drawing/2014/main" id="{B5E7576E-AC84-4877-B7E9-5A4B04E47FE0}"/>
              </a:ext>
            </a:extLst>
          </p:cNvPr>
          <p:cNvSpPr>
            <a:spLocks noGrp="1"/>
          </p:cNvSpPr>
          <p:nvPr/>
        </p:nvSpPr>
        <p:spPr>
          <a:xfrm>
            <a:off x="1524000" y="4905375"/>
            <a:ext cx="9144000" cy="628650"/>
          </a:xfrm>
          <a:prstGeom prst="roundRect">
            <a:avLst>
              <a:gd name="adj" fmla="val 18182"/>
            </a:avLst>
          </a:prstGeom>
          <a:solidFill>
            <a:srgbClr val="FFF5DF"/>
          </a:solidFill>
          <a:ln w="9525">
            <a:solidFill>
              <a:srgbClr val="9A5B13"/>
            </a:solidFill>
          </a:ln>
        </p:spPr>
        <p:txBody>
          <a:bodyPr/>
          <a:lstStyle/>
          <a:p>
            <a:endParaRPr lang="ko-KR" altLang="en-US"/>
          </a:p>
        </p:txBody>
      </p:sp>
      <p:sp>
        <p:nvSpPr>
          <p:cNvPr id="12" name="직사각형 11">
            <a:extLst>
              <a:ext uri="{FF2B5EF4-FFF2-40B4-BE49-F238E27FC236}">
                <a16:creationId xmlns:a16="http://schemas.microsoft.com/office/drawing/2014/main" id="{6D83E749-F969-4303-8356-839793D332A8}"/>
              </a:ext>
            </a:extLst>
          </p:cNvPr>
          <p:cNvSpPr>
            <a:spLocks noGrp="1"/>
          </p:cNvSpPr>
          <p:nvPr/>
        </p:nvSpPr>
        <p:spPr>
          <a:xfrm>
            <a:off x="1809750" y="5086350"/>
            <a:ext cx="8572500" cy="304800"/>
          </a:xfrm>
          <a:prstGeom prst="rect">
            <a:avLst/>
          </a:prstGeom>
          <a:noFill/>
          <a:ln w="0">
            <a:noFill/>
          </a:ln>
        </p:spPr>
        <p:txBody>
          <a:bodyPr lIns="0" tIns="0" rIns="0" bIns="0" anchor="t">
            <a:normAutofit/>
          </a:bodyPr>
          <a:lstStyle/>
          <a:p>
            <a:pPr algn="ctr">
              <a:defRPr sz="1425" b="1">
                <a:solidFill>
                  <a:srgbClr val="9A5B13"/>
                </a:solidFill>
                <a:latin typeface="Apple SD Gothic Neo"/>
                <a:ea typeface="Apple SD Gothic Neo"/>
                <a:cs typeface="Apple SD Gothic Neo"/>
              </a:defRPr>
            </a:pPr>
            <a:r>
              <a:rPr sz="1425" b="1">
                <a:solidFill>
                  <a:srgbClr val="9A5B13"/>
                </a:solidFill>
                <a:latin typeface="Apple SD Gothic Neo"/>
                <a:ea typeface="Apple SD Gothic Neo"/>
                <a:cs typeface="Apple SD Gothic Neo"/>
              </a:rPr>
              <a:t>자주 생기는 문제 · AssertionError</a:t>
            </a:r>
          </a:p>
        </p:txBody>
      </p:sp>
      <p:sp>
        <p:nvSpPr>
          <p:cNvPr id="13" name="직선 연결선[R] 12">
            <a:extLst>
              <a:ext uri="{FF2B5EF4-FFF2-40B4-BE49-F238E27FC236}">
                <a16:creationId xmlns:a16="http://schemas.microsoft.com/office/drawing/2014/main" id="{DEDFEDD0-E494-4E38-9391-F975FFF4CCBD}"/>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4" name="직사각형 13">
            <a:extLst>
              <a:ext uri="{FF2B5EF4-FFF2-40B4-BE49-F238E27FC236}">
                <a16:creationId xmlns:a16="http://schemas.microsoft.com/office/drawing/2014/main" id="{53F320E6-78CF-4050-9034-6CD9D300019E}"/>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정상 결과 activity_batch_01.csv activity_batch_25.csv이 무엇의 크기·개수·상태를 뜻하는지 말할 수 있어야 합니다.</a:t>
            </a:r>
          </a:p>
        </p:txBody>
      </p:sp>
      <p:sp>
        <p:nvSpPr>
          <p:cNvPr id="15" name="직사각형 14">
            <a:extLst>
              <a:ext uri="{FF2B5EF4-FFF2-40B4-BE49-F238E27FC236}">
                <a16:creationId xmlns:a16="http://schemas.microsoft.com/office/drawing/2014/main" id="{B1F5D1DD-5CC9-437B-9114-514F21A54BC5}"/>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09</a:t>
            </a:r>
          </a:p>
        </p:txBody>
      </p:sp>
    </p:spTree>
    <p:extLst>
      <p:ext uri="{BB962C8B-B14F-4D97-AF65-F5344CB8AC3E}">
        <p14:creationId xmlns:p14="http://schemas.microsoft.com/office/powerpoint/2010/main" val="697391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5EA9D05-D923-44E2-BEED-37534E51BDA6}"/>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642D5AF8-A587-4232-BB0D-0AEF4F03039A}"/>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Q2. 각 행에 출처를 남기며 CSV 25개를 30,000행으로 합칩니다</a:t>
            </a:r>
          </a:p>
        </p:txBody>
      </p:sp>
      <p:sp>
        <p:nvSpPr>
          <p:cNvPr id="3" name="직선 연결선[R] 2">
            <a:extLst>
              <a:ext uri="{FF2B5EF4-FFF2-40B4-BE49-F238E27FC236}">
                <a16:creationId xmlns:a16="http://schemas.microsoft.com/office/drawing/2014/main" id="{33F45CA8-E347-4566-AE47-33F34165DDCE}"/>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774B23BE-9D8D-48AE-8D4B-44CF0254119B}"/>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왜 필요한가</a:t>
            </a:r>
          </a:p>
        </p:txBody>
      </p:sp>
      <p:sp>
        <p:nvSpPr>
          <p:cNvPr id="5" name="직사각형 4">
            <a:extLst>
              <a:ext uri="{FF2B5EF4-FFF2-40B4-BE49-F238E27FC236}">
                <a16:creationId xmlns:a16="http://schemas.microsoft.com/office/drawing/2014/main" id="{B2810651-0342-42CE-84D1-A9C49284560D}"/>
              </a:ext>
            </a:extLst>
          </p:cNvPr>
          <p:cNvSpPr>
            <a:spLocks noGrp="1"/>
          </p:cNvSpPr>
          <p:nvPr/>
        </p:nvSpPr>
        <p:spPr>
          <a:xfrm>
            <a:off x="666750" y="1857375"/>
            <a:ext cx="10858500" cy="857250"/>
          </a:xfrm>
          <a:prstGeom prst="rect">
            <a:avLst/>
          </a:prstGeom>
          <a:noFill/>
          <a:ln w="0">
            <a:noFill/>
          </a:ln>
        </p:spPr>
        <p:txBody>
          <a:bodyPr lIns="0" tIns="0" rIns="0" bIns="0" anchor="t">
            <a:normAutofit/>
          </a:bodyPr>
          <a:lstStyle/>
          <a:p>
            <a:pPr algn="ctr">
              <a:defRPr sz="2775" b="1">
                <a:solidFill>
                  <a:srgbClr val="17324D"/>
                </a:solidFill>
                <a:latin typeface="Apple SD Gothic Neo"/>
                <a:ea typeface="Apple SD Gothic Neo"/>
                <a:cs typeface="Apple SD Gothic Neo"/>
              </a:defRPr>
            </a:pPr>
            <a:r>
              <a:rPr sz="2775" b="1">
                <a:solidFill>
                  <a:srgbClr val="17324D"/>
                </a:solidFill>
                <a:latin typeface="Apple SD Gothic Neo"/>
                <a:ea typeface="Apple SD Gothic Neo"/>
                <a:cs typeface="Apple SD Gothic Neo"/>
              </a:rPr>
              <a:t>합치기만 가능해도 source_file 열을 남겨야 하는 이유는 무엇일까요?</a:t>
            </a:r>
          </a:p>
        </p:txBody>
      </p:sp>
      <p:sp>
        <p:nvSpPr>
          <p:cNvPr id="6" name="모서리가 둥근 직사각형 5">
            <a:extLst>
              <a:ext uri="{FF2B5EF4-FFF2-40B4-BE49-F238E27FC236}">
                <a16:creationId xmlns:a16="http://schemas.microsoft.com/office/drawing/2014/main" id="{8FC8F7E9-BFDE-4097-8163-3D443AB63598}"/>
              </a:ext>
            </a:extLst>
          </p:cNvPr>
          <p:cNvSpPr>
            <a:spLocks noGrp="1"/>
          </p:cNvSpPr>
          <p:nvPr/>
        </p:nvSpPr>
        <p:spPr>
          <a:xfrm>
            <a:off x="1047750" y="3190875"/>
            <a:ext cx="10096500" cy="1428750"/>
          </a:xfrm>
          <a:prstGeom prst="roundRect">
            <a:avLst>
              <a:gd name="adj" fmla="val 8000"/>
            </a:avLst>
          </a:prstGeom>
          <a:solidFill>
            <a:srgbClr val="EAF3FF"/>
          </a:solidFill>
          <a:ln w="9525">
            <a:solidFill>
              <a:srgbClr val="2F7DF4"/>
            </a:solidFill>
          </a:ln>
        </p:spPr>
        <p:txBody>
          <a:bodyPr/>
          <a:lstStyle/>
          <a:p>
            <a:endParaRPr lang="ko-KR" altLang="en-US"/>
          </a:p>
        </p:txBody>
      </p:sp>
      <p:sp>
        <p:nvSpPr>
          <p:cNvPr id="7" name="직사각형 6">
            <a:extLst>
              <a:ext uri="{FF2B5EF4-FFF2-40B4-BE49-F238E27FC236}">
                <a16:creationId xmlns:a16="http://schemas.microsoft.com/office/drawing/2014/main" id="{A4FDAAA9-ACD3-415D-84AF-2512D9D07832}"/>
              </a:ext>
            </a:extLst>
          </p:cNvPr>
          <p:cNvSpPr>
            <a:spLocks noGrp="1"/>
          </p:cNvSpPr>
          <p:nvPr/>
        </p:nvSpPr>
        <p:spPr>
          <a:xfrm>
            <a:off x="1381125" y="3476625"/>
            <a:ext cx="2190750" cy="285750"/>
          </a:xfrm>
          <a:prstGeom prst="rect">
            <a:avLst/>
          </a:prstGeom>
          <a:noFill/>
          <a:ln w="0">
            <a:noFill/>
          </a:ln>
        </p:spPr>
        <p:txBody>
          <a:bodyPr lIns="0" tIns="0" rIns="0" bIns="0" anchor="t">
            <a:normAutofit/>
          </a:bodyPr>
          <a:lstStyle/>
          <a:p>
            <a:pPr algn="l">
              <a:defRPr sz="1425" b="1">
                <a:solidFill>
                  <a:srgbClr val="2F7DF4"/>
                </a:solidFill>
                <a:latin typeface="Apple SD Gothic Neo"/>
                <a:ea typeface="Apple SD Gothic Neo"/>
                <a:cs typeface="Apple SD Gothic Neo"/>
              </a:defRPr>
            </a:pPr>
            <a:r>
              <a:rPr sz="1425" b="1">
                <a:solidFill>
                  <a:srgbClr val="2F7DF4"/>
                </a:solidFill>
                <a:latin typeface="Apple SD Gothic Neo"/>
                <a:ea typeface="Apple SD Gothic Neo"/>
                <a:cs typeface="Apple SD Gothic Neo"/>
              </a:rPr>
              <a:t>이 일을 하는 이유</a:t>
            </a:r>
          </a:p>
        </p:txBody>
      </p:sp>
      <p:sp>
        <p:nvSpPr>
          <p:cNvPr id="8" name="직사각형 7">
            <a:extLst>
              <a:ext uri="{FF2B5EF4-FFF2-40B4-BE49-F238E27FC236}">
                <a16:creationId xmlns:a16="http://schemas.microsoft.com/office/drawing/2014/main" id="{2CD8800F-706E-4991-9F29-8177271A52EF}"/>
              </a:ext>
            </a:extLst>
          </p:cNvPr>
          <p:cNvSpPr>
            <a:spLocks noGrp="1"/>
          </p:cNvSpPr>
          <p:nvPr/>
        </p:nvSpPr>
        <p:spPr>
          <a:xfrm>
            <a:off x="3810000" y="3429000"/>
            <a:ext cx="6858000" cy="742950"/>
          </a:xfrm>
          <a:prstGeom prst="rect">
            <a:avLst/>
          </a:prstGeom>
          <a:noFill/>
          <a:ln w="0">
            <a:noFill/>
          </a:ln>
        </p:spPr>
        <p:txBody>
          <a:bodyPr lIns="0" tIns="0" rIns="0" bIns="0" anchor="t">
            <a:normAutofit/>
          </a:bodyPr>
          <a:lstStyle/>
          <a:p>
            <a:pPr algn="l">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여러 파일 결합과 추적 가능성을 동시에 완성합니다.</a:t>
            </a:r>
          </a:p>
        </p:txBody>
      </p:sp>
      <p:sp>
        <p:nvSpPr>
          <p:cNvPr id="9" name="직선 연결선[R] 8">
            <a:extLst>
              <a:ext uri="{FF2B5EF4-FFF2-40B4-BE49-F238E27FC236}">
                <a16:creationId xmlns:a16="http://schemas.microsoft.com/office/drawing/2014/main" id="{7F8F258A-E3A1-4792-B4F1-A521341397DC}"/>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666D7283-3025-4A75-92C8-AA1AAC590D90}"/>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여러 파일 결합과 추적 가능성을 동시에 완성합니다.</a:t>
            </a:r>
          </a:p>
        </p:txBody>
      </p:sp>
      <p:sp>
        <p:nvSpPr>
          <p:cNvPr id="11" name="직사각형 10">
            <a:extLst>
              <a:ext uri="{FF2B5EF4-FFF2-40B4-BE49-F238E27FC236}">
                <a16:creationId xmlns:a16="http://schemas.microsoft.com/office/drawing/2014/main" id="{DDF5DB2F-504A-4D9C-9D44-E9FBC24D4CBB}"/>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10</a:t>
            </a:r>
          </a:p>
        </p:txBody>
      </p:sp>
    </p:spTree>
    <p:extLst>
      <p:ext uri="{BB962C8B-B14F-4D97-AF65-F5344CB8AC3E}">
        <p14:creationId xmlns:p14="http://schemas.microsoft.com/office/powerpoint/2010/main" val="285433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7CC4C208-E897-4452-B2FC-773D870A10BF}"/>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080E6173-54C7-495A-BBC3-A535CB5AB825}"/>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반복할 때 one과 frames에는 각각 무엇이 들어갈까요?</a:t>
            </a:r>
          </a:p>
        </p:txBody>
      </p:sp>
      <p:sp>
        <p:nvSpPr>
          <p:cNvPr id="3" name="직선 연결선[R] 2">
            <a:extLst>
              <a:ext uri="{FF2B5EF4-FFF2-40B4-BE49-F238E27FC236}">
                <a16:creationId xmlns:a16="http://schemas.microsoft.com/office/drawing/2014/main" id="{6CA07BA9-F64F-41C6-BEF8-454255419C3C}"/>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699239B1-B106-44F6-B4CA-5F87AA674A2D}"/>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자료구조</a:t>
            </a:r>
          </a:p>
        </p:txBody>
      </p:sp>
      <p:sp>
        <p:nvSpPr>
          <p:cNvPr id="5" name="모서리가 둥근 직사각형 4">
            <a:extLst>
              <a:ext uri="{FF2B5EF4-FFF2-40B4-BE49-F238E27FC236}">
                <a16:creationId xmlns:a16="http://schemas.microsoft.com/office/drawing/2014/main" id="{C28C8812-E553-4247-B8AC-65437EE9E7CA}"/>
              </a:ext>
            </a:extLst>
          </p:cNvPr>
          <p:cNvSpPr>
            <a:spLocks noGrp="1"/>
          </p:cNvSpPr>
          <p:nvPr/>
        </p:nvSpPr>
        <p:spPr>
          <a:xfrm>
            <a:off x="704850" y="1952625"/>
            <a:ext cx="10782300" cy="1762125"/>
          </a:xfrm>
          <a:prstGeom prst="roundRect">
            <a:avLst>
              <a:gd name="adj" fmla="val 648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A24A32C5-DA48-43E0-A46F-5DAD81F075C3}"/>
              </a:ext>
            </a:extLst>
          </p:cNvPr>
          <p:cNvSpPr>
            <a:spLocks noGrp="1"/>
          </p:cNvSpPr>
          <p:nvPr/>
        </p:nvSpPr>
        <p:spPr>
          <a:xfrm>
            <a:off x="1047750" y="2362200"/>
            <a:ext cx="10096500" cy="952500"/>
          </a:xfrm>
          <a:prstGeom prst="rect">
            <a:avLst/>
          </a:prstGeom>
          <a:noFill/>
          <a:ln w="0">
            <a:noFill/>
          </a:ln>
        </p:spPr>
        <p:txBody>
          <a:bodyPr lIns="0" tIns="0" rIns="0" bIns="0" anchor="t">
            <a:normAutofit/>
          </a:bodyPr>
          <a:lstStyle/>
          <a:p>
            <a:pPr algn="ctr">
              <a:defRPr sz="2175" b="1">
                <a:solidFill>
                  <a:srgbClr val="17202A"/>
                </a:solidFill>
                <a:latin typeface="Apple SD Gothic Neo"/>
                <a:ea typeface="Apple SD Gothic Neo"/>
                <a:cs typeface="Apple SD Gothic Neo"/>
              </a:defRPr>
            </a:pPr>
            <a:r>
              <a:rPr sz="2175" b="1">
                <a:solidFill>
                  <a:srgbClr val="17202A"/>
                </a:solidFill>
                <a:latin typeface="Apple SD Gothic Neo"/>
                <a:ea typeface="Apple SD Gothic Neo"/>
                <a:cs typeface="Apple SD Gothic Neo"/>
              </a:rPr>
              <a:t>activity는 30,000행×10열 DataFrame입니다.</a:t>
            </a:r>
          </a:p>
        </p:txBody>
      </p:sp>
      <p:sp>
        <p:nvSpPr>
          <p:cNvPr id="7" name="모서리가 둥근 직사각형 6">
            <a:extLst>
              <a:ext uri="{FF2B5EF4-FFF2-40B4-BE49-F238E27FC236}">
                <a16:creationId xmlns:a16="http://schemas.microsoft.com/office/drawing/2014/main" id="{A5A7C73E-1950-4BF4-99E8-7128A521FA85}"/>
              </a:ext>
            </a:extLst>
          </p:cNvPr>
          <p:cNvSpPr>
            <a:spLocks noGrp="1"/>
          </p:cNvSpPr>
          <p:nvPr/>
        </p:nvSpPr>
        <p:spPr>
          <a:xfrm>
            <a:off x="2047875" y="4286250"/>
            <a:ext cx="2095500" cy="904875"/>
          </a:xfrm>
          <a:prstGeom prst="roundRect">
            <a:avLst>
              <a:gd name="adj" fmla="val 12632"/>
            </a:avLst>
          </a:prstGeom>
          <a:solidFill>
            <a:srgbClr val="EAF3FF"/>
          </a:solidFill>
          <a:ln w="9525">
            <a:solidFill>
              <a:srgbClr val="2F7DF4"/>
            </a:solidFill>
          </a:ln>
        </p:spPr>
        <p:txBody>
          <a:bodyPr/>
          <a:lstStyle/>
          <a:p>
            <a:endParaRPr lang="ko-KR" altLang="en-US"/>
          </a:p>
        </p:txBody>
      </p:sp>
      <p:sp>
        <p:nvSpPr>
          <p:cNvPr id="8" name="직사각형 7">
            <a:extLst>
              <a:ext uri="{FF2B5EF4-FFF2-40B4-BE49-F238E27FC236}">
                <a16:creationId xmlns:a16="http://schemas.microsoft.com/office/drawing/2014/main" id="{AB96ECB1-CAAA-485C-84A5-FF5A1F93DD7E}"/>
              </a:ext>
            </a:extLst>
          </p:cNvPr>
          <p:cNvSpPr>
            <a:spLocks noGrp="1"/>
          </p:cNvSpPr>
          <p:nvPr/>
        </p:nvSpPr>
        <p:spPr>
          <a:xfrm>
            <a:off x="2143125" y="4429125"/>
            <a:ext cx="1905000" cy="619125"/>
          </a:xfrm>
          <a:prstGeom prst="rect">
            <a:avLst/>
          </a:prstGeom>
          <a:noFill/>
          <a:ln w="0">
            <a:noFill/>
          </a:ln>
        </p:spPr>
        <p:txBody>
          <a:bodyPr lIns="0" tIns="0" rIns="0" bIns="0" anchor="t">
            <a:normAutofit/>
          </a:bodyPr>
          <a:lstStyle/>
          <a:p>
            <a:pPr algn="ctr">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Path 25개와 빈 frames</a:t>
            </a:r>
          </a:p>
        </p:txBody>
      </p:sp>
      <p:sp>
        <p:nvSpPr>
          <p:cNvPr id="9" name="직선 연결선[R] 8">
            <a:extLst>
              <a:ext uri="{FF2B5EF4-FFF2-40B4-BE49-F238E27FC236}">
                <a16:creationId xmlns:a16="http://schemas.microsoft.com/office/drawing/2014/main" id="{198E6E72-AD99-46DE-B819-BCB7EB62E85E}"/>
              </a:ext>
            </a:extLst>
          </p:cNvPr>
          <p:cNvSpPr>
            <a:spLocks noGrp="1"/>
          </p:cNvSpPr>
          <p:nvPr/>
        </p:nvSpPr>
        <p:spPr>
          <a:xfrm>
            <a:off x="4191000" y="4733925"/>
            <a:ext cx="857250" cy="0"/>
          </a:xfrm>
          <a:prstGeom prst="line">
            <a:avLst/>
          </a:prstGeom>
          <a:noFill/>
          <a:ln w="28575">
            <a:solidFill>
              <a:srgbClr val="2F7DF4"/>
            </a:solidFill>
          </a:ln>
        </p:spPr>
        <p:txBody>
          <a:bodyPr/>
          <a:lstStyle/>
          <a:p>
            <a:endParaRPr lang="ko-KR" altLang="en-US"/>
          </a:p>
        </p:txBody>
      </p:sp>
      <p:sp>
        <p:nvSpPr>
          <p:cNvPr id="10" name="모서리가 둥근 직사각형 9">
            <a:extLst>
              <a:ext uri="{FF2B5EF4-FFF2-40B4-BE49-F238E27FC236}">
                <a16:creationId xmlns:a16="http://schemas.microsoft.com/office/drawing/2014/main" id="{59CD3261-EFB2-43B8-AD4A-D5D3F84D154E}"/>
              </a:ext>
            </a:extLst>
          </p:cNvPr>
          <p:cNvSpPr>
            <a:spLocks noGrp="1"/>
          </p:cNvSpPr>
          <p:nvPr/>
        </p:nvSpPr>
        <p:spPr>
          <a:xfrm>
            <a:off x="5191125" y="4286250"/>
            <a:ext cx="2095500" cy="904875"/>
          </a:xfrm>
          <a:prstGeom prst="roundRect">
            <a:avLst>
              <a:gd name="adj" fmla="val 12632"/>
            </a:avLst>
          </a:prstGeom>
          <a:solidFill>
            <a:srgbClr val="EAF3FF"/>
          </a:solidFill>
          <a:ln w="9525">
            <a:solidFill>
              <a:srgbClr val="2F7DF4"/>
            </a:solidFill>
          </a:ln>
        </p:spPr>
        <p:txBody>
          <a:bodyPr/>
          <a:lstStyle/>
          <a:p>
            <a:endParaRPr lang="ko-KR" altLang="en-US"/>
          </a:p>
        </p:txBody>
      </p:sp>
      <p:sp>
        <p:nvSpPr>
          <p:cNvPr id="11" name="직사각형 10">
            <a:extLst>
              <a:ext uri="{FF2B5EF4-FFF2-40B4-BE49-F238E27FC236}">
                <a16:creationId xmlns:a16="http://schemas.microsoft.com/office/drawing/2014/main" id="{8FC7D748-13E4-47FD-92CF-E927B54D8672}"/>
              </a:ext>
            </a:extLst>
          </p:cNvPr>
          <p:cNvSpPr>
            <a:spLocks noGrp="1"/>
          </p:cNvSpPr>
          <p:nvPr/>
        </p:nvSpPr>
        <p:spPr>
          <a:xfrm>
            <a:off x="5286375" y="4429125"/>
            <a:ext cx="1905000" cy="619125"/>
          </a:xfrm>
          <a:prstGeom prst="rect">
            <a:avLst/>
          </a:prstGeom>
          <a:noFill/>
          <a:ln w="0">
            <a:noFill/>
          </a:ln>
        </p:spPr>
        <p:txBody>
          <a:bodyPr lIns="0" tIns="0" rIns="0" bIns="0" anchor="t">
            <a:normAutofit/>
          </a:bodyPr>
          <a:lstStyle/>
          <a:p>
            <a:pPr algn="ctr">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반복 읽기·출처 기록·concat</a:t>
            </a:r>
          </a:p>
        </p:txBody>
      </p:sp>
      <p:sp>
        <p:nvSpPr>
          <p:cNvPr id="12" name="직선 연결선[R] 11">
            <a:extLst>
              <a:ext uri="{FF2B5EF4-FFF2-40B4-BE49-F238E27FC236}">
                <a16:creationId xmlns:a16="http://schemas.microsoft.com/office/drawing/2014/main" id="{04520EB8-7D0E-4C9F-A9EA-6019DB7705C9}"/>
              </a:ext>
            </a:extLst>
          </p:cNvPr>
          <p:cNvSpPr>
            <a:spLocks noGrp="1"/>
          </p:cNvSpPr>
          <p:nvPr/>
        </p:nvSpPr>
        <p:spPr>
          <a:xfrm>
            <a:off x="7334250" y="4733925"/>
            <a:ext cx="857250" cy="0"/>
          </a:xfrm>
          <a:prstGeom prst="line">
            <a:avLst/>
          </a:prstGeom>
          <a:noFill/>
          <a:ln w="28575">
            <a:solidFill>
              <a:srgbClr val="2F7DF4"/>
            </a:solidFill>
          </a:ln>
        </p:spPr>
        <p:txBody>
          <a:bodyPr/>
          <a:lstStyle/>
          <a:p>
            <a:endParaRPr lang="ko-KR" altLang="en-US"/>
          </a:p>
        </p:txBody>
      </p:sp>
      <p:sp>
        <p:nvSpPr>
          <p:cNvPr id="13" name="모서리가 둥근 직사각형 12">
            <a:extLst>
              <a:ext uri="{FF2B5EF4-FFF2-40B4-BE49-F238E27FC236}">
                <a16:creationId xmlns:a16="http://schemas.microsoft.com/office/drawing/2014/main" id="{509228D8-9838-43DD-AE60-46168B926548}"/>
              </a:ext>
            </a:extLst>
          </p:cNvPr>
          <p:cNvSpPr>
            <a:spLocks noGrp="1"/>
          </p:cNvSpPr>
          <p:nvPr/>
        </p:nvSpPr>
        <p:spPr>
          <a:xfrm>
            <a:off x="8334375" y="4286250"/>
            <a:ext cx="2095500" cy="904875"/>
          </a:xfrm>
          <a:prstGeom prst="roundRect">
            <a:avLst>
              <a:gd name="adj" fmla="val 12632"/>
            </a:avLst>
          </a:prstGeom>
          <a:solidFill>
            <a:srgbClr val="EAF7F0"/>
          </a:solidFill>
          <a:ln w="9525">
            <a:solidFill>
              <a:srgbClr val="18794E"/>
            </a:solidFill>
          </a:ln>
        </p:spPr>
        <p:txBody>
          <a:bodyPr/>
          <a:lstStyle/>
          <a:p>
            <a:endParaRPr lang="ko-KR" altLang="en-US"/>
          </a:p>
        </p:txBody>
      </p:sp>
      <p:sp>
        <p:nvSpPr>
          <p:cNvPr id="14" name="직사각형 13">
            <a:extLst>
              <a:ext uri="{FF2B5EF4-FFF2-40B4-BE49-F238E27FC236}">
                <a16:creationId xmlns:a16="http://schemas.microsoft.com/office/drawing/2014/main" id="{1136CEF8-580D-48F1-BABD-4358E4007DCD}"/>
              </a:ext>
            </a:extLst>
          </p:cNvPr>
          <p:cNvSpPr>
            <a:spLocks noGrp="1"/>
          </p:cNvSpPr>
          <p:nvPr/>
        </p:nvSpPr>
        <p:spPr>
          <a:xfrm>
            <a:off x="8429625" y="4429125"/>
            <a:ext cx="1905000" cy="619125"/>
          </a:xfrm>
          <a:prstGeom prst="rect">
            <a:avLst/>
          </a:prstGeom>
          <a:noFill/>
          <a:ln w="0">
            <a:noFill/>
          </a:ln>
        </p:spPr>
        <p:txBody>
          <a:bodyPr lIns="0" tIns="0" rIns="0" bIns="0" anchor="t">
            <a:normAutofit/>
          </a:bodyPr>
          <a:lstStyle/>
          <a:p>
            <a:pPr algn="ctr">
              <a:defRPr sz="1350" b="1">
                <a:solidFill>
                  <a:srgbClr val="18794E"/>
                </a:solidFill>
                <a:latin typeface="Apple SD Gothic Neo"/>
                <a:ea typeface="Apple SD Gothic Neo"/>
                <a:cs typeface="Apple SD Gothic Neo"/>
              </a:defRPr>
            </a:pPr>
            <a:r>
              <a:rPr sz="1350" b="1">
                <a:solidFill>
                  <a:srgbClr val="18794E"/>
                </a:solidFill>
                <a:latin typeface="Apple SD Gothic Neo"/>
                <a:ea typeface="Apple SD Gothic Neo"/>
                <a:cs typeface="Apple SD Gothic Neo"/>
              </a:rPr>
              <a:t>30,000행×10열 activity</a:t>
            </a:r>
          </a:p>
        </p:txBody>
      </p:sp>
      <p:sp>
        <p:nvSpPr>
          <p:cNvPr id="15" name="직선 연결선[R] 14">
            <a:extLst>
              <a:ext uri="{FF2B5EF4-FFF2-40B4-BE49-F238E27FC236}">
                <a16:creationId xmlns:a16="http://schemas.microsoft.com/office/drawing/2014/main" id="{E9508D91-6373-47E4-98B0-D3D305EF3493}"/>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6" name="직사각형 15">
            <a:extLst>
              <a:ext uri="{FF2B5EF4-FFF2-40B4-BE49-F238E27FC236}">
                <a16:creationId xmlns:a16="http://schemas.microsoft.com/office/drawing/2014/main" id="{1C6BF380-EFBE-499D-BA34-00EB68ED42FF}"/>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Path 25개와 빈 frames에서 30,000행×10열 activity이 만들어지는 동안 자료의 모양과 역할이 어떻게 달라지는지 확인합니다.</a:t>
            </a:r>
          </a:p>
        </p:txBody>
      </p:sp>
      <p:sp>
        <p:nvSpPr>
          <p:cNvPr id="17" name="직사각형 16">
            <a:extLst>
              <a:ext uri="{FF2B5EF4-FFF2-40B4-BE49-F238E27FC236}">
                <a16:creationId xmlns:a16="http://schemas.microsoft.com/office/drawing/2014/main" id="{1687990E-C6FD-44C8-8B05-631A752D4FE3}"/>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11</a:t>
            </a:r>
          </a:p>
        </p:txBody>
      </p:sp>
    </p:spTree>
    <p:extLst>
      <p:ext uri="{BB962C8B-B14F-4D97-AF65-F5344CB8AC3E}">
        <p14:creationId xmlns:p14="http://schemas.microsoft.com/office/powerpoint/2010/main" val="719343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85168DFE-F55D-4A0B-B769-0C1EF18606F5}"/>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E02D8845-D97B-4738-A56E-F6B6C8792435}"/>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파일명, concat과 기대 shape를 채워 합쳐봅시다</a:t>
            </a:r>
          </a:p>
        </p:txBody>
      </p:sp>
      <p:sp>
        <p:nvSpPr>
          <p:cNvPr id="3" name="직선 연결선[R] 2">
            <a:extLst>
              <a:ext uri="{FF2B5EF4-FFF2-40B4-BE49-F238E27FC236}">
                <a16:creationId xmlns:a16="http://schemas.microsoft.com/office/drawing/2014/main" id="{030A5FF4-81F4-4A5C-AFC7-EC3AD12ECBCE}"/>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C78E00B5-73B1-4004-9813-F9D80BF846D5}"/>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학생 실습</a:t>
            </a:r>
          </a:p>
        </p:txBody>
      </p:sp>
      <p:sp>
        <p:nvSpPr>
          <p:cNvPr id="5" name="모서리가 둥근 직사각형 4">
            <a:extLst>
              <a:ext uri="{FF2B5EF4-FFF2-40B4-BE49-F238E27FC236}">
                <a16:creationId xmlns:a16="http://schemas.microsoft.com/office/drawing/2014/main" id="{10FF5226-E20F-44DA-BCB5-B6D5A0291E7F}"/>
              </a:ext>
            </a:extLst>
          </p:cNvPr>
          <p:cNvSpPr>
            <a:spLocks noGrp="1"/>
          </p:cNvSpPr>
          <p:nvPr/>
        </p:nvSpPr>
        <p:spPr>
          <a:xfrm>
            <a:off x="428625" y="1714500"/>
            <a:ext cx="7524750" cy="4095750"/>
          </a:xfrm>
          <a:prstGeom prst="roundRect">
            <a:avLst>
              <a:gd name="adj" fmla="val 2791"/>
            </a:avLst>
          </a:prstGeom>
          <a:solidFill>
            <a:srgbClr val="F7F8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EFCB3A94-EE96-4A0B-8223-8569C5896B91}"/>
              </a:ext>
            </a:extLst>
          </p:cNvPr>
          <p:cNvSpPr>
            <a:spLocks noGrp="1"/>
          </p:cNvSpPr>
          <p:nvPr/>
        </p:nvSpPr>
        <p:spPr>
          <a:xfrm>
            <a:off x="428625" y="1714500"/>
            <a:ext cx="85725" cy="4095750"/>
          </a:xfrm>
          <a:prstGeom prst="rect">
            <a:avLst/>
          </a:prstGeom>
          <a:solidFill>
            <a:srgbClr val="2F7DF4"/>
          </a:solidFill>
          <a:ln w="0">
            <a:noFill/>
          </a:ln>
        </p:spPr>
        <p:txBody>
          <a:bodyPr/>
          <a:lstStyle/>
          <a:p>
            <a:endParaRPr lang="ko-KR" altLang="en-US"/>
          </a:p>
        </p:txBody>
      </p:sp>
      <p:sp>
        <p:nvSpPr>
          <p:cNvPr id="7" name="직사각형 6">
            <a:extLst>
              <a:ext uri="{FF2B5EF4-FFF2-40B4-BE49-F238E27FC236}">
                <a16:creationId xmlns:a16="http://schemas.microsoft.com/office/drawing/2014/main" id="{05353E66-56C9-4D4B-A026-9F8EC15586D1}"/>
              </a:ext>
            </a:extLst>
          </p:cNvPr>
          <p:cNvSpPr>
            <a:spLocks noGrp="1"/>
          </p:cNvSpPr>
          <p:nvPr/>
        </p:nvSpPr>
        <p:spPr>
          <a:xfrm>
            <a:off x="742950" y="1952625"/>
            <a:ext cx="6858000" cy="3524250"/>
          </a:xfrm>
          <a:prstGeom prst="rect">
            <a:avLst/>
          </a:prstGeom>
          <a:noFill/>
          <a:ln w="0">
            <a:noFill/>
          </a:ln>
        </p:spPr>
        <p:txBody>
          <a:bodyPr lIns="0" tIns="0" rIns="0" bIns="0" anchor="t">
            <a:normAutofit/>
          </a:bodyPr>
          <a:lstStyle/>
          <a:p>
            <a:pPr algn="l">
              <a:defRPr sz="1275" b="0">
                <a:solidFill>
                  <a:srgbClr val="17202A"/>
                </a:solidFill>
                <a:latin typeface="Menlo"/>
                <a:ea typeface="Menlo"/>
                <a:cs typeface="Menlo"/>
              </a:defRPr>
            </a:pPr>
            <a:r>
              <a:rPr sz="1275" b="0">
                <a:solidFill>
                  <a:srgbClr val="17202A"/>
                </a:solidFill>
                <a:latin typeface="Menlo"/>
                <a:ea typeface="Menlo"/>
                <a:cs typeface="Menlo"/>
              </a:rPr>
              <a:t>frames = []</a:t>
            </a:r>
          </a:p>
          <a:p>
            <a:pPr algn="l">
              <a:defRPr sz="1275" b="0">
                <a:solidFill>
                  <a:srgbClr val="17202A"/>
                </a:solidFill>
                <a:latin typeface="Menlo"/>
                <a:ea typeface="Menlo"/>
                <a:cs typeface="Menlo"/>
              </a:defRPr>
            </a:pPr>
            <a:r>
              <a:rPr sz="1275" b="0">
                <a:solidFill>
                  <a:srgbClr val="17202A"/>
                </a:solidFill>
                <a:latin typeface="Menlo"/>
                <a:ea typeface="Menlo"/>
                <a:cs typeface="Menlo"/>
              </a:rPr>
              <a:t>for file_path in batch_files:</a:t>
            </a:r>
          </a:p>
          <a:p>
            <a:pPr algn="l">
              <a:defRPr sz="1275" b="0">
                <a:solidFill>
                  <a:srgbClr val="17202A"/>
                </a:solidFill>
                <a:latin typeface="Menlo"/>
                <a:ea typeface="Menlo"/>
                <a:cs typeface="Menlo"/>
              </a:defRPr>
            </a:pPr>
            <a:r>
              <a:rPr sz="1275" b="0">
                <a:solidFill>
                  <a:srgbClr val="17202A"/>
                </a:solidFill>
                <a:latin typeface="Menlo"/>
                <a:ea typeface="Menlo"/>
                <a:cs typeface="Menlo"/>
              </a:rPr>
              <a:t>    one = pd.read_csv(file_path)</a:t>
            </a:r>
          </a:p>
          <a:p>
            <a:pPr algn="l">
              <a:defRPr sz="1275" b="0">
                <a:solidFill>
                  <a:srgbClr val="17202A"/>
                </a:solidFill>
                <a:latin typeface="Menlo"/>
                <a:ea typeface="Menlo"/>
                <a:cs typeface="Menlo"/>
              </a:defRPr>
            </a:pPr>
            <a:r>
              <a:rPr sz="1275" b="0">
                <a:solidFill>
                  <a:srgbClr val="17202A"/>
                </a:solidFill>
                <a:latin typeface="Menlo"/>
                <a:ea typeface="Menlo"/>
                <a:cs typeface="Menlo"/>
              </a:rPr>
              <a:t>    one["source_file"] = ___</a:t>
            </a:r>
          </a:p>
          <a:p>
            <a:pPr algn="l">
              <a:defRPr sz="1275" b="0">
                <a:solidFill>
                  <a:srgbClr val="17202A"/>
                </a:solidFill>
                <a:latin typeface="Menlo"/>
                <a:ea typeface="Menlo"/>
                <a:cs typeface="Menlo"/>
              </a:defRPr>
            </a:pPr>
            <a:r>
              <a:rPr sz="1275" b="0">
                <a:solidFill>
                  <a:srgbClr val="17202A"/>
                </a:solidFill>
                <a:latin typeface="Menlo"/>
                <a:ea typeface="Menlo"/>
                <a:cs typeface="Menlo"/>
              </a:rPr>
              <a:t>    frames.append(one)</a:t>
            </a:r>
          </a:p>
          <a:p>
            <a:pPr algn="l">
              <a:defRPr sz="1275" b="0">
                <a:solidFill>
                  <a:srgbClr val="17202A"/>
                </a:solidFill>
                <a:latin typeface="Menlo"/>
                <a:ea typeface="Menlo"/>
                <a:cs typeface="Menlo"/>
              </a:defRPr>
            </a:pPr>
            <a:r>
              <a:rPr sz="1275" b="0">
                <a:solidFill>
                  <a:srgbClr val="17202A"/>
                </a:solidFill>
                <a:latin typeface="Menlo"/>
                <a:ea typeface="Menlo"/>
                <a:cs typeface="Menlo"/>
              </a:rPr>
              <a:t>activity = pd.___(frames, ignore_index=True)</a:t>
            </a:r>
          </a:p>
          <a:p>
            <a:pPr algn="l">
              <a:defRPr sz="1275" b="0">
                <a:solidFill>
                  <a:srgbClr val="17202A"/>
                </a:solidFill>
                <a:latin typeface="Menlo"/>
                <a:ea typeface="Menlo"/>
                <a:cs typeface="Menlo"/>
              </a:defRPr>
            </a:pPr>
            <a:r>
              <a:rPr sz="1275" b="0">
                <a:solidFill>
                  <a:srgbClr val="17202A"/>
                </a:solidFill>
                <a:latin typeface="Menlo"/>
                <a:ea typeface="Menlo"/>
                <a:cs typeface="Menlo"/>
              </a:rPr>
              <a:t>assert activity.shape == ___</a:t>
            </a:r>
          </a:p>
        </p:txBody>
      </p:sp>
      <p:sp>
        <p:nvSpPr>
          <p:cNvPr id="8" name="모서리가 둥근 직사각형 7">
            <a:extLst>
              <a:ext uri="{FF2B5EF4-FFF2-40B4-BE49-F238E27FC236}">
                <a16:creationId xmlns:a16="http://schemas.microsoft.com/office/drawing/2014/main" id="{AF844545-E631-42F8-B57D-F4AEE6B9D80C}"/>
              </a:ext>
            </a:extLst>
          </p:cNvPr>
          <p:cNvSpPr>
            <a:spLocks noGrp="1"/>
          </p:cNvSpPr>
          <p:nvPr/>
        </p:nvSpPr>
        <p:spPr>
          <a:xfrm>
            <a:off x="8286750" y="1857375"/>
            <a:ext cx="3143250" cy="1095375"/>
          </a:xfrm>
          <a:prstGeom prst="roundRect">
            <a:avLst>
              <a:gd name="adj" fmla="val 10435"/>
            </a:avLst>
          </a:prstGeom>
          <a:solidFill>
            <a:srgbClr val="FFF5DF"/>
          </a:solidFill>
          <a:ln w="9525">
            <a:solidFill>
              <a:srgbClr val="9A5B13"/>
            </a:solidFill>
          </a:ln>
        </p:spPr>
        <p:txBody>
          <a:bodyPr/>
          <a:lstStyle/>
          <a:p>
            <a:endParaRPr lang="ko-KR" altLang="en-US"/>
          </a:p>
        </p:txBody>
      </p:sp>
      <p:sp>
        <p:nvSpPr>
          <p:cNvPr id="9" name="직사각형 8">
            <a:extLst>
              <a:ext uri="{FF2B5EF4-FFF2-40B4-BE49-F238E27FC236}">
                <a16:creationId xmlns:a16="http://schemas.microsoft.com/office/drawing/2014/main" id="{1E841E13-CD36-41D9-AB8E-D61E5E6F6942}"/>
              </a:ext>
            </a:extLst>
          </p:cNvPr>
          <p:cNvSpPr>
            <a:spLocks noGrp="1"/>
          </p:cNvSpPr>
          <p:nvPr/>
        </p:nvSpPr>
        <p:spPr>
          <a:xfrm>
            <a:off x="8524875" y="2076450"/>
            <a:ext cx="2667000" cy="238125"/>
          </a:xfrm>
          <a:prstGeom prst="rect">
            <a:avLst/>
          </a:prstGeom>
          <a:noFill/>
          <a:ln w="0">
            <a:noFill/>
          </a:ln>
        </p:spPr>
        <p:txBody>
          <a:bodyPr lIns="0" tIns="0" rIns="0" bIns="0" anchor="t">
            <a:normAutofit/>
          </a:bodyPr>
          <a:lstStyle/>
          <a:p>
            <a:pPr algn="l">
              <a:defRPr sz="1350" b="1">
                <a:solidFill>
                  <a:srgbClr val="9A5B13"/>
                </a:solidFill>
                <a:latin typeface="Apple SD Gothic Neo"/>
                <a:ea typeface="Apple SD Gothic Neo"/>
                <a:cs typeface="Apple SD Gothic Neo"/>
              </a:defRPr>
            </a:pPr>
            <a:r>
              <a:rPr sz="1350" b="1">
                <a:solidFill>
                  <a:srgbClr val="9A5B13"/>
                </a:solidFill>
                <a:latin typeface="Apple SD Gothic Neo"/>
                <a:ea typeface="Apple SD Gothic Neo"/>
                <a:cs typeface="Apple SD Gothic Neo"/>
              </a:rPr>
              <a:t>실행 전 예상</a:t>
            </a:r>
          </a:p>
        </p:txBody>
      </p:sp>
      <p:sp>
        <p:nvSpPr>
          <p:cNvPr id="10" name="직사각형 9">
            <a:extLst>
              <a:ext uri="{FF2B5EF4-FFF2-40B4-BE49-F238E27FC236}">
                <a16:creationId xmlns:a16="http://schemas.microsoft.com/office/drawing/2014/main" id="{4806A408-974D-4336-AE82-F73F7CA07F08}"/>
              </a:ext>
            </a:extLst>
          </p:cNvPr>
          <p:cNvSpPr>
            <a:spLocks noGrp="1"/>
          </p:cNvSpPr>
          <p:nvPr/>
        </p:nvSpPr>
        <p:spPr>
          <a:xfrm>
            <a:off x="8524875" y="2428875"/>
            <a:ext cx="2667000" cy="419100"/>
          </a:xfrm>
          <a:prstGeom prst="rect">
            <a:avLst/>
          </a:prstGeom>
          <a:noFill/>
          <a:ln w="0">
            <a:noFill/>
          </a:ln>
        </p:spPr>
        <p:txBody>
          <a:bodyPr lIns="0" tIns="0" rIns="0" bIns="0" anchor="t">
            <a:normAutofit fontScale="94682" lnSpcReduction="10000"/>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이상한 행이 나왔을 때 어느 원본 CSV에서 왔는지 다시 찾기 위해서입니다.</a:t>
            </a:r>
          </a:p>
        </p:txBody>
      </p:sp>
      <p:sp>
        <p:nvSpPr>
          <p:cNvPr id="11" name="모서리가 둥근 직사각형 10">
            <a:extLst>
              <a:ext uri="{FF2B5EF4-FFF2-40B4-BE49-F238E27FC236}">
                <a16:creationId xmlns:a16="http://schemas.microsoft.com/office/drawing/2014/main" id="{4E0BC518-1A70-418B-8CB8-162CF23E1B49}"/>
              </a:ext>
            </a:extLst>
          </p:cNvPr>
          <p:cNvSpPr>
            <a:spLocks noGrp="1"/>
          </p:cNvSpPr>
          <p:nvPr/>
        </p:nvSpPr>
        <p:spPr>
          <a:xfrm>
            <a:off x="8286750" y="3238500"/>
            <a:ext cx="3143250" cy="1476375"/>
          </a:xfrm>
          <a:prstGeom prst="roundRect">
            <a:avLst>
              <a:gd name="adj" fmla="val 7742"/>
            </a:avLst>
          </a:prstGeom>
          <a:solidFill>
            <a:srgbClr val="EAF3FF"/>
          </a:solidFill>
          <a:ln w="9525">
            <a:solidFill>
              <a:srgbClr val="2F7DF4"/>
            </a:solidFill>
          </a:ln>
        </p:spPr>
        <p:txBody>
          <a:bodyPr/>
          <a:lstStyle/>
          <a:p>
            <a:endParaRPr lang="ko-KR" altLang="en-US"/>
          </a:p>
        </p:txBody>
      </p:sp>
      <p:sp>
        <p:nvSpPr>
          <p:cNvPr id="12" name="직사각형 11">
            <a:extLst>
              <a:ext uri="{FF2B5EF4-FFF2-40B4-BE49-F238E27FC236}">
                <a16:creationId xmlns:a16="http://schemas.microsoft.com/office/drawing/2014/main" id="{7A90E607-128F-4737-9B8C-37F7EAD955A9}"/>
              </a:ext>
            </a:extLst>
          </p:cNvPr>
          <p:cNvSpPr>
            <a:spLocks noGrp="1"/>
          </p:cNvSpPr>
          <p:nvPr/>
        </p:nvSpPr>
        <p:spPr>
          <a:xfrm>
            <a:off x="8524875" y="3457575"/>
            <a:ext cx="2667000" cy="238125"/>
          </a:xfrm>
          <a:prstGeom prst="rect">
            <a:avLst/>
          </a:prstGeom>
          <a:noFill/>
          <a:ln w="0">
            <a:noFill/>
          </a:ln>
        </p:spPr>
        <p:txBody>
          <a:bodyPr lIns="0" tIns="0" rIns="0" bIns="0" anchor="t">
            <a:normAutofit/>
          </a:bodyPr>
          <a:lstStyle/>
          <a:p>
            <a:pPr algn="l">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코드 읽기</a:t>
            </a:r>
          </a:p>
        </p:txBody>
      </p:sp>
      <p:sp>
        <p:nvSpPr>
          <p:cNvPr id="13" name="직사각형 12">
            <a:extLst>
              <a:ext uri="{FF2B5EF4-FFF2-40B4-BE49-F238E27FC236}">
                <a16:creationId xmlns:a16="http://schemas.microsoft.com/office/drawing/2014/main" id="{DAEA8F9F-125E-43C3-B976-CACA31AF1391}"/>
              </a:ext>
            </a:extLst>
          </p:cNvPr>
          <p:cNvSpPr>
            <a:spLocks noGrp="1"/>
          </p:cNvSpPr>
          <p:nvPr/>
        </p:nvSpPr>
        <p:spPr>
          <a:xfrm>
            <a:off x="8524875" y="3810000"/>
            <a:ext cx="2667000" cy="714375"/>
          </a:xfrm>
          <a:prstGeom prst="rect">
            <a:avLst/>
          </a:prstGeom>
          <a:noFill/>
          <a:ln w="0">
            <a:noFill/>
          </a:ln>
        </p:spPr>
        <p:txBody>
          <a:bodyPr lIns="0" tIns="0" rIns="0" bIns="0" anchor="t">
            <a:normAutofit/>
          </a:bodyPr>
          <a:lstStyle/>
          <a:p>
            <a:pPr algn="l">
              <a:defRPr sz="1425" b="1">
                <a:solidFill>
                  <a:srgbClr val="17202A"/>
                </a:solidFill>
                <a:latin typeface="Apple SD Gothic Neo"/>
                <a:ea typeface="Apple SD Gothic Neo"/>
                <a:cs typeface="Apple SD Gothic Neo"/>
              </a:defRPr>
            </a:pPr>
            <a:r>
              <a:rPr sz="1425" b="1">
                <a:solidFill>
                  <a:srgbClr val="17202A"/>
                </a:solidFill>
                <a:latin typeface="Apple SD Gothic Neo"/>
                <a:ea typeface="Apple SD Gothic Neo"/>
                <a:cs typeface="Apple SD Gothic Neo"/>
              </a:rPr>
              <a:t>for는 읽기와 출처 붙이기를 파일 25개에 똑같이 반복합니다.</a:t>
            </a:r>
          </a:p>
        </p:txBody>
      </p:sp>
      <p:sp>
        <p:nvSpPr>
          <p:cNvPr id="14" name="직사각형 13">
            <a:extLst>
              <a:ext uri="{FF2B5EF4-FFF2-40B4-BE49-F238E27FC236}">
                <a16:creationId xmlns:a16="http://schemas.microsoft.com/office/drawing/2014/main" id="{21E20A81-62E4-4A6D-8704-73B9A91AD6D5}"/>
              </a:ext>
            </a:extLst>
          </p:cNvPr>
          <p:cNvSpPr>
            <a:spLocks noGrp="1"/>
          </p:cNvSpPr>
          <p:nvPr/>
        </p:nvSpPr>
        <p:spPr>
          <a:xfrm>
            <a:off x="8334375" y="5238750"/>
            <a:ext cx="3048000" cy="238125"/>
          </a:xfrm>
          <a:prstGeom prst="rect">
            <a:avLst/>
          </a:prstGeom>
          <a:noFill/>
          <a:ln w="0">
            <a:noFill/>
          </a:ln>
        </p:spPr>
        <p:txBody>
          <a:bodyPr lIns="0" tIns="0" rIns="0" bIns="0" anchor="t">
            <a:normAutofit/>
          </a:bodyPr>
          <a:lstStyle/>
          <a:p>
            <a:pPr algn="ctr">
              <a:defRPr sz="1200" b="0">
                <a:solidFill>
                  <a:srgbClr val="5F6B78"/>
                </a:solidFill>
                <a:latin typeface="Apple SD Gothic Neo"/>
                <a:ea typeface="Apple SD Gothic Neo"/>
                <a:cs typeface="Apple SD Gothic Neo"/>
              </a:defRPr>
            </a:pPr>
            <a:r>
              <a:rPr sz="1200" b="0">
                <a:solidFill>
                  <a:srgbClr val="5F6B78"/>
                </a:solidFill>
                <a:latin typeface="Apple SD Gothic Neo"/>
                <a:ea typeface="Apple SD Gothic Neo"/>
                <a:cs typeface="Apple SD Gothic Neo"/>
              </a:rPr>
              <a:t>학생 노트북 · Q2</a:t>
            </a:r>
          </a:p>
        </p:txBody>
      </p:sp>
      <p:sp>
        <p:nvSpPr>
          <p:cNvPr id="15" name="직선 연결선[R] 14">
            <a:extLst>
              <a:ext uri="{FF2B5EF4-FFF2-40B4-BE49-F238E27FC236}">
                <a16:creationId xmlns:a16="http://schemas.microsoft.com/office/drawing/2014/main" id="{2EBEA055-1CC4-4DFE-9170-EE76B7BFD4E3}"/>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6" name="직사각형 15">
            <a:extLst>
              <a:ext uri="{FF2B5EF4-FFF2-40B4-BE49-F238E27FC236}">
                <a16:creationId xmlns:a16="http://schemas.microsoft.com/office/drawing/2014/main" id="{F3FC06E5-B783-4656-A85F-B5AE73657092}"/>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학생 노트북 Q2에서 ___만 채우고 정상 결과 assert 통과, (30000, 10)을 확인합니다.</a:t>
            </a:r>
          </a:p>
        </p:txBody>
      </p:sp>
      <p:sp>
        <p:nvSpPr>
          <p:cNvPr id="17" name="직사각형 16">
            <a:extLst>
              <a:ext uri="{FF2B5EF4-FFF2-40B4-BE49-F238E27FC236}">
                <a16:creationId xmlns:a16="http://schemas.microsoft.com/office/drawing/2014/main" id="{07984550-2B36-46EA-B64E-1E68E910777C}"/>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12</a:t>
            </a:r>
          </a:p>
        </p:txBody>
      </p:sp>
    </p:spTree>
    <p:extLst>
      <p:ext uri="{BB962C8B-B14F-4D97-AF65-F5344CB8AC3E}">
        <p14:creationId xmlns:p14="http://schemas.microsoft.com/office/powerpoint/2010/main" val="1930158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94940CA5-8021-46AB-AB9B-E89CA3E79E61}"/>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8A00D49B-9A5B-4BD8-9D3B-A3D66CB64E53}"/>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25번 반복된 값이 어디에 쌓이는지 읽어봅시다</a:t>
            </a:r>
          </a:p>
        </p:txBody>
      </p:sp>
      <p:sp>
        <p:nvSpPr>
          <p:cNvPr id="3" name="직선 연결선[R] 2">
            <a:extLst>
              <a:ext uri="{FF2B5EF4-FFF2-40B4-BE49-F238E27FC236}">
                <a16:creationId xmlns:a16="http://schemas.microsoft.com/office/drawing/2014/main" id="{D0259C64-8572-426E-808C-14382B2379A3}"/>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C7F0A1D5-D132-425A-849E-0154D2825ACC}"/>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코드 해석</a:t>
            </a:r>
          </a:p>
        </p:txBody>
      </p:sp>
      <p:sp>
        <p:nvSpPr>
          <p:cNvPr id="5" name="모서리가 둥근 직사각형 4">
            <a:extLst>
              <a:ext uri="{FF2B5EF4-FFF2-40B4-BE49-F238E27FC236}">
                <a16:creationId xmlns:a16="http://schemas.microsoft.com/office/drawing/2014/main" id="{EFA38EF0-F790-40F3-9BDD-A2573DA457E2}"/>
              </a:ext>
            </a:extLst>
          </p:cNvPr>
          <p:cNvSpPr>
            <a:spLocks noGrp="1"/>
          </p:cNvSpPr>
          <p:nvPr/>
        </p:nvSpPr>
        <p:spPr>
          <a:xfrm>
            <a:off x="523875" y="2143125"/>
            <a:ext cx="3429000" cy="2428875"/>
          </a:xfrm>
          <a:prstGeom prst="roundRect">
            <a:avLst>
              <a:gd name="adj" fmla="val 470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953AD0AC-EB46-4435-A72D-C8ACAD86242D}"/>
              </a:ext>
            </a:extLst>
          </p:cNvPr>
          <p:cNvSpPr>
            <a:spLocks noGrp="1"/>
          </p:cNvSpPr>
          <p:nvPr/>
        </p:nvSpPr>
        <p:spPr>
          <a:xfrm>
            <a:off x="771525" y="2400300"/>
            <a:ext cx="2933700"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1 · 입력 확인</a:t>
            </a:r>
          </a:p>
        </p:txBody>
      </p:sp>
      <p:sp>
        <p:nvSpPr>
          <p:cNvPr id="7" name="직사각형 6">
            <a:extLst>
              <a:ext uri="{FF2B5EF4-FFF2-40B4-BE49-F238E27FC236}">
                <a16:creationId xmlns:a16="http://schemas.microsoft.com/office/drawing/2014/main" id="{0651BE56-6E9E-4134-A091-47A9DC94259A}"/>
              </a:ext>
            </a:extLst>
          </p:cNvPr>
          <p:cNvSpPr>
            <a:spLocks noGrp="1"/>
          </p:cNvSpPr>
          <p:nvPr/>
        </p:nvSpPr>
        <p:spPr>
          <a:xfrm>
            <a:off x="77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activity는 30,000행×10열 DataFrame입니다.</a:t>
            </a:r>
          </a:p>
        </p:txBody>
      </p:sp>
      <p:sp>
        <p:nvSpPr>
          <p:cNvPr id="8" name="직선 연결선[R] 7">
            <a:extLst>
              <a:ext uri="{FF2B5EF4-FFF2-40B4-BE49-F238E27FC236}">
                <a16:creationId xmlns:a16="http://schemas.microsoft.com/office/drawing/2014/main" id="{03435DDE-2323-4286-A061-45339F623EEB}"/>
              </a:ext>
            </a:extLst>
          </p:cNvPr>
          <p:cNvSpPr>
            <a:spLocks noGrp="1"/>
          </p:cNvSpPr>
          <p:nvPr/>
        </p:nvSpPr>
        <p:spPr>
          <a:xfrm>
            <a:off x="4000500" y="3333750"/>
            <a:ext cx="285750" cy="0"/>
          </a:xfrm>
          <a:prstGeom prst="line">
            <a:avLst/>
          </a:prstGeom>
          <a:noFill/>
          <a:ln w="28575">
            <a:solidFill>
              <a:srgbClr val="2F7DF4"/>
            </a:solidFill>
          </a:ln>
        </p:spPr>
        <p:txBody>
          <a:bodyPr/>
          <a:lstStyle/>
          <a:p>
            <a:endParaRPr lang="ko-KR" altLang="en-US"/>
          </a:p>
        </p:txBody>
      </p:sp>
      <p:sp>
        <p:nvSpPr>
          <p:cNvPr id="9" name="모서리가 둥근 직사각형 8">
            <a:extLst>
              <a:ext uri="{FF2B5EF4-FFF2-40B4-BE49-F238E27FC236}">
                <a16:creationId xmlns:a16="http://schemas.microsoft.com/office/drawing/2014/main" id="{C04D007B-A580-4E70-A073-F8E32ECDEC78}"/>
              </a:ext>
            </a:extLst>
          </p:cNvPr>
          <p:cNvSpPr>
            <a:spLocks noGrp="1"/>
          </p:cNvSpPr>
          <p:nvPr/>
        </p:nvSpPr>
        <p:spPr>
          <a:xfrm>
            <a:off x="4333875" y="2143125"/>
            <a:ext cx="3429000" cy="2428875"/>
          </a:xfrm>
          <a:prstGeom prst="roundRect">
            <a:avLst>
              <a:gd name="adj" fmla="val 4706"/>
            </a:avLst>
          </a:prstGeom>
          <a:solidFill>
            <a:srgbClr val="F5F7FA"/>
          </a:solid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7A5D2646-8466-4BF4-BA36-38D5C2960CA7}"/>
              </a:ext>
            </a:extLst>
          </p:cNvPr>
          <p:cNvSpPr>
            <a:spLocks noGrp="1"/>
          </p:cNvSpPr>
          <p:nvPr/>
        </p:nvSpPr>
        <p:spPr>
          <a:xfrm>
            <a:off x="4581525" y="2400300"/>
            <a:ext cx="2933700"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2 · 기능 적용</a:t>
            </a:r>
          </a:p>
        </p:txBody>
      </p:sp>
      <p:sp>
        <p:nvSpPr>
          <p:cNvPr id="11" name="직사각형 10">
            <a:extLst>
              <a:ext uri="{FF2B5EF4-FFF2-40B4-BE49-F238E27FC236}">
                <a16:creationId xmlns:a16="http://schemas.microsoft.com/office/drawing/2014/main" id="{CC1EEC2C-135D-43FA-B7A6-DF6BEFBEAA30}"/>
              </a:ext>
            </a:extLst>
          </p:cNvPr>
          <p:cNvSpPr>
            <a:spLocks noGrp="1"/>
          </p:cNvSpPr>
          <p:nvPr/>
        </p:nvSpPr>
        <p:spPr>
          <a:xfrm>
            <a:off x="458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for는 읽기와 출처 붙이기를 파일 25개에 똑같이 반복합니다.</a:t>
            </a:r>
          </a:p>
        </p:txBody>
      </p:sp>
      <p:sp>
        <p:nvSpPr>
          <p:cNvPr id="12" name="직선 연결선[R] 11">
            <a:extLst>
              <a:ext uri="{FF2B5EF4-FFF2-40B4-BE49-F238E27FC236}">
                <a16:creationId xmlns:a16="http://schemas.microsoft.com/office/drawing/2014/main" id="{563355B8-39AF-460F-8C00-AFFB62F179D0}"/>
              </a:ext>
            </a:extLst>
          </p:cNvPr>
          <p:cNvSpPr>
            <a:spLocks noGrp="1"/>
          </p:cNvSpPr>
          <p:nvPr/>
        </p:nvSpPr>
        <p:spPr>
          <a:xfrm>
            <a:off x="7810500" y="3333750"/>
            <a:ext cx="285750" cy="0"/>
          </a:xfrm>
          <a:prstGeom prst="line">
            <a:avLst/>
          </a:prstGeom>
          <a:noFill/>
          <a:ln w="28575">
            <a:solidFill>
              <a:srgbClr val="2F7DF4"/>
            </a:solidFill>
          </a:ln>
        </p:spPr>
        <p:txBody>
          <a:bodyPr/>
          <a:lstStyle/>
          <a:p>
            <a:endParaRPr lang="ko-KR" altLang="en-US"/>
          </a:p>
        </p:txBody>
      </p:sp>
      <p:sp>
        <p:nvSpPr>
          <p:cNvPr id="13" name="모서리가 둥근 직사각형 12">
            <a:extLst>
              <a:ext uri="{FF2B5EF4-FFF2-40B4-BE49-F238E27FC236}">
                <a16:creationId xmlns:a16="http://schemas.microsoft.com/office/drawing/2014/main" id="{F01F98D5-FE69-44EB-A478-5A5930783D71}"/>
              </a:ext>
            </a:extLst>
          </p:cNvPr>
          <p:cNvSpPr>
            <a:spLocks noGrp="1"/>
          </p:cNvSpPr>
          <p:nvPr/>
        </p:nvSpPr>
        <p:spPr>
          <a:xfrm>
            <a:off x="8143875" y="2143125"/>
            <a:ext cx="3429000" cy="2428875"/>
          </a:xfrm>
          <a:prstGeom prst="roundRect">
            <a:avLst>
              <a:gd name="adj" fmla="val 4706"/>
            </a:avLst>
          </a:prstGeom>
          <a:solidFill>
            <a:srgbClr val="EAF7F0"/>
          </a:solidFill>
          <a:ln w="9525">
            <a:solidFill>
              <a:srgbClr val="18794E"/>
            </a:solidFill>
          </a:ln>
        </p:spPr>
        <p:txBody>
          <a:bodyPr/>
          <a:lstStyle/>
          <a:p>
            <a:endParaRPr lang="ko-KR" altLang="en-US"/>
          </a:p>
        </p:txBody>
      </p:sp>
      <p:sp>
        <p:nvSpPr>
          <p:cNvPr id="14" name="직사각형 13">
            <a:extLst>
              <a:ext uri="{FF2B5EF4-FFF2-40B4-BE49-F238E27FC236}">
                <a16:creationId xmlns:a16="http://schemas.microsoft.com/office/drawing/2014/main" id="{85F04983-1D9B-4C23-A174-6FB80271DAFD}"/>
              </a:ext>
            </a:extLst>
          </p:cNvPr>
          <p:cNvSpPr>
            <a:spLocks noGrp="1"/>
          </p:cNvSpPr>
          <p:nvPr/>
        </p:nvSpPr>
        <p:spPr>
          <a:xfrm>
            <a:off x="8391525" y="2400300"/>
            <a:ext cx="2933700" cy="323850"/>
          </a:xfrm>
          <a:prstGeom prst="rect">
            <a:avLst/>
          </a:prstGeom>
          <a:noFill/>
          <a:ln w="0">
            <a:noFill/>
          </a:ln>
        </p:spPr>
        <p:txBody>
          <a:bodyPr lIns="0" tIns="0" rIns="0" bIns="0" anchor="t">
            <a:normAutofit/>
          </a:bodyPr>
          <a:lstStyle/>
          <a:p>
            <a:pPr algn="l">
              <a:defRPr sz="1500" b="1">
                <a:solidFill>
                  <a:srgbClr val="18794E"/>
                </a:solidFill>
                <a:latin typeface="Apple SD Gothic Neo"/>
                <a:ea typeface="Apple SD Gothic Neo"/>
                <a:cs typeface="Apple SD Gothic Neo"/>
              </a:defRPr>
            </a:pPr>
            <a:r>
              <a:rPr sz="1500" b="1">
                <a:solidFill>
                  <a:srgbClr val="18794E"/>
                </a:solidFill>
                <a:latin typeface="Apple SD Gothic Neo"/>
                <a:ea typeface="Apple SD Gothic Neo"/>
                <a:cs typeface="Apple SD Gothic Neo"/>
              </a:rPr>
              <a:t>3 · 결과 확인</a:t>
            </a:r>
          </a:p>
        </p:txBody>
      </p:sp>
      <p:sp>
        <p:nvSpPr>
          <p:cNvPr id="15" name="직사각형 14">
            <a:extLst>
              <a:ext uri="{FF2B5EF4-FFF2-40B4-BE49-F238E27FC236}">
                <a16:creationId xmlns:a16="http://schemas.microsoft.com/office/drawing/2014/main" id="{F53AC523-BE43-4B57-9D73-85081B2FA69E}"/>
              </a:ext>
            </a:extLst>
          </p:cNvPr>
          <p:cNvSpPr>
            <a:spLocks noGrp="1"/>
          </p:cNvSpPr>
          <p:nvPr/>
        </p:nvSpPr>
        <p:spPr>
          <a:xfrm>
            <a:off x="839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assert 통과, (30000, 10)</a:t>
            </a:r>
          </a:p>
        </p:txBody>
      </p:sp>
      <p:sp>
        <p:nvSpPr>
          <p:cNvPr id="16" name="모서리가 둥근 직사각형 15">
            <a:extLst>
              <a:ext uri="{FF2B5EF4-FFF2-40B4-BE49-F238E27FC236}">
                <a16:creationId xmlns:a16="http://schemas.microsoft.com/office/drawing/2014/main" id="{E1FC5C1C-1FB7-420F-A4E0-17BAF62685C9}"/>
              </a:ext>
            </a:extLst>
          </p:cNvPr>
          <p:cNvSpPr>
            <a:spLocks noGrp="1"/>
          </p:cNvSpPr>
          <p:nvPr/>
        </p:nvSpPr>
        <p:spPr>
          <a:xfrm>
            <a:off x="1143000" y="5048250"/>
            <a:ext cx="9906000" cy="590550"/>
          </a:xfrm>
          <a:prstGeom prst="roundRect">
            <a:avLst>
              <a:gd name="adj" fmla="val 19355"/>
            </a:avLst>
          </a:prstGeom>
          <a:solidFill>
            <a:srgbClr val="EAF3FF"/>
          </a:solidFill>
          <a:ln w="0">
            <a:noFill/>
          </a:ln>
        </p:spPr>
        <p:txBody>
          <a:bodyPr/>
          <a:lstStyle/>
          <a:p>
            <a:endParaRPr lang="ko-KR" altLang="en-US"/>
          </a:p>
        </p:txBody>
      </p:sp>
      <p:sp>
        <p:nvSpPr>
          <p:cNvPr id="17" name="직사각형 16">
            <a:extLst>
              <a:ext uri="{FF2B5EF4-FFF2-40B4-BE49-F238E27FC236}">
                <a16:creationId xmlns:a16="http://schemas.microsoft.com/office/drawing/2014/main" id="{6AE20F50-4E1A-4B81-97A3-34F1A08F055A}"/>
              </a:ext>
            </a:extLst>
          </p:cNvPr>
          <p:cNvSpPr>
            <a:spLocks noGrp="1"/>
          </p:cNvSpPr>
          <p:nvPr/>
        </p:nvSpPr>
        <p:spPr>
          <a:xfrm>
            <a:off x="1428750" y="5219700"/>
            <a:ext cx="9334500" cy="285750"/>
          </a:xfrm>
          <a:prstGeom prst="rect">
            <a:avLst/>
          </a:prstGeom>
          <a:noFill/>
          <a:ln w="0">
            <a:noFill/>
          </a:ln>
        </p:spPr>
        <p:txBody>
          <a:bodyPr lIns="0" tIns="0" rIns="0" bIns="0" anchor="t">
            <a:normAutofit/>
          </a:bodyPr>
          <a:lstStyle/>
          <a:p>
            <a:pPr algn="ctr">
              <a:defRPr sz="1575" b="1">
                <a:solidFill>
                  <a:srgbClr val="17324D"/>
                </a:solidFill>
                <a:latin typeface="Apple SD Gothic Neo"/>
                <a:ea typeface="Apple SD Gothic Neo"/>
                <a:cs typeface="Apple SD Gothic Neo"/>
              </a:defRPr>
            </a:pPr>
            <a:r>
              <a:rPr sz="1575" b="1">
                <a:solidFill>
                  <a:srgbClr val="17324D"/>
                </a:solidFill>
                <a:latin typeface="Apple SD Gothic Neo"/>
                <a:ea typeface="Apple SD Gothic Neo"/>
                <a:cs typeface="Apple SD Gothic Neo"/>
              </a:rPr>
              <a:t>정상 결과 · assert 통과, (30000, 10)</a:t>
            </a:r>
          </a:p>
        </p:txBody>
      </p:sp>
      <p:sp>
        <p:nvSpPr>
          <p:cNvPr id="18" name="직선 연결선[R] 17">
            <a:extLst>
              <a:ext uri="{FF2B5EF4-FFF2-40B4-BE49-F238E27FC236}">
                <a16:creationId xmlns:a16="http://schemas.microsoft.com/office/drawing/2014/main" id="{135F13B3-D886-45C6-B46A-F1413938E0E6}"/>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9" name="직사각형 18">
            <a:extLst>
              <a:ext uri="{FF2B5EF4-FFF2-40B4-BE49-F238E27FC236}">
                <a16:creationId xmlns:a16="http://schemas.microsoft.com/office/drawing/2014/main" id="{2884B743-0B54-4DE2-83C9-A26ED07B9DC6}"/>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소괄호 안에 들어가는 값, 실행되는 기능과 등호 왼쪽에 저장되는 결과를 차례로 읽습니다.</a:t>
            </a:r>
          </a:p>
        </p:txBody>
      </p:sp>
      <p:sp>
        <p:nvSpPr>
          <p:cNvPr id="20" name="직사각형 19">
            <a:extLst>
              <a:ext uri="{FF2B5EF4-FFF2-40B4-BE49-F238E27FC236}">
                <a16:creationId xmlns:a16="http://schemas.microsoft.com/office/drawing/2014/main" id="{BA575B1B-5DCF-42E8-9678-FE41CDFC9180}"/>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13</a:t>
            </a:r>
          </a:p>
        </p:txBody>
      </p:sp>
    </p:spTree>
    <p:extLst>
      <p:ext uri="{BB962C8B-B14F-4D97-AF65-F5344CB8AC3E}">
        <p14:creationId xmlns:p14="http://schemas.microsoft.com/office/powerpoint/2010/main" val="87330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80A4FB1B-731F-49BD-ACAB-AC51F800BEB9}"/>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FB963806-0AA9-4A76-AC79-BD6338ED8DAE}"/>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assert가 통과하면 행 수와 열 수가 어떻게 된 걸까요?</a:t>
            </a:r>
          </a:p>
        </p:txBody>
      </p:sp>
      <p:sp>
        <p:nvSpPr>
          <p:cNvPr id="3" name="직선 연결선[R] 2">
            <a:extLst>
              <a:ext uri="{FF2B5EF4-FFF2-40B4-BE49-F238E27FC236}">
                <a16:creationId xmlns:a16="http://schemas.microsoft.com/office/drawing/2014/main" id="{56F34A10-D80C-4328-B85A-7A9339A56EE8}"/>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8F97FA0A-D92B-4437-B783-D69C0E71A057}"/>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결과와 복구</a:t>
            </a:r>
          </a:p>
        </p:txBody>
      </p:sp>
      <p:sp>
        <p:nvSpPr>
          <p:cNvPr id="5" name="모서리가 둥근 직사각형 4">
            <a:extLst>
              <a:ext uri="{FF2B5EF4-FFF2-40B4-BE49-F238E27FC236}">
                <a16:creationId xmlns:a16="http://schemas.microsoft.com/office/drawing/2014/main" id="{8971F708-0004-4EDF-8CCC-C002C6991D1B}"/>
              </a:ext>
            </a:extLst>
          </p:cNvPr>
          <p:cNvSpPr>
            <a:spLocks noGrp="1"/>
          </p:cNvSpPr>
          <p:nvPr/>
        </p:nvSpPr>
        <p:spPr>
          <a:xfrm>
            <a:off x="666750" y="1952625"/>
            <a:ext cx="5095875" cy="2524125"/>
          </a:xfrm>
          <a:prstGeom prst="roundRect">
            <a:avLst>
              <a:gd name="adj" fmla="val 4528"/>
            </a:avLst>
          </a:prstGeom>
          <a:solidFill>
            <a:srgbClr val="EAF7F0"/>
          </a:solidFill>
          <a:ln w="9525">
            <a:solidFill>
              <a:srgbClr val="18794E"/>
            </a:solidFill>
          </a:ln>
        </p:spPr>
        <p:txBody>
          <a:bodyPr/>
          <a:lstStyle/>
          <a:p>
            <a:endParaRPr lang="ko-KR" altLang="en-US"/>
          </a:p>
        </p:txBody>
      </p:sp>
      <p:sp>
        <p:nvSpPr>
          <p:cNvPr id="6" name="직사각형 5">
            <a:extLst>
              <a:ext uri="{FF2B5EF4-FFF2-40B4-BE49-F238E27FC236}">
                <a16:creationId xmlns:a16="http://schemas.microsoft.com/office/drawing/2014/main" id="{7BD210D2-AEBE-4823-8A43-E40F512C5FF7}"/>
              </a:ext>
            </a:extLst>
          </p:cNvPr>
          <p:cNvSpPr>
            <a:spLocks noGrp="1"/>
          </p:cNvSpPr>
          <p:nvPr/>
        </p:nvSpPr>
        <p:spPr>
          <a:xfrm>
            <a:off x="1000125" y="2266950"/>
            <a:ext cx="4429125" cy="323850"/>
          </a:xfrm>
          <a:prstGeom prst="rect">
            <a:avLst/>
          </a:prstGeom>
          <a:noFill/>
          <a:ln w="0">
            <a:noFill/>
          </a:ln>
        </p:spPr>
        <p:txBody>
          <a:bodyPr lIns="0" tIns="0" rIns="0" bIns="0" anchor="t">
            <a:normAutofit/>
          </a:bodyPr>
          <a:lstStyle/>
          <a:p>
            <a:pPr algn="l">
              <a:defRPr sz="1650" b="1">
                <a:solidFill>
                  <a:srgbClr val="18794E"/>
                </a:solidFill>
                <a:latin typeface="Apple SD Gothic Neo"/>
                <a:ea typeface="Apple SD Gothic Neo"/>
                <a:cs typeface="Apple SD Gothic Neo"/>
              </a:defRPr>
            </a:pPr>
            <a:r>
              <a:rPr sz="1650" b="1">
                <a:solidFill>
                  <a:srgbClr val="18794E"/>
                </a:solidFill>
                <a:latin typeface="Apple SD Gothic Neo"/>
                <a:ea typeface="Apple SD Gothic Neo"/>
                <a:cs typeface="Apple SD Gothic Neo"/>
              </a:rPr>
              <a:t>정상이라면</a:t>
            </a:r>
          </a:p>
        </p:txBody>
      </p:sp>
      <p:sp>
        <p:nvSpPr>
          <p:cNvPr id="7" name="직사각형 6">
            <a:extLst>
              <a:ext uri="{FF2B5EF4-FFF2-40B4-BE49-F238E27FC236}">
                <a16:creationId xmlns:a16="http://schemas.microsoft.com/office/drawing/2014/main" id="{57C6A187-A62A-44EE-A302-18E23394CC32}"/>
              </a:ext>
            </a:extLst>
          </p:cNvPr>
          <p:cNvSpPr>
            <a:spLocks noGrp="1"/>
          </p:cNvSpPr>
          <p:nvPr/>
        </p:nvSpPr>
        <p:spPr>
          <a:xfrm>
            <a:off x="1000125" y="2905125"/>
            <a:ext cx="4429125" cy="1000125"/>
          </a:xfrm>
          <a:prstGeom prst="rect">
            <a:avLst/>
          </a:prstGeom>
          <a:noFill/>
          <a:ln w="0">
            <a:noFill/>
          </a:ln>
        </p:spPr>
        <p:txBody>
          <a:bodyPr lIns="0" tIns="0" rIns="0" bIns="0" anchor="t">
            <a:normAutofit/>
          </a:bodyPr>
          <a:lstStyle/>
          <a:p>
            <a:pPr algn="ctr">
              <a:defRPr sz="2175" b="1">
                <a:solidFill>
                  <a:srgbClr val="17202A"/>
                </a:solidFill>
                <a:latin typeface="Apple SD Gothic Neo"/>
                <a:ea typeface="Apple SD Gothic Neo"/>
                <a:cs typeface="Apple SD Gothic Neo"/>
              </a:defRPr>
            </a:pPr>
            <a:r>
              <a:rPr sz="2175" b="1">
                <a:solidFill>
                  <a:srgbClr val="17202A"/>
                </a:solidFill>
                <a:latin typeface="Apple SD Gothic Neo"/>
                <a:ea typeface="Apple SD Gothic Neo"/>
                <a:cs typeface="Apple SD Gothic Neo"/>
              </a:rPr>
              <a:t>assert 통과, (30000, 10)</a:t>
            </a:r>
          </a:p>
        </p:txBody>
      </p:sp>
      <p:sp>
        <p:nvSpPr>
          <p:cNvPr id="8" name="모서리가 둥근 직사각형 7">
            <a:extLst>
              <a:ext uri="{FF2B5EF4-FFF2-40B4-BE49-F238E27FC236}">
                <a16:creationId xmlns:a16="http://schemas.microsoft.com/office/drawing/2014/main" id="{CB00B1CF-0471-4E13-9771-C6578B7D38E5}"/>
              </a:ext>
            </a:extLst>
          </p:cNvPr>
          <p:cNvSpPr>
            <a:spLocks noGrp="1"/>
          </p:cNvSpPr>
          <p:nvPr/>
        </p:nvSpPr>
        <p:spPr>
          <a:xfrm>
            <a:off x="6429375" y="1952625"/>
            <a:ext cx="5095875" cy="2524125"/>
          </a:xfrm>
          <a:prstGeom prst="roundRect">
            <a:avLst>
              <a:gd name="adj" fmla="val 4528"/>
            </a:avLst>
          </a:prstGeom>
          <a:solidFill>
            <a:srgbClr val="FFF0EE"/>
          </a:solidFill>
          <a:ln w="9525">
            <a:solidFill>
              <a:srgbClr val="B42318"/>
            </a:solidFill>
          </a:ln>
        </p:spPr>
        <p:txBody>
          <a:bodyPr/>
          <a:lstStyle/>
          <a:p>
            <a:endParaRPr lang="ko-KR" altLang="en-US"/>
          </a:p>
        </p:txBody>
      </p:sp>
      <p:sp>
        <p:nvSpPr>
          <p:cNvPr id="9" name="직사각형 8">
            <a:extLst>
              <a:ext uri="{FF2B5EF4-FFF2-40B4-BE49-F238E27FC236}">
                <a16:creationId xmlns:a16="http://schemas.microsoft.com/office/drawing/2014/main" id="{F74CAEF1-DC3A-489C-B982-142DE3BAE707}"/>
              </a:ext>
            </a:extLst>
          </p:cNvPr>
          <p:cNvSpPr>
            <a:spLocks noGrp="1"/>
          </p:cNvSpPr>
          <p:nvPr/>
        </p:nvSpPr>
        <p:spPr>
          <a:xfrm>
            <a:off x="6762750" y="2266950"/>
            <a:ext cx="4429125" cy="323850"/>
          </a:xfrm>
          <a:prstGeom prst="rect">
            <a:avLst/>
          </a:prstGeom>
          <a:noFill/>
          <a:ln w="0">
            <a:noFill/>
          </a:ln>
        </p:spPr>
        <p:txBody>
          <a:bodyPr lIns="0" tIns="0" rIns="0" bIns="0" anchor="t">
            <a:normAutofit/>
          </a:bodyPr>
          <a:lstStyle/>
          <a:p>
            <a:pPr algn="l">
              <a:defRPr sz="1650" b="1">
                <a:solidFill>
                  <a:srgbClr val="B42318"/>
                </a:solidFill>
                <a:latin typeface="Apple SD Gothic Neo"/>
                <a:ea typeface="Apple SD Gothic Neo"/>
                <a:cs typeface="Apple SD Gothic Neo"/>
              </a:defRPr>
            </a:pPr>
            <a:r>
              <a:rPr sz="1650" b="1">
                <a:solidFill>
                  <a:srgbClr val="B42318"/>
                </a:solidFill>
                <a:latin typeface="Apple SD Gothic Neo"/>
                <a:ea typeface="Apple SD Gothic Neo"/>
                <a:cs typeface="Apple SD Gothic Neo"/>
              </a:rPr>
              <a:t>막혔다면</a:t>
            </a:r>
          </a:p>
        </p:txBody>
      </p:sp>
      <p:sp>
        <p:nvSpPr>
          <p:cNvPr id="10" name="직사각형 9">
            <a:extLst>
              <a:ext uri="{FF2B5EF4-FFF2-40B4-BE49-F238E27FC236}">
                <a16:creationId xmlns:a16="http://schemas.microsoft.com/office/drawing/2014/main" id="{5B56BDE6-3C33-4996-B83A-4C93B667FD7B}"/>
              </a:ext>
            </a:extLst>
          </p:cNvPr>
          <p:cNvSpPr>
            <a:spLocks noGrp="1"/>
          </p:cNvSpPr>
          <p:nvPr/>
        </p:nvSpPr>
        <p:spPr>
          <a:xfrm>
            <a:off x="6762750" y="2838450"/>
            <a:ext cx="4429125" cy="1095375"/>
          </a:xfrm>
          <a:prstGeom prst="rect">
            <a:avLst/>
          </a:prstGeom>
          <a:noFill/>
          <a:ln w="0">
            <a:noFill/>
          </a:ln>
        </p:spPr>
        <p:txBody>
          <a:bodyPr lIns="0" tIns="0" rIns="0" bIns="0" anchor="t">
            <a:normAutofit/>
          </a:bodyPr>
          <a:lstStyle/>
          <a:p>
            <a:pPr algn="ctr">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frames 길이와 첫 DataFrame shape를 확인합니다.</a:t>
            </a:r>
          </a:p>
        </p:txBody>
      </p:sp>
      <p:sp>
        <p:nvSpPr>
          <p:cNvPr id="11" name="모서리가 둥근 직사각형 10">
            <a:extLst>
              <a:ext uri="{FF2B5EF4-FFF2-40B4-BE49-F238E27FC236}">
                <a16:creationId xmlns:a16="http://schemas.microsoft.com/office/drawing/2014/main" id="{29F20550-0C63-4028-AD13-E39126A36D93}"/>
              </a:ext>
            </a:extLst>
          </p:cNvPr>
          <p:cNvSpPr>
            <a:spLocks noGrp="1"/>
          </p:cNvSpPr>
          <p:nvPr/>
        </p:nvSpPr>
        <p:spPr>
          <a:xfrm>
            <a:off x="1524000" y="4905375"/>
            <a:ext cx="9144000" cy="628650"/>
          </a:xfrm>
          <a:prstGeom prst="roundRect">
            <a:avLst>
              <a:gd name="adj" fmla="val 18182"/>
            </a:avLst>
          </a:prstGeom>
          <a:solidFill>
            <a:srgbClr val="FFF5DF"/>
          </a:solidFill>
          <a:ln w="9525">
            <a:solidFill>
              <a:srgbClr val="9A5B13"/>
            </a:solidFill>
          </a:ln>
        </p:spPr>
        <p:txBody>
          <a:bodyPr/>
          <a:lstStyle/>
          <a:p>
            <a:endParaRPr lang="ko-KR" altLang="en-US"/>
          </a:p>
        </p:txBody>
      </p:sp>
      <p:sp>
        <p:nvSpPr>
          <p:cNvPr id="12" name="직사각형 11">
            <a:extLst>
              <a:ext uri="{FF2B5EF4-FFF2-40B4-BE49-F238E27FC236}">
                <a16:creationId xmlns:a16="http://schemas.microsoft.com/office/drawing/2014/main" id="{0435F189-18D5-4F09-8E14-31794F44D489}"/>
              </a:ext>
            </a:extLst>
          </p:cNvPr>
          <p:cNvSpPr>
            <a:spLocks noGrp="1"/>
          </p:cNvSpPr>
          <p:nvPr/>
        </p:nvSpPr>
        <p:spPr>
          <a:xfrm>
            <a:off x="1809750" y="5086350"/>
            <a:ext cx="8572500" cy="304800"/>
          </a:xfrm>
          <a:prstGeom prst="rect">
            <a:avLst/>
          </a:prstGeom>
          <a:noFill/>
          <a:ln w="0">
            <a:noFill/>
          </a:ln>
        </p:spPr>
        <p:txBody>
          <a:bodyPr lIns="0" tIns="0" rIns="0" bIns="0" anchor="t">
            <a:normAutofit/>
          </a:bodyPr>
          <a:lstStyle/>
          <a:p>
            <a:pPr algn="ctr">
              <a:defRPr sz="1425" b="1">
                <a:solidFill>
                  <a:srgbClr val="9A5B13"/>
                </a:solidFill>
                <a:latin typeface="Apple SD Gothic Neo"/>
                <a:ea typeface="Apple SD Gothic Neo"/>
                <a:cs typeface="Apple SD Gothic Neo"/>
              </a:defRPr>
            </a:pPr>
            <a:r>
              <a:rPr sz="1425" b="1">
                <a:solidFill>
                  <a:srgbClr val="9A5B13"/>
                </a:solidFill>
                <a:latin typeface="Apple SD Gothic Neo"/>
                <a:ea typeface="Apple SD Gothic Neo"/>
                <a:cs typeface="Apple SD Gothic Neo"/>
              </a:rPr>
              <a:t>자주 생기는 문제 · 행·열 불일치</a:t>
            </a:r>
          </a:p>
        </p:txBody>
      </p:sp>
      <p:sp>
        <p:nvSpPr>
          <p:cNvPr id="13" name="직선 연결선[R] 12">
            <a:extLst>
              <a:ext uri="{FF2B5EF4-FFF2-40B4-BE49-F238E27FC236}">
                <a16:creationId xmlns:a16="http://schemas.microsoft.com/office/drawing/2014/main" id="{E6BA114E-29E9-4375-ADB3-ED0EC63440CA}"/>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4" name="직사각형 13">
            <a:extLst>
              <a:ext uri="{FF2B5EF4-FFF2-40B4-BE49-F238E27FC236}">
                <a16:creationId xmlns:a16="http://schemas.microsoft.com/office/drawing/2014/main" id="{012ACA44-E34B-44F2-A546-9DE681BDCABF}"/>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정상 결과 assert 통과, (30000, 10)이 무엇의 크기·개수·상태를 뜻하는지 말할 수 있어야 합니다.</a:t>
            </a:r>
          </a:p>
        </p:txBody>
      </p:sp>
      <p:sp>
        <p:nvSpPr>
          <p:cNvPr id="15" name="직사각형 14">
            <a:extLst>
              <a:ext uri="{FF2B5EF4-FFF2-40B4-BE49-F238E27FC236}">
                <a16:creationId xmlns:a16="http://schemas.microsoft.com/office/drawing/2014/main" id="{D48D4FB9-3656-4530-8FDA-FFB54791B832}"/>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14</a:t>
            </a:r>
          </a:p>
        </p:txBody>
      </p:sp>
    </p:spTree>
    <p:extLst>
      <p:ext uri="{BB962C8B-B14F-4D97-AF65-F5344CB8AC3E}">
        <p14:creationId xmlns:p14="http://schemas.microsoft.com/office/powerpoint/2010/main" val="20356324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ED5B866B-D402-4A9C-A7F9-F93FCD87E4D0}"/>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A511EBCE-9202-44A2-A0EB-4ACD4D87F21D}"/>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Q3. 30일 활동을 회원별 한 행으로 요약합니다</a:t>
            </a:r>
          </a:p>
        </p:txBody>
      </p:sp>
      <p:sp>
        <p:nvSpPr>
          <p:cNvPr id="3" name="직선 연결선[R] 2">
            <a:extLst>
              <a:ext uri="{FF2B5EF4-FFF2-40B4-BE49-F238E27FC236}">
                <a16:creationId xmlns:a16="http://schemas.microsoft.com/office/drawing/2014/main" id="{96E7ECF5-C0F0-49E3-B2DC-4D0F7F351F3E}"/>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A27A1E80-AB37-4000-A992-7901A5252D73}"/>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왜 필요한가</a:t>
            </a:r>
          </a:p>
        </p:txBody>
      </p:sp>
      <p:sp>
        <p:nvSpPr>
          <p:cNvPr id="5" name="직사각형 4">
            <a:extLst>
              <a:ext uri="{FF2B5EF4-FFF2-40B4-BE49-F238E27FC236}">
                <a16:creationId xmlns:a16="http://schemas.microsoft.com/office/drawing/2014/main" id="{007B005E-566D-4874-8558-0213A0535957}"/>
              </a:ext>
            </a:extLst>
          </p:cNvPr>
          <p:cNvSpPr>
            <a:spLocks noGrp="1"/>
          </p:cNvSpPr>
          <p:nvPr/>
        </p:nvSpPr>
        <p:spPr>
          <a:xfrm>
            <a:off x="666750" y="1857375"/>
            <a:ext cx="10858500" cy="857250"/>
          </a:xfrm>
          <a:prstGeom prst="rect">
            <a:avLst/>
          </a:prstGeom>
          <a:noFill/>
          <a:ln w="0">
            <a:noFill/>
          </a:ln>
        </p:spPr>
        <p:txBody>
          <a:bodyPr lIns="0" tIns="0" rIns="0" bIns="0" anchor="t">
            <a:normAutofit/>
          </a:bodyPr>
          <a:lstStyle/>
          <a:p>
            <a:pPr algn="ctr">
              <a:defRPr sz="2775" b="1">
                <a:solidFill>
                  <a:srgbClr val="17324D"/>
                </a:solidFill>
                <a:latin typeface="Apple SD Gothic Neo"/>
                <a:ea typeface="Apple SD Gothic Neo"/>
                <a:cs typeface="Apple SD Gothic Neo"/>
              </a:defRPr>
            </a:pPr>
            <a:r>
              <a:rPr sz="2775" b="1">
                <a:solidFill>
                  <a:srgbClr val="17324D"/>
                </a:solidFill>
                <a:latin typeface="Apple SD Gothic Neo"/>
                <a:ea typeface="Apple SD Gothic Neo"/>
                <a:cs typeface="Apple SD Gothic Neo"/>
              </a:rPr>
              <a:t>30,000행을 1,000행으로 줄인 것은 삭제일까요, 요약일까요?</a:t>
            </a:r>
          </a:p>
        </p:txBody>
      </p:sp>
      <p:sp>
        <p:nvSpPr>
          <p:cNvPr id="6" name="모서리가 둥근 직사각형 5">
            <a:extLst>
              <a:ext uri="{FF2B5EF4-FFF2-40B4-BE49-F238E27FC236}">
                <a16:creationId xmlns:a16="http://schemas.microsoft.com/office/drawing/2014/main" id="{9FDB916E-8F99-4B57-92EA-C3DB99F9CDEB}"/>
              </a:ext>
            </a:extLst>
          </p:cNvPr>
          <p:cNvSpPr>
            <a:spLocks noGrp="1"/>
          </p:cNvSpPr>
          <p:nvPr/>
        </p:nvSpPr>
        <p:spPr>
          <a:xfrm>
            <a:off x="1047750" y="3190875"/>
            <a:ext cx="10096500" cy="1428750"/>
          </a:xfrm>
          <a:prstGeom prst="roundRect">
            <a:avLst>
              <a:gd name="adj" fmla="val 8000"/>
            </a:avLst>
          </a:prstGeom>
          <a:solidFill>
            <a:srgbClr val="EAF3FF"/>
          </a:solidFill>
          <a:ln w="9525">
            <a:solidFill>
              <a:srgbClr val="2F7DF4"/>
            </a:solidFill>
          </a:ln>
        </p:spPr>
        <p:txBody>
          <a:bodyPr/>
          <a:lstStyle/>
          <a:p>
            <a:endParaRPr lang="ko-KR" altLang="en-US"/>
          </a:p>
        </p:txBody>
      </p:sp>
      <p:sp>
        <p:nvSpPr>
          <p:cNvPr id="7" name="직사각형 6">
            <a:extLst>
              <a:ext uri="{FF2B5EF4-FFF2-40B4-BE49-F238E27FC236}">
                <a16:creationId xmlns:a16="http://schemas.microsoft.com/office/drawing/2014/main" id="{F38299E4-5C04-40F6-BD58-1B12389CFCEC}"/>
              </a:ext>
            </a:extLst>
          </p:cNvPr>
          <p:cNvSpPr>
            <a:spLocks noGrp="1"/>
          </p:cNvSpPr>
          <p:nvPr/>
        </p:nvSpPr>
        <p:spPr>
          <a:xfrm>
            <a:off x="1381125" y="3476625"/>
            <a:ext cx="2190750" cy="285750"/>
          </a:xfrm>
          <a:prstGeom prst="rect">
            <a:avLst/>
          </a:prstGeom>
          <a:noFill/>
          <a:ln w="0">
            <a:noFill/>
          </a:ln>
        </p:spPr>
        <p:txBody>
          <a:bodyPr lIns="0" tIns="0" rIns="0" bIns="0" anchor="t">
            <a:normAutofit/>
          </a:bodyPr>
          <a:lstStyle/>
          <a:p>
            <a:pPr algn="l">
              <a:defRPr sz="1425" b="1">
                <a:solidFill>
                  <a:srgbClr val="2F7DF4"/>
                </a:solidFill>
                <a:latin typeface="Apple SD Gothic Neo"/>
                <a:ea typeface="Apple SD Gothic Neo"/>
                <a:cs typeface="Apple SD Gothic Neo"/>
              </a:defRPr>
            </a:pPr>
            <a:r>
              <a:rPr sz="1425" b="1">
                <a:solidFill>
                  <a:srgbClr val="2F7DF4"/>
                </a:solidFill>
                <a:latin typeface="Apple SD Gothic Neo"/>
                <a:ea typeface="Apple SD Gothic Neo"/>
                <a:cs typeface="Apple SD Gothic Neo"/>
              </a:rPr>
              <a:t>이 일을 하는 이유</a:t>
            </a:r>
          </a:p>
        </p:txBody>
      </p:sp>
      <p:sp>
        <p:nvSpPr>
          <p:cNvPr id="8" name="직사각형 7">
            <a:extLst>
              <a:ext uri="{FF2B5EF4-FFF2-40B4-BE49-F238E27FC236}">
                <a16:creationId xmlns:a16="http://schemas.microsoft.com/office/drawing/2014/main" id="{AFC856FB-B8EA-4949-A259-AD85AD57630A}"/>
              </a:ext>
            </a:extLst>
          </p:cNvPr>
          <p:cNvSpPr>
            <a:spLocks noGrp="1"/>
          </p:cNvSpPr>
          <p:nvPr/>
        </p:nvSpPr>
        <p:spPr>
          <a:xfrm>
            <a:off x="3810000" y="3429000"/>
            <a:ext cx="6858000" cy="742950"/>
          </a:xfrm>
          <a:prstGeom prst="rect">
            <a:avLst/>
          </a:prstGeom>
          <a:noFill/>
          <a:ln w="0">
            <a:noFill/>
          </a:ln>
        </p:spPr>
        <p:txBody>
          <a:bodyPr lIns="0" tIns="0" rIns="0" bIns="0" anchor="t">
            <a:normAutofit/>
          </a:bodyPr>
          <a:lstStyle/>
          <a:p>
            <a:pPr algn="l">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원본 로그를 전처리기가 받을 수 있는 회원 단위 지표로 바꿉니다.</a:t>
            </a:r>
          </a:p>
        </p:txBody>
      </p:sp>
      <p:sp>
        <p:nvSpPr>
          <p:cNvPr id="9" name="직선 연결선[R] 8">
            <a:extLst>
              <a:ext uri="{FF2B5EF4-FFF2-40B4-BE49-F238E27FC236}">
                <a16:creationId xmlns:a16="http://schemas.microsoft.com/office/drawing/2014/main" id="{3B664680-9682-48C0-A7FD-15B983D4591F}"/>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09BD0194-723B-448D-BA49-569D4DC3D4D7}"/>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원본 로그를 전처리기가 받을 수 있는 회원 단위 지표로 바꿉니다.</a:t>
            </a:r>
          </a:p>
        </p:txBody>
      </p:sp>
      <p:sp>
        <p:nvSpPr>
          <p:cNvPr id="11" name="직사각형 10">
            <a:extLst>
              <a:ext uri="{FF2B5EF4-FFF2-40B4-BE49-F238E27FC236}">
                <a16:creationId xmlns:a16="http://schemas.microsoft.com/office/drawing/2014/main" id="{4EC6AAFF-EEBF-437B-AB06-BB24C2CD33FB}"/>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15</a:t>
            </a:r>
          </a:p>
        </p:txBody>
      </p:sp>
    </p:spTree>
    <p:extLst>
      <p:ext uri="{BB962C8B-B14F-4D97-AF65-F5344CB8AC3E}">
        <p14:creationId xmlns:p14="http://schemas.microsoft.com/office/powerpoint/2010/main" val="2012347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B3CD2254-38B3-4D41-B35B-F4382A2F23D5}"/>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E47C0A50-96E2-4139-82E5-BC7BB5A1B92C}"/>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긴 코드에서 이번에 직접 채울 두 핵심은 무엇일까요?</a:t>
            </a:r>
          </a:p>
        </p:txBody>
      </p:sp>
      <p:sp>
        <p:nvSpPr>
          <p:cNvPr id="3" name="직선 연결선[R] 2">
            <a:extLst>
              <a:ext uri="{FF2B5EF4-FFF2-40B4-BE49-F238E27FC236}">
                <a16:creationId xmlns:a16="http://schemas.microsoft.com/office/drawing/2014/main" id="{189C4FE1-90CB-4A7A-B8A7-D8AB2DE84384}"/>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B52551B1-F639-45BE-8855-91587BCC8589}"/>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자료구조</a:t>
            </a:r>
          </a:p>
        </p:txBody>
      </p:sp>
      <p:sp>
        <p:nvSpPr>
          <p:cNvPr id="5" name="모서리가 둥근 직사각형 4">
            <a:extLst>
              <a:ext uri="{FF2B5EF4-FFF2-40B4-BE49-F238E27FC236}">
                <a16:creationId xmlns:a16="http://schemas.microsoft.com/office/drawing/2014/main" id="{01047D15-0E85-47E1-BE04-96CF73D620BC}"/>
              </a:ext>
            </a:extLst>
          </p:cNvPr>
          <p:cNvSpPr>
            <a:spLocks noGrp="1"/>
          </p:cNvSpPr>
          <p:nvPr/>
        </p:nvSpPr>
        <p:spPr>
          <a:xfrm>
            <a:off x="704850" y="1952625"/>
            <a:ext cx="10782300" cy="1762125"/>
          </a:xfrm>
          <a:prstGeom prst="roundRect">
            <a:avLst>
              <a:gd name="adj" fmla="val 648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2D210660-2DE7-46BC-A76E-BD557FF4F7C6}"/>
              </a:ext>
            </a:extLst>
          </p:cNvPr>
          <p:cNvSpPr>
            <a:spLocks noGrp="1"/>
          </p:cNvSpPr>
          <p:nvPr/>
        </p:nvSpPr>
        <p:spPr>
          <a:xfrm>
            <a:off x="1047750" y="2362200"/>
            <a:ext cx="10096500" cy="952500"/>
          </a:xfrm>
          <a:prstGeom prst="rect">
            <a:avLst/>
          </a:prstGeom>
          <a:noFill/>
          <a:ln w="0">
            <a:noFill/>
          </a:ln>
        </p:spPr>
        <p:txBody>
          <a:bodyPr lIns="0" tIns="0" rIns="0" bIns="0" anchor="t">
            <a:normAutofit/>
          </a:bodyPr>
          <a:lstStyle/>
          <a:p>
            <a:pPr algn="ctr">
              <a:defRPr sz="2175" b="1">
                <a:solidFill>
                  <a:srgbClr val="17202A"/>
                </a:solidFill>
                <a:latin typeface="Apple SD Gothic Neo"/>
                <a:ea typeface="Apple SD Gothic Neo"/>
                <a:cs typeface="Apple SD Gothic Neo"/>
              </a:defRPr>
            </a:pPr>
            <a:r>
              <a:rPr sz="2175" b="1">
                <a:solidFill>
                  <a:srgbClr val="17202A"/>
                </a:solidFill>
                <a:latin typeface="Apple SD Gothic Neo"/>
                <a:ea typeface="Apple SD Gothic Neo"/>
                <a:cs typeface="Apple SD Gothic Neo"/>
              </a:rPr>
              <a:t>member_activity는 1,000행×10열 DataFrame입니다.</a:t>
            </a:r>
          </a:p>
        </p:txBody>
      </p:sp>
      <p:sp>
        <p:nvSpPr>
          <p:cNvPr id="7" name="모서리가 둥근 직사각형 6">
            <a:extLst>
              <a:ext uri="{FF2B5EF4-FFF2-40B4-BE49-F238E27FC236}">
                <a16:creationId xmlns:a16="http://schemas.microsoft.com/office/drawing/2014/main" id="{7F99459C-1CA2-47E6-8056-5BB0B5498B01}"/>
              </a:ext>
            </a:extLst>
          </p:cNvPr>
          <p:cNvSpPr>
            <a:spLocks noGrp="1"/>
          </p:cNvSpPr>
          <p:nvPr/>
        </p:nvSpPr>
        <p:spPr>
          <a:xfrm>
            <a:off x="2047875" y="4286250"/>
            <a:ext cx="2095500" cy="904875"/>
          </a:xfrm>
          <a:prstGeom prst="roundRect">
            <a:avLst>
              <a:gd name="adj" fmla="val 12632"/>
            </a:avLst>
          </a:prstGeom>
          <a:solidFill>
            <a:srgbClr val="EAF3FF"/>
          </a:solidFill>
          <a:ln w="9525">
            <a:solidFill>
              <a:srgbClr val="2F7DF4"/>
            </a:solidFill>
          </a:ln>
        </p:spPr>
        <p:txBody>
          <a:bodyPr/>
          <a:lstStyle/>
          <a:p>
            <a:endParaRPr lang="ko-KR" altLang="en-US"/>
          </a:p>
        </p:txBody>
      </p:sp>
      <p:sp>
        <p:nvSpPr>
          <p:cNvPr id="8" name="직사각형 7">
            <a:extLst>
              <a:ext uri="{FF2B5EF4-FFF2-40B4-BE49-F238E27FC236}">
                <a16:creationId xmlns:a16="http://schemas.microsoft.com/office/drawing/2014/main" id="{64CEC7D8-9B70-4DD2-8B68-4628E024FF00}"/>
              </a:ext>
            </a:extLst>
          </p:cNvPr>
          <p:cNvSpPr>
            <a:spLocks noGrp="1"/>
          </p:cNvSpPr>
          <p:nvPr/>
        </p:nvSpPr>
        <p:spPr>
          <a:xfrm>
            <a:off x="2143125" y="4429125"/>
            <a:ext cx="1905000" cy="619125"/>
          </a:xfrm>
          <a:prstGeom prst="rect">
            <a:avLst/>
          </a:prstGeom>
          <a:noFill/>
          <a:ln w="0">
            <a:noFill/>
          </a:ln>
        </p:spPr>
        <p:txBody>
          <a:bodyPr lIns="0" tIns="0" rIns="0" bIns="0" anchor="t">
            <a:normAutofit/>
          </a:bodyPr>
          <a:lstStyle/>
          <a:p>
            <a:pPr algn="ctr">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30,000행 activity</a:t>
            </a:r>
          </a:p>
        </p:txBody>
      </p:sp>
      <p:sp>
        <p:nvSpPr>
          <p:cNvPr id="9" name="직선 연결선[R] 8">
            <a:extLst>
              <a:ext uri="{FF2B5EF4-FFF2-40B4-BE49-F238E27FC236}">
                <a16:creationId xmlns:a16="http://schemas.microsoft.com/office/drawing/2014/main" id="{F5CF1CE2-52F4-4EE9-8FAF-D7DCC0D699E8}"/>
              </a:ext>
            </a:extLst>
          </p:cNvPr>
          <p:cNvSpPr>
            <a:spLocks noGrp="1"/>
          </p:cNvSpPr>
          <p:nvPr/>
        </p:nvSpPr>
        <p:spPr>
          <a:xfrm>
            <a:off x="4191000" y="4733925"/>
            <a:ext cx="857250" cy="0"/>
          </a:xfrm>
          <a:prstGeom prst="line">
            <a:avLst/>
          </a:prstGeom>
          <a:noFill/>
          <a:ln w="28575">
            <a:solidFill>
              <a:srgbClr val="2F7DF4"/>
            </a:solidFill>
          </a:ln>
        </p:spPr>
        <p:txBody>
          <a:bodyPr/>
          <a:lstStyle/>
          <a:p>
            <a:endParaRPr lang="ko-KR" altLang="en-US"/>
          </a:p>
        </p:txBody>
      </p:sp>
      <p:sp>
        <p:nvSpPr>
          <p:cNvPr id="10" name="모서리가 둥근 직사각형 9">
            <a:extLst>
              <a:ext uri="{FF2B5EF4-FFF2-40B4-BE49-F238E27FC236}">
                <a16:creationId xmlns:a16="http://schemas.microsoft.com/office/drawing/2014/main" id="{A52B8E22-E818-415F-A491-3333EF5C68BF}"/>
              </a:ext>
            </a:extLst>
          </p:cNvPr>
          <p:cNvSpPr>
            <a:spLocks noGrp="1"/>
          </p:cNvSpPr>
          <p:nvPr/>
        </p:nvSpPr>
        <p:spPr>
          <a:xfrm>
            <a:off x="5191125" y="4286250"/>
            <a:ext cx="2095500" cy="904875"/>
          </a:xfrm>
          <a:prstGeom prst="roundRect">
            <a:avLst>
              <a:gd name="adj" fmla="val 12632"/>
            </a:avLst>
          </a:prstGeom>
          <a:solidFill>
            <a:srgbClr val="EAF3FF"/>
          </a:solidFill>
          <a:ln w="9525">
            <a:solidFill>
              <a:srgbClr val="2F7DF4"/>
            </a:solidFill>
          </a:ln>
        </p:spPr>
        <p:txBody>
          <a:bodyPr/>
          <a:lstStyle/>
          <a:p>
            <a:endParaRPr lang="ko-KR" altLang="en-US"/>
          </a:p>
        </p:txBody>
      </p:sp>
      <p:sp>
        <p:nvSpPr>
          <p:cNvPr id="11" name="직사각형 10">
            <a:extLst>
              <a:ext uri="{FF2B5EF4-FFF2-40B4-BE49-F238E27FC236}">
                <a16:creationId xmlns:a16="http://schemas.microsoft.com/office/drawing/2014/main" id="{501FD66C-5752-4D15-A735-1A5514D28FD7}"/>
              </a:ext>
            </a:extLst>
          </p:cNvPr>
          <p:cNvSpPr>
            <a:spLocks noGrp="1"/>
          </p:cNvSpPr>
          <p:nvPr/>
        </p:nvSpPr>
        <p:spPr>
          <a:xfrm>
            <a:off x="5286375" y="4429125"/>
            <a:ext cx="1905000" cy="619125"/>
          </a:xfrm>
          <a:prstGeom prst="rect">
            <a:avLst/>
          </a:prstGeom>
          <a:noFill/>
          <a:ln w="0">
            <a:noFill/>
          </a:ln>
        </p:spPr>
        <p:txBody>
          <a:bodyPr lIns="0" tIns="0" rIns="0" bIns="0" anchor="t">
            <a:normAutofit/>
          </a:bodyPr>
          <a:lstStyle/>
          <a:p>
            <a:pPr algn="ctr">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자료형 정리·groupby·날짜 차이</a:t>
            </a:r>
          </a:p>
        </p:txBody>
      </p:sp>
      <p:sp>
        <p:nvSpPr>
          <p:cNvPr id="12" name="직선 연결선[R] 11">
            <a:extLst>
              <a:ext uri="{FF2B5EF4-FFF2-40B4-BE49-F238E27FC236}">
                <a16:creationId xmlns:a16="http://schemas.microsoft.com/office/drawing/2014/main" id="{5E133D9C-6167-41D7-868C-20A80EF1E76A}"/>
              </a:ext>
            </a:extLst>
          </p:cNvPr>
          <p:cNvSpPr>
            <a:spLocks noGrp="1"/>
          </p:cNvSpPr>
          <p:nvPr/>
        </p:nvSpPr>
        <p:spPr>
          <a:xfrm>
            <a:off x="7334250" y="4733925"/>
            <a:ext cx="857250" cy="0"/>
          </a:xfrm>
          <a:prstGeom prst="line">
            <a:avLst/>
          </a:prstGeom>
          <a:noFill/>
          <a:ln w="28575">
            <a:solidFill>
              <a:srgbClr val="2F7DF4"/>
            </a:solidFill>
          </a:ln>
        </p:spPr>
        <p:txBody>
          <a:bodyPr/>
          <a:lstStyle/>
          <a:p>
            <a:endParaRPr lang="ko-KR" altLang="en-US"/>
          </a:p>
        </p:txBody>
      </p:sp>
      <p:sp>
        <p:nvSpPr>
          <p:cNvPr id="13" name="모서리가 둥근 직사각형 12">
            <a:extLst>
              <a:ext uri="{FF2B5EF4-FFF2-40B4-BE49-F238E27FC236}">
                <a16:creationId xmlns:a16="http://schemas.microsoft.com/office/drawing/2014/main" id="{8889A3BC-EE7A-41B4-9F57-88BA658E1297}"/>
              </a:ext>
            </a:extLst>
          </p:cNvPr>
          <p:cNvSpPr>
            <a:spLocks noGrp="1"/>
          </p:cNvSpPr>
          <p:nvPr/>
        </p:nvSpPr>
        <p:spPr>
          <a:xfrm>
            <a:off x="8334375" y="4286250"/>
            <a:ext cx="2095500" cy="904875"/>
          </a:xfrm>
          <a:prstGeom prst="roundRect">
            <a:avLst>
              <a:gd name="adj" fmla="val 12632"/>
            </a:avLst>
          </a:prstGeom>
          <a:solidFill>
            <a:srgbClr val="EAF7F0"/>
          </a:solidFill>
          <a:ln w="9525">
            <a:solidFill>
              <a:srgbClr val="18794E"/>
            </a:solidFill>
          </a:ln>
        </p:spPr>
        <p:txBody>
          <a:bodyPr/>
          <a:lstStyle/>
          <a:p>
            <a:endParaRPr lang="ko-KR" altLang="en-US"/>
          </a:p>
        </p:txBody>
      </p:sp>
      <p:sp>
        <p:nvSpPr>
          <p:cNvPr id="14" name="직사각형 13">
            <a:extLst>
              <a:ext uri="{FF2B5EF4-FFF2-40B4-BE49-F238E27FC236}">
                <a16:creationId xmlns:a16="http://schemas.microsoft.com/office/drawing/2014/main" id="{AB249B2E-2BF2-48C2-902B-78B3CE23600E}"/>
              </a:ext>
            </a:extLst>
          </p:cNvPr>
          <p:cNvSpPr>
            <a:spLocks noGrp="1"/>
          </p:cNvSpPr>
          <p:nvPr/>
        </p:nvSpPr>
        <p:spPr>
          <a:xfrm>
            <a:off x="8429625" y="4429125"/>
            <a:ext cx="1905000" cy="619125"/>
          </a:xfrm>
          <a:prstGeom prst="rect">
            <a:avLst/>
          </a:prstGeom>
          <a:noFill/>
          <a:ln w="0">
            <a:noFill/>
          </a:ln>
        </p:spPr>
        <p:txBody>
          <a:bodyPr lIns="0" tIns="0" rIns="0" bIns="0" anchor="t">
            <a:normAutofit/>
          </a:bodyPr>
          <a:lstStyle/>
          <a:p>
            <a:pPr algn="ctr">
              <a:defRPr sz="1350" b="1">
                <a:solidFill>
                  <a:srgbClr val="18794E"/>
                </a:solidFill>
                <a:latin typeface="Apple SD Gothic Neo"/>
                <a:ea typeface="Apple SD Gothic Neo"/>
                <a:cs typeface="Apple SD Gothic Neo"/>
              </a:defRPr>
            </a:pPr>
            <a:r>
              <a:rPr sz="1350" b="1">
                <a:solidFill>
                  <a:srgbClr val="18794E"/>
                </a:solidFill>
                <a:latin typeface="Apple SD Gothic Neo"/>
                <a:ea typeface="Apple SD Gothic Neo"/>
                <a:cs typeface="Apple SD Gothic Neo"/>
              </a:rPr>
              <a:t>회원별 1,000행 member_activity</a:t>
            </a:r>
          </a:p>
        </p:txBody>
      </p:sp>
      <p:sp>
        <p:nvSpPr>
          <p:cNvPr id="15" name="직선 연결선[R] 14">
            <a:extLst>
              <a:ext uri="{FF2B5EF4-FFF2-40B4-BE49-F238E27FC236}">
                <a16:creationId xmlns:a16="http://schemas.microsoft.com/office/drawing/2014/main" id="{8764CE43-D297-44E8-A66F-653CE23EA8E2}"/>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6" name="직사각형 15">
            <a:extLst>
              <a:ext uri="{FF2B5EF4-FFF2-40B4-BE49-F238E27FC236}">
                <a16:creationId xmlns:a16="http://schemas.microsoft.com/office/drawing/2014/main" id="{89AF97A8-7AA1-455B-97BB-9706358196A4}"/>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30,000행 activity에서 회원별 1,000행 member_activity이 만들어지는 동안 자료의 모양과 역할이 어떻게 달라지는지 확인합니다.</a:t>
            </a:r>
          </a:p>
        </p:txBody>
      </p:sp>
      <p:sp>
        <p:nvSpPr>
          <p:cNvPr id="17" name="직사각형 16">
            <a:extLst>
              <a:ext uri="{FF2B5EF4-FFF2-40B4-BE49-F238E27FC236}">
                <a16:creationId xmlns:a16="http://schemas.microsoft.com/office/drawing/2014/main" id="{79A39911-7A32-44CE-9CA6-AE264322D2CC}"/>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16</a:t>
            </a:r>
          </a:p>
        </p:txBody>
      </p:sp>
    </p:spTree>
    <p:extLst>
      <p:ext uri="{BB962C8B-B14F-4D97-AF65-F5344CB8AC3E}">
        <p14:creationId xmlns:p14="http://schemas.microsoft.com/office/powerpoint/2010/main" val="2106329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5DE1DF4B-49B8-4DAA-BA86-8DACA7F31DA3}"/>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C0CC6B87-058F-4F9B-B373-867A0D2513F2}"/>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coerce와 1000을 채워 요약 결과를 검사해 봅시다</a:t>
            </a:r>
          </a:p>
        </p:txBody>
      </p:sp>
      <p:sp>
        <p:nvSpPr>
          <p:cNvPr id="3" name="직선 연결선[R] 2">
            <a:extLst>
              <a:ext uri="{FF2B5EF4-FFF2-40B4-BE49-F238E27FC236}">
                <a16:creationId xmlns:a16="http://schemas.microsoft.com/office/drawing/2014/main" id="{90BEED0E-A234-4498-B7BA-6414AE6AF756}"/>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0D69EDC4-903D-4057-9C05-21416507CFD9}"/>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학생 실습</a:t>
            </a:r>
          </a:p>
        </p:txBody>
      </p:sp>
      <p:sp>
        <p:nvSpPr>
          <p:cNvPr id="5" name="모서리가 둥근 직사각형 4">
            <a:extLst>
              <a:ext uri="{FF2B5EF4-FFF2-40B4-BE49-F238E27FC236}">
                <a16:creationId xmlns:a16="http://schemas.microsoft.com/office/drawing/2014/main" id="{12D9FB8D-C8E1-408A-B1E0-4DFCDE1F4DBD}"/>
              </a:ext>
            </a:extLst>
          </p:cNvPr>
          <p:cNvSpPr>
            <a:spLocks noGrp="1"/>
          </p:cNvSpPr>
          <p:nvPr/>
        </p:nvSpPr>
        <p:spPr>
          <a:xfrm>
            <a:off x="428625" y="1714500"/>
            <a:ext cx="7524750" cy="4095750"/>
          </a:xfrm>
          <a:prstGeom prst="roundRect">
            <a:avLst>
              <a:gd name="adj" fmla="val 2791"/>
            </a:avLst>
          </a:prstGeom>
          <a:solidFill>
            <a:srgbClr val="F7F8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6AC18E7F-73CC-4E3E-ACA0-516EE4E80955}"/>
              </a:ext>
            </a:extLst>
          </p:cNvPr>
          <p:cNvSpPr>
            <a:spLocks noGrp="1"/>
          </p:cNvSpPr>
          <p:nvPr/>
        </p:nvSpPr>
        <p:spPr>
          <a:xfrm>
            <a:off x="428625" y="1714500"/>
            <a:ext cx="85725" cy="4095750"/>
          </a:xfrm>
          <a:prstGeom prst="rect">
            <a:avLst/>
          </a:prstGeom>
          <a:solidFill>
            <a:srgbClr val="2F7DF4"/>
          </a:solidFill>
          <a:ln w="0">
            <a:noFill/>
          </a:ln>
        </p:spPr>
        <p:txBody>
          <a:bodyPr/>
          <a:lstStyle/>
          <a:p>
            <a:endParaRPr lang="ko-KR" altLang="en-US"/>
          </a:p>
        </p:txBody>
      </p:sp>
      <p:sp>
        <p:nvSpPr>
          <p:cNvPr id="7" name="직사각형 6">
            <a:extLst>
              <a:ext uri="{FF2B5EF4-FFF2-40B4-BE49-F238E27FC236}">
                <a16:creationId xmlns:a16="http://schemas.microsoft.com/office/drawing/2014/main" id="{4F511020-3DBD-4FFA-A774-18FA3DDC084D}"/>
              </a:ext>
            </a:extLst>
          </p:cNvPr>
          <p:cNvSpPr>
            <a:spLocks noGrp="1"/>
          </p:cNvSpPr>
          <p:nvPr/>
        </p:nvSpPr>
        <p:spPr>
          <a:xfrm>
            <a:off x="742950" y="1952625"/>
            <a:ext cx="6858000" cy="3524250"/>
          </a:xfrm>
          <a:prstGeom prst="rect">
            <a:avLst/>
          </a:prstGeom>
          <a:noFill/>
          <a:ln w="0">
            <a:noFill/>
          </a:ln>
        </p:spPr>
        <p:txBody>
          <a:bodyPr lIns="0" tIns="0" rIns="0" bIns="0" anchor="t">
            <a:normAutofit fontScale="96897"/>
          </a:bodyPr>
          <a:lstStyle/>
          <a:p>
            <a:pPr algn="l">
              <a:defRPr sz="1275" b="0">
                <a:solidFill>
                  <a:srgbClr val="17202A"/>
                </a:solidFill>
                <a:latin typeface="Menlo"/>
                <a:ea typeface="Menlo"/>
                <a:cs typeface="Menlo"/>
              </a:defRPr>
            </a:pPr>
            <a:r>
              <a:rPr sz="1275" b="0">
                <a:solidFill>
                  <a:srgbClr val="17202A"/>
                </a:solidFill>
                <a:latin typeface="Menlo"/>
                <a:ea typeface="Menlo"/>
                <a:cs typeface="Menlo"/>
              </a:rPr>
              <a:t>activity["activity_dt"] = pd.to_datetime(activity["activity_date"], errors="coerce")</a:t>
            </a:r>
          </a:p>
          <a:p>
            <a:pPr algn="l">
              <a:defRPr sz="1275" b="0">
                <a:solidFill>
                  <a:srgbClr val="17202A"/>
                </a:solidFill>
                <a:latin typeface="Menlo"/>
                <a:ea typeface="Menlo"/>
                <a:cs typeface="Menlo"/>
              </a:defRPr>
            </a:pPr>
            <a:r>
              <a:rPr sz="1275" b="0">
                <a:solidFill>
                  <a:srgbClr val="17202A"/>
                </a:solidFill>
                <a:latin typeface="Menlo"/>
                <a:ea typeface="Menlo"/>
                <a:cs typeface="Menlo"/>
              </a:rPr>
              <a:t>activity["stay_time_min_num"] = pd.to_numeric(activity["stay_time_min"], errors=___)</a:t>
            </a:r>
          </a:p>
          <a:p>
            <a:pPr algn="l">
              <a:defRPr sz="1275" b="0">
                <a:solidFill>
                  <a:srgbClr val="17202A"/>
                </a:solidFill>
                <a:latin typeface="Menlo"/>
                <a:ea typeface="Menlo"/>
                <a:cs typeface="Menlo"/>
              </a:defRPr>
            </a:pPr>
            <a:r>
              <a:rPr sz="1275" b="0">
                <a:solidFill>
                  <a:srgbClr val="17202A"/>
                </a:solidFill>
                <a:latin typeface="Menlo"/>
                <a:ea typeface="Menlo"/>
                <a:cs typeface="Menlo"/>
              </a:rPr>
              <a:t>activity["active_dt"] = activity["activity_dt"].where(activity["logged_in"])</a:t>
            </a:r>
          </a:p>
          <a:p>
            <a:pPr algn="l">
              <a:defRPr sz="1275" b="0">
                <a:solidFill>
                  <a:srgbClr val="17202A"/>
                </a:solidFill>
                <a:latin typeface="Menlo"/>
                <a:ea typeface="Menlo"/>
                <a:cs typeface="Menlo"/>
              </a:defRPr>
            </a:pPr>
            <a:r>
              <a:rPr sz="1275" b="0">
                <a:solidFill>
                  <a:srgbClr val="17202A"/>
                </a:solidFill>
                <a:latin typeface="Menlo"/>
                <a:ea typeface="Menlo"/>
                <a:cs typeface="Menlo"/>
              </a:rPr>
              <a:t>member_activity = activity.groupby("member_id").agg(</a:t>
            </a:r>
          </a:p>
          <a:p>
            <a:pPr algn="l">
              <a:defRPr sz="1275" b="0">
                <a:solidFill>
                  <a:srgbClr val="17202A"/>
                </a:solidFill>
                <a:latin typeface="Menlo"/>
                <a:ea typeface="Menlo"/>
                <a:cs typeface="Menlo"/>
              </a:defRPr>
            </a:pPr>
            <a:r>
              <a:rPr sz="1275" b="0">
                <a:solidFill>
                  <a:srgbClr val="17202A"/>
                </a:solidFill>
                <a:latin typeface="Menlo"/>
                <a:ea typeface="Menlo"/>
                <a:cs typeface="Menlo"/>
              </a:rPr>
              <a:t>    active_days=("logged_in","sum"), total_app_opens=("app_opens","sum"),</a:t>
            </a:r>
          </a:p>
          <a:p>
            <a:pPr algn="l">
              <a:defRPr sz="1275" b="0">
                <a:solidFill>
                  <a:srgbClr val="17202A"/>
                </a:solidFill>
                <a:latin typeface="Menlo"/>
                <a:ea typeface="Menlo"/>
                <a:cs typeface="Menlo"/>
              </a:defRPr>
            </a:pPr>
            <a:r>
              <a:rPr sz="1275" b="0">
                <a:solidFill>
                  <a:srgbClr val="17202A"/>
                </a:solidFill>
                <a:latin typeface="Menlo"/>
                <a:ea typeface="Menlo"/>
                <a:cs typeface="Menlo"/>
              </a:rPr>
              <a:t>    total_stay_time_min=("stay_time_min_num","sum"), total_profile_views=("profile_views","sum"),</a:t>
            </a:r>
          </a:p>
          <a:p>
            <a:pPr algn="l">
              <a:defRPr sz="1275" b="0">
                <a:solidFill>
                  <a:srgbClr val="17202A"/>
                </a:solidFill>
                <a:latin typeface="Menlo"/>
                <a:ea typeface="Menlo"/>
                <a:cs typeface="Menlo"/>
              </a:defRPr>
            </a:pPr>
            <a:r>
              <a:rPr sz="1275" b="0">
                <a:solidFill>
                  <a:srgbClr val="17202A"/>
                </a:solidFill>
                <a:latin typeface="Menlo"/>
                <a:ea typeface="Menlo"/>
                <a:cs typeface="Menlo"/>
              </a:rPr>
              <a:t>    total_recommendations_viewed=("recommendations_viewed","sum"), total_messages_sent=("messages_sent","sum"),</a:t>
            </a:r>
          </a:p>
          <a:p>
            <a:pPr algn="l">
              <a:defRPr sz="1275" b="0">
                <a:solidFill>
                  <a:srgbClr val="17202A"/>
                </a:solidFill>
                <a:latin typeface="Menlo"/>
                <a:ea typeface="Menlo"/>
                <a:cs typeface="Menlo"/>
              </a:defRPr>
            </a:pPr>
            <a:r>
              <a:rPr sz="1275" b="0">
                <a:solidFill>
                  <a:srgbClr val="17202A"/>
                </a:solidFill>
                <a:latin typeface="Menlo"/>
                <a:ea typeface="Menlo"/>
                <a:cs typeface="Menlo"/>
              </a:rPr>
              <a:t>    avg_reply_delay_sec=("avg_reply_delay_sec","mean"), last_active_date=("active_dt","max")</a:t>
            </a:r>
          </a:p>
          <a:p>
            <a:pPr algn="l">
              <a:defRPr sz="1275" b="0">
                <a:solidFill>
                  <a:srgbClr val="17202A"/>
                </a:solidFill>
                <a:latin typeface="Menlo"/>
                <a:ea typeface="Menlo"/>
                <a:cs typeface="Menlo"/>
              </a:defRPr>
            </a:pPr>
            <a:r>
              <a:rPr sz="1275" b="0">
                <a:solidFill>
                  <a:srgbClr val="17202A"/>
                </a:solidFill>
                <a:latin typeface="Menlo"/>
                <a:ea typeface="Menlo"/>
                <a:cs typeface="Menlo"/>
              </a:rPr>
              <a:t>).reset_index()</a:t>
            </a:r>
          </a:p>
          <a:p>
            <a:pPr algn="l">
              <a:defRPr sz="1275" b="0">
                <a:solidFill>
                  <a:srgbClr val="17202A"/>
                </a:solidFill>
                <a:latin typeface="Menlo"/>
                <a:ea typeface="Menlo"/>
                <a:cs typeface="Menlo"/>
              </a:defRPr>
            </a:pPr>
            <a:r>
              <a:rPr sz="1275" b="0">
                <a:solidFill>
                  <a:srgbClr val="17202A"/>
                </a:solidFill>
                <a:latin typeface="Menlo"/>
                <a:ea typeface="Menlo"/>
                <a:cs typeface="Menlo"/>
              </a:rPr>
              <a:t>member_activity["days_since_last_activity"] = (pd.Timestamp("2026-07-01") - member_activity["last_active_date"]).dt.days</a:t>
            </a:r>
          </a:p>
          <a:p>
            <a:pPr algn="l">
              <a:defRPr sz="1275" b="0">
                <a:solidFill>
                  <a:srgbClr val="17202A"/>
                </a:solidFill>
                <a:latin typeface="Menlo"/>
                <a:ea typeface="Menlo"/>
                <a:cs typeface="Menlo"/>
              </a:defRPr>
            </a:pPr>
            <a:r>
              <a:rPr sz="1275" b="0">
                <a:solidFill>
                  <a:srgbClr val="17202A"/>
                </a:solidFill>
                <a:latin typeface="Menlo"/>
                <a:ea typeface="Menlo"/>
                <a:cs typeface="Menlo"/>
              </a:rPr>
              <a:t>assert len(member_activity) == ___</a:t>
            </a:r>
          </a:p>
        </p:txBody>
      </p:sp>
      <p:sp>
        <p:nvSpPr>
          <p:cNvPr id="8" name="모서리가 둥근 직사각형 7">
            <a:extLst>
              <a:ext uri="{FF2B5EF4-FFF2-40B4-BE49-F238E27FC236}">
                <a16:creationId xmlns:a16="http://schemas.microsoft.com/office/drawing/2014/main" id="{76DCC511-E681-4906-9EA8-099A20B986D5}"/>
              </a:ext>
            </a:extLst>
          </p:cNvPr>
          <p:cNvSpPr>
            <a:spLocks noGrp="1"/>
          </p:cNvSpPr>
          <p:nvPr/>
        </p:nvSpPr>
        <p:spPr>
          <a:xfrm>
            <a:off x="8286750" y="1857375"/>
            <a:ext cx="3143250" cy="1095375"/>
          </a:xfrm>
          <a:prstGeom prst="roundRect">
            <a:avLst>
              <a:gd name="adj" fmla="val 10435"/>
            </a:avLst>
          </a:prstGeom>
          <a:solidFill>
            <a:srgbClr val="FFF5DF"/>
          </a:solidFill>
          <a:ln w="9525">
            <a:solidFill>
              <a:srgbClr val="9A5B13"/>
            </a:solidFill>
          </a:ln>
        </p:spPr>
        <p:txBody>
          <a:bodyPr/>
          <a:lstStyle/>
          <a:p>
            <a:endParaRPr lang="ko-KR" altLang="en-US"/>
          </a:p>
        </p:txBody>
      </p:sp>
      <p:sp>
        <p:nvSpPr>
          <p:cNvPr id="9" name="직사각형 8">
            <a:extLst>
              <a:ext uri="{FF2B5EF4-FFF2-40B4-BE49-F238E27FC236}">
                <a16:creationId xmlns:a16="http://schemas.microsoft.com/office/drawing/2014/main" id="{8C4F8102-A3A3-44D2-98B7-52F618B1DB2B}"/>
              </a:ext>
            </a:extLst>
          </p:cNvPr>
          <p:cNvSpPr>
            <a:spLocks noGrp="1"/>
          </p:cNvSpPr>
          <p:nvPr/>
        </p:nvSpPr>
        <p:spPr>
          <a:xfrm>
            <a:off x="8524875" y="2076450"/>
            <a:ext cx="2667000" cy="238125"/>
          </a:xfrm>
          <a:prstGeom prst="rect">
            <a:avLst/>
          </a:prstGeom>
          <a:noFill/>
          <a:ln w="0">
            <a:noFill/>
          </a:ln>
        </p:spPr>
        <p:txBody>
          <a:bodyPr lIns="0" tIns="0" rIns="0" bIns="0" anchor="t">
            <a:normAutofit/>
          </a:bodyPr>
          <a:lstStyle/>
          <a:p>
            <a:pPr algn="l">
              <a:defRPr sz="1350" b="1">
                <a:solidFill>
                  <a:srgbClr val="9A5B13"/>
                </a:solidFill>
                <a:latin typeface="Apple SD Gothic Neo"/>
                <a:ea typeface="Apple SD Gothic Neo"/>
                <a:cs typeface="Apple SD Gothic Neo"/>
              </a:defRPr>
            </a:pPr>
            <a:r>
              <a:rPr sz="1350" b="1">
                <a:solidFill>
                  <a:srgbClr val="9A5B13"/>
                </a:solidFill>
                <a:latin typeface="Apple SD Gothic Neo"/>
                <a:ea typeface="Apple SD Gothic Neo"/>
                <a:cs typeface="Apple SD Gothic Neo"/>
              </a:rPr>
              <a:t>실행 전 예상</a:t>
            </a:r>
          </a:p>
        </p:txBody>
      </p:sp>
      <p:sp>
        <p:nvSpPr>
          <p:cNvPr id="10" name="직사각형 9">
            <a:extLst>
              <a:ext uri="{FF2B5EF4-FFF2-40B4-BE49-F238E27FC236}">
                <a16:creationId xmlns:a16="http://schemas.microsoft.com/office/drawing/2014/main" id="{FC5C2494-215D-497A-87CC-525591CB30CC}"/>
              </a:ext>
            </a:extLst>
          </p:cNvPr>
          <p:cNvSpPr>
            <a:spLocks noGrp="1"/>
          </p:cNvSpPr>
          <p:nvPr/>
        </p:nvSpPr>
        <p:spPr>
          <a:xfrm>
            <a:off x="8524875" y="2428875"/>
            <a:ext cx="2667000" cy="419100"/>
          </a:xfrm>
          <a:prstGeom prst="rect">
            <a:avLst/>
          </a:prstGeom>
          <a:noFill/>
          <a:ln w="0">
            <a:noFill/>
          </a:ln>
        </p:spPr>
        <p:txBody>
          <a:bodyPr lIns="0" tIns="0" rIns="0" bIns="0" anchor="t">
            <a:normAutofit fontScale="82597" lnSpcReduction="10000"/>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삭제가 아니라 같은 회원의 30일 기록을 합계·평균·최근 날짜로 요약한 것입니다.</a:t>
            </a:r>
          </a:p>
        </p:txBody>
      </p:sp>
      <p:sp>
        <p:nvSpPr>
          <p:cNvPr id="11" name="모서리가 둥근 직사각형 10">
            <a:extLst>
              <a:ext uri="{FF2B5EF4-FFF2-40B4-BE49-F238E27FC236}">
                <a16:creationId xmlns:a16="http://schemas.microsoft.com/office/drawing/2014/main" id="{FB5DC7FC-5247-4E12-A7BA-171D0B67E805}"/>
              </a:ext>
            </a:extLst>
          </p:cNvPr>
          <p:cNvSpPr>
            <a:spLocks noGrp="1"/>
          </p:cNvSpPr>
          <p:nvPr/>
        </p:nvSpPr>
        <p:spPr>
          <a:xfrm>
            <a:off x="8286750" y="3238500"/>
            <a:ext cx="3143250" cy="1476375"/>
          </a:xfrm>
          <a:prstGeom prst="roundRect">
            <a:avLst>
              <a:gd name="adj" fmla="val 7742"/>
            </a:avLst>
          </a:prstGeom>
          <a:solidFill>
            <a:srgbClr val="EAF3FF"/>
          </a:solidFill>
          <a:ln w="9525">
            <a:solidFill>
              <a:srgbClr val="2F7DF4"/>
            </a:solidFill>
          </a:ln>
        </p:spPr>
        <p:txBody>
          <a:bodyPr/>
          <a:lstStyle/>
          <a:p>
            <a:endParaRPr lang="ko-KR" altLang="en-US"/>
          </a:p>
        </p:txBody>
      </p:sp>
      <p:sp>
        <p:nvSpPr>
          <p:cNvPr id="12" name="직사각형 11">
            <a:extLst>
              <a:ext uri="{FF2B5EF4-FFF2-40B4-BE49-F238E27FC236}">
                <a16:creationId xmlns:a16="http://schemas.microsoft.com/office/drawing/2014/main" id="{37E8D274-464C-4716-AEF9-67B1C8F9C389}"/>
              </a:ext>
            </a:extLst>
          </p:cNvPr>
          <p:cNvSpPr>
            <a:spLocks noGrp="1"/>
          </p:cNvSpPr>
          <p:nvPr/>
        </p:nvSpPr>
        <p:spPr>
          <a:xfrm>
            <a:off x="8524875" y="3457575"/>
            <a:ext cx="2667000" cy="238125"/>
          </a:xfrm>
          <a:prstGeom prst="rect">
            <a:avLst/>
          </a:prstGeom>
          <a:noFill/>
          <a:ln w="0">
            <a:noFill/>
          </a:ln>
        </p:spPr>
        <p:txBody>
          <a:bodyPr lIns="0" tIns="0" rIns="0" bIns="0" anchor="t">
            <a:normAutofit/>
          </a:bodyPr>
          <a:lstStyle/>
          <a:p>
            <a:pPr algn="l">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코드 읽기</a:t>
            </a:r>
          </a:p>
        </p:txBody>
      </p:sp>
      <p:sp>
        <p:nvSpPr>
          <p:cNvPr id="13" name="직사각형 12">
            <a:extLst>
              <a:ext uri="{FF2B5EF4-FFF2-40B4-BE49-F238E27FC236}">
                <a16:creationId xmlns:a16="http://schemas.microsoft.com/office/drawing/2014/main" id="{D60854A1-EDC7-4CFB-8135-3D2890D4CFA8}"/>
              </a:ext>
            </a:extLst>
          </p:cNvPr>
          <p:cNvSpPr>
            <a:spLocks noGrp="1"/>
          </p:cNvSpPr>
          <p:nvPr/>
        </p:nvSpPr>
        <p:spPr>
          <a:xfrm>
            <a:off x="8524875" y="3810000"/>
            <a:ext cx="2667000" cy="714375"/>
          </a:xfrm>
          <a:prstGeom prst="rect">
            <a:avLst/>
          </a:prstGeom>
          <a:noFill/>
          <a:ln w="0">
            <a:noFill/>
          </a:ln>
        </p:spPr>
        <p:txBody>
          <a:bodyPr lIns="0" tIns="0" rIns="0" bIns="0" anchor="t">
            <a:normAutofit/>
          </a:bodyPr>
          <a:lstStyle/>
          <a:p>
            <a:pPr algn="l">
              <a:defRPr sz="1425" b="1">
                <a:solidFill>
                  <a:srgbClr val="17202A"/>
                </a:solidFill>
                <a:latin typeface="Apple SD Gothic Neo"/>
                <a:ea typeface="Apple SD Gothic Neo"/>
                <a:cs typeface="Apple SD Gothic Neo"/>
              </a:defRPr>
            </a:pPr>
            <a:r>
              <a:rPr sz="1425" b="1">
                <a:solidFill>
                  <a:srgbClr val="17202A"/>
                </a:solidFill>
                <a:latin typeface="Apple SD Gothic Neo"/>
                <a:ea typeface="Apple SD Gothic Neo"/>
                <a:cs typeface="Apple SD Gothic Neo"/>
              </a:rPr>
              <a:t>groupby는 member_id가 같은 행끼리 묶고 agg는 각 묶음에서 합계·평균·최댓값을 계산합니다.</a:t>
            </a:r>
          </a:p>
        </p:txBody>
      </p:sp>
      <p:sp>
        <p:nvSpPr>
          <p:cNvPr id="14" name="직사각형 13">
            <a:extLst>
              <a:ext uri="{FF2B5EF4-FFF2-40B4-BE49-F238E27FC236}">
                <a16:creationId xmlns:a16="http://schemas.microsoft.com/office/drawing/2014/main" id="{3BB2DE0A-A4A1-4685-8C25-AE1A0465E889}"/>
              </a:ext>
            </a:extLst>
          </p:cNvPr>
          <p:cNvSpPr>
            <a:spLocks noGrp="1"/>
          </p:cNvSpPr>
          <p:nvPr/>
        </p:nvSpPr>
        <p:spPr>
          <a:xfrm>
            <a:off x="8334375" y="5238750"/>
            <a:ext cx="3048000" cy="238125"/>
          </a:xfrm>
          <a:prstGeom prst="rect">
            <a:avLst/>
          </a:prstGeom>
          <a:noFill/>
          <a:ln w="0">
            <a:noFill/>
          </a:ln>
        </p:spPr>
        <p:txBody>
          <a:bodyPr lIns="0" tIns="0" rIns="0" bIns="0" anchor="t">
            <a:normAutofit/>
          </a:bodyPr>
          <a:lstStyle/>
          <a:p>
            <a:pPr algn="ctr">
              <a:defRPr sz="1200" b="0">
                <a:solidFill>
                  <a:srgbClr val="5F6B78"/>
                </a:solidFill>
                <a:latin typeface="Apple SD Gothic Neo"/>
                <a:ea typeface="Apple SD Gothic Neo"/>
                <a:cs typeface="Apple SD Gothic Neo"/>
              </a:defRPr>
            </a:pPr>
            <a:r>
              <a:rPr sz="1200" b="0">
                <a:solidFill>
                  <a:srgbClr val="5F6B78"/>
                </a:solidFill>
                <a:latin typeface="Apple SD Gothic Neo"/>
                <a:ea typeface="Apple SD Gothic Neo"/>
                <a:cs typeface="Apple SD Gothic Neo"/>
              </a:rPr>
              <a:t>학생 노트북 · Q3</a:t>
            </a:r>
          </a:p>
        </p:txBody>
      </p:sp>
      <p:sp>
        <p:nvSpPr>
          <p:cNvPr id="15" name="직선 연결선[R] 14">
            <a:extLst>
              <a:ext uri="{FF2B5EF4-FFF2-40B4-BE49-F238E27FC236}">
                <a16:creationId xmlns:a16="http://schemas.microsoft.com/office/drawing/2014/main" id="{FA02DF69-2A64-478A-A18E-8EFA5C83EC7E}"/>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6" name="직사각형 15">
            <a:extLst>
              <a:ext uri="{FF2B5EF4-FFF2-40B4-BE49-F238E27FC236}">
                <a16:creationId xmlns:a16="http://schemas.microsoft.com/office/drawing/2014/main" id="{1A5CDAA6-E839-44A5-918B-236E0277DAAC}"/>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학생 노트북 Q3에서 ___만 채우고 정상 결과 assert 통과, 1,000명을 확인합니다.</a:t>
            </a:r>
          </a:p>
        </p:txBody>
      </p:sp>
      <p:sp>
        <p:nvSpPr>
          <p:cNvPr id="17" name="직사각형 16">
            <a:extLst>
              <a:ext uri="{FF2B5EF4-FFF2-40B4-BE49-F238E27FC236}">
                <a16:creationId xmlns:a16="http://schemas.microsoft.com/office/drawing/2014/main" id="{0025635F-A0E8-4A23-8D92-1F1C70A4741D}"/>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17</a:t>
            </a:r>
          </a:p>
        </p:txBody>
      </p:sp>
    </p:spTree>
    <p:extLst>
      <p:ext uri="{BB962C8B-B14F-4D97-AF65-F5344CB8AC3E}">
        <p14:creationId xmlns:p14="http://schemas.microsoft.com/office/powerpoint/2010/main" val="515807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C7621E98-36FB-4598-B0E4-BD09526DFCB7}"/>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6EFA102D-E29F-464D-956C-72F80E463477}"/>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변환, 집계와 경과일 계산을 세 덩어리로 읽어봅시다</a:t>
            </a:r>
          </a:p>
        </p:txBody>
      </p:sp>
      <p:sp>
        <p:nvSpPr>
          <p:cNvPr id="3" name="직선 연결선[R] 2">
            <a:extLst>
              <a:ext uri="{FF2B5EF4-FFF2-40B4-BE49-F238E27FC236}">
                <a16:creationId xmlns:a16="http://schemas.microsoft.com/office/drawing/2014/main" id="{62F1D45A-A713-4A0C-9227-497A9C2CF67D}"/>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CC9C5A2F-19BD-45C2-853E-B8F8CDEACC33}"/>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코드 해석</a:t>
            </a:r>
          </a:p>
        </p:txBody>
      </p:sp>
      <p:sp>
        <p:nvSpPr>
          <p:cNvPr id="5" name="모서리가 둥근 직사각형 4">
            <a:extLst>
              <a:ext uri="{FF2B5EF4-FFF2-40B4-BE49-F238E27FC236}">
                <a16:creationId xmlns:a16="http://schemas.microsoft.com/office/drawing/2014/main" id="{FE292488-8F12-40BD-B317-F92985BB05FB}"/>
              </a:ext>
            </a:extLst>
          </p:cNvPr>
          <p:cNvSpPr>
            <a:spLocks noGrp="1"/>
          </p:cNvSpPr>
          <p:nvPr/>
        </p:nvSpPr>
        <p:spPr>
          <a:xfrm>
            <a:off x="523875" y="2143125"/>
            <a:ext cx="3429000" cy="2428875"/>
          </a:xfrm>
          <a:prstGeom prst="roundRect">
            <a:avLst>
              <a:gd name="adj" fmla="val 470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7210BD08-1C25-42F6-9592-DCD82B8C1FDA}"/>
              </a:ext>
            </a:extLst>
          </p:cNvPr>
          <p:cNvSpPr>
            <a:spLocks noGrp="1"/>
          </p:cNvSpPr>
          <p:nvPr/>
        </p:nvSpPr>
        <p:spPr>
          <a:xfrm>
            <a:off x="771525" y="2400300"/>
            <a:ext cx="2933700"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1 · 입력 확인</a:t>
            </a:r>
          </a:p>
        </p:txBody>
      </p:sp>
      <p:sp>
        <p:nvSpPr>
          <p:cNvPr id="7" name="직사각형 6">
            <a:extLst>
              <a:ext uri="{FF2B5EF4-FFF2-40B4-BE49-F238E27FC236}">
                <a16:creationId xmlns:a16="http://schemas.microsoft.com/office/drawing/2014/main" id="{62B0FD71-9693-4010-B1D1-810A3F131E17}"/>
              </a:ext>
            </a:extLst>
          </p:cNvPr>
          <p:cNvSpPr>
            <a:spLocks noGrp="1"/>
          </p:cNvSpPr>
          <p:nvPr/>
        </p:nvSpPr>
        <p:spPr>
          <a:xfrm>
            <a:off x="77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member_activity는 1,000행×10열 DataFrame입니다.</a:t>
            </a:r>
          </a:p>
        </p:txBody>
      </p:sp>
      <p:sp>
        <p:nvSpPr>
          <p:cNvPr id="8" name="직선 연결선[R] 7">
            <a:extLst>
              <a:ext uri="{FF2B5EF4-FFF2-40B4-BE49-F238E27FC236}">
                <a16:creationId xmlns:a16="http://schemas.microsoft.com/office/drawing/2014/main" id="{0EB53177-E242-4B4D-8680-28E546070E25}"/>
              </a:ext>
            </a:extLst>
          </p:cNvPr>
          <p:cNvSpPr>
            <a:spLocks noGrp="1"/>
          </p:cNvSpPr>
          <p:nvPr/>
        </p:nvSpPr>
        <p:spPr>
          <a:xfrm>
            <a:off x="4000500" y="3333750"/>
            <a:ext cx="285750" cy="0"/>
          </a:xfrm>
          <a:prstGeom prst="line">
            <a:avLst/>
          </a:prstGeom>
          <a:noFill/>
          <a:ln w="28575">
            <a:solidFill>
              <a:srgbClr val="2F7DF4"/>
            </a:solidFill>
          </a:ln>
        </p:spPr>
        <p:txBody>
          <a:bodyPr/>
          <a:lstStyle/>
          <a:p>
            <a:endParaRPr lang="ko-KR" altLang="en-US"/>
          </a:p>
        </p:txBody>
      </p:sp>
      <p:sp>
        <p:nvSpPr>
          <p:cNvPr id="9" name="모서리가 둥근 직사각형 8">
            <a:extLst>
              <a:ext uri="{FF2B5EF4-FFF2-40B4-BE49-F238E27FC236}">
                <a16:creationId xmlns:a16="http://schemas.microsoft.com/office/drawing/2014/main" id="{3FAB6643-49F5-43F6-81F8-4D6C700DEC74}"/>
              </a:ext>
            </a:extLst>
          </p:cNvPr>
          <p:cNvSpPr>
            <a:spLocks noGrp="1"/>
          </p:cNvSpPr>
          <p:nvPr/>
        </p:nvSpPr>
        <p:spPr>
          <a:xfrm>
            <a:off x="4333875" y="2143125"/>
            <a:ext cx="3429000" cy="2428875"/>
          </a:xfrm>
          <a:prstGeom prst="roundRect">
            <a:avLst>
              <a:gd name="adj" fmla="val 4706"/>
            </a:avLst>
          </a:prstGeom>
          <a:solidFill>
            <a:srgbClr val="F5F7FA"/>
          </a:solid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8CE5CCA6-378E-48A3-84CC-1BCF4C964F9A}"/>
              </a:ext>
            </a:extLst>
          </p:cNvPr>
          <p:cNvSpPr>
            <a:spLocks noGrp="1"/>
          </p:cNvSpPr>
          <p:nvPr/>
        </p:nvSpPr>
        <p:spPr>
          <a:xfrm>
            <a:off x="4581525" y="2400300"/>
            <a:ext cx="2933700"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2 · 기능 적용</a:t>
            </a:r>
          </a:p>
        </p:txBody>
      </p:sp>
      <p:sp>
        <p:nvSpPr>
          <p:cNvPr id="11" name="직사각형 10">
            <a:extLst>
              <a:ext uri="{FF2B5EF4-FFF2-40B4-BE49-F238E27FC236}">
                <a16:creationId xmlns:a16="http://schemas.microsoft.com/office/drawing/2014/main" id="{BE2CBFD9-FC62-4CC7-8D81-4D2D16B804D6}"/>
              </a:ext>
            </a:extLst>
          </p:cNvPr>
          <p:cNvSpPr>
            <a:spLocks noGrp="1"/>
          </p:cNvSpPr>
          <p:nvPr/>
        </p:nvSpPr>
        <p:spPr>
          <a:xfrm>
            <a:off x="458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groupby는 member_id가 같은 행끼리 묶고 agg는 각 묶음에서 합계·평균·최댓값을 계산합니다.</a:t>
            </a:r>
          </a:p>
        </p:txBody>
      </p:sp>
      <p:sp>
        <p:nvSpPr>
          <p:cNvPr id="12" name="직선 연결선[R] 11">
            <a:extLst>
              <a:ext uri="{FF2B5EF4-FFF2-40B4-BE49-F238E27FC236}">
                <a16:creationId xmlns:a16="http://schemas.microsoft.com/office/drawing/2014/main" id="{CB91E49E-52F3-4759-BC09-D1A4BAB045D4}"/>
              </a:ext>
            </a:extLst>
          </p:cNvPr>
          <p:cNvSpPr>
            <a:spLocks noGrp="1"/>
          </p:cNvSpPr>
          <p:nvPr/>
        </p:nvSpPr>
        <p:spPr>
          <a:xfrm>
            <a:off x="7810500" y="3333750"/>
            <a:ext cx="285750" cy="0"/>
          </a:xfrm>
          <a:prstGeom prst="line">
            <a:avLst/>
          </a:prstGeom>
          <a:noFill/>
          <a:ln w="28575">
            <a:solidFill>
              <a:srgbClr val="2F7DF4"/>
            </a:solidFill>
          </a:ln>
        </p:spPr>
        <p:txBody>
          <a:bodyPr/>
          <a:lstStyle/>
          <a:p>
            <a:endParaRPr lang="ko-KR" altLang="en-US"/>
          </a:p>
        </p:txBody>
      </p:sp>
      <p:sp>
        <p:nvSpPr>
          <p:cNvPr id="13" name="모서리가 둥근 직사각형 12">
            <a:extLst>
              <a:ext uri="{FF2B5EF4-FFF2-40B4-BE49-F238E27FC236}">
                <a16:creationId xmlns:a16="http://schemas.microsoft.com/office/drawing/2014/main" id="{8126C4BA-06C1-4C96-81CC-9395058EA1CF}"/>
              </a:ext>
            </a:extLst>
          </p:cNvPr>
          <p:cNvSpPr>
            <a:spLocks noGrp="1"/>
          </p:cNvSpPr>
          <p:nvPr/>
        </p:nvSpPr>
        <p:spPr>
          <a:xfrm>
            <a:off x="8143875" y="2143125"/>
            <a:ext cx="3429000" cy="2428875"/>
          </a:xfrm>
          <a:prstGeom prst="roundRect">
            <a:avLst>
              <a:gd name="adj" fmla="val 4706"/>
            </a:avLst>
          </a:prstGeom>
          <a:solidFill>
            <a:srgbClr val="EAF7F0"/>
          </a:solidFill>
          <a:ln w="9525">
            <a:solidFill>
              <a:srgbClr val="18794E"/>
            </a:solidFill>
          </a:ln>
        </p:spPr>
        <p:txBody>
          <a:bodyPr/>
          <a:lstStyle/>
          <a:p>
            <a:endParaRPr lang="ko-KR" altLang="en-US"/>
          </a:p>
        </p:txBody>
      </p:sp>
      <p:sp>
        <p:nvSpPr>
          <p:cNvPr id="14" name="직사각형 13">
            <a:extLst>
              <a:ext uri="{FF2B5EF4-FFF2-40B4-BE49-F238E27FC236}">
                <a16:creationId xmlns:a16="http://schemas.microsoft.com/office/drawing/2014/main" id="{94ED8CCF-C8A4-458F-8562-AA63029CE875}"/>
              </a:ext>
            </a:extLst>
          </p:cNvPr>
          <p:cNvSpPr>
            <a:spLocks noGrp="1"/>
          </p:cNvSpPr>
          <p:nvPr/>
        </p:nvSpPr>
        <p:spPr>
          <a:xfrm>
            <a:off x="8391525" y="2400300"/>
            <a:ext cx="2933700" cy="323850"/>
          </a:xfrm>
          <a:prstGeom prst="rect">
            <a:avLst/>
          </a:prstGeom>
          <a:noFill/>
          <a:ln w="0">
            <a:noFill/>
          </a:ln>
        </p:spPr>
        <p:txBody>
          <a:bodyPr lIns="0" tIns="0" rIns="0" bIns="0" anchor="t">
            <a:normAutofit/>
          </a:bodyPr>
          <a:lstStyle/>
          <a:p>
            <a:pPr algn="l">
              <a:defRPr sz="1500" b="1">
                <a:solidFill>
                  <a:srgbClr val="18794E"/>
                </a:solidFill>
                <a:latin typeface="Apple SD Gothic Neo"/>
                <a:ea typeface="Apple SD Gothic Neo"/>
                <a:cs typeface="Apple SD Gothic Neo"/>
              </a:defRPr>
            </a:pPr>
            <a:r>
              <a:rPr sz="1500" b="1">
                <a:solidFill>
                  <a:srgbClr val="18794E"/>
                </a:solidFill>
                <a:latin typeface="Apple SD Gothic Neo"/>
                <a:ea typeface="Apple SD Gothic Neo"/>
                <a:cs typeface="Apple SD Gothic Neo"/>
              </a:rPr>
              <a:t>3 · 결과 확인</a:t>
            </a:r>
          </a:p>
        </p:txBody>
      </p:sp>
      <p:sp>
        <p:nvSpPr>
          <p:cNvPr id="15" name="직사각형 14">
            <a:extLst>
              <a:ext uri="{FF2B5EF4-FFF2-40B4-BE49-F238E27FC236}">
                <a16:creationId xmlns:a16="http://schemas.microsoft.com/office/drawing/2014/main" id="{A98DFB73-1838-4CEA-8423-86A968E97847}"/>
              </a:ext>
            </a:extLst>
          </p:cNvPr>
          <p:cNvSpPr>
            <a:spLocks noGrp="1"/>
          </p:cNvSpPr>
          <p:nvPr/>
        </p:nvSpPr>
        <p:spPr>
          <a:xfrm>
            <a:off x="839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assert 통과, 1,000명</a:t>
            </a:r>
          </a:p>
        </p:txBody>
      </p:sp>
      <p:sp>
        <p:nvSpPr>
          <p:cNvPr id="16" name="모서리가 둥근 직사각형 15">
            <a:extLst>
              <a:ext uri="{FF2B5EF4-FFF2-40B4-BE49-F238E27FC236}">
                <a16:creationId xmlns:a16="http://schemas.microsoft.com/office/drawing/2014/main" id="{3F5BBF74-D93A-4F71-8CE8-F9D901A8025B}"/>
              </a:ext>
            </a:extLst>
          </p:cNvPr>
          <p:cNvSpPr>
            <a:spLocks noGrp="1"/>
          </p:cNvSpPr>
          <p:nvPr/>
        </p:nvSpPr>
        <p:spPr>
          <a:xfrm>
            <a:off x="1143000" y="5048250"/>
            <a:ext cx="9906000" cy="590550"/>
          </a:xfrm>
          <a:prstGeom prst="roundRect">
            <a:avLst>
              <a:gd name="adj" fmla="val 19355"/>
            </a:avLst>
          </a:prstGeom>
          <a:solidFill>
            <a:srgbClr val="EAF3FF"/>
          </a:solidFill>
          <a:ln w="0">
            <a:noFill/>
          </a:ln>
        </p:spPr>
        <p:txBody>
          <a:bodyPr/>
          <a:lstStyle/>
          <a:p>
            <a:endParaRPr lang="ko-KR" altLang="en-US"/>
          </a:p>
        </p:txBody>
      </p:sp>
      <p:sp>
        <p:nvSpPr>
          <p:cNvPr id="17" name="직사각형 16">
            <a:extLst>
              <a:ext uri="{FF2B5EF4-FFF2-40B4-BE49-F238E27FC236}">
                <a16:creationId xmlns:a16="http://schemas.microsoft.com/office/drawing/2014/main" id="{02849151-338E-4A03-91DE-C4C2ECAE710E}"/>
              </a:ext>
            </a:extLst>
          </p:cNvPr>
          <p:cNvSpPr>
            <a:spLocks noGrp="1"/>
          </p:cNvSpPr>
          <p:nvPr/>
        </p:nvSpPr>
        <p:spPr>
          <a:xfrm>
            <a:off x="1428750" y="5219700"/>
            <a:ext cx="9334500" cy="285750"/>
          </a:xfrm>
          <a:prstGeom prst="rect">
            <a:avLst/>
          </a:prstGeom>
          <a:noFill/>
          <a:ln w="0">
            <a:noFill/>
          </a:ln>
        </p:spPr>
        <p:txBody>
          <a:bodyPr lIns="0" tIns="0" rIns="0" bIns="0" anchor="t">
            <a:normAutofit/>
          </a:bodyPr>
          <a:lstStyle/>
          <a:p>
            <a:pPr algn="ctr">
              <a:defRPr sz="1575" b="1">
                <a:solidFill>
                  <a:srgbClr val="17324D"/>
                </a:solidFill>
                <a:latin typeface="Apple SD Gothic Neo"/>
                <a:ea typeface="Apple SD Gothic Neo"/>
                <a:cs typeface="Apple SD Gothic Neo"/>
              </a:defRPr>
            </a:pPr>
            <a:r>
              <a:rPr sz="1575" b="1">
                <a:solidFill>
                  <a:srgbClr val="17324D"/>
                </a:solidFill>
                <a:latin typeface="Apple SD Gothic Neo"/>
                <a:ea typeface="Apple SD Gothic Neo"/>
                <a:cs typeface="Apple SD Gothic Neo"/>
              </a:rPr>
              <a:t>정상 결과 · assert 통과, 1,000명</a:t>
            </a:r>
          </a:p>
        </p:txBody>
      </p:sp>
      <p:sp>
        <p:nvSpPr>
          <p:cNvPr id="18" name="직선 연결선[R] 17">
            <a:extLst>
              <a:ext uri="{FF2B5EF4-FFF2-40B4-BE49-F238E27FC236}">
                <a16:creationId xmlns:a16="http://schemas.microsoft.com/office/drawing/2014/main" id="{D8BFB56F-9E24-469D-BBCE-B0C694F60F31}"/>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9" name="직사각형 18">
            <a:extLst>
              <a:ext uri="{FF2B5EF4-FFF2-40B4-BE49-F238E27FC236}">
                <a16:creationId xmlns:a16="http://schemas.microsoft.com/office/drawing/2014/main" id="{3E0DAAA7-87FA-48B1-BDD7-0641E22D935F}"/>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소괄호 안에 들어가는 값, 실행되는 기능과 등호 왼쪽에 저장되는 결과를 차례로 읽습니다.</a:t>
            </a:r>
          </a:p>
        </p:txBody>
      </p:sp>
      <p:sp>
        <p:nvSpPr>
          <p:cNvPr id="20" name="직사각형 19">
            <a:extLst>
              <a:ext uri="{FF2B5EF4-FFF2-40B4-BE49-F238E27FC236}">
                <a16:creationId xmlns:a16="http://schemas.microsoft.com/office/drawing/2014/main" id="{3F894160-C6F6-4D38-8EBB-F5B7BD72E918}"/>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18</a:t>
            </a:r>
          </a:p>
        </p:txBody>
      </p:sp>
    </p:spTree>
    <p:extLst>
      <p:ext uri="{BB962C8B-B14F-4D97-AF65-F5344CB8AC3E}">
        <p14:creationId xmlns:p14="http://schemas.microsoft.com/office/powerpoint/2010/main" val="1615706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120EC44F-E06C-4FB0-A9B3-59E8968FFE6F}"/>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1BC67C44-A734-405C-A07E-A2523390163C}"/>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회원 수 1,000명이 남았는지 확인합니다</a:t>
            </a:r>
          </a:p>
        </p:txBody>
      </p:sp>
      <p:sp>
        <p:nvSpPr>
          <p:cNvPr id="3" name="직선 연결선[R] 2">
            <a:extLst>
              <a:ext uri="{FF2B5EF4-FFF2-40B4-BE49-F238E27FC236}">
                <a16:creationId xmlns:a16="http://schemas.microsoft.com/office/drawing/2014/main" id="{12F856AD-EA35-48FE-AAA2-46BC2C23F890}"/>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F26BCE18-728D-4531-8A44-BDFCC01F2CC9}"/>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결과와 복구</a:t>
            </a:r>
          </a:p>
        </p:txBody>
      </p:sp>
      <p:sp>
        <p:nvSpPr>
          <p:cNvPr id="5" name="모서리가 둥근 직사각형 4">
            <a:extLst>
              <a:ext uri="{FF2B5EF4-FFF2-40B4-BE49-F238E27FC236}">
                <a16:creationId xmlns:a16="http://schemas.microsoft.com/office/drawing/2014/main" id="{641AD782-02B5-4207-812A-56A132C332B2}"/>
              </a:ext>
            </a:extLst>
          </p:cNvPr>
          <p:cNvSpPr>
            <a:spLocks noGrp="1"/>
          </p:cNvSpPr>
          <p:nvPr/>
        </p:nvSpPr>
        <p:spPr>
          <a:xfrm>
            <a:off x="666750" y="1952625"/>
            <a:ext cx="5095875" cy="2524125"/>
          </a:xfrm>
          <a:prstGeom prst="roundRect">
            <a:avLst>
              <a:gd name="adj" fmla="val 4528"/>
            </a:avLst>
          </a:prstGeom>
          <a:solidFill>
            <a:srgbClr val="EAF7F0"/>
          </a:solidFill>
          <a:ln w="9525">
            <a:solidFill>
              <a:srgbClr val="18794E"/>
            </a:solidFill>
          </a:ln>
        </p:spPr>
        <p:txBody>
          <a:bodyPr/>
          <a:lstStyle/>
          <a:p>
            <a:endParaRPr lang="ko-KR" altLang="en-US"/>
          </a:p>
        </p:txBody>
      </p:sp>
      <p:sp>
        <p:nvSpPr>
          <p:cNvPr id="6" name="직사각형 5">
            <a:extLst>
              <a:ext uri="{FF2B5EF4-FFF2-40B4-BE49-F238E27FC236}">
                <a16:creationId xmlns:a16="http://schemas.microsoft.com/office/drawing/2014/main" id="{A899A9C8-3DBB-45F1-A5A0-3B4C5D2DAECD}"/>
              </a:ext>
            </a:extLst>
          </p:cNvPr>
          <p:cNvSpPr>
            <a:spLocks noGrp="1"/>
          </p:cNvSpPr>
          <p:nvPr/>
        </p:nvSpPr>
        <p:spPr>
          <a:xfrm>
            <a:off x="1000125" y="2266950"/>
            <a:ext cx="4429125" cy="323850"/>
          </a:xfrm>
          <a:prstGeom prst="rect">
            <a:avLst/>
          </a:prstGeom>
          <a:noFill/>
          <a:ln w="0">
            <a:noFill/>
          </a:ln>
        </p:spPr>
        <p:txBody>
          <a:bodyPr lIns="0" tIns="0" rIns="0" bIns="0" anchor="t">
            <a:normAutofit/>
          </a:bodyPr>
          <a:lstStyle/>
          <a:p>
            <a:pPr algn="l">
              <a:defRPr sz="1650" b="1">
                <a:solidFill>
                  <a:srgbClr val="18794E"/>
                </a:solidFill>
                <a:latin typeface="Apple SD Gothic Neo"/>
                <a:ea typeface="Apple SD Gothic Neo"/>
                <a:cs typeface="Apple SD Gothic Neo"/>
              </a:defRPr>
            </a:pPr>
            <a:r>
              <a:rPr sz="1650" b="1">
                <a:solidFill>
                  <a:srgbClr val="18794E"/>
                </a:solidFill>
                <a:latin typeface="Apple SD Gothic Neo"/>
                <a:ea typeface="Apple SD Gothic Neo"/>
                <a:cs typeface="Apple SD Gothic Neo"/>
              </a:rPr>
              <a:t>정상이라면</a:t>
            </a:r>
          </a:p>
        </p:txBody>
      </p:sp>
      <p:sp>
        <p:nvSpPr>
          <p:cNvPr id="7" name="직사각형 6">
            <a:extLst>
              <a:ext uri="{FF2B5EF4-FFF2-40B4-BE49-F238E27FC236}">
                <a16:creationId xmlns:a16="http://schemas.microsoft.com/office/drawing/2014/main" id="{FA1E5A67-C29D-49D3-90C4-74E76030F124}"/>
              </a:ext>
            </a:extLst>
          </p:cNvPr>
          <p:cNvSpPr>
            <a:spLocks noGrp="1"/>
          </p:cNvSpPr>
          <p:nvPr/>
        </p:nvSpPr>
        <p:spPr>
          <a:xfrm>
            <a:off x="1000125" y="2905125"/>
            <a:ext cx="4429125" cy="1000125"/>
          </a:xfrm>
          <a:prstGeom prst="rect">
            <a:avLst/>
          </a:prstGeom>
          <a:noFill/>
          <a:ln w="0">
            <a:noFill/>
          </a:ln>
        </p:spPr>
        <p:txBody>
          <a:bodyPr lIns="0" tIns="0" rIns="0" bIns="0" anchor="t">
            <a:normAutofit/>
          </a:bodyPr>
          <a:lstStyle/>
          <a:p>
            <a:pPr algn="ctr">
              <a:defRPr sz="2175" b="1">
                <a:solidFill>
                  <a:srgbClr val="17202A"/>
                </a:solidFill>
                <a:latin typeface="Apple SD Gothic Neo"/>
                <a:ea typeface="Apple SD Gothic Neo"/>
                <a:cs typeface="Apple SD Gothic Neo"/>
              </a:defRPr>
            </a:pPr>
            <a:r>
              <a:rPr sz="2175" b="1">
                <a:solidFill>
                  <a:srgbClr val="17202A"/>
                </a:solidFill>
                <a:latin typeface="Apple SD Gothic Neo"/>
                <a:ea typeface="Apple SD Gothic Neo"/>
                <a:cs typeface="Apple SD Gothic Neo"/>
              </a:rPr>
              <a:t>assert 통과, 1,000명</a:t>
            </a:r>
          </a:p>
        </p:txBody>
      </p:sp>
      <p:sp>
        <p:nvSpPr>
          <p:cNvPr id="8" name="모서리가 둥근 직사각형 7">
            <a:extLst>
              <a:ext uri="{FF2B5EF4-FFF2-40B4-BE49-F238E27FC236}">
                <a16:creationId xmlns:a16="http://schemas.microsoft.com/office/drawing/2014/main" id="{CC1F6536-31E4-4ECF-8B38-B435CE025DD2}"/>
              </a:ext>
            </a:extLst>
          </p:cNvPr>
          <p:cNvSpPr>
            <a:spLocks noGrp="1"/>
          </p:cNvSpPr>
          <p:nvPr/>
        </p:nvSpPr>
        <p:spPr>
          <a:xfrm>
            <a:off x="6429375" y="1952625"/>
            <a:ext cx="5095875" cy="2524125"/>
          </a:xfrm>
          <a:prstGeom prst="roundRect">
            <a:avLst>
              <a:gd name="adj" fmla="val 4528"/>
            </a:avLst>
          </a:prstGeom>
          <a:solidFill>
            <a:srgbClr val="FFF0EE"/>
          </a:solidFill>
          <a:ln w="9525">
            <a:solidFill>
              <a:srgbClr val="B42318"/>
            </a:solidFill>
          </a:ln>
        </p:spPr>
        <p:txBody>
          <a:bodyPr/>
          <a:lstStyle/>
          <a:p>
            <a:endParaRPr lang="ko-KR" altLang="en-US"/>
          </a:p>
        </p:txBody>
      </p:sp>
      <p:sp>
        <p:nvSpPr>
          <p:cNvPr id="9" name="직사각형 8">
            <a:extLst>
              <a:ext uri="{FF2B5EF4-FFF2-40B4-BE49-F238E27FC236}">
                <a16:creationId xmlns:a16="http://schemas.microsoft.com/office/drawing/2014/main" id="{ED2D433F-6CC5-47F8-92A3-2D1DA9A24FE0}"/>
              </a:ext>
            </a:extLst>
          </p:cNvPr>
          <p:cNvSpPr>
            <a:spLocks noGrp="1"/>
          </p:cNvSpPr>
          <p:nvPr/>
        </p:nvSpPr>
        <p:spPr>
          <a:xfrm>
            <a:off x="6762750" y="2266950"/>
            <a:ext cx="4429125" cy="323850"/>
          </a:xfrm>
          <a:prstGeom prst="rect">
            <a:avLst/>
          </a:prstGeom>
          <a:noFill/>
          <a:ln w="0">
            <a:noFill/>
          </a:ln>
        </p:spPr>
        <p:txBody>
          <a:bodyPr lIns="0" tIns="0" rIns="0" bIns="0" anchor="t">
            <a:normAutofit/>
          </a:bodyPr>
          <a:lstStyle/>
          <a:p>
            <a:pPr algn="l">
              <a:defRPr sz="1650" b="1">
                <a:solidFill>
                  <a:srgbClr val="B42318"/>
                </a:solidFill>
                <a:latin typeface="Apple SD Gothic Neo"/>
                <a:ea typeface="Apple SD Gothic Neo"/>
                <a:cs typeface="Apple SD Gothic Neo"/>
              </a:defRPr>
            </a:pPr>
            <a:r>
              <a:rPr sz="1650" b="1">
                <a:solidFill>
                  <a:srgbClr val="B42318"/>
                </a:solidFill>
                <a:latin typeface="Apple SD Gothic Neo"/>
                <a:ea typeface="Apple SD Gothic Neo"/>
                <a:cs typeface="Apple SD Gothic Neo"/>
              </a:rPr>
              <a:t>막혔다면</a:t>
            </a:r>
          </a:p>
        </p:txBody>
      </p:sp>
      <p:sp>
        <p:nvSpPr>
          <p:cNvPr id="10" name="직사각형 9">
            <a:extLst>
              <a:ext uri="{FF2B5EF4-FFF2-40B4-BE49-F238E27FC236}">
                <a16:creationId xmlns:a16="http://schemas.microsoft.com/office/drawing/2014/main" id="{41069ECC-B852-4E11-9608-4C4E1E61A0A0}"/>
              </a:ext>
            </a:extLst>
          </p:cNvPr>
          <p:cNvSpPr>
            <a:spLocks noGrp="1"/>
          </p:cNvSpPr>
          <p:nvPr/>
        </p:nvSpPr>
        <p:spPr>
          <a:xfrm>
            <a:off x="6762750" y="2838450"/>
            <a:ext cx="4429125" cy="1095375"/>
          </a:xfrm>
          <a:prstGeom prst="rect">
            <a:avLst/>
          </a:prstGeom>
          <a:noFill/>
          <a:ln w="0">
            <a:noFill/>
          </a:ln>
        </p:spPr>
        <p:txBody>
          <a:bodyPr lIns="0" tIns="0" rIns="0" bIns="0" anchor="t">
            <a:normAutofit/>
          </a:bodyPr>
          <a:lstStyle/>
          <a:p>
            <a:pPr algn="ctr">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member_id 고유값 1,000과 errors='coerce'를 확인합니다.</a:t>
            </a:r>
          </a:p>
        </p:txBody>
      </p:sp>
      <p:sp>
        <p:nvSpPr>
          <p:cNvPr id="11" name="모서리가 둥근 직사각형 10">
            <a:extLst>
              <a:ext uri="{FF2B5EF4-FFF2-40B4-BE49-F238E27FC236}">
                <a16:creationId xmlns:a16="http://schemas.microsoft.com/office/drawing/2014/main" id="{10AF8C01-E0E2-48B7-A772-17B4DFDC111B}"/>
              </a:ext>
            </a:extLst>
          </p:cNvPr>
          <p:cNvSpPr>
            <a:spLocks noGrp="1"/>
          </p:cNvSpPr>
          <p:nvPr/>
        </p:nvSpPr>
        <p:spPr>
          <a:xfrm>
            <a:off x="1524000" y="4905375"/>
            <a:ext cx="9144000" cy="628650"/>
          </a:xfrm>
          <a:prstGeom prst="roundRect">
            <a:avLst>
              <a:gd name="adj" fmla="val 18182"/>
            </a:avLst>
          </a:prstGeom>
          <a:solidFill>
            <a:srgbClr val="FFF5DF"/>
          </a:solidFill>
          <a:ln w="9525">
            <a:solidFill>
              <a:srgbClr val="9A5B13"/>
            </a:solidFill>
          </a:ln>
        </p:spPr>
        <p:txBody>
          <a:bodyPr/>
          <a:lstStyle/>
          <a:p>
            <a:endParaRPr lang="ko-KR" altLang="en-US"/>
          </a:p>
        </p:txBody>
      </p:sp>
      <p:sp>
        <p:nvSpPr>
          <p:cNvPr id="12" name="직사각형 11">
            <a:extLst>
              <a:ext uri="{FF2B5EF4-FFF2-40B4-BE49-F238E27FC236}">
                <a16:creationId xmlns:a16="http://schemas.microsoft.com/office/drawing/2014/main" id="{786777C2-8FF4-4406-9E85-71722FB31143}"/>
              </a:ext>
            </a:extLst>
          </p:cNvPr>
          <p:cNvSpPr>
            <a:spLocks noGrp="1"/>
          </p:cNvSpPr>
          <p:nvPr/>
        </p:nvSpPr>
        <p:spPr>
          <a:xfrm>
            <a:off x="1809750" y="5086350"/>
            <a:ext cx="8572500" cy="304800"/>
          </a:xfrm>
          <a:prstGeom prst="rect">
            <a:avLst/>
          </a:prstGeom>
          <a:noFill/>
          <a:ln w="0">
            <a:noFill/>
          </a:ln>
        </p:spPr>
        <p:txBody>
          <a:bodyPr lIns="0" tIns="0" rIns="0" bIns="0" anchor="t">
            <a:normAutofit/>
          </a:bodyPr>
          <a:lstStyle/>
          <a:p>
            <a:pPr algn="ctr">
              <a:defRPr sz="1425" b="1">
                <a:solidFill>
                  <a:srgbClr val="9A5B13"/>
                </a:solidFill>
                <a:latin typeface="Apple SD Gothic Neo"/>
                <a:ea typeface="Apple SD Gothic Neo"/>
                <a:cs typeface="Apple SD Gothic Neo"/>
              </a:defRPr>
            </a:pPr>
            <a:r>
              <a:rPr sz="1425" b="1">
                <a:solidFill>
                  <a:srgbClr val="9A5B13"/>
                </a:solidFill>
                <a:latin typeface="Apple SD Gothic Neo"/>
                <a:ea typeface="Apple SD Gothic Neo"/>
                <a:cs typeface="Apple SD Gothic Neo"/>
              </a:rPr>
              <a:t>자주 생기는 문제 · 1,000행이 아니거나 stay_time 변환 오류</a:t>
            </a:r>
          </a:p>
        </p:txBody>
      </p:sp>
      <p:sp>
        <p:nvSpPr>
          <p:cNvPr id="13" name="직선 연결선[R] 12">
            <a:extLst>
              <a:ext uri="{FF2B5EF4-FFF2-40B4-BE49-F238E27FC236}">
                <a16:creationId xmlns:a16="http://schemas.microsoft.com/office/drawing/2014/main" id="{ABC268BA-78DC-40D7-9182-91C8A1850D19}"/>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4" name="직사각형 13">
            <a:extLst>
              <a:ext uri="{FF2B5EF4-FFF2-40B4-BE49-F238E27FC236}">
                <a16:creationId xmlns:a16="http://schemas.microsoft.com/office/drawing/2014/main" id="{ECDCCBD8-4F6D-4D51-9CF5-5ED4A2589756}"/>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정상 결과 assert 통과, 1,000명이 무엇의 크기·개수·상태를 뜻하는지 말할 수 있어야 합니다.</a:t>
            </a:r>
          </a:p>
        </p:txBody>
      </p:sp>
      <p:sp>
        <p:nvSpPr>
          <p:cNvPr id="15" name="직사각형 14">
            <a:extLst>
              <a:ext uri="{FF2B5EF4-FFF2-40B4-BE49-F238E27FC236}">
                <a16:creationId xmlns:a16="http://schemas.microsoft.com/office/drawing/2014/main" id="{2D4CB3FF-1E8B-47FF-83C7-1EF034238519}"/>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19</a:t>
            </a:r>
          </a:p>
        </p:txBody>
      </p:sp>
    </p:spTree>
    <p:extLst>
      <p:ext uri="{BB962C8B-B14F-4D97-AF65-F5344CB8AC3E}">
        <p14:creationId xmlns:p14="http://schemas.microsoft.com/office/powerpoint/2010/main" val="1916176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96B457C0-7FF3-4CE4-BF8E-3205FB2689DC}"/>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CA51E4B5-2794-483A-9CEF-96458530347C}"/>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Q4. 회원 기본정보를 붙이고 전처리할 13개 열을 고릅니다</a:t>
            </a:r>
          </a:p>
        </p:txBody>
      </p:sp>
      <p:sp>
        <p:nvSpPr>
          <p:cNvPr id="3" name="직선 연결선[R] 2">
            <a:extLst>
              <a:ext uri="{FF2B5EF4-FFF2-40B4-BE49-F238E27FC236}">
                <a16:creationId xmlns:a16="http://schemas.microsoft.com/office/drawing/2014/main" id="{06E12A62-05CD-4B27-8C1B-A48815FF9442}"/>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3D741717-F0FC-4143-9FAE-FC8E6F9E1D92}"/>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왜 필요한가</a:t>
            </a:r>
          </a:p>
        </p:txBody>
      </p:sp>
      <p:sp>
        <p:nvSpPr>
          <p:cNvPr id="5" name="직사각형 4">
            <a:extLst>
              <a:ext uri="{FF2B5EF4-FFF2-40B4-BE49-F238E27FC236}">
                <a16:creationId xmlns:a16="http://schemas.microsoft.com/office/drawing/2014/main" id="{A77E3C7E-A86C-4471-953F-EBE86A5B313E}"/>
              </a:ext>
            </a:extLst>
          </p:cNvPr>
          <p:cNvSpPr>
            <a:spLocks noGrp="1"/>
          </p:cNvSpPr>
          <p:nvPr/>
        </p:nvSpPr>
        <p:spPr>
          <a:xfrm>
            <a:off x="666750" y="1857375"/>
            <a:ext cx="10858500" cy="857250"/>
          </a:xfrm>
          <a:prstGeom prst="rect">
            <a:avLst/>
          </a:prstGeom>
          <a:noFill/>
          <a:ln w="0">
            <a:noFill/>
          </a:ln>
        </p:spPr>
        <p:txBody>
          <a:bodyPr lIns="0" tIns="0" rIns="0" bIns="0" anchor="t">
            <a:normAutofit/>
          </a:bodyPr>
          <a:lstStyle/>
          <a:p>
            <a:pPr algn="ctr">
              <a:defRPr sz="2775" b="1">
                <a:solidFill>
                  <a:srgbClr val="17324D"/>
                </a:solidFill>
                <a:latin typeface="Apple SD Gothic Neo"/>
                <a:ea typeface="Apple SD Gothic Neo"/>
                <a:cs typeface="Apple SD Gothic Neo"/>
              </a:defRPr>
            </a:pPr>
            <a:r>
              <a:rPr sz="2775" b="1">
                <a:solidFill>
                  <a:srgbClr val="17324D"/>
                </a:solidFill>
                <a:latin typeface="Apple SD Gothic Neo"/>
                <a:ea typeface="Apple SD Gothic Neo"/>
                <a:cs typeface="Apple SD Gothic Neo"/>
              </a:rPr>
              <a:t>활동 요약과 회원정보를 붙인 뒤 어떤 열만 전처리기에 넣어야 할까요?</a:t>
            </a:r>
          </a:p>
        </p:txBody>
      </p:sp>
      <p:sp>
        <p:nvSpPr>
          <p:cNvPr id="6" name="모서리가 둥근 직사각형 5">
            <a:extLst>
              <a:ext uri="{FF2B5EF4-FFF2-40B4-BE49-F238E27FC236}">
                <a16:creationId xmlns:a16="http://schemas.microsoft.com/office/drawing/2014/main" id="{B3FCCB18-015C-4982-9A33-38D48793107D}"/>
              </a:ext>
            </a:extLst>
          </p:cNvPr>
          <p:cNvSpPr>
            <a:spLocks noGrp="1"/>
          </p:cNvSpPr>
          <p:nvPr/>
        </p:nvSpPr>
        <p:spPr>
          <a:xfrm>
            <a:off x="1047750" y="3190875"/>
            <a:ext cx="10096500" cy="1428750"/>
          </a:xfrm>
          <a:prstGeom prst="roundRect">
            <a:avLst>
              <a:gd name="adj" fmla="val 8000"/>
            </a:avLst>
          </a:prstGeom>
          <a:solidFill>
            <a:srgbClr val="EAF3FF"/>
          </a:solidFill>
          <a:ln w="9525">
            <a:solidFill>
              <a:srgbClr val="2F7DF4"/>
            </a:solidFill>
          </a:ln>
        </p:spPr>
        <p:txBody>
          <a:bodyPr/>
          <a:lstStyle/>
          <a:p>
            <a:endParaRPr lang="ko-KR" altLang="en-US"/>
          </a:p>
        </p:txBody>
      </p:sp>
      <p:sp>
        <p:nvSpPr>
          <p:cNvPr id="7" name="직사각형 6">
            <a:extLst>
              <a:ext uri="{FF2B5EF4-FFF2-40B4-BE49-F238E27FC236}">
                <a16:creationId xmlns:a16="http://schemas.microsoft.com/office/drawing/2014/main" id="{9864A518-724E-407D-B576-125589C73267}"/>
              </a:ext>
            </a:extLst>
          </p:cNvPr>
          <p:cNvSpPr>
            <a:spLocks noGrp="1"/>
          </p:cNvSpPr>
          <p:nvPr/>
        </p:nvSpPr>
        <p:spPr>
          <a:xfrm>
            <a:off x="1381125" y="3476625"/>
            <a:ext cx="2190750" cy="285750"/>
          </a:xfrm>
          <a:prstGeom prst="rect">
            <a:avLst/>
          </a:prstGeom>
          <a:noFill/>
          <a:ln w="0">
            <a:noFill/>
          </a:ln>
        </p:spPr>
        <p:txBody>
          <a:bodyPr lIns="0" tIns="0" rIns="0" bIns="0" anchor="t">
            <a:normAutofit/>
          </a:bodyPr>
          <a:lstStyle/>
          <a:p>
            <a:pPr algn="l">
              <a:defRPr sz="1425" b="1">
                <a:solidFill>
                  <a:srgbClr val="2F7DF4"/>
                </a:solidFill>
                <a:latin typeface="Apple SD Gothic Neo"/>
                <a:ea typeface="Apple SD Gothic Neo"/>
                <a:cs typeface="Apple SD Gothic Neo"/>
              </a:defRPr>
            </a:pPr>
            <a:r>
              <a:rPr sz="1425" b="1">
                <a:solidFill>
                  <a:srgbClr val="2F7DF4"/>
                </a:solidFill>
                <a:latin typeface="Apple SD Gothic Neo"/>
                <a:ea typeface="Apple SD Gothic Neo"/>
                <a:cs typeface="Apple SD Gothic Neo"/>
              </a:rPr>
              <a:t>이 일을 하는 이유</a:t>
            </a:r>
          </a:p>
        </p:txBody>
      </p:sp>
      <p:sp>
        <p:nvSpPr>
          <p:cNvPr id="8" name="직사각형 7">
            <a:extLst>
              <a:ext uri="{FF2B5EF4-FFF2-40B4-BE49-F238E27FC236}">
                <a16:creationId xmlns:a16="http://schemas.microsoft.com/office/drawing/2014/main" id="{A2500E4B-8A9E-4C9B-A814-70DD1FCFFFE0}"/>
              </a:ext>
            </a:extLst>
          </p:cNvPr>
          <p:cNvSpPr>
            <a:spLocks noGrp="1"/>
          </p:cNvSpPr>
          <p:nvPr/>
        </p:nvSpPr>
        <p:spPr>
          <a:xfrm>
            <a:off x="3810000" y="3429000"/>
            <a:ext cx="6858000" cy="742950"/>
          </a:xfrm>
          <a:prstGeom prst="rect">
            <a:avLst/>
          </a:prstGeom>
          <a:noFill/>
          <a:ln w="0">
            <a:noFill/>
          </a:ln>
        </p:spPr>
        <p:txBody>
          <a:bodyPr lIns="0" tIns="0" rIns="0" bIns="0" anchor="t">
            <a:normAutofit/>
          </a:bodyPr>
          <a:lstStyle/>
          <a:p>
            <a:pPr algn="l">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활동 지표와 나이·지역·회원권 같은 기본정보를 한 행에서 사용합니다.</a:t>
            </a:r>
          </a:p>
        </p:txBody>
      </p:sp>
      <p:sp>
        <p:nvSpPr>
          <p:cNvPr id="9" name="직선 연결선[R] 8">
            <a:extLst>
              <a:ext uri="{FF2B5EF4-FFF2-40B4-BE49-F238E27FC236}">
                <a16:creationId xmlns:a16="http://schemas.microsoft.com/office/drawing/2014/main" id="{D1A883A3-8239-4C77-947E-965C852E1063}"/>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DB9A8CD8-AFBC-47D2-9723-294DFBAC958B}"/>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활동 지표와 나이·지역·회원권 같은 기본정보를 한 행에서 사용합니다.</a:t>
            </a:r>
          </a:p>
        </p:txBody>
      </p:sp>
      <p:sp>
        <p:nvSpPr>
          <p:cNvPr id="11" name="직사각형 10">
            <a:extLst>
              <a:ext uri="{FF2B5EF4-FFF2-40B4-BE49-F238E27FC236}">
                <a16:creationId xmlns:a16="http://schemas.microsoft.com/office/drawing/2014/main" id="{9ED19F34-45D0-4184-A811-436D32DD4692}"/>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20</a:t>
            </a:r>
          </a:p>
        </p:txBody>
      </p:sp>
    </p:spTree>
    <p:extLst>
      <p:ext uri="{BB962C8B-B14F-4D97-AF65-F5344CB8AC3E}">
        <p14:creationId xmlns:p14="http://schemas.microsoft.com/office/powerpoint/2010/main" val="1345938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408B0390-D2A3-4A7C-8AFC-FD170278D78D}"/>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0BBC8A93-1423-48DD-8BA4-9B53904049B2}"/>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member_id와 정답 열을 X에서 빼는 이유는 무엇일까요?</a:t>
            </a:r>
          </a:p>
        </p:txBody>
      </p:sp>
      <p:sp>
        <p:nvSpPr>
          <p:cNvPr id="3" name="직선 연결선[R] 2">
            <a:extLst>
              <a:ext uri="{FF2B5EF4-FFF2-40B4-BE49-F238E27FC236}">
                <a16:creationId xmlns:a16="http://schemas.microsoft.com/office/drawing/2014/main" id="{EE009081-6B6D-4371-AA1D-25559E94DEDC}"/>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6F51D7C4-130D-4EDF-97B7-A6C70A5FCE2E}"/>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자료구조</a:t>
            </a:r>
          </a:p>
        </p:txBody>
      </p:sp>
      <p:sp>
        <p:nvSpPr>
          <p:cNvPr id="5" name="모서리가 둥근 직사각형 4">
            <a:extLst>
              <a:ext uri="{FF2B5EF4-FFF2-40B4-BE49-F238E27FC236}">
                <a16:creationId xmlns:a16="http://schemas.microsoft.com/office/drawing/2014/main" id="{4A5278AA-B7BB-4A55-B41E-4AD8CF86A9C6}"/>
              </a:ext>
            </a:extLst>
          </p:cNvPr>
          <p:cNvSpPr>
            <a:spLocks noGrp="1"/>
          </p:cNvSpPr>
          <p:nvPr/>
        </p:nvSpPr>
        <p:spPr>
          <a:xfrm>
            <a:off x="704850" y="1952625"/>
            <a:ext cx="10782300" cy="1762125"/>
          </a:xfrm>
          <a:prstGeom prst="roundRect">
            <a:avLst>
              <a:gd name="adj" fmla="val 648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95FFB333-F120-429C-877E-04B0B62C4C3F}"/>
              </a:ext>
            </a:extLst>
          </p:cNvPr>
          <p:cNvSpPr>
            <a:spLocks noGrp="1"/>
          </p:cNvSpPr>
          <p:nvPr/>
        </p:nvSpPr>
        <p:spPr>
          <a:xfrm>
            <a:off x="1047750" y="2362200"/>
            <a:ext cx="10096500" cy="952500"/>
          </a:xfrm>
          <a:prstGeom prst="rect">
            <a:avLst/>
          </a:prstGeom>
          <a:noFill/>
          <a:ln w="0">
            <a:noFill/>
          </a:ln>
        </p:spPr>
        <p:txBody>
          <a:bodyPr lIns="0" tIns="0" rIns="0" bIns="0" anchor="t">
            <a:normAutofit/>
          </a:bodyPr>
          <a:lstStyle/>
          <a:p>
            <a:pPr algn="ctr">
              <a:defRPr sz="2175" b="1">
                <a:solidFill>
                  <a:srgbClr val="17202A"/>
                </a:solidFill>
                <a:latin typeface="Apple SD Gothic Neo"/>
                <a:ea typeface="Apple SD Gothic Neo"/>
                <a:cs typeface="Apple SD Gothic Neo"/>
              </a:defRPr>
            </a:pPr>
            <a:r>
              <a:rPr sz="2175" b="1">
                <a:solidFill>
                  <a:srgbClr val="17202A"/>
                </a:solidFill>
                <a:latin typeface="Apple SD Gothic Neo"/>
                <a:ea typeface="Apple SD Gothic Neo"/>
                <a:cs typeface="Apple SD Gothic Neo"/>
              </a:rPr>
              <a:t>model_table은 1,000행×16열, X는 1,000행×13열 DataFrame입니다.</a:t>
            </a:r>
          </a:p>
        </p:txBody>
      </p:sp>
      <p:sp>
        <p:nvSpPr>
          <p:cNvPr id="7" name="모서리가 둥근 직사각형 6">
            <a:extLst>
              <a:ext uri="{FF2B5EF4-FFF2-40B4-BE49-F238E27FC236}">
                <a16:creationId xmlns:a16="http://schemas.microsoft.com/office/drawing/2014/main" id="{F5FAB6CC-EAFF-4413-9BE8-DAA4F9196D4B}"/>
              </a:ext>
            </a:extLst>
          </p:cNvPr>
          <p:cNvSpPr>
            <a:spLocks noGrp="1"/>
          </p:cNvSpPr>
          <p:nvPr/>
        </p:nvSpPr>
        <p:spPr>
          <a:xfrm>
            <a:off x="2047875" y="4286250"/>
            <a:ext cx="2095500" cy="904875"/>
          </a:xfrm>
          <a:prstGeom prst="roundRect">
            <a:avLst>
              <a:gd name="adj" fmla="val 12632"/>
            </a:avLst>
          </a:prstGeom>
          <a:solidFill>
            <a:srgbClr val="EAF3FF"/>
          </a:solidFill>
          <a:ln w="9525">
            <a:solidFill>
              <a:srgbClr val="2F7DF4"/>
            </a:solidFill>
          </a:ln>
        </p:spPr>
        <p:txBody>
          <a:bodyPr/>
          <a:lstStyle/>
          <a:p>
            <a:endParaRPr lang="ko-KR" altLang="en-US"/>
          </a:p>
        </p:txBody>
      </p:sp>
      <p:sp>
        <p:nvSpPr>
          <p:cNvPr id="8" name="직사각형 7">
            <a:extLst>
              <a:ext uri="{FF2B5EF4-FFF2-40B4-BE49-F238E27FC236}">
                <a16:creationId xmlns:a16="http://schemas.microsoft.com/office/drawing/2014/main" id="{1A20F6D6-3B69-4F04-87C4-F80B097AC296}"/>
              </a:ext>
            </a:extLst>
          </p:cNvPr>
          <p:cNvSpPr>
            <a:spLocks noGrp="1"/>
          </p:cNvSpPr>
          <p:nvPr/>
        </p:nvSpPr>
        <p:spPr>
          <a:xfrm>
            <a:off x="2143125" y="4429125"/>
            <a:ext cx="1905000" cy="619125"/>
          </a:xfrm>
          <a:prstGeom prst="rect">
            <a:avLst/>
          </a:prstGeom>
          <a:noFill/>
          <a:ln w="0">
            <a:noFill/>
          </a:ln>
        </p:spPr>
        <p:txBody>
          <a:bodyPr lIns="0" tIns="0" rIns="0" bIns="0" anchor="t">
            <a:normAutofit/>
          </a:bodyPr>
          <a:lstStyle/>
          <a:p>
            <a:pPr algn="ctr">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members와 member_activity</a:t>
            </a:r>
          </a:p>
        </p:txBody>
      </p:sp>
      <p:sp>
        <p:nvSpPr>
          <p:cNvPr id="9" name="직선 연결선[R] 8">
            <a:extLst>
              <a:ext uri="{FF2B5EF4-FFF2-40B4-BE49-F238E27FC236}">
                <a16:creationId xmlns:a16="http://schemas.microsoft.com/office/drawing/2014/main" id="{21D1F6C4-30CF-4A4D-A440-8488968AFAF7}"/>
              </a:ext>
            </a:extLst>
          </p:cNvPr>
          <p:cNvSpPr>
            <a:spLocks noGrp="1"/>
          </p:cNvSpPr>
          <p:nvPr/>
        </p:nvSpPr>
        <p:spPr>
          <a:xfrm>
            <a:off x="4191000" y="4733925"/>
            <a:ext cx="857250" cy="0"/>
          </a:xfrm>
          <a:prstGeom prst="line">
            <a:avLst/>
          </a:prstGeom>
          <a:noFill/>
          <a:ln w="28575">
            <a:solidFill>
              <a:srgbClr val="2F7DF4"/>
            </a:solidFill>
          </a:ln>
        </p:spPr>
        <p:txBody>
          <a:bodyPr/>
          <a:lstStyle/>
          <a:p>
            <a:endParaRPr lang="ko-KR" altLang="en-US"/>
          </a:p>
        </p:txBody>
      </p:sp>
      <p:sp>
        <p:nvSpPr>
          <p:cNvPr id="10" name="모서리가 둥근 직사각형 9">
            <a:extLst>
              <a:ext uri="{FF2B5EF4-FFF2-40B4-BE49-F238E27FC236}">
                <a16:creationId xmlns:a16="http://schemas.microsoft.com/office/drawing/2014/main" id="{0D5F7A2C-F8B1-4AC4-9A4A-46D6E3824614}"/>
              </a:ext>
            </a:extLst>
          </p:cNvPr>
          <p:cNvSpPr>
            <a:spLocks noGrp="1"/>
          </p:cNvSpPr>
          <p:nvPr/>
        </p:nvSpPr>
        <p:spPr>
          <a:xfrm>
            <a:off x="5191125" y="4286250"/>
            <a:ext cx="2095500" cy="904875"/>
          </a:xfrm>
          <a:prstGeom prst="roundRect">
            <a:avLst>
              <a:gd name="adj" fmla="val 12632"/>
            </a:avLst>
          </a:prstGeom>
          <a:solidFill>
            <a:srgbClr val="EAF3FF"/>
          </a:solidFill>
          <a:ln w="9525">
            <a:solidFill>
              <a:srgbClr val="2F7DF4"/>
            </a:solidFill>
          </a:ln>
        </p:spPr>
        <p:txBody>
          <a:bodyPr/>
          <a:lstStyle/>
          <a:p>
            <a:endParaRPr lang="ko-KR" altLang="en-US"/>
          </a:p>
        </p:txBody>
      </p:sp>
      <p:sp>
        <p:nvSpPr>
          <p:cNvPr id="11" name="직사각형 10">
            <a:extLst>
              <a:ext uri="{FF2B5EF4-FFF2-40B4-BE49-F238E27FC236}">
                <a16:creationId xmlns:a16="http://schemas.microsoft.com/office/drawing/2014/main" id="{3849D5D5-485C-4FCA-ACF0-148378627F0D}"/>
              </a:ext>
            </a:extLst>
          </p:cNvPr>
          <p:cNvSpPr>
            <a:spLocks noGrp="1"/>
          </p:cNvSpPr>
          <p:nvPr/>
        </p:nvSpPr>
        <p:spPr>
          <a:xfrm>
            <a:off x="5286375" y="4429125"/>
            <a:ext cx="1905000" cy="619125"/>
          </a:xfrm>
          <a:prstGeom prst="rect">
            <a:avLst/>
          </a:prstGeom>
          <a:noFill/>
          <a:ln w="0">
            <a:noFill/>
          </a:ln>
        </p:spPr>
        <p:txBody>
          <a:bodyPr lIns="0" tIns="0" rIns="0" bIns="0" anchor="t">
            <a:normAutofit/>
          </a:bodyPr>
          <a:lstStyle/>
          <a:p>
            <a:pPr algn="ctr">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left merge와 13개 열 선택</a:t>
            </a:r>
          </a:p>
        </p:txBody>
      </p:sp>
      <p:sp>
        <p:nvSpPr>
          <p:cNvPr id="12" name="직선 연결선[R] 11">
            <a:extLst>
              <a:ext uri="{FF2B5EF4-FFF2-40B4-BE49-F238E27FC236}">
                <a16:creationId xmlns:a16="http://schemas.microsoft.com/office/drawing/2014/main" id="{DA45FDE0-FCEF-49C1-A185-5932F0D5480B}"/>
              </a:ext>
            </a:extLst>
          </p:cNvPr>
          <p:cNvSpPr>
            <a:spLocks noGrp="1"/>
          </p:cNvSpPr>
          <p:nvPr/>
        </p:nvSpPr>
        <p:spPr>
          <a:xfrm>
            <a:off x="7334250" y="4733925"/>
            <a:ext cx="857250" cy="0"/>
          </a:xfrm>
          <a:prstGeom prst="line">
            <a:avLst/>
          </a:prstGeom>
          <a:noFill/>
          <a:ln w="28575">
            <a:solidFill>
              <a:srgbClr val="2F7DF4"/>
            </a:solidFill>
          </a:ln>
        </p:spPr>
        <p:txBody>
          <a:bodyPr/>
          <a:lstStyle/>
          <a:p>
            <a:endParaRPr lang="ko-KR" altLang="en-US"/>
          </a:p>
        </p:txBody>
      </p:sp>
      <p:sp>
        <p:nvSpPr>
          <p:cNvPr id="13" name="모서리가 둥근 직사각형 12">
            <a:extLst>
              <a:ext uri="{FF2B5EF4-FFF2-40B4-BE49-F238E27FC236}">
                <a16:creationId xmlns:a16="http://schemas.microsoft.com/office/drawing/2014/main" id="{6B4F7605-96DD-44BB-8D17-8FE5FA385521}"/>
              </a:ext>
            </a:extLst>
          </p:cNvPr>
          <p:cNvSpPr>
            <a:spLocks noGrp="1"/>
          </p:cNvSpPr>
          <p:nvPr/>
        </p:nvSpPr>
        <p:spPr>
          <a:xfrm>
            <a:off x="8334375" y="4286250"/>
            <a:ext cx="2095500" cy="904875"/>
          </a:xfrm>
          <a:prstGeom prst="roundRect">
            <a:avLst>
              <a:gd name="adj" fmla="val 12632"/>
            </a:avLst>
          </a:prstGeom>
          <a:solidFill>
            <a:srgbClr val="EAF7F0"/>
          </a:solidFill>
          <a:ln w="9525">
            <a:solidFill>
              <a:srgbClr val="18794E"/>
            </a:solidFill>
          </a:ln>
        </p:spPr>
        <p:txBody>
          <a:bodyPr/>
          <a:lstStyle/>
          <a:p>
            <a:endParaRPr lang="ko-KR" altLang="en-US"/>
          </a:p>
        </p:txBody>
      </p:sp>
      <p:sp>
        <p:nvSpPr>
          <p:cNvPr id="14" name="직사각형 13">
            <a:extLst>
              <a:ext uri="{FF2B5EF4-FFF2-40B4-BE49-F238E27FC236}">
                <a16:creationId xmlns:a16="http://schemas.microsoft.com/office/drawing/2014/main" id="{B0962666-00AA-42BB-919E-2609B4B45349}"/>
              </a:ext>
            </a:extLst>
          </p:cNvPr>
          <p:cNvSpPr>
            <a:spLocks noGrp="1"/>
          </p:cNvSpPr>
          <p:nvPr/>
        </p:nvSpPr>
        <p:spPr>
          <a:xfrm>
            <a:off x="8429625" y="4429125"/>
            <a:ext cx="1905000" cy="619125"/>
          </a:xfrm>
          <a:prstGeom prst="rect">
            <a:avLst/>
          </a:prstGeom>
          <a:noFill/>
          <a:ln w="0">
            <a:noFill/>
          </a:ln>
        </p:spPr>
        <p:txBody>
          <a:bodyPr lIns="0" tIns="0" rIns="0" bIns="0" anchor="t">
            <a:normAutofit/>
          </a:bodyPr>
          <a:lstStyle/>
          <a:p>
            <a:pPr algn="ctr">
              <a:defRPr sz="1350" b="1">
                <a:solidFill>
                  <a:srgbClr val="18794E"/>
                </a:solidFill>
                <a:latin typeface="Apple SD Gothic Neo"/>
                <a:ea typeface="Apple SD Gothic Neo"/>
                <a:cs typeface="Apple SD Gothic Neo"/>
              </a:defRPr>
            </a:pPr>
            <a:r>
              <a:rPr sz="1350" b="1">
                <a:solidFill>
                  <a:srgbClr val="18794E"/>
                </a:solidFill>
                <a:latin typeface="Apple SD Gothic Neo"/>
                <a:ea typeface="Apple SD Gothic Neo"/>
                <a:cs typeface="Apple SD Gothic Neo"/>
              </a:rPr>
              <a:t>model_table과 X</a:t>
            </a:r>
          </a:p>
        </p:txBody>
      </p:sp>
      <p:sp>
        <p:nvSpPr>
          <p:cNvPr id="15" name="직선 연결선[R] 14">
            <a:extLst>
              <a:ext uri="{FF2B5EF4-FFF2-40B4-BE49-F238E27FC236}">
                <a16:creationId xmlns:a16="http://schemas.microsoft.com/office/drawing/2014/main" id="{3EE6E4A8-F3FF-4CFD-A98B-769BCA406CB8}"/>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6" name="직사각형 15">
            <a:extLst>
              <a:ext uri="{FF2B5EF4-FFF2-40B4-BE49-F238E27FC236}">
                <a16:creationId xmlns:a16="http://schemas.microsoft.com/office/drawing/2014/main" id="{3B5F20A1-2FF8-49D2-9852-12D4D05CC46E}"/>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members와 member_activity에서 model_table과 X이 만들어지는 동안 자료의 모양과 역할이 어떻게 달라지는지 확인합니다.</a:t>
            </a:r>
          </a:p>
        </p:txBody>
      </p:sp>
      <p:sp>
        <p:nvSpPr>
          <p:cNvPr id="17" name="직사각형 16">
            <a:extLst>
              <a:ext uri="{FF2B5EF4-FFF2-40B4-BE49-F238E27FC236}">
                <a16:creationId xmlns:a16="http://schemas.microsoft.com/office/drawing/2014/main" id="{76A6EC8C-E69D-4362-91D4-3C240D47DF8D}"/>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21</a:t>
            </a:r>
          </a:p>
        </p:txBody>
      </p:sp>
    </p:spTree>
    <p:extLst>
      <p:ext uri="{BB962C8B-B14F-4D97-AF65-F5344CB8AC3E}">
        <p14:creationId xmlns:p14="http://schemas.microsoft.com/office/powerpoint/2010/main" val="68066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3A853216-E4A2-474E-92C8-97788DFAFBA4}"/>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BEBD8D41-D50C-403F-8541-BC266FC8B055}"/>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left와 두 열 목록을 채워 X를 만들어 봅시다</a:t>
            </a:r>
          </a:p>
        </p:txBody>
      </p:sp>
      <p:sp>
        <p:nvSpPr>
          <p:cNvPr id="3" name="직선 연결선[R] 2">
            <a:extLst>
              <a:ext uri="{FF2B5EF4-FFF2-40B4-BE49-F238E27FC236}">
                <a16:creationId xmlns:a16="http://schemas.microsoft.com/office/drawing/2014/main" id="{39B839D1-20F5-4AFD-8A59-23AA09E123B4}"/>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7BB2FCC0-BC9D-4F22-826F-5AAAF33012B2}"/>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학생 실습</a:t>
            </a:r>
          </a:p>
        </p:txBody>
      </p:sp>
      <p:sp>
        <p:nvSpPr>
          <p:cNvPr id="5" name="모서리가 둥근 직사각형 4">
            <a:extLst>
              <a:ext uri="{FF2B5EF4-FFF2-40B4-BE49-F238E27FC236}">
                <a16:creationId xmlns:a16="http://schemas.microsoft.com/office/drawing/2014/main" id="{3235F1D7-EFDA-48BB-9CF4-D1D62ACF93BF}"/>
              </a:ext>
            </a:extLst>
          </p:cNvPr>
          <p:cNvSpPr>
            <a:spLocks noGrp="1"/>
          </p:cNvSpPr>
          <p:nvPr/>
        </p:nvSpPr>
        <p:spPr>
          <a:xfrm>
            <a:off x="428625" y="1714500"/>
            <a:ext cx="7524750" cy="4095750"/>
          </a:xfrm>
          <a:prstGeom prst="roundRect">
            <a:avLst>
              <a:gd name="adj" fmla="val 2791"/>
            </a:avLst>
          </a:prstGeom>
          <a:solidFill>
            <a:srgbClr val="F7F8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8413BF21-F0C6-44C5-8346-037F6DF2BB78}"/>
              </a:ext>
            </a:extLst>
          </p:cNvPr>
          <p:cNvSpPr>
            <a:spLocks noGrp="1"/>
          </p:cNvSpPr>
          <p:nvPr/>
        </p:nvSpPr>
        <p:spPr>
          <a:xfrm>
            <a:off x="428625" y="1714500"/>
            <a:ext cx="85725" cy="4095750"/>
          </a:xfrm>
          <a:prstGeom prst="rect">
            <a:avLst/>
          </a:prstGeom>
          <a:solidFill>
            <a:srgbClr val="2F7DF4"/>
          </a:solidFill>
          <a:ln w="0">
            <a:noFill/>
          </a:ln>
        </p:spPr>
        <p:txBody>
          <a:bodyPr/>
          <a:lstStyle/>
          <a:p>
            <a:endParaRPr lang="ko-KR" altLang="en-US"/>
          </a:p>
        </p:txBody>
      </p:sp>
      <p:sp>
        <p:nvSpPr>
          <p:cNvPr id="7" name="직사각형 6">
            <a:extLst>
              <a:ext uri="{FF2B5EF4-FFF2-40B4-BE49-F238E27FC236}">
                <a16:creationId xmlns:a16="http://schemas.microsoft.com/office/drawing/2014/main" id="{3A0E0F28-1DB6-465B-9C5C-7111DB7C07BB}"/>
              </a:ext>
            </a:extLst>
          </p:cNvPr>
          <p:cNvSpPr>
            <a:spLocks noGrp="1"/>
          </p:cNvSpPr>
          <p:nvPr/>
        </p:nvSpPr>
        <p:spPr>
          <a:xfrm>
            <a:off x="742950" y="1952625"/>
            <a:ext cx="6858000" cy="3524250"/>
          </a:xfrm>
          <a:prstGeom prst="rect">
            <a:avLst/>
          </a:prstGeom>
          <a:noFill/>
          <a:ln w="0">
            <a:noFill/>
          </a:ln>
        </p:spPr>
        <p:txBody>
          <a:bodyPr lIns="0" tIns="0" rIns="0" bIns="0" anchor="t">
            <a:normAutofit/>
          </a:bodyPr>
          <a:lstStyle/>
          <a:p>
            <a:pPr algn="l">
              <a:defRPr sz="1275" b="0">
                <a:solidFill>
                  <a:srgbClr val="17202A"/>
                </a:solidFill>
                <a:latin typeface="Menlo"/>
                <a:ea typeface="Menlo"/>
                <a:cs typeface="Menlo"/>
              </a:defRPr>
            </a:pPr>
            <a:r>
              <a:rPr sz="1275" b="0">
                <a:solidFill>
                  <a:srgbClr val="17202A"/>
                </a:solidFill>
                <a:latin typeface="Menlo"/>
                <a:ea typeface="Menlo"/>
                <a:cs typeface="Menlo"/>
              </a:rPr>
              <a:t>members = pd.read_csv(DATA_DIR / "members.csv")</a:t>
            </a:r>
          </a:p>
          <a:p>
            <a:pPr algn="l">
              <a:defRPr sz="1275" b="0">
                <a:solidFill>
                  <a:srgbClr val="17202A"/>
                </a:solidFill>
                <a:latin typeface="Menlo"/>
                <a:ea typeface="Menlo"/>
                <a:cs typeface="Menlo"/>
              </a:defRPr>
            </a:pPr>
            <a:r>
              <a:rPr sz="1275" b="0">
                <a:solidFill>
                  <a:srgbClr val="17202A"/>
                </a:solidFill>
                <a:latin typeface="Menlo"/>
                <a:ea typeface="Menlo"/>
                <a:cs typeface="Menlo"/>
              </a:rPr>
              <a:t>member_columns = ["member_id","gender","age","residence_region","membership_tier","signup_channel","meeting_scheduled"]</a:t>
            </a:r>
          </a:p>
          <a:p>
            <a:pPr algn="l">
              <a:defRPr sz="1275" b="0">
                <a:solidFill>
                  <a:srgbClr val="17202A"/>
                </a:solidFill>
                <a:latin typeface="Menlo"/>
                <a:ea typeface="Menlo"/>
                <a:cs typeface="Menlo"/>
              </a:defRPr>
            </a:pPr>
            <a:r>
              <a:rPr sz="1275" b="0">
                <a:solidFill>
                  <a:srgbClr val="17202A"/>
                </a:solidFill>
                <a:latin typeface="Menlo"/>
                <a:ea typeface="Menlo"/>
                <a:cs typeface="Menlo"/>
              </a:rPr>
              <a:t>model_table = members[member_columns].merge(member_activity, on="member_id", how=___, validate="one_to_one")</a:t>
            </a:r>
          </a:p>
          <a:p>
            <a:pPr algn="l">
              <a:defRPr sz="1275" b="0">
                <a:solidFill>
                  <a:srgbClr val="17202A"/>
                </a:solidFill>
                <a:latin typeface="Menlo"/>
                <a:ea typeface="Menlo"/>
                <a:cs typeface="Menlo"/>
              </a:defRPr>
            </a:pPr>
            <a:r>
              <a:rPr sz="1275" b="0">
                <a:solidFill>
                  <a:srgbClr val="17202A"/>
                </a:solidFill>
                <a:latin typeface="Menlo"/>
                <a:ea typeface="Menlo"/>
                <a:cs typeface="Menlo"/>
              </a:rPr>
              <a:t>numeric_features = ["age","active_days","total_app_opens","total_stay_time_min","total_profile_views","total_recommendations_viewed","total_messages_sent","avg_reply_delay_sec","days_since_last_activity"]</a:t>
            </a:r>
          </a:p>
          <a:p>
            <a:pPr algn="l">
              <a:defRPr sz="1275" b="0">
                <a:solidFill>
                  <a:srgbClr val="17202A"/>
                </a:solidFill>
                <a:latin typeface="Menlo"/>
                <a:ea typeface="Menlo"/>
                <a:cs typeface="Menlo"/>
              </a:defRPr>
            </a:pPr>
            <a:r>
              <a:rPr sz="1275" b="0">
                <a:solidFill>
                  <a:srgbClr val="17202A"/>
                </a:solidFill>
                <a:latin typeface="Menlo"/>
                <a:ea typeface="Menlo"/>
                <a:cs typeface="Menlo"/>
              </a:rPr>
              <a:t>categorical_features = ["gender","residence_region","membership_tier","signup_channel"]</a:t>
            </a:r>
          </a:p>
          <a:p>
            <a:pPr algn="l">
              <a:defRPr sz="1275" b="0">
                <a:solidFill>
                  <a:srgbClr val="17202A"/>
                </a:solidFill>
                <a:latin typeface="Menlo"/>
                <a:ea typeface="Menlo"/>
                <a:cs typeface="Menlo"/>
              </a:defRPr>
            </a:pPr>
            <a:r>
              <a:rPr sz="1275" b="0">
                <a:solidFill>
                  <a:srgbClr val="17202A"/>
                </a:solidFill>
                <a:latin typeface="Menlo"/>
                <a:ea typeface="Menlo"/>
                <a:cs typeface="Menlo"/>
              </a:rPr>
              <a:t>X = model_table[___]</a:t>
            </a:r>
          </a:p>
          <a:p>
            <a:pPr algn="l">
              <a:defRPr sz="1275" b="0">
                <a:solidFill>
                  <a:srgbClr val="17202A"/>
                </a:solidFill>
                <a:latin typeface="Menlo"/>
                <a:ea typeface="Menlo"/>
                <a:cs typeface="Menlo"/>
              </a:defRPr>
            </a:pPr>
            <a:r>
              <a:rPr sz="1275" b="0">
                <a:solidFill>
                  <a:srgbClr val="17202A"/>
                </a:solidFill>
                <a:latin typeface="Menlo"/>
                <a:ea typeface="Menlo"/>
                <a:cs typeface="Menlo"/>
              </a:rPr>
              <a:t>print(model_table.shape, X.shape)</a:t>
            </a:r>
          </a:p>
        </p:txBody>
      </p:sp>
      <p:sp>
        <p:nvSpPr>
          <p:cNvPr id="8" name="모서리가 둥근 직사각형 7">
            <a:extLst>
              <a:ext uri="{FF2B5EF4-FFF2-40B4-BE49-F238E27FC236}">
                <a16:creationId xmlns:a16="http://schemas.microsoft.com/office/drawing/2014/main" id="{DD41076A-2040-4FC7-B202-BDFA5480D930}"/>
              </a:ext>
            </a:extLst>
          </p:cNvPr>
          <p:cNvSpPr>
            <a:spLocks noGrp="1"/>
          </p:cNvSpPr>
          <p:nvPr/>
        </p:nvSpPr>
        <p:spPr>
          <a:xfrm>
            <a:off x="8286750" y="1857375"/>
            <a:ext cx="3143250" cy="1095375"/>
          </a:xfrm>
          <a:prstGeom prst="roundRect">
            <a:avLst>
              <a:gd name="adj" fmla="val 10435"/>
            </a:avLst>
          </a:prstGeom>
          <a:solidFill>
            <a:srgbClr val="FFF5DF"/>
          </a:solidFill>
          <a:ln w="9525">
            <a:solidFill>
              <a:srgbClr val="9A5B13"/>
            </a:solidFill>
          </a:ln>
        </p:spPr>
        <p:txBody>
          <a:bodyPr/>
          <a:lstStyle/>
          <a:p>
            <a:endParaRPr lang="ko-KR" altLang="en-US"/>
          </a:p>
        </p:txBody>
      </p:sp>
      <p:sp>
        <p:nvSpPr>
          <p:cNvPr id="9" name="직사각형 8">
            <a:extLst>
              <a:ext uri="{FF2B5EF4-FFF2-40B4-BE49-F238E27FC236}">
                <a16:creationId xmlns:a16="http://schemas.microsoft.com/office/drawing/2014/main" id="{726444D1-EC0F-474B-A7F0-EDB21377126D}"/>
              </a:ext>
            </a:extLst>
          </p:cNvPr>
          <p:cNvSpPr>
            <a:spLocks noGrp="1"/>
          </p:cNvSpPr>
          <p:nvPr/>
        </p:nvSpPr>
        <p:spPr>
          <a:xfrm>
            <a:off x="8524875" y="2076450"/>
            <a:ext cx="2667000" cy="238125"/>
          </a:xfrm>
          <a:prstGeom prst="rect">
            <a:avLst/>
          </a:prstGeom>
          <a:noFill/>
          <a:ln w="0">
            <a:noFill/>
          </a:ln>
        </p:spPr>
        <p:txBody>
          <a:bodyPr lIns="0" tIns="0" rIns="0" bIns="0" anchor="t">
            <a:normAutofit/>
          </a:bodyPr>
          <a:lstStyle/>
          <a:p>
            <a:pPr algn="l">
              <a:defRPr sz="1350" b="1">
                <a:solidFill>
                  <a:srgbClr val="9A5B13"/>
                </a:solidFill>
                <a:latin typeface="Apple SD Gothic Neo"/>
                <a:ea typeface="Apple SD Gothic Neo"/>
                <a:cs typeface="Apple SD Gothic Neo"/>
              </a:defRPr>
            </a:pPr>
            <a:r>
              <a:rPr sz="1350" b="1">
                <a:solidFill>
                  <a:srgbClr val="9A5B13"/>
                </a:solidFill>
                <a:latin typeface="Apple SD Gothic Neo"/>
                <a:ea typeface="Apple SD Gothic Neo"/>
                <a:cs typeface="Apple SD Gothic Neo"/>
              </a:rPr>
              <a:t>실행 전 예상</a:t>
            </a:r>
          </a:p>
        </p:txBody>
      </p:sp>
      <p:sp>
        <p:nvSpPr>
          <p:cNvPr id="10" name="직사각형 9">
            <a:extLst>
              <a:ext uri="{FF2B5EF4-FFF2-40B4-BE49-F238E27FC236}">
                <a16:creationId xmlns:a16="http://schemas.microsoft.com/office/drawing/2014/main" id="{CA83E40D-0A4C-4259-BA37-F8A5788848DF}"/>
              </a:ext>
            </a:extLst>
          </p:cNvPr>
          <p:cNvSpPr>
            <a:spLocks noGrp="1"/>
          </p:cNvSpPr>
          <p:nvPr/>
        </p:nvSpPr>
        <p:spPr>
          <a:xfrm>
            <a:off x="8524875" y="2428875"/>
            <a:ext cx="2667000" cy="419100"/>
          </a:xfrm>
          <a:prstGeom prst="rect">
            <a:avLst/>
          </a:prstGeom>
          <a:noFill/>
          <a:ln w="0">
            <a:noFill/>
          </a:ln>
        </p:spPr>
        <p:txBody>
          <a:bodyPr lIns="0" tIns="0" rIns="0" bIns="0" anchor="t">
            <a:normAutofit fontScale="91667" lnSpcReduction="10000"/>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정답과 식별자를 제외한 숫자 9개 열과 문자 4개 열만 전처리기에 넣습니다.</a:t>
            </a:r>
          </a:p>
        </p:txBody>
      </p:sp>
      <p:sp>
        <p:nvSpPr>
          <p:cNvPr id="11" name="모서리가 둥근 직사각형 10">
            <a:extLst>
              <a:ext uri="{FF2B5EF4-FFF2-40B4-BE49-F238E27FC236}">
                <a16:creationId xmlns:a16="http://schemas.microsoft.com/office/drawing/2014/main" id="{685B4C1D-6952-46DF-AE35-30490D239148}"/>
              </a:ext>
            </a:extLst>
          </p:cNvPr>
          <p:cNvSpPr>
            <a:spLocks noGrp="1"/>
          </p:cNvSpPr>
          <p:nvPr/>
        </p:nvSpPr>
        <p:spPr>
          <a:xfrm>
            <a:off x="8286750" y="3238500"/>
            <a:ext cx="3143250" cy="1476375"/>
          </a:xfrm>
          <a:prstGeom prst="roundRect">
            <a:avLst>
              <a:gd name="adj" fmla="val 7742"/>
            </a:avLst>
          </a:prstGeom>
          <a:solidFill>
            <a:srgbClr val="EAF3FF"/>
          </a:solidFill>
          <a:ln w="9525">
            <a:solidFill>
              <a:srgbClr val="2F7DF4"/>
            </a:solidFill>
          </a:ln>
        </p:spPr>
        <p:txBody>
          <a:bodyPr/>
          <a:lstStyle/>
          <a:p>
            <a:endParaRPr lang="ko-KR" altLang="en-US"/>
          </a:p>
        </p:txBody>
      </p:sp>
      <p:sp>
        <p:nvSpPr>
          <p:cNvPr id="12" name="직사각형 11">
            <a:extLst>
              <a:ext uri="{FF2B5EF4-FFF2-40B4-BE49-F238E27FC236}">
                <a16:creationId xmlns:a16="http://schemas.microsoft.com/office/drawing/2014/main" id="{F7058BA2-E136-4A5D-852F-5511C828006A}"/>
              </a:ext>
            </a:extLst>
          </p:cNvPr>
          <p:cNvSpPr>
            <a:spLocks noGrp="1"/>
          </p:cNvSpPr>
          <p:nvPr/>
        </p:nvSpPr>
        <p:spPr>
          <a:xfrm>
            <a:off x="8524875" y="3457575"/>
            <a:ext cx="2667000" cy="238125"/>
          </a:xfrm>
          <a:prstGeom prst="rect">
            <a:avLst/>
          </a:prstGeom>
          <a:noFill/>
          <a:ln w="0">
            <a:noFill/>
          </a:ln>
        </p:spPr>
        <p:txBody>
          <a:bodyPr lIns="0" tIns="0" rIns="0" bIns="0" anchor="t">
            <a:normAutofit/>
          </a:bodyPr>
          <a:lstStyle/>
          <a:p>
            <a:pPr algn="l">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코드 읽기</a:t>
            </a:r>
          </a:p>
        </p:txBody>
      </p:sp>
      <p:sp>
        <p:nvSpPr>
          <p:cNvPr id="13" name="직사각형 12">
            <a:extLst>
              <a:ext uri="{FF2B5EF4-FFF2-40B4-BE49-F238E27FC236}">
                <a16:creationId xmlns:a16="http://schemas.microsoft.com/office/drawing/2014/main" id="{67E22926-7BDB-4B5C-8E0D-24D1B8F448B2}"/>
              </a:ext>
            </a:extLst>
          </p:cNvPr>
          <p:cNvSpPr>
            <a:spLocks noGrp="1"/>
          </p:cNvSpPr>
          <p:nvPr/>
        </p:nvSpPr>
        <p:spPr>
          <a:xfrm>
            <a:off x="8524875" y="3810000"/>
            <a:ext cx="2667000" cy="714375"/>
          </a:xfrm>
          <a:prstGeom prst="rect">
            <a:avLst/>
          </a:prstGeom>
          <a:noFill/>
          <a:ln w="0">
            <a:noFill/>
          </a:ln>
        </p:spPr>
        <p:txBody>
          <a:bodyPr lIns="0" tIns="0" rIns="0" bIns="0" anchor="t">
            <a:normAutofit/>
          </a:bodyPr>
          <a:lstStyle/>
          <a:p>
            <a:pPr algn="l">
              <a:defRPr sz="1425" b="1">
                <a:solidFill>
                  <a:srgbClr val="17202A"/>
                </a:solidFill>
                <a:latin typeface="Apple SD Gothic Neo"/>
                <a:ea typeface="Apple SD Gothic Neo"/>
                <a:cs typeface="Apple SD Gothic Neo"/>
              </a:defRPr>
            </a:pPr>
            <a:r>
              <a:rPr sz="1425" b="1">
                <a:solidFill>
                  <a:srgbClr val="17202A"/>
                </a:solidFill>
                <a:latin typeface="Apple SD Gothic Neo"/>
                <a:ea typeface="Apple SD Gothic Neo"/>
                <a:cs typeface="Apple SD Gothic Neo"/>
              </a:rPr>
              <a:t>left merge는 members 1,000명을 기준으로 유지합니다.</a:t>
            </a:r>
          </a:p>
        </p:txBody>
      </p:sp>
      <p:sp>
        <p:nvSpPr>
          <p:cNvPr id="14" name="직사각형 13">
            <a:extLst>
              <a:ext uri="{FF2B5EF4-FFF2-40B4-BE49-F238E27FC236}">
                <a16:creationId xmlns:a16="http://schemas.microsoft.com/office/drawing/2014/main" id="{2CBD84CE-8267-4F90-B284-A383EF1E12DA}"/>
              </a:ext>
            </a:extLst>
          </p:cNvPr>
          <p:cNvSpPr>
            <a:spLocks noGrp="1"/>
          </p:cNvSpPr>
          <p:nvPr/>
        </p:nvSpPr>
        <p:spPr>
          <a:xfrm>
            <a:off x="8334375" y="5238750"/>
            <a:ext cx="3048000" cy="238125"/>
          </a:xfrm>
          <a:prstGeom prst="rect">
            <a:avLst/>
          </a:prstGeom>
          <a:noFill/>
          <a:ln w="0">
            <a:noFill/>
          </a:ln>
        </p:spPr>
        <p:txBody>
          <a:bodyPr lIns="0" tIns="0" rIns="0" bIns="0" anchor="t">
            <a:normAutofit/>
          </a:bodyPr>
          <a:lstStyle/>
          <a:p>
            <a:pPr algn="ctr">
              <a:defRPr sz="1200" b="0">
                <a:solidFill>
                  <a:srgbClr val="5F6B78"/>
                </a:solidFill>
                <a:latin typeface="Apple SD Gothic Neo"/>
                <a:ea typeface="Apple SD Gothic Neo"/>
                <a:cs typeface="Apple SD Gothic Neo"/>
              </a:defRPr>
            </a:pPr>
            <a:r>
              <a:rPr sz="1200" b="0">
                <a:solidFill>
                  <a:srgbClr val="5F6B78"/>
                </a:solidFill>
                <a:latin typeface="Apple SD Gothic Neo"/>
                <a:ea typeface="Apple SD Gothic Neo"/>
                <a:cs typeface="Apple SD Gothic Neo"/>
              </a:rPr>
              <a:t>학생 노트북 · Q4</a:t>
            </a:r>
          </a:p>
        </p:txBody>
      </p:sp>
      <p:sp>
        <p:nvSpPr>
          <p:cNvPr id="15" name="직선 연결선[R] 14">
            <a:extLst>
              <a:ext uri="{FF2B5EF4-FFF2-40B4-BE49-F238E27FC236}">
                <a16:creationId xmlns:a16="http://schemas.microsoft.com/office/drawing/2014/main" id="{572FA765-5AD0-4AF0-AD90-FA870C3BFD64}"/>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6" name="직사각형 15">
            <a:extLst>
              <a:ext uri="{FF2B5EF4-FFF2-40B4-BE49-F238E27FC236}">
                <a16:creationId xmlns:a16="http://schemas.microsoft.com/office/drawing/2014/main" id="{BDA6C4CE-C60B-4482-B588-0AF5FE220753}"/>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학생 노트북 Q4에서 ___만 채우고 정상 결과 (1000, 16) (1000, 13)을 확인합니다.</a:t>
            </a:r>
          </a:p>
        </p:txBody>
      </p:sp>
      <p:sp>
        <p:nvSpPr>
          <p:cNvPr id="17" name="직사각형 16">
            <a:extLst>
              <a:ext uri="{FF2B5EF4-FFF2-40B4-BE49-F238E27FC236}">
                <a16:creationId xmlns:a16="http://schemas.microsoft.com/office/drawing/2014/main" id="{5349F7B1-09CA-4D3E-B562-33258CFE6427}"/>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22</a:t>
            </a:r>
          </a:p>
        </p:txBody>
      </p:sp>
    </p:spTree>
    <p:extLst>
      <p:ext uri="{BB962C8B-B14F-4D97-AF65-F5344CB8AC3E}">
        <p14:creationId xmlns:p14="http://schemas.microsoft.com/office/powerpoint/2010/main" val="120451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AFC68AA8-9C9C-48F7-95A4-5D4BB313A6EE}"/>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76DBED48-B300-4A3F-A8C7-42A28FB6E067}"/>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결합 표와 전처리 입력표가 갈라지는 지점을 읽어봅시다</a:t>
            </a:r>
          </a:p>
        </p:txBody>
      </p:sp>
      <p:sp>
        <p:nvSpPr>
          <p:cNvPr id="3" name="직선 연결선[R] 2">
            <a:extLst>
              <a:ext uri="{FF2B5EF4-FFF2-40B4-BE49-F238E27FC236}">
                <a16:creationId xmlns:a16="http://schemas.microsoft.com/office/drawing/2014/main" id="{BDA597BC-6BEC-46CF-A086-FB06D39CE035}"/>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3313AAB6-726F-45A3-A398-F112FD6C1838}"/>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코드 해석</a:t>
            </a:r>
          </a:p>
        </p:txBody>
      </p:sp>
      <p:sp>
        <p:nvSpPr>
          <p:cNvPr id="5" name="모서리가 둥근 직사각형 4">
            <a:extLst>
              <a:ext uri="{FF2B5EF4-FFF2-40B4-BE49-F238E27FC236}">
                <a16:creationId xmlns:a16="http://schemas.microsoft.com/office/drawing/2014/main" id="{9AEF3236-D6D0-480E-BA11-0DBF7D6F6BD8}"/>
              </a:ext>
            </a:extLst>
          </p:cNvPr>
          <p:cNvSpPr>
            <a:spLocks noGrp="1"/>
          </p:cNvSpPr>
          <p:nvPr/>
        </p:nvSpPr>
        <p:spPr>
          <a:xfrm>
            <a:off x="523875" y="2143125"/>
            <a:ext cx="3429000" cy="2428875"/>
          </a:xfrm>
          <a:prstGeom prst="roundRect">
            <a:avLst>
              <a:gd name="adj" fmla="val 470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CFFDED06-3096-4EAC-884F-9F59FCCFB47E}"/>
              </a:ext>
            </a:extLst>
          </p:cNvPr>
          <p:cNvSpPr>
            <a:spLocks noGrp="1"/>
          </p:cNvSpPr>
          <p:nvPr/>
        </p:nvSpPr>
        <p:spPr>
          <a:xfrm>
            <a:off x="771525" y="2400300"/>
            <a:ext cx="2933700"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1 · 입력 확인</a:t>
            </a:r>
          </a:p>
        </p:txBody>
      </p:sp>
      <p:sp>
        <p:nvSpPr>
          <p:cNvPr id="7" name="직사각형 6">
            <a:extLst>
              <a:ext uri="{FF2B5EF4-FFF2-40B4-BE49-F238E27FC236}">
                <a16:creationId xmlns:a16="http://schemas.microsoft.com/office/drawing/2014/main" id="{D1AC0200-F6A7-4D9D-A1A9-2E0179884826}"/>
              </a:ext>
            </a:extLst>
          </p:cNvPr>
          <p:cNvSpPr>
            <a:spLocks noGrp="1"/>
          </p:cNvSpPr>
          <p:nvPr/>
        </p:nvSpPr>
        <p:spPr>
          <a:xfrm>
            <a:off x="77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model_table은 1,000행×16열, X는 1,000행×13열 DataFrame입니다.</a:t>
            </a:r>
          </a:p>
        </p:txBody>
      </p:sp>
      <p:sp>
        <p:nvSpPr>
          <p:cNvPr id="8" name="직선 연결선[R] 7">
            <a:extLst>
              <a:ext uri="{FF2B5EF4-FFF2-40B4-BE49-F238E27FC236}">
                <a16:creationId xmlns:a16="http://schemas.microsoft.com/office/drawing/2014/main" id="{78D7D359-ECB8-464E-B0A0-4944B95EF1EA}"/>
              </a:ext>
            </a:extLst>
          </p:cNvPr>
          <p:cNvSpPr>
            <a:spLocks noGrp="1"/>
          </p:cNvSpPr>
          <p:nvPr/>
        </p:nvSpPr>
        <p:spPr>
          <a:xfrm>
            <a:off x="4000500" y="3333750"/>
            <a:ext cx="285750" cy="0"/>
          </a:xfrm>
          <a:prstGeom prst="line">
            <a:avLst/>
          </a:prstGeom>
          <a:noFill/>
          <a:ln w="28575">
            <a:solidFill>
              <a:srgbClr val="2F7DF4"/>
            </a:solidFill>
          </a:ln>
        </p:spPr>
        <p:txBody>
          <a:bodyPr/>
          <a:lstStyle/>
          <a:p>
            <a:endParaRPr lang="ko-KR" altLang="en-US"/>
          </a:p>
        </p:txBody>
      </p:sp>
      <p:sp>
        <p:nvSpPr>
          <p:cNvPr id="9" name="모서리가 둥근 직사각형 8">
            <a:extLst>
              <a:ext uri="{FF2B5EF4-FFF2-40B4-BE49-F238E27FC236}">
                <a16:creationId xmlns:a16="http://schemas.microsoft.com/office/drawing/2014/main" id="{34B83298-B3BE-4C85-9396-DA14ECE385F6}"/>
              </a:ext>
            </a:extLst>
          </p:cNvPr>
          <p:cNvSpPr>
            <a:spLocks noGrp="1"/>
          </p:cNvSpPr>
          <p:nvPr/>
        </p:nvSpPr>
        <p:spPr>
          <a:xfrm>
            <a:off x="4333875" y="2143125"/>
            <a:ext cx="3429000" cy="2428875"/>
          </a:xfrm>
          <a:prstGeom prst="roundRect">
            <a:avLst>
              <a:gd name="adj" fmla="val 4706"/>
            </a:avLst>
          </a:prstGeom>
          <a:solidFill>
            <a:srgbClr val="F5F7FA"/>
          </a:solid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D9779B1D-F5A1-4AA1-8FAA-20896E97FE3B}"/>
              </a:ext>
            </a:extLst>
          </p:cNvPr>
          <p:cNvSpPr>
            <a:spLocks noGrp="1"/>
          </p:cNvSpPr>
          <p:nvPr/>
        </p:nvSpPr>
        <p:spPr>
          <a:xfrm>
            <a:off x="4581525" y="2400300"/>
            <a:ext cx="2933700"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2 · 기능 적용</a:t>
            </a:r>
          </a:p>
        </p:txBody>
      </p:sp>
      <p:sp>
        <p:nvSpPr>
          <p:cNvPr id="11" name="직사각형 10">
            <a:extLst>
              <a:ext uri="{FF2B5EF4-FFF2-40B4-BE49-F238E27FC236}">
                <a16:creationId xmlns:a16="http://schemas.microsoft.com/office/drawing/2014/main" id="{AF1A2FDD-FEED-4881-9149-2A4246D4E310}"/>
              </a:ext>
            </a:extLst>
          </p:cNvPr>
          <p:cNvSpPr>
            <a:spLocks noGrp="1"/>
          </p:cNvSpPr>
          <p:nvPr/>
        </p:nvSpPr>
        <p:spPr>
          <a:xfrm>
            <a:off x="458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left merge는 members 1,000명을 기준으로 유지합니다.</a:t>
            </a:r>
          </a:p>
        </p:txBody>
      </p:sp>
      <p:sp>
        <p:nvSpPr>
          <p:cNvPr id="12" name="직선 연결선[R] 11">
            <a:extLst>
              <a:ext uri="{FF2B5EF4-FFF2-40B4-BE49-F238E27FC236}">
                <a16:creationId xmlns:a16="http://schemas.microsoft.com/office/drawing/2014/main" id="{DDECB547-2C42-4AAA-9EC0-2133712226E1}"/>
              </a:ext>
            </a:extLst>
          </p:cNvPr>
          <p:cNvSpPr>
            <a:spLocks noGrp="1"/>
          </p:cNvSpPr>
          <p:nvPr/>
        </p:nvSpPr>
        <p:spPr>
          <a:xfrm>
            <a:off x="7810500" y="3333750"/>
            <a:ext cx="285750" cy="0"/>
          </a:xfrm>
          <a:prstGeom prst="line">
            <a:avLst/>
          </a:prstGeom>
          <a:noFill/>
          <a:ln w="28575">
            <a:solidFill>
              <a:srgbClr val="2F7DF4"/>
            </a:solidFill>
          </a:ln>
        </p:spPr>
        <p:txBody>
          <a:bodyPr/>
          <a:lstStyle/>
          <a:p>
            <a:endParaRPr lang="ko-KR" altLang="en-US"/>
          </a:p>
        </p:txBody>
      </p:sp>
      <p:sp>
        <p:nvSpPr>
          <p:cNvPr id="13" name="모서리가 둥근 직사각형 12">
            <a:extLst>
              <a:ext uri="{FF2B5EF4-FFF2-40B4-BE49-F238E27FC236}">
                <a16:creationId xmlns:a16="http://schemas.microsoft.com/office/drawing/2014/main" id="{AF854565-558A-4450-9299-497A608752B1}"/>
              </a:ext>
            </a:extLst>
          </p:cNvPr>
          <p:cNvSpPr>
            <a:spLocks noGrp="1"/>
          </p:cNvSpPr>
          <p:nvPr/>
        </p:nvSpPr>
        <p:spPr>
          <a:xfrm>
            <a:off x="8143875" y="2143125"/>
            <a:ext cx="3429000" cy="2428875"/>
          </a:xfrm>
          <a:prstGeom prst="roundRect">
            <a:avLst>
              <a:gd name="adj" fmla="val 4706"/>
            </a:avLst>
          </a:prstGeom>
          <a:solidFill>
            <a:srgbClr val="EAF7F0"/>
          </a:solidFill>
          <a:ln w="9525">
            <a:solidFill>
              <a:srgbClr val="18794E"/>
            </a:solidFill>
          </a:ln>
        </p:spPr>
        <p:txBody>
          <a:bodyPr/>
          <a:lstStyle/>
          <a:p>
            <a:endParaRPr lang="ko-KR" altLang="en-US"/>
          </a:p>
        </p:txBody>
      </p:sp>
      <p:sp>
        <p:nvSpPr>
          <p:cNvPr id="14" name="직사각형 13">
            <a:extLst>
              <a:ext uri="{FF2B5EF4-FFF2-40B4-BE49-F238E27FC236}">
                <a16:creationId xmlns:a16="http://schemas.microsoft.com/office/drawing/2014/main" id="{D1C7DBB0-9811-40DF-9A1A-AE1CB2DFF4DD}"/>
              </a:ext>
            </a:extLst>
          </p:cNvPr>
          <p:cNvSpPr>
            <a:spLocks noGrp="1"/>
          </p:cNvSpPr>
          <p:nvPr/>
        </p:nvSpPr>
        <p:spPr>
          <a:xfrm>
            <a:off x="8391525" y="2400300"/>
            <a:ext cx="2933700" cy="323850"/>
          </a:xfrm>
          <a:prstGeom prst="rect">
            <a:avLst/>
          </a:prstGeom>
          <a:noFill/>
          <a:ln w="0">
            <a:noFill/>
          </a:ln>
        </p:spPr>
        <p:txBody>
          <a:bodyPr lIns="0" tIns="0" rIns="0" bIns="0" anchor="t">
            <a:normAutofit/>
          </a:bodyPr>
          <a:lstStyle/>
          <a:p>
            <a:pPr algn="l">
              <a:defRPr sz="1500" b="1">
                <a:solidFill>
                  <a:srgbClr val="18794E"/>
                </a:solidFill>
                <a:latin typeface="Apple SD Gothic Neo"/>
                <a:ea typeface="Apple SD Gothic Neo"/>
                <a:cs typeface="Apple SD Gothic Neo"/>
              </a:defRPr>
            </a:pPr>
            <a:r>
              <a:rPr sz="1500" b="1">
                <a:solidFill>
                  <a:srgbClr val="18794E"/>
                </a:solidFill>
                <a:latin typeface="Apple SD Gothic Neo"/>
                <a:ea typeface="Apple SD Gothic Neo"/>
                <a:cs typeface="Apple SD Gothic Neo"/>
              </a:rPr>
              <a:t>3 · 결과 확인</a:t>
            </a:r>
          </a:p>
        </p:txBody>
      </p:sp>
      <p:sp>
        <p:nvSpPr>
          <p:cNvPr id="15" name="직사각형 14">
            <a:extLst>
              <a:ext uri="{FF2B5EF4-FFF2-40B4-BE49-F238E27FC236}">
                <a16:creationId xmlns:a16="http://schemas.microsoft.com/office/drawing/2014/main" id="{9A936376-7188-477A-9F79-59524F3BC30C}"/>
              </a:ext>
            </a:extLst>
          </p:cNvPr>
          <p:cNvSpPr>
            <a:spLocks noGrp="1"/>
          </p:cNvSpPr>
          <p:nvPr/>
        </p:nvSpPr>
        <p:spPr>
          <a:xfrm>
            <a:off x="839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(1000, 16) (1000, 13)</a:t>
            </a:r>
          </a:p>
        </p:txBody>
      </p:sp>
      <p:sp>
        <p:nvSpPr>
          <p:cNvPr id="16" name="모서리가 둥근 직사각형 15">
            <a:extLst>
              <a:ext uri="{FF2B5EF4-FFF2-40B4-BE49-F238E27FC236}">
                <a16:creationId xmlns:a16="http://schemas.microsoft.com/office/drawing/2014/main" id="{C2FC7A8D-CCF3-447B-A64C-DC579746B2BF}"/>
              </a:ext>
            </a:extLst>
          </p:cNvPr>
          <p:cNvSpPr>
            <a:spLocks noGrp="1"/>
          </p:cNvSpPr>
          <p:nvPr/>
        </p:nvSpPr>
        <p:spPr>
          <a:xfrm>
            <a:off x="1143000" y="5048250"/>
            <a:ext cx="9906000" cy="590550"/>
          </a:xfrm>
          <a:prstGeom prst="roundRect">
            <a:avLst>
              <a:gd name="adj" fmla="val 19355"/>
            </a:avLst>
          </a:prstGeom>
          <a:solidFill>
            <a:srgbClr val="EAF3FF"/>
          </a:solidFill>
          <a:ln w="0">
            <a:noFill/>
          </a:ln>
        </p:spPr>
        <p:txBody>
          <a:bodyPr/>
          <a:lstStyle/>
          <a:p>
            <a:endParaRPr lang="ko-KR" altLang="en-US"/>
          </a:p>
        </p:txBody>
      </p:sp>
      <p:sp>
        <p:nvSpPr>
          <p:cNvPr id="17" name="직사각형 16">
            <a:extLst>
              <a:ext uri="{FF2B5EF4-FFF2-40B4-BE49-F238E27FC236}">
                <a16:creationId xmlns:a16="http://schemas.microsoft.com/office/drawing/2014/main" id="{A4A566C3-6C31-4288-B951-659D4F283A7D}"/>
              </a:ext>
            </a:extLst>
          </p:cNvPr>
          <p:cNvSpPr>
            <a:spLocks noGrp="1"/>
          </p:cNvSpPr>
          <p:nvPr/>
        </p:nvSpPr>
        <p:spPr>
          <a:xfrm>
            <a:off x="1428750" y="5219700"/>
            <a:ext cx="9334500" cy="285750"/>
          </a:xfrm>
          <a:prstGeom prst="rect">
            <a:avLst/>
          </a:prstGeom>
          <a:noFill/>
          <a:ln w="0">
            <a:noFill/>
          </a:ln>
        </p:spPr>
        <p:txBody>
          <a:bodyPr lIns="0" tIns="0" rIns="0" bIns="0" anchor="t">
            <a:normAutofit/>
          </a:bodyPr>
          <a:lstStyle/>
          <a:p>
            <a:pPr algn="ctr">
              <a:defRPr sz="1575" b="1">
                <a:solidFill>
                  <a:srgbClr val="17324D"/>
                </a:solidFill>
                <a:latin typeface="Apple SD Gothic Neo"/>
                <a:ea typeface="Apple SD Gothic Neo"/>
                <a:cs typeface="Apple SD Gothic Neo"/>
              </a:defRPr>
            </a:pPr>
            <a:r>
              <a:rPr sz="1575" b="1">
                <a:solidFill>
                  <a:srgbClr val="17324D"/>
                </a:solidFill>
                <a:latin typeface="Apple SD Gothic Neo"/>
                <a:ea typeface="Apple SD Gothic Neo"/>
                <a:cs typeface="Apple SD Gothic Neo"/>
              </a:rPr>
              <a:t>정상 결과 · (1000, 16) (1000, 13)</a:t>
            </a:r>
          </a:p>
        </p:txBody>
      </p:sp>
      <p:sp>
        <p:nvSpPr>
          <p:cNvPr id="18" name="직선 연결선[R] 17">
            <a:extLst>
              <a:ext uri="{FF2B5EF4-FFF2-40B4-BE49-F238E27FC236}">
                <a16:creationId xmlns:a16="http://schemas.microsoft.com/office/drawing/2014/main" id="{9320164F-6939-4447-B7C6-72AA17632CCD}"/>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9" name="직사각형 18">
            <a:extLst>
              <a:ext uri="{FF2B5EF4-FFF2-40B4-BE49-F238E27FC236}">
                <a16:creationId xmlns:a16="http://schemas.microsoft.com/office/drawing/2014/main" id="{FDA2BF9B-CAB3-44D2-8707-0E52B207C980}"/>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소괄호 안에 들어가는 값, 실행되는 기능과 등호 왼쪽에 저장되는 결과를 차례로 읽습니다.</a:t>
            </a:r>
          </a:p>
        </p:txBody>
      </p:sp>
      <p:sp>
        <p:nvSpPr>
          <p:cNvPr id="20" name="직사각형 19">
            <a:extLst>
              <a:ext uri="{FF2B5EF4-FFF2-40B4-BE49-F238E27FC236}">
                <a16:creationId xmlns:a16="http://schemas.microsoft.com/office/drawing/2014/main" id="{F89A5E14-96B6-4099-AFBA-79E84C764FC9}"/>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23</a:t>
            </a:r>
          </a:p>
        </p:txBody>
      </p:sp>
    </p:spTree>
    <p:extLst>
      <p:ext uri="{BB962C8B-B14F-4D97-AF65-F5344CB8AC3E}">
        <p14:creationId xmlns:p14="http://schemas.microsoft.com/office/powerpoint/2010/main" val="1340571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7AF5BFDC-1AD5-4458-8A2D-B8643D2003B3}"/>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4CBFE105-F7EF-4312-ADCD-49A7B2C311C2}"/>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(1000, 16)과 (1000, 13)의 차이는 무엇일까요?</a:t>
            </a:r>
          </a:p>
        </p:txBody>
      </p:sp>
      <p:sp>
        <p:nvSpPr>
          <p:cNvPr id="3" name="직선 연결선[R] 2">
            <a:extLst>
              <a:ext uri="{FF2B5EF4-FFF2-40B4-BE49-F238E27FC236}">
                <a16:creationId xmlns:a16="http://schemas.microsoft.com/office/drawing/2014/main" id="{E581A192-AFC6-4C1A-AE61-C1234D952124}"/>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A4968511-A54D-4ABF-981F-7EA3C6085B0B}"/>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결과와 복구</a:t>
            </a:r>
          </a:p>
        </p:txBody>
      </p:sp>
      <p:sp>
        <p:nvSpPr>
          <p:cNvPr id="5" name="모서리가 둥근 직사각형 4">
            <a:extLst>
              <a:ext uri="{FF2B5EF4-FFF2-40B4-BE49-F238E27FC236}">
                <a16:creationId xmlns:a16="http://schemas.microsoft.com/office/drawing/2014/main" id="{245F0EB6-B96E-4CE1-8939-994D293B1425}"/>
              </a:ext>
            </a:extLst>
          </p:cNvPr>
          <p:cNvSpPr>
            <a:spLocks noGrp="1"/>
          </p:cNvSpPr>
          <p:nvPr/>
        </p:nvSpPr>
        <p:spPr>
          <a:xfrm>
            <a:off x="666750" y="1952625"/>
            <a:ext cx="5095875" cy="2524125"/>
          </a:xfrm>
          <a:prstGeom prst="roundRect">
            <a:avLst>
              <a:gd name="adj" fmla="val 4528"/>
            </a:avLst>
          </a:prstGeom>
          <a:solidFill>
            <a:srgbClr val="EAF7F0"/>
          </a:solidFill>
          <a:ln w="9525">
            <a:solidFill>
              <a:srgbClr val="18794E"/>
            </a:solidFill>
          </a:ln>
        </p:spPr>
        <p:txBody>
          <a:bodyPr/>
          <a:lstStyle/>
          <a:p>
            <a:endParaRPr lang="ko-KR" altLang="en-US"/>
          </a:p>
        </p:txBody>
      </p:sp>
      <p:sp>
        <p:nvSpPr>
          <p:cNvPr id="6" name="직사각형 5">
            <a:extLst>
              <a:ext uri="{FF2B5EF4-FFF2-40B4-BE49-F238E27FC236}">
                <a16:creationId xmlns:a16="http://schemas.microsoft.com/office/drawing/2014/main" id="{26978BC8-11B2-4F89-A568-838231D31995}"/>
              </a:ext>
            </a:extLst>
          </p:cNvPr>
          <p:cNvSpPr>
            <a:spLocks noGrp="1"/>
          </p:cNvSpPr>
          <p:nvPr/>
        </p:nvSpPr>
        <p:spPr>
          <a:xfrm>
            <a:off x="1000125" y="2266950"/>
            <a:ext cx="4429125" cy="323850"/>
          </a:xfrm>
          <a:prstGeom prst="rect">
            <a:avLst/>
          </a:prstGeom>
          <a:noFill/>
          <a:ln w="0">
            <a:noFill/>
          </a:ln>
        </p:spPr>
        <p:txBody>
          <a:bodyPr lIns="0" tIns="0" rIns="0" bIns="0" anchor="t">
            <a:normAutofit/>
          </a:bodyPr>
          <a:lstStyle/>
          <a:p>
            <a:pPr algn="l">
              <a:defRPr sz="1650" b="1">
                <a:solidFill>
                  <a:srgbClr val="18794E"/>
                </a:solidFill>
                <a:latin typeface="Apple SD Gothic Neo"/>
                <a:ea typeface="Apple SD Gothic Neo"/>
                <a:cs typeface="Apple SD Gothic Neo"/>
              </a:defRPr>
            </a:pPr>
            <a:r>
              <a:rPr sz="1650" b="1">
                <a:solidFill>
                  <a:srgbClr val="18794E"/>
                </a:solidFill>
                <a:latin typeface="Apple SD Gothic Neo"/>
                <a:ea typeface="Apple SD Gothic Neo"/>
                <a:cs typeface="Apple SD Gothic Neo"/>
              </a:rPr>
              <a:t>정상이라면</a:t>
            </a:r>
          </a:p>
        </p:txBody>
      </p:sp>
      <p:sp>
        <p:nvSpPr>
          <p:cNvPr id="7" name="직사각형 6">
            <a:extLst>
              <a:ext uri="{FF2B5EF4-FFF2-40B4-BE49-F238E27FC236}">
                <a16:creationId xmlns:a16="http://schemas.microsoft.com/office/drawing/2014/main" id="{CF4CC9BB-D2C4-4962-8B03-A045FF371E92}"/>
              </a:ext>
            </a:extLst>
          </p:cNvPr>
          <p:cNvSpPr>
            <a:spLocks noGrp="1"/>
          </p:cNvSpPr>
          <p:nvPr/>
        </p:nvSpPr>
        <p:spPr>
          <a:xfrm>
            <a:off x="1000125" y="2905125"/>
            <a:ext cx="4429125" cy="1000125"/>
          </a:xfrm>
          <a:prstGeom prst="rect">
            <a:avLst/>
          </a:prstGeom>
          <a:noFill/>
          <a:ln w="0">
            <a:noFill/>
          </a:ln>
        </p:spPr>
        <p:txBody>
          <a:bodyPr lIns="0" tIns="0" rIns="0" bIns="0" anchor="t">
            <a:normAutofit/>
          </a:bodyPr>
          <a:lstStyle/>
          <a:p>
            <a:pPr algn="ctr">
              <a:defRPr sz="2175" b="1">
                <a:solidFill>
                  <a:srgbClr val="17202A"/>
                </a:solidFill>
                <a:latin typeface="Apple SD Gothic Neo"/>
                <a:ea typeface="Apple SD Gothic Neo"/>
                <a:cs typeface="Apple SD Gothic Neo"/>
              </a:defRPr>
            </a:pPr>
            <a:r>
              <a:rPr sz="2175" b="1">
                <a:solidFill>
                  <a:srgbClr val="17202A"/>
                </a:solidFill>
                <a:latin typeface="Apple SD Gothic Neo"/>
                <a:ea typeface="Apple SD Gothic Neo"/>
                <a:cs typeface="Apple SD Gothic Neo"/>
              </a:rPr>
              <a:t>(1000, 16) (1000, 13)</a:t>
            </a:r>
          </a:p>
        </p:txBody>
      </p:sp>
      <p:sp>
        <p:nvSpPr>
          <p:cNvPr id="8" name="모서리가 둥근 직사각형 7">
            <a:extLst>
              <a:ext uri="{FF2B5EF4-FFF2-40B4-BE49-F238E27FC236}">
                <a16:creationId xmlns:a16="http://schemas.microsoft.com/office/drawing/2014/main" id="{1969B23B-B105-46CE-B076-C90186825F35}"/>
              </a:ext>
            </a:extLst>
          </p:cNvPr>
          <p:cNvSpPr>
            <a:spLocks noGrp="1"/>
          </p:cNvSpPr>
          <p:nvPr/>
        </p:nvSpPr>
        <p:spPr>
          <a:xfrm>
            <a:off x="6429375" y="1952625"/>
            <a:ext cx="5095875" cy="2524125"/>
          </a:xfrm>
          <a:prstGeom prst="roundRect">
            <a:avLst>
              <a:gd name="adj" fmla="val 4528"/>
            </a:avLst>
          </a:prstGeom>
          <a:solidFill>
            <a:srgbClr val="FFF0EE"/>
          </a:solidFill>
          <a:ln w="9525">
            <a:solidFill>
              <a:srgbClr val="B42318"/>
            </a:solidFill>
          </a:ln>
        </p:spPr>
        <p:txBody>
          <a:bodyPr/>
          <a:lstStyle/>
          <a:p>
            <a:endParaRPr lang="ko-KR" altLang="en-US"/>
          </a:p>
        </p:txBody>
      </p:sp>
      <p:sp>
        <p:nvSpPr>
          <p:cNvPr id="9" name="직사각형 8">
            <a:extLst>
              <a:ext uri="{FF2B5EF4-FFF2-40B4-BE49-F238E27FC236}">
                <a16:creationId xmlns:a16="http://schemas.microsoft.com/office/drawing/2014/main" id="{E858099F-C6F3-4012-9791-8F929DD04469}"/>
              </a:ext>
            </a:extLst>
          </p:cNvPr>
          <p:cNvSpPr>
            <a:spLocks noGrp="1"/>
          </p:cNvSpPr>
          <p:nvPr/>
        </p:nvSpPr>
        <p:spPr>
          <a:xfrm>
            <a:off x="6762750" y="2266950"/>
            <a:ext cx="4429125" cy="323850"/>
          </a:xfrm>
          <a:prstGeom prst="rect">
            <a:avLst/>
          </a:prstGeom>
          <a:noFill/>
          <a:ln w="0">
            <a:noFill/>
          </a:ln>
        </p:spPr>
        <p:txBody>
          <a:bodyPr lIns="0" tIns="0" rIns="0" bIns="0" anchor="t">
            <a:normAutofit/>
          </a:bodyPr>
          <a:lstStyle/>
          <a:p>
            <a:pPr algn="l">
              <a:defRPr sz="1650" b="1">
                <a:solidFill>
                  <a:srgbClr val="B42318"/>
                </a:solidFill>
                <a:latin typeface="Apple SD Gothic Neo"/>
                <a:ea typeface="Apple SD Gothic Neo"/>
                <a:cs typeface="Apple SD Gothic Neo"/>
              </a:defRPr>
            </a:pPr>
            <a:r>
              <a:rPr sz="1650" b="1">
                <a:solidFill>
                  <a:srgbClr val="B42318"/>
                </a:solidFill>
                <a:latin typeface="Apple SD Gothic Neo"/>
                <a:ea typeface="Apple SD Gothic Neo"/>
                <a:cs typeface="Apple SD Gothic Neo"/>
              </a:rPr>
              <a:t>막혔다면</a:t>
            </a:r>
          </a:p>
        </p:txBody>
      </p:sp>
      <p:sp>
        <p:nvSpPr>
          <p:cNvPr id="10" name="직사각형 9">
            <a:extLst>
              <a:ext uri="{FF2B5EF4-FFF2-40B4-BE49-F238E27FC236}">
                <a16:creationId xmlns:a16="http://schemas.microsoft.com/office/drawing/2014/main" id="{0C0E2B4C-6643-472D-B3F5-562A21CC6F83}"/>
              </a:ext>
            </a:extLst>
          </p:cNvPr>
          <p:cNvSpPr>
            <a:spLocks noGrp="1"/>
          </p:cNvSpPr>
          <p:nvPr/>
        </p:nvSpPr>
        <p:spPr>
          <a:xfrm>
            <a:off x="6762750" y="2838450"/>
            <a:ext cx="4429125" cy="1095375"/>
          </a:xfrm>
          <a:prstGeom prst="rect">
            <a:avLst/>
          </a:prstGeom>
          <a:noFill/>
          <a:ln w="0">
            <a:noFill/>
          </a:ln>
        </p:spPr>
        <p:txBody>
          <a:bodyPr lIns="0" tIns="0" rIns="0" bIns="0" anchor="t">
            <a:normAutofit/>
          </a:bodyPr>
          <a:lstStyle/>
          <a:p>
            <a:pPr algn="ctr">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열 이름과 양쪽 member_id 중복을 확인합니다.</a:t>
            </a:r>
          </a:p>
        </p:txBody>
      </p:sp>
      <p:sp>
        <p:nvSpPr>
          <p:cNvPr id="11" name="모서리가 둥근 직사각형 10">
            <a:extLst>
              <a:ext uri="{FF2B5EF4-FFF2-40B4-BE49-F238E27FC236}">
                <a16:creationId xmlns:a16="http://schemas.microsoft.com/office/drawing/2014/main" id="{218E8D89-269A-41B1-9B0E-EB0A1360C033}"/>
              </a:ext>
            </a:extLst>
          </p:cNvPr>
          <p:cNvSpPr>
            <a:spLocks noGrp="1"/>
          </p:cNvSpPr>
          <p:nvPr/>
        </p:nvSpPr>
        <p:spPr>
          <a:xfrm>
            <a:off x="1524000" y="4905375"/>
            <a:ext cx="9144000" cy="628650"/>
          </a:xfrm>
          <a:prstGeom prst="roundRect">
            <a:avLst>
              <a:gd name="adj" fmla="val 18182"/>
            </a:avLst>
          </a:prstGeom>
          <a:solidFill>
            <a:srgbClr val="FFF5DF"/>
          </a:solidFill>
          <a:ln w="9525">
            <a:solidFill>
              <a:srgbClr val="9A5B13"/>
            </a:solidFill>
          </a:ln>
        </p:spPr>
        <p:txBody>
          <a:bodyPr/>
          <a:lstStyle/>
          <a:p>
            <a:endParaRPr lang="ko-KR" altLang="en-US"/>
          </a:p>
        </p:txBody>
      </p:sp>
      <p:sp>
        <p:nvSpPr>
          <p:cNvPr id="12" name="직사각형 11">
            <a:extLst>
              <a:ext uri="{FF2B5EF4-FFF2-40B4-BE49-F238E27FC236}">
                <a16:creationId xmlns:a16="http://schemas.microsoft.com/office/drawing/2014/main" id="{EB88E8ED-0E71-4445-8262-FD211252B7A1}"/>
              </a:ext>
            </a:extLst>
          </p:cNvPr>
          <p:cNvSpPr>
            <a:spLocks noGrp="1"/>
          </p:cNvSpPr>
          <p:nvPr/>
        </p:nvSpPr>
        <p:spPr>
          <a:xfrm>
            <a:off x="1809750" y="5086350"/>
            <a:ext cx="8572500" cy="304800"/>
          </a:xfrm>
          <a:prstGeom prst="rect">
            <a:avLst/>
          </a:prstGeom>
          <a:noFill/>
          <a:ln w="0">
            <a:noFill/>
          </a:ln>
        </p:spPr>
        <p:txBody>
          <a:bodyPr lIns="0" tIns="0" rIns="0" bIns="0" anchor="t">
            <a:normAutofit/>
          </a:bodyPr>
          <a:lstStyle/>
          <a:p>
            <a:pPr algn="ctr">
              <a:defRPr sz="1425" b="1">
                <a:solidFill>
                  <a:srgbClr val="9A5B13"/>
                </a:solidFill>
                <a:latin typeface="Apple SD Gothic Neo"/>
                <a:ea typeface="Apple SD Gothic Neo"/>
                <a:cs typeface="Apple SD Gothic Neo"/>
              </a:defRPr>
            </a:pPr>
            <a:r>
              <a:rPr sz="1425" b="1">
                <a:solidFill>
                  <a:srgbClr val="9A5B13"/>
                </a:solidFill>
                <a:latin typeface="Apple SD Gothic Neo"/>
                <a:ea typeface="Apple SD Gothic Neo"/>
                <a:cs typeface="Apple SD Gothic Neo"/>
              </a:rPr>
              <a:t>자주 생기는 문제 · KeyError 또는 merge 행 증가</a:t>
            </a:r>
          </a:p>
        </p:txBody>
      </p:sp>
      <p:sp>
        <p:nvSpPr>
          <p:cNvPr id="13" name="직선 연결선[R] 12">
            <a:extLst>
              <a:ext uri="{FF2B5EF4-FFF2-40B4-BE49-F238E27FC236}">
                <a16:creationId xmlns:a16="http://schemas.microsoft.com/office/drawing/2014/main" id="{8081C430-7D72-479F-ACF1-CF98C422E596}"/>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4" name="직사각형 13">
            <a:extLst>
              <a:ext uri="{FF2B5EF4-FFF2-40B4-BE49-F238E27FC236}">
                <a16:creationId xmlns:a16="http://schemas.microsoft.com/office/drawing/2014/main" id="{932AEAF8-2EB4-4D8F-A444-8C520E180209}"/>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정상 결과 (1000, 16) (1000, 13)이 무엇의 크기·개수·상태를 뜻하는지 말할 수 있어야 합니다.</a:t>
            </a:r>
          </a:p>
        </p:txBody>
      </p:sp>
      <p:sp>
        <p:nvSpPr>
          <p:cNvPr id="15" name="직사각형 14">
            <a:extLst>
              <a:ext uri="{FF2B5EF4-FFF2-40B4-BE49-F238E27FC236}">
                <a16:creationId xmlns:a16="http://schemas.microsoft.com/office/drawing/2014/main" id="{4E264A7C-2383-431A-BC33-B27EF3FDE089}"/>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24</a:t>
            </a:r>
          </a:p>
        </p:txBody>
      </p:sp>
    </p:spTree>
    <p:extLst>
      <p:ext uri="{BB962C8B-B14F-4D97-AF65-F5344CB8AC3E}">
        <p14:creationId xmlns:p14="http://schemas.microsoft.com/office/powerpoint/2010/main" val="755496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F6106EC9-326E-4A83-BCE7-6DA7961C2A62}"/>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3AAF49C9-3693-4D94-AB98-59CFD21AEA8F}"/>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Q5. 저장한 전처리기로 1,000명을 36개 숫자 열로 바꿉니다</a:t>
            </a:r>
          </a:p>
        </p:txBody>
      </p:sp>
      <p:sp>
        <p:nvSpPr>
          <p:cNvPr id="3" name="직선 연결선[R] 2">
            <a:extLst>
              <a:ext uri="{FF2B5EF4-FFF2-40B4-BE49-F238E27FC236}">
                <a16:creationId xmlns:a16="http://schemas.microsoft.com/office/drawing/2014/main" id="{C28CA201-9824-44E6-A7C7-A397D27BB87D}"/>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C6084876-ED90-4C78-9692-FF136C51F05F}"/>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왜 필요한가</a:t>
            </a:r>
          </a:p>
        </p:txBody>
      </p:sp>
      <p:sp>
        <p:nvSpPr>
          <p:cNvPr id="5" name="직사각형 4">
            <a:extLst>
              <a:ext uri="{FF2B5EF4-FFF2-40B4-BE49-F238E27FC236}">
                <a16:creationId xmlns:a16="http://schemas.microsoft.com/office/drawing/2014/main" id="{E4DE55E6-D8B4-4C3F-9DEA-C0AEDFD2CA26}"/>
              </a:ext>
            </a:extLst>
          </p:cNvPr>
          <p:cNvSpPr>
            <a:spLocks noGrp="1"/>
          </p:cNvSpPr>
          <p:nvPr/>
        </p:nvSpPr>
        <p:spPr>
          <a:xfrm>
            <a:off x="666750" y="1857375"/>
            <a:ext cx="10858500" cy="857250"/>
          </a:xfrm>
          <a:prstGeom prst="rect">
            <a:avLst/>
          </a:prstGeom>
          <a:noFill/>
          <a:ln w="0">
            <a:noFill/>
          </a:ln>
        </p:spPr>
        <p:txBody>
          <a:bodyPr lIns="0" tIns="0" rIns="0" bIns="0" anchor="t">
            <a:normAutofit/>
          </a:bodyPr>
          <a:lstStyle/>
          <a:p>
            <a:pPr algn="ctr">
              <a:defRPr sz="2775" b="1">
                <a:solidFill>
                  <a:srgbClr val="17324D"/>
                </a:solidFill>
                <a:latin typeface="Apple SD Gothic Neo"/>
                <a:ea typeface="Apple SD Gothic Neo"/>
                <a:cs typeface="Apple SD Gothic Neo"/>
              </a:defRPr>
            </a:pPr>
            <a:r>
              <a:rPr sz="2775" b="1">
                <a:solidFill>
                  <a:srgbClr val="17324D"/>
                </a:solidFill>
                <a:latin typeface="Apple SD Gothic Neo"/>
                <a:ea typeface="Apple SD Gothic Neo"/>
                <a:cs typeface="Apple SD Gothic Neo"/>
              </a:rPr>
              <a:t>종합실습에서 전처리 기준을 다시 배우지 않는 이유는 무엇일까요?</a:t>
            </a:r>
          </a:p>
        </p:txBody>
      </p:sp>
      <p:sp>
        <p:nvSpPr>
          <p:cNvPr id="6" name="모서리가 둥근 직사각형 5">
            <a:extLst>
              <a:ext uri="{FF2B5EF4-FFF2-40B4-BE49-F238E27FC236}">
                <a16:creationId xmlns:a16="http://schemas.microsoft.com/office/drawing/2014/main" id="{2B4FAB2D-4E46-4016-9884-D6E05B495223}"/>
              </a:ext>
            </a:extLst>
          </p:cNvPr>
          <p:cNvSpPr>
            <a:spLocks noGrp="1"/>
          </p:cNvSpPr>
          <p:nvPr/>
        </p:nvSpPr>
        <p:spPr>
          <a:xfrm>
            <a:off x="1047750" y="3190875"/>
            <a:ext cx="10096500" cy="1428750"/>
          </a:xfrm>
          <a:prstGeom prst="roundRect">
            <a:avLst>
              <a:gd name="adj" fmla="val 8000"/>
            </a:avLst>
          </a:prstGeom>
          <a:solidFill>
            <a:srgbClr val="EAF3FF"/>
          </a:solidFill>
          <a:ln w="9525">
            <a:solidFill>
              <a:srgbClr val="2F7DF4"/>
            </a:solidFill>
          </a:ln>
        </p:spPr>
        <p:txBody>
          <a:bodyPr/>
          <a:lstStyle/>
          <a:p>
            <a:endParaRPr lang="ko-KR" altLang="en-US"/>
          </a:p>
        </p:txBody>
      </p:sp>
      <p:sp>
        <p:nvSpPr>
          <p:cNvPr id="7" name="직사각형 6">
            <a:extLst>
              <a:ext uri="{FF2B5EF4-FFF2-40B4-BE49-F238E27FC236}">
                <a16:creationId xmlns:a16="http://schemas.microsoft.com/office/drawing/2014/main" id="{CB9920E3-2CF5-4E46-A009-54B856759735}"/>
              </a:ext>
            </a:extLst>
          </p:cNvPr>
          <p:cNvSpPr>
            <a:spLocks noGrp="1"/>
          </p:cNvSpPr>
          <p:nvPr/>
        </p:nvSpPr>
        <p:spPr>
          <a:xfrm>
            <a:off x="1381125" y="3476625"/>
            <a:ext cx="2190750" cy="285750"/>
          </a:xfrm>
          <a:prstGeom prst="rect">
            <a:avLst/>
          </a:prstGeom>
          <a:noFill/>
          <a:ln w="0">
            <a:noFill/>
          </a:ln>
        </p:spPr>
        <p:txBody>
          <a:bodyPr lIns="0" tIns="0" rIns="0" bIns="0" anchor="t">
            <a:normAutofit/>
          </a:bodyPr>
          <a:lstStyle/>
          <a:p>
            <a:pPr algn="l">
              <a:defRPr sz="1425" b="1">
                <a:solidFill>
                  <a:srgbClr val="2F7DF4"/>
                </a:solidFill>
                <a:latin typeface="Apple SD Gothic Neo"/>
                <a:ea typeface="Apple SD Gothic Neo"/>
                <a:cs typeface="Apple SD Gothic Neo"/>
              </a:defRPr>
            </a:pPr>
            <a:r>
              <a:rPr sz="1425" b="1">
                <a:solidFill>
                  <a:srgbClr val="2F7DF4"/>
                </a:solidFill>
                <a:latin typeface="Apple SD Gothic Neo"/>
                <a:ea typeface="Apple SD Gothic Neo"/>
                <a:cs typeface="Apple SD Gothic Neo"/>
              </a:rPr>
              <a:t>이 일을 하는 이유</a:t>
            </a:r>
          </a:p>
        </p:txBody>
      </p:sp>
      <p:sp>
        <p:nvSpPr>
          <p:cNvPr id="8" name="직사각형 7">
            <a:extLst>
              <a:ext uri="{FF2B5EF4-FFF2-40B4-BE49-F238E27FC236}">
                <a16:creationId xmlns:a16="http://schemas.microsoft.com/office/drawing/2014/main" id="{D16F58A9-ED04-40FA-BB09-6A479A4A63C2}"/>
              </a:ext>
            </a:extLst>
          </p:cNvPr>
          <p:cNvSpPr>
            <a:spLocks noGrp="1"/>
          </p:cNvSpPr>
          <p:nvPr/>
        </p:nvSpPr>
        <p:spPr>
          <a:xfrm>
            <a:off x="3810000" y="3429000"/>
            <a:ext cx="6858000" cy="742950"/>
          </a:xfrm>
          <a:prstGeom prst="rect">
            <a:avLst/>
          </a:prstGeom>
          <a:noFill/>
          <a:ln w="0">
            <a:noFill/>
          </a:ln>
        </p:spPr>
        <p:txBody>
          <a:bodyPr lIns="0" tIns="0" rIns="0" bIns="0" anchor="t">
            <a:normAutofit/>
          </a:bodyPr>
          <a:lstStyle/>
          <a:p>
            <a:pPr algn="l">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6교시에서 저장한 기준이 다른 실행에서도 그대로 재사용되는지 확인합니다.</a:t>
            </a:r>
          </a:p>
        </p:txBody>
      </p:sp>
      <p:sp>
        <p:nvSpPr>
          <p:cNvPr id="9" name="직선 연결선[R] 8">
            <a:extLst>
              <a:ext uri="{FF2B5EF4-FFF2-40B4-BE49-F238E27FC236}">
                <a16:creationId xmlns:a16="http://schemas.microsoft.com/office/drawing/2014/main" id="{B4D8E703-E8FC-4831-9001-53171FD84234}"/>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1D06CD7A-A64C-4A40-8ADC-EB97D4899CEE}"/>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6교시에서 저장한 기준이 다른 실행에서도 그대로 재사용되는지 확인합니다.</a:t>
            </a:r>
          </a:p>
        </p:txBody>
      </p:sp>
      <p:sp>
        <p:nvSpPr>
          <p:cNvPr id="11" name="직사각형 10">
            <a:extLst>
              <a:ext uri="{FF2B5EF4-FFF2-40B4-BE49-F238E27FC236}">
                <a16:creationId xmlns:a16="http://schemas.microsoft.com/office/drawing/2014/main" id="{EC6907A7-6301-4992-B34B-855757DC0CBF}"/>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25</a:t>
            </a:r>
          </a:p>
        </p:txBody>
      </p:sp>
    </p:spTree>
    <p:extLst>
      <p:ext uri="{BB962C8B-B14F-4D97-AF65-F5344CB8AC3E}">
        <p14:creationId xmlns:p14="http://schemas.microsoft.com/office/powerpoint/2010/main" val="1536486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196B3CE6-4967-4696-8241-99662160BD03}"/>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D4DCB2F6-08E0-4470-8309-1813F72BADB4}"/>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preprocessor와 processed는 자료구조와 역할이 어떻게 다를까요?</a:t>
            </a:r>
          </a:p>
        </p:txBody>
      </p:sp>
      <p:sp>
        <p:nvSpPr>
          <p:cNvPr id="3" name="직선 연결선[R] 2">
            <a:extLst>
              <a:ext uri="{FF2B5EF4-FFF2-40B4-BE49-F238E27FC236}">
                <a16:creationId xmlns:a16="http://schemas.microsoft.com/office/drawing/2014/main" id="{2C0B0DA0-FB3F-44E9-A6AE-23D9BF9469D9}"/>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70987CC4-24AC-4F93-9DF0-8AE2F32A9EF0}"/>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자료구조</a:t>
            </a:r>
          </a:p>
        </p:txBody>
      </p:sp>
      <p:sp>
        <p:nvSpPr>
          <p:cNvPr id="5" name="모서리가 둥근 직사각형 4">
            <a:extLst>
              <a:ext uri="{FF2B5EF4-FFF2-40B4-BE49-F238E27FC236}">
                <a16:creationId xmlns:a16="http://schemas.microsoft.com/office/drawing/2014/main" id="{5CE5B170-40B1-4293-87BA-9D491A82A46C}"/>
              </a:ext>
            </a:extLst>
          </p:cNvPr>
          <p:cNvSpPr>
            <a:spLocks noGrp="1"/>
          </p:cNvSpPr>
          <p:nvPr/>
        </p:nvSpPr>
        <p:spPr>
          <a:xfrm>
            <a:off x="704850" y="1952625"/>
            <a:ext cx="10782300" cy="1762125"/>
          </a:xfrm>
          <a:prstGeom prst="roundRect">
            <a:avLst>
              <a:gd name="adj" fmla="val 648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7E3EEA14-ED91-4637-9141-33A0B6B92BE5}"/>
              </a:ext>
            </a:extLst>
          </p:cNvPr>
          <p:cNvSpPr>
            <a:spLocks noGrp="1"/>
          </p:cNvSpPr>
          <p:nvPr/>
        </p:nvSpPr>
        <p:spPr>
          <a:xfrm>
            <a:off x="1047750" y="2362200"/>
            <a:ext cx="10096500" cy="952500"/>
          </a:xfrm>
          <a:prstGeom prst="rect">
            <a:avLst/>
          </a:prstGeom>
          <a:noFill/>
          <a:ln w="0">
            <a:noFill/>
          </a:ln>
        </p:spPr>
        <p:txBody>
          <a:bodyPr lIns="0" tIns="0" rIns="0" bIns="0" anchor="t">
            <a:normAutofit/>
          </a:bodyPr>
          <a:lstStyle/>
          <a:p>
            <a:pPr algn="ctr">
              <a:defRPr sz="2175" b="1">
                <a:solidFill>
                  <a:srgbClr val="17202A"/>
                </a:solidFill>
                <a:latin typeface="Apple SD Gothic Neo"/>
                <a:ea typeface="Apple SD Gothic Neo"/>
                <a:cs typeface="Apple SD Gothic Neo"/>
              </a:defRPr>
            </a:pPr>
            <a:r>
              <a:rPr sz="2175" b="1">
                <a:solidFill>
                  <a:srgbClr val="17202A"/>
                </a:solidFill>
                <a:latin typeface="Apple SD Gothic Neo"/>
                <a:ea typeface="Apple SD Gothic Neo"/>
                <a:cs typeface="Apple SD Gothic Neo"/>
              </a:rPr>
              <a:t>preprocessor는 joblib에서 불러온 객체, processed는 1,000행×36열 DataFrame입니다.</a:t>
            </a:r>
          </a:p>
        </p:txBody>
      </p:sp>
      <p:sp>
        <p:nvSpPr>
          <p:cNvPr id="7" name="모서리가 둥근 직사각형 6">
            <a:extLst>
              <a:ext uri="{FF2B5EF4-FFF2-40B4-BE49-F238E27FC236}">
                <a16:creationId xmlns:a16="http://schemas.microsoft.com/office/drawing/2014/main" id="{F558F1AA-C92C-4362-BD82-56A0329C99A3}"/>
              </a:ext>
            </a:extLst>
          </p:cNvPr>
          <p:cNvSpPr>
            <a:spLocks noGrp="1"/>
          </p:cNvSpPr>
          <p:nvPr/>
        </p:nvSpPr>
        <p:spPr>
          <a:xfrm>
            <a:off x="2047875" y="4286250"/>
            <a:ext cx="2095500" cy="904875"/>
          </a:xfrm>
          <a:prstGeom prst="roundRect">
            <a:avLst>
              <a:gd name="adj" fmla="val 12632"/>
            </a:avLst>
          </a:prstGeom>
          <a:solidFill>
            <a:srgbClr val="EAF3FF"/>
          </a:solidFill>
          <a:ln w="9525">
            <a:solidFill>
              <a:srgbClr val="2F7DF4"/>
            </a:solidFill>
          </a:ln>
        </p:spPr>
        <p:txBody>
          <a:bodyPr/>
          <a:lstStyle/>
          <a:p>
            <a:endParaRPr lang="ko-KR" altLang="en-US"/>
          </a:p>
        </p:txBody>
      </p:sp>
      <p:sp>
        <p:nvSpPr>
          <p:cNvPr id="8" name="직사각형 7">
            <a:extLst>
              <a:ext uri="{FF2B5EF4-FFF2-40B4-BE49-F238E27FC236}">
                <a16:creationId xmlns:a16="http://schemas.microsoft.com/office/drawing/2014/main" id="{BEC20F8C-88EC-4842-A344-4D3A85E9183B}"/>
              </a:ext>
            </a:extLst>
          </p:cNvPr>
          <p:cNvSpPr>
            <a:spLocks noGrp="1"/>
          </p:cNvSpPr>
          <p:nvPr/>
        </p:nvSpPr>
        <p:spPr>
          <a:xfrm>
            <a:off x="2143125" y="4429125"/>
            <a:ext cx="1905000" cy="619125"/>
          </a:xfrm>
          <a:prstGeom prst="rect">
            <a:avLst/>
          </a:prstGeom>
          <a:noFill/>
          <a:ln w="0">
            <a:noFill/>
          </a:ln>
        </p:spPr>
        <p:txBody>
          <a:bodyPr lIns="0" tIns="0" rIns="0" bIns="0" anchor="t">
            <a:normAutofit/>
          </a:bodyPr>
          <a:lstStyle/>
          <a:p>
            <a:pPr algn="ctr">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X와 joblib 파일</a:t>
            </a:r>
          </a:p>
        </p:txBody>
      </p:sp>
      <p:sp>
        <p:nvSpPr>
          <p:cNvPr id="9" name="직선 연결선[R] 8">
            <a:extLst>
              <a:ext uri="{FF2B5EF4-FFF2-40B4-BE49-F238E27FC236}">
                <a16:creationId xmlns:a16="http://schemas.microsoft.com/office/drawing/2014/main" id="{45AFE287-C039-4E75-A1F5-5F74C9063F38}"/>
              </a:ext>
            </a:extLst>
          </p:cNvPr>
          <p:cNvSpPr>
            <a:spLocks noGrp="1"/>
          </p:cNvSpPr>
          <p:nvPr/>
        </p:nvSpPr>
        <p:spPr>
          <a:xfrm>
            <a:off x="4191000" y="4733925"/>
            <a:ext cx="857250" cy="0"/>
          </a:xfrm>
          <a:prstGeom prst="line">
            <a:avLst/>
          </a:prstGeom>
          <a:noFill/>
          <a:ln w="28575">
            <a:solidFill>
              <a:srgbClr val="2F7DF4"/>
            </a:solidFill>
          </a:ln>
        </p:spPr>
        <p:txBody>
          <a:bodyPr/>
          <a:lstStyle/>
          <a:p>
            <a:endParaRPr lang="ko-KR" altLang="en-US"/>
          </a:p>
        </p:txBody>
      </p:sp>
      <p:sp>
        <p:nvSpPr>
          <p:cNvPr id="10" name="모서리가 둥근 직사각형 9">
            <a:extLst>
              <a:ext uri="{FF2B5EF4-FFF2-40B4-BE49-F238E27FC236}">
                <a16:creationId xmlns:a16="http://schemas.microsoft.com/office/drawing/2014/main" id="{C23AE61D-ABB4-4A71-9088-DB1C09655CF1}"/>
              </a:ext>
            </a:extLst>
          </p:cNvPr>
          <p:cNvSpPr>
            <a:spLocks noGrp="1"/>
          </p:cNvSpPr>
          <p:nvPr/>
        </p:nvSpPr>
        <p:spPr>
          <a:xfrm>
            <a:off x="5191125" y="4286250"/>
            <a:ext cx="2095500" cy="904875"/>
          </a:xfrm>
          <a:prstGeom prst="roundRect">
            <a:avLst>
              <a:gd name="adj" fmla="val 12632"/>
            </a:avLst>
          </a:prstGeom>
          <a:solidFill>
            <a:srgbClr val="EAF3FF"/>
          </a:solidFill>
          <a:ln w="9525">
            <a:solidFill>
              <a:srgbClr val="2F7DF4"/>
            </a:solidFill>
          </a:ln>
        </p:spPr>
        <p:txBody>
          <a:bodyPr/>
          <a:lstStyle/>
          <a:p>
            <a:endParaRPr lang="ko-KR" altLang="en-US"/>
          </a:p>
        </p:txBody>
      </p:sp>
      <p:sp>
        <p:nvSpPr>
          <p:cNvPr id="11" name="직사각형 10">
            <a:extLst>
              <a:ext uri="{FF2B5EF4-FFF2-40B4-BE49-F238E27FC236}">
                <a16:creationId xmlns:a16="http://schemas.microsoft.com/office/drawing/2014/main" id="{C66CA594-51FF-442B-93F0-4050EC75A9C9}"/>
              </a:ext>
            </a:extLst>
          </p:cNvPr>
          <p:cNvSpPr>
            <a:spLocks noGrp="1"/>
          </p:cNvSpPr>
          <p:nvPr/>
        </p:nvSpPr>
        <p:spPr>
          <a:xfrm>
            <a:off x="5286375" y="4429125"/>
            <a:ext cx="1905000" cy="619125"/>
          </a:xfrm>
          <a:prstGeom prst="rect">
            <a:avLst/>
          </a:prstGeom>
          <a:noFill/>
          <a:ln w="0">
            <a:noFill/>
          </a:ln>
        </p:spPr>
        <p:txBody>
          <a:bodyPr lIns="0" tIns="0" rIns="0" bIns="0" anchor="t">
            <a:normAutofit/>
          </a:bodyPr>
          <a:lstStyle/>
          <a:p>
            <a:pPr algn="ctr">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객체 복원과 transform</a:t>
            </a:r>
          </a:p>
        </p:txBody>
      </p:sp>
      <p:sp>
        <p:nvSpPr>
          <p:cNvPr id="12" name="직선 연결선[R] 11">
            <a:extLst>
              <a:ext uri="{FF2B5EF4-FFF2-40B4-BE49-F238E27FC236}">
                <a16:creationId xmlns:a16="http://schemas.microsoft.com/office/drawing/2014/main" id="{C4146708-86DD-43FD-ADCC-91CD292FEC64}"/>
              </a:ext>
            </a:extLst>
          </p:cNvPr>
          <p:cNvSpPr>
            <a:spLocks noGrp="1"/>
          </p:cNvSpPr>
          <p:nvPr/>
        </p:nvSpPr>
        <p:spPr>
          <a:xfrm>
            <a:off x="7334250" y="4733925"/>
            <a:ext cx="857250" cy="0"/>
          </a:xfrm>
          <a:prstGeom prst="line">
            <a:avLst/>
          </a:prstGeom>
          <a:noFill/>
          <a:ln w="28575">
            <a:solidFill>
              <a:srgbClr val="2F7DF4"/>
            </a:solidFill>
          </a:ln>
        </p:spPr>
        <p:txBody>
          <a:bodyPr/>
          <a:lstStyle/>
          <a:p>
            <a:endParaRPr lang="ko-KR" altLang="en-US"/>
          </a:p>
        </p:txBody>
      </p:sp>
      <p:sp>
        <p:nvSpPr>
          <p:cNvPr id="13" name="모서리가 둥근 직사각형 12">
            <a:extLst>
              <a:ext uri="{FF2B5EF4-FFF2-40B4-BE49-F238E27FC236}">
                <a16:creationId xmlns:a16="http://schemas.microsoft.com/office/drawing/2014/main" id="{DF649958-71B5-4BB8-9F86-6C26F608766B}"/>
              </a:ext>
            </a:extLst>
          </p:cNvPr>
          <p:cNvSpPr>
            <a:spLocks noGrp="1"/>
          </p:cNvSpPr>
          <p:nvPr/>
        </p:nvSpPr>
        <p:spPr>
          <a:xfrm>
            <a:off x="8334375" y="4286250"/>
            <a:ext cx="2095500" cy="904875"/>
          </a:xfrm>
          <a:prstGeom prst="roundRect">
            <a:avLst>
              <a:gd name="adj" fmla="val 12632"/>
            </a:avLst>
          </a:prstGeom>
          <a:solidFill>
            <a:srgbClr val="EAF7F0"/>
          </a:solidFill>
          <a:ln w="9525">
            <a:solidFill>
              <a:srgbClr val="18794E"/>
            </a:solidFill>
          </a:ln>
        </p:spPr>
        <p:txBody>
          <a:bodyPr/>
          <a:lstStyle/>
          <a:p>
            <a:endParaRPr lang="ko-KR" altLang="en-US"/>
          </a:p>
        </p:txBody>
      </p:sp>
      <p:sp>
        <p:nvSpPr>
          <p:cNvPr id="14" name="직사각형 13">
            <a:extLst>
              <a:ext uri="{FF2B5EF4-FFF2-40B4-BE49-F238E27FC236}">
                <a16:creationId xmlns:a16="http://schemas.microsoft.com/office/drawing/2014/main" id="{85746BB8-527B-4468-A601-19C54657B7C0}"/>
              </a:ext>
            </a:extLst>
          </p:cNvPr>
          <p:cNvSpPr>
            <a:spLocks noGrp="1"/>
          </p:cNvSpPr>
          <p:nvPr/>
        </p:nvSpPr>
        <p:spPr>
          <a:xfrm>
            <a:off x="8429625" y="4429125"/>
            <a:ext cx="1905000" cy="619125"/>
          </a:xfrm>
          <a:prstGeom prst="rect">
            <a:avLst/>
          </a:prstGeom>
          <a:noFill/>
          <a:ln w="0">
            <a:noFill/>
          </a:ln>
        </p:spPr>
        <p:txBody>
          <a:bodyPr lIns="0" tIns="0" rIns="0" bIns="0" anchor="t">
            <a:normAutofit/>
          </a:bodyPr>
          <a:lstStyle/>
          <a:p>
            <a:pPr algn="ctr">
              <a:defRPr sz="1350" b="1">
                <a:solidFill>
                  <a:srgbClr val="18794E"/>
                </a:solidFill>
                <a:latin typeface="Apple SD Gothic Neo"/>
                <a:ea typeface="Apple SD Gothic Neo"/>
                <a:cs typeface="Apple SD Gothic Neo"/>
              </a:defRPr>
            </a:pPr>
            <a:r>
              <a:rPr sz="1350" b="1">
                <a:solidFill>
                  <a:srgbClr val="18794E"/>
                </a:solidFill>
                <a:latin typeface="Apple SD Gothic Neo"/>
                <a:ea typeface="Apple SD Gothic Neo"/>
                <a:cs typeface="Apple SD Gothic Neo"/>
              </a:rPr>
              <a:t>1,000행×36열 processed</a:t>
            </a:r>
          </a:p>
        </p:txBody>
      </p:sp>
      <p:sp>
        <p:nvSpPr>
          <p:cNvPr id="15" name="직선 연결선[R] 14">
            <a:extLst>
              <a:ext uri="{FF2B5EF4-FFF2-40B4-BE49-F238E27FC236}">
                <a16:creationId xmlns:a16="http://schemas.microsoft.com/office/drawing/2014/main" id="{9D837861-11DF-4707-ABB6-95DADB3E6347}"/>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6" name="직사각형 15">
            <a:extLst>
              <a:ext uri="{FF2B5EF4-FFF2-40B4-BE49-F238E27FC236}">
                <a16:creationId xmlns:a16="http://schemas.microsoft.com/office/drawing/2014/main" id="{CB45F144-3CA2-4F85-AF23-DF671A807896}"/>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X와 joblib 파일에서 1,000행×36열 processed이 만들어지는 동안 자료의 모양과 역할이 어떻게 달라지는지 확인합니다.</a:t>
            </a:r>
          </a:p>
        </p:txBody>
      </p:sp>
      <p:sp>
        <p:nvSpPr>
          <p:cNvPr id="17" name="직사각형 16">
            <a:extLst>
              <a:ext uri="{FF2B5EF4-FFF2-40B4-BE49-F238E27FC236}">
                <a16:creationId xmlns:a16="http://schemas.microsoft.com/office/drawing/2014/main" id="{A0A97271-E56C-482E-9AB2-F069ECA05C12}"/>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26</a:t>
            </a:r>
          </a:p>
        </p:txBody>
      </p:sp>
    </p:spTree>
    <p:extLst>
      <p:ext uri="{BB962C8B-B14F-4D97-AF65-F5344CB8AC3E}">
        <p14:creationId xmlns:p14="http://schemas.microsoft.com/office/powerpoint/2010/main" val="665898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6EFB7BAE-3E5E-4FEA-A505-AC2BB4636B54}"/>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72F15188-5431-4F45-8BAF-5FF4104BF829}"/>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load, transform과 기대 shape를 채워 변환해 봅시다</a:t>
            </a:r>
          </a:p>
        </p:txBody>
      </p:sp>
      <p:sp>
        <p:nvSpPr>
          <p:cNvPr id="3" name="직선 연결선[R] 2">
            <a:extLst>
              <a:ext uri="{FF2B5EF4-FFF2-40B4-BE49-F238E27FC236}">
                <a16:creationId xmlns:a16="http://schemas.microsoft.com/office/drawing/2014/main" id="{EF7BE049-D0B8-46C5-866A-9D7D947A9EB8}"/>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06C7474C-1920-45C1-891A-BB242171E22D}"/>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학생 실습</a:t>
            </a:r>
          </a:p>
        </p:txBody>
      </p:sp>
      <p:sp>
        <p:nvSpPr>
          <p:cNvPr id="5" name="모서리가 둥근 직사각형 4">
            <a:extLst>
              <a:ext uri="{FF2B5EF4-FFF2-40B4-BE49-F238E27FC236}">
                <a16:creationId xmlns:a16="http://schemas.microsoft.com/office/drawing/2014/main" id="{16A19995-DED2-4F76-B655-A2DB6A13461D}"/>
              </a:ext>
            </a:extLst>
          </p:cNvPr>
          <p:cNvSpPr>
            <a:spLocks noGrp="1"/>
          </p:cNvSpPr>
          <p:nvPr/>
        </p:nvSpPr>
        <p:spPr>
          <a:xfrm>
            <a:off x="428625" y="1714500"/>
            <a:ext cx="7524750" cy="4095750"/>
          </a:xfrm>
          <a:prstGeom prst="roundRect">
            <a:avLst>
              <a:gd name="adj" fmla="val 2791"/>
            </a:avLst>
          </a:prstGeom>
          <a:solidFill>
            <a:srgbClr val="F7F8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39804F80-E959-4006-9851-F2A92FED2968}"/>
              </a:ext>
            </a:extLst>
          </p:cNvPr>
          <p:cNvSpPr>
            <a:spLocks noGrp="1"/>
          </p:cNvSpPr>
          <p:nvPr/>
        </p:nvSpPr>
        <p:spPr>
          <a:xfrm>
            <a:off x="428625" y="1714500"/>
            <a:ext cx="85725" cy="4095750"/>
          </a:xfrm>
          <a:prstGeom prst="rect">
            <a:avLst/>
          </a:prstGeom>
          <a:solidFill>
            <a:srgbClr val="2F7DF4"/>
          </a:solidFill>
          <a:ln w="0">
            <a:noFill/>
          </a:ln>
        </p:spPr>
        <p:txBody>
          <a:bodyPr/>
          <a:lstStyle/>
          <a:p>
            <a:endParaRPr lang="ko-KR" altLang="en-US"/>
          </a:p>
        </p:txBody>
      </p:sp>
      <p:sp>
        <p:nvSpPr>
          <p:cNvPr id="7" name="직사각형 6">
            <a:extLst>
              <a:ext uri="{FF2B5EF4-FFF2-40B4-BE49-F238E27FC236}">
                <a16:creationId xmlns:a16="http://schemas.microsoft.com/office/drawing/2014/main" id="{D653D153-1492-4901-AD56-658DD681EB78}"/>
              </a:ext>
            </a:extLst>
          </p:cNvPr>
          <p:cNvSpPr>
            <a:spLocks noGrp="1"/>
          </p:cNvSpPr>
          <p:nvPr/>
        </p:nvSpPr>
        <p:spPr>
          <a:xfrm>
            <a:off x="742950" y="1952625"/>
            <a:ext cx="6858000" cy="3524250"/>
          </a:xfrm>
          <a:prstGeom prst="rect">
            <a:avLst/>
          </a:prstGeom>
          <a:noFill/>
          <a:ln w="0">
            <a:noFill/>
          </a:ln>
        </p:spPr>
        <p:txBody>
          <a:bodyPr lIns="0" tIns="0" rIns="0" bIns="0" anchor="t">
            <a:normAutofit/>
          </a:bodyPr>
          <a:lstStyle/>
          <a:p>
            <a:pPr algn="l">
              <a:defRPr sz="1275" b="0">
                <a:solidFill>
                  <a:srgbClr val="17202A"/>
                </a:solidFill>
                <a:latin typeface="Menlo"/>
                <a:ea typeface="Menlo"/>
                <a:cs typeface="Menlo"/>
              </a:defRPr>
            </a:pPr>
            <a:r>
              <a:rPr sz="1275" b="0">
                <a:solidFill>
                  <a:srgbClr val="17202A"/>
                </a:solidFill>
                <a:latin typeface="Menlo"/>
                <a:ea typeface="Menlo"/>
                <a:cs typeface="Menlo"/>
              </a:rPr>
              <a:t>import joblib</a:t>
            </a:r>
          </a:p>
          <a:p>
            <a:pPr algn="l">
              <a:defRPr sz="1275" b="0">
                <a:solidFill>
                  <a:srgbClr val="17202A"/>
                </a:solidFill>
                <a:latin typeface="Menlo"/>
                <a:ea typeface="Menlo"/>
                <a:cs typeface="Menlo"/>
              </a:defRPr>
            </a:pPr>
            <a:r>
              <a:rPr sz="1275" b="0">
                <a:solidFill>
                  <a:srgbClr val="17202A"/>
                </a:solidFill>
                <a:latin typeface="Menlo"/>
                <a:ea typeface="Menlo"/>
                <a:cs typeface="Menlo"/>
              </a:rPr>
              <a:t>artifact_path = ARTIFACT_DIR / "matchmaking_preprocessor.joblib"</a:t>
            </a:r>
          </a:p>
          <a:p>
            <a:pPr algn="l">
              <a:defRPr sz="1275" b="0">
                <a:solidFill>
                  <a:srgbClr val="17202A"/>
                </a:solidFill>
                <a:latin typeface="Menlo"/>
                <a:ea typeface="Menlo"/>
                <a:cs typeface="Menlo"/>
              </a:defRPr>
            </a:pPr>
            <a:r>
              <a:rPr sz="1275" b="0">
                <a:solidFill>
                  <a:srgbClr val="17202A"/>
                </a:solidFill>
                <a:latin typeface="Menlo"/>
                <a:ea typeface="Menlo"/>
                <a:cs typeface="Menlo"/>
              </a:rPr>
              <a:t>preprocessor = joblib.___(artifact_path)</a:t>
            </a:r>
          </a:p>
          <a:p>
            <a:pPr algn="l">
              <a:defRPr sz="1275" b="0">
                <a:solidFill>
                  <a:srgbClr val="17202A"/>
                </a:solidFill>
                <a:latin typeface="Menlo"/>
                <a:ea typeface="Menlo"/>
                <a:cs typeface="Menlo"/>
              </a:defRPr>
            </a:pPr>
            <a:r>
              <a:rPr sz="1275" b="0">
                <a:solidFill>
                  <a:srgbClr val="17202A"/>
                </a:solidFill>
                <a:latin typeface="Menlo"/>
                <a:ea typeface="Menlo"/>
                <a:cs typeface="Menlo"/>
              </a:rPr>
              <a:t>processed = preprocessor.___(X)</a:t>
            </a:r>
          </a:p>
          <a:p>
            <a:pPr algn="l">
              <a:defRPr sz="1275" b="0">
                <a:solidFill>
                  <a:srgbClr val="17202A"/>
                </a:solidFill>
                <a:latin typeface="Menlo"/>
                <a:ea typeface="Menlo"/>
                <a:cs typeface="Menlo"/>
              </a:defRPr>
            </a:pPr>
            <a:r>
              <a:rPr sz="1275" b="0">
                <a:solidFill>
                  <a:srgbClr val="17202A"/>
                </a:solidFill>
                <a:latin typeface="Menlo"/>
                <a:ea typeface="Menlo"/>
                <a:cs typeface="Menlo"/>
              </a:rPr>
              <a:t>assert processed.shape == ___</a:t>
            </a:r>
          </a:p>
          <a:p>
            <a:pPr algn="l">
              <a:defRPr sz="1275" b="0">
                <a:solidFill>
                  <a:srgbClr val="17202A"/>
                </a:solidFill>
                <a:latin typeface="Menlo"/>
                <a:ea typeface="Menlo"/>
                <a:cs typeface="Menlo"/>
              </a:defRPr>
            </a:pPr>
            <a:r>
              <a:rPr sz="1275" b="0">
                <a:solidFill>
                  <a:srgbClr val="17202A"/>
                </a:solidFill>
                <a:latin typeface="Menlo"/>
                <a:ea typeface="Menlo"/>
                <a:cs typeface="Menlo"/>
              </a:rPr>
              <a:t>print(processed.shape, processed.isna().sum().sum())</a:t>
            </a:r>
          </a:p>
        </p:txBody>
      </p:sp>
      <p:sp>
        <p:nvSpPr>
          <p:cNvPr id="8" name="모서리가 둥근 직사각형 7">
            <a:extLst>
              <a:ext uri="{FF2B5EF4-FFF2-40B4-BE49-F238E27FC236}">
                <a16:creationId xmlns:a16="http://schemas.microsoft.com/office/drawing/2014/main" id="{4FEDE900-14F9-4D7C-A189-A367404BD23C}"/>
              </a:ext>
            </a:extLst>
          </p:cNvPr>
          <p:cNvSpPr>
            <a:spLocks noGrp="1"/>
          </p:cNvSpPr>
          <p:nvPr/>
        </p:nvSpPr>
        <p:spPr>
          <a:xfrm>
            <a:off x="8286750" y="1857375"/>
            <a:ext cx="3143250" cy="1095375"/>
          </a:xfrm>
          <a:prstGeom prst="roundRect">
            <a:avLst>
              <a:gd name="adj" fmla="val 10435"/>
            </a:avLst>
          </a:prstGeom>
          <a:solidFill>
            <a:srgbClr val="FFF5DF"/>
          </a:solidFill>
          <a:ln w="9525">
            <a:solidFill>
              <a:srgbClr val="9A5B13"/>
            </a:solidFill>
          </a:ln>
        </p:spPr>
        <p:txBody>
          <a:bodyPr/>
          <a:lstStyle/>
          <a:p>
            <a:endParaRPr lang="ko-KR" altLang="en-US"/>
          </a:p>
        </p:txBody>
      </p:sp>
      <p:sp>
        <p:nvSpPr>
          <p:cNvPr id="9" name="직사각형 8">
            <a:extLst>
              <a:ext uri="{FF2B5EF4-FFF2-40B4-BE49-F238E27FC236}">
                <a16:creationId xmlns:a16="http://schemas.microsoft.com/office/drawing/2014/main" id="{D11DB29B-F93B-4EBF-A7BB-0FB01FA42789}"/>
              </a:ext>
            </a:extLst>
          </p:cNvPr>
          <p:cNvSpPr>
            <a:spLocks noGrp="1"/>
          </p:cNvSpPr>
          <p:nvPr/>
        </p:nvSpPr>
        <p:spPr>
          <a:xfrm>
            <a:off x="8524875" y="2076450"/>
            <a:ext cx="2667000" cy="238125"/>
          </a:xfrm>
          <a:prstGeom prst="rect">
            <a:avLst/>
          </a:prstGeom>
          <a:noFill/>
          <a:ln w="0">
            <a:noFill/>
          </a:ln>
        </p:spPr>
        <p:txBody>
          <a:bodyPr lIns="0" tIns="0" rIns="0" bIns="0" anchor="t">
            <a:normAutofit/>
          </a:bodyPr>
          <a:lstStyle/>
          <a:p>
            <a:pPr algn="l">
              <a:defRPr sz="1350" b="1">
                <a:solidFill>
                  <a:srgbClr val="9A5B13"/>
                </a:solidFill>
                <a:latin typeface="Apple SD Gothic Neo"/>
                <a:ea typeface="Apple SD Gothic Neo"/>
                <a:cs typeface="Apple SD Gothic Neo"/>
              </a:defRPr>
            </a:pPr>
            <a:r>
              <a:rPr sz="1350" b="1">
                <a:solidFill>
                  <a:srgbClr val="9A5B13"/>
                </a:solidFill>
                <a:latin typeface="Apple SD Gothic Neo"/>
                <a:ea typeface="Apple SD Gothic Neo"/>
                <a:cs typeface="Apple SD Gothic Neo"/>
              </a:rPr>
              <a:t>실행 전 예상</a:t>
            </a:r>
          </a:p>
        </p:txBody>
      </p:sp>
      <p:sp>
        <p:nvSpPr>
          <p:cNvPr id="10" name="직사각형 9">
            <a:extLst>
              <a:ext uri="{FF2B5EF4-FFF2-40B4-BE49-F238E27FC236}">
                <a16:creationId xmlns:a16="http://schemas.microsoft.com/office/drawing/2014/main" id="{5282D2D8-69C5-4EA4-8E87-B3DCCE75DE6E}"/>
              </a:ext>
            </a:extLst>
          </p:cNvPr>
          <p:cNvSpPr>
            <a:spLocks noGrp="1"/>
          </p:cNvSpPr>
          <p:nvPr/>
        </p:nvSpPr>
        <p:spPr>
          <a:xfrm>
            <a:off x="8524875" y="2428875"/>
            <a:ext cx="2667000" cy="419100"/>
          </a:xfrm>
          <a:prstGeom prst="rect">
            <a:avLst/>
          </a:prstGeom>
          <a:noFill/>
          <a:ln w="0">
            <a:noFill/>
          </a:ln>
        </p:spPr>
        <p:txBody>
          <a:bodyPr lIns="0" tIns="0" rIns="0" bIns="0" anchor="t">
            <a:normAutofit fontScale="79457" lnSpcReduction="10000"/>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6교시에서 train으로 배운 기준을 그대로 재사용해야 같은 36개 열을 만들 수 있습니다.</a:t>
            </a:r>
          </a:p>
        </p:txBody>
      </p:sp>
      <p:sp>
        <p:nvSpPr>
          <p:cNvPr id="11" name="모서리가 둥근 직사각형 10">
            <a:extLst>
              <a:ext uri="{FF2B5EF4-FFF2-40B4-BE49-F238E27FC236}">
                <a16:creationId xmlns:a16="http://schemas.microsoft.com/office/drawing/2014/main" id="{5C0EF8E3-1172-4FC0-987A-B83CC934A957}"/>
              </a:ext>
            </a:extLst>
          </p:cNvPr>
          <p:cNvSpPr>
            <a:spLocks noGrp="1"/>
          </p:cNvSpPr>
          <p:nvPr/>
        </p:nvSpPr>
        <p:spPr>
          <a:xfrm>
            <a:off x="8286750" y="3238500"/>
            <a:ext cx="3143250" cy="1476375"/>
          </a:xfrm>
          <a:prstGeom prst="roundRect">
            <a:avLst>
              <a:gd name="adj" fmla="val 7742"/>
            </a:avLst>
          </a:prstGeom>
          <a:solidFill>
            <a:srgbClr val="EAF3FF"/>
          </a:solidFill>
          <a:ln w="9525">
            <a:solidFill>
              <a:srgbClr val="2F7DF4"/>
            </a:solidFill>
          </a:ln>
        </p:spPr>
        <p:txBody>
          <a:bodyPr/>
          <a:lstStyle/>
          <a:p>
            <a:endParaRPr lang="ko-KR" altLang="en-US"/>
          </a:p>
        </p:txBody>
      </p:sp>
      <p:sp>
        <p:nvSpPr>
          <p:cNvPr id="12" name="직사각형 11">
            <a:extLst>
              <a:ext uri="{FF2B5EF4-FFF2-40B4-BE49-F238E27FC236}">
                <a16:creationId xmlns:a16="http://schemas.microsoft.com/office/drawing/2014/main" id="{595110D7-7F9A-467F-ABE5-AFC138A75A06}"/>
              </a:ext>
            </a:extLst>
          </p:cNvPr>
          <p:cNvSpPr>
            <a:spLocks noGrp="1"/>
          </p:cNvSpPr>
          <p:nvPr/>
        </p:nvSpPr>
        <p:spPr>
          <a:xfrm>
            <a:off x="8524875" y="3457575"/>
            <a:ext cx="2667000" cy="238125"/>
          </a:xfrm>
          <a:prstGeom prst="rect">
            <a:avLst/>
          </a:prstGeom>
          <a:noFill/>
          <a:ln w="0">
            <a:noFill/>
          </a:ln>
        </p:spPr>
        <p:txBody>
          <a:bodyPr lIns="0" tIns="0" rIns="0" bIns="0" anchor="t">
            <a:normAutofit/>
          </a:bodyPr>
          <a:lstStyle/>
          <a:p>
            <a:pPr algn="l">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코드 읽기</a:t>
            </a:r>
          </a:p>
        </p:txBody>
      </p:sp>
      <p:sp>
        <p:nvSpPr>
          <p:cNvPr id="13" name="직사각형 12">
            <a:extLst>
              <a:ext uri="{FF2B5EF4-FFF2-40B4-BE49-F238E27FC236}">
                <a16:creationId xmlns:a16="http://schemas.microsoft.com/office/drawing/2014/main" id="{EC4063D3-E112-42FC-A47B-31D0D7E87A9F}"/>
              </a:ext>
            </a:extLst>
          </p:cNvPr>
          <p:cNvSpPr>
            <a:spLocks noGrp="1"/>
          </p:cNvSpPr>
          <p:nvPr/>
        </p:nvSpPr>
        <p:spPr>
          <a:xfrm>
            <a:off x="8524875" y="3810000"/>
            <a:ext cx="2667000" cy="714375"/>
          </a:xfrm>
          <a:prstGeom prst="rect">
            <a:avLst/>
          </a:prstGeom>
          <a:noFill/>
          <a:ln w="0">
            <a:noFill/>
          </a:ln>
        </p:spPr>
        <p:txBody>
          <a:bodyPr lIns="0" tIns="0" rIns="0" bIns="0" anchor="t">
            <a:normAutofit/>
          </a:bodyPr>
          <a:lstStyle/>
          <a:p>
            <a:pPr algn="l">
              <a:defRPr sz="1425" b="1">
                <a:solidFill>
                  <a:srgbClr val="17202A"/>
                </a:solidFill>
                <a:latin typeface="Apple SD Gothic Neo"/>
                <a:ea typeface="Apple SD Gothic Neo"/>
                <a:cs typeface="Apple SD Gothic Neo"/>
              </a:defRPr>
            </a:pPr>
            <a:r>
              <a:rPr sz="1425" b="1">
                <a:solidFill>
                  <a:srgbClr val="17202A"/>
                </a:solidFill>
                <a:latin typeface="Apple SD Gothic Neo"/>
                <a:ea typeface="Apple SD Gothic Neo"/>
                <a:cs typeface="Apple SD Gothic Neo"/>
              </a:rPr>
              <a:t>load는 파일에 저장된 객체를 되살리고 transform은 저장된 기준만 적용합니다.</a:t>
            </a:r>
          </a:p>
        </p:txBody>
      </p:sp>
      <p:sp>
        <p:nvSpPr>
          <p:cNvPr id="14" name="직사각형 13">
            <a:extLst>
              <a:ext uri="{FF2B5EF4-FFF2-40B4-BE49-F238E27FC236}">
                <a16:creationId xmlns:a16="http://schemas.microsoft.com/office/drawing/2014/main" id="{4F36AAB2-CF18-4761-A631-DEA1C52013C0}"/>
              </a:ext>
            </a:extLst>
          </p:cNvPr>
          <p:cNvSpPr>
            <a:spLocks noGrp="1"/>
          </p:cNvSpPr>
          <p:nvPr/>
        </p:nvSpPr>
        <p:spPr>
          <a:xfrm>
            <a:off x="8334375" y="5238750"/>
            <a:ext cx="3048000" cy="238125"/>
          </a:xfrm>
          <a:prstGeom prst="rect">
            <a:avLst/>
          </a:prstGeom>
          <a:noFill/>
          <a:ln w="0">
            <a:noFill/>
          </a:ln>
        </p:spPr>
        <p:txBody>
          <a:bodyPr lIns="0" tIns="0" rIns="0" bIns="0" anchor="t">
            <a:normAutofit/>
          </a:bodyPr>
          <a:lstStyle/>
          <a:p>
            <a:pPr algn="ctr">
              <a:defRPr sz="1200" b="0">
                <a:solidFill>
                  <a:srgbClr val="5F6B78"/>
                </a:solidFill>
                <a:latin typeface="Apple SD Gothic Neo"/>
                <a:ea typeface="Apple SD Gothic Neo"/>
                <a:cs typeface="Apple SD Gothic Neo"/>
              </a:defRPr>
            </a:pPr>
            <a:r>
              <a:rPr sz="1200" b="0">
                <a:solidFill>
                  <a:srgbClr val="5F6B78"/>
                </a:solidFill>
                <a:latin typeface="Apple SD Gothic Neo"/>
                <a:ea typeface="Apple SD Gothic Neo"/>
                <a:cs typeface="Apple SD Gothic Neo"/>
              </a:rPr>
              <a:t>학생 노트북 · Q5</a:t>
            </a:r>
          </a:p>
        </p:txBody>
      </p:sp>
      <p:sp>
        <p:nvSpPr>
          <p:cNvPr id="15" name="직선 연결선[R] 14">
            <a:extLst>
              <a:ext uri="{FF2B5EF4-FFF2-40B4-BE49-F238E27FC236}">
                <a16:creationId xmlns:a16="http://schemas.microsoft.com/office/drawing/2014/main" id="{7ED38B64-AC8F-4617-812C-A6DEED6C7FCE}"/>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6" name="직사각형 15">
            <a:extLst>
              <a:ext uri="{FF2B5EF4-FFF2-40B4-BE49-F238E27FC236}">
                <a16:creationId xmlns:a16="http://schemas.microsoft.com/office/drawing/2014/main" id="{264284DD-F644-4750-98E9-818648E018E8}"/>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학생 노트북 Q5에서 ___만 채우고 정상 결과 (1000, 36) 0을 확인합니다.</a:t>
            </a:r>
          </a:p>
        </p:txBody>
      </p:sp>
      <p:sp>
        <p:nvSpPr>
          <p:cNvPr id="17" name="직사각형 16">
            <a:extLst>
              <a:ext uri="{FF2B5EF4-FFF2-40B4-BE49-F238E27FC236}">
                <a16:creationId xmlns:a16="http://schemas.microsoft.com/office/drawing/2014/main" id="{5E11F8EB-524C-48A6-A0E9-D1F605468DA1}"/>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27</a:t>
            </a:r>
          </a:p>
        </p:txBody>
      </p:sp>
    </p:spTree>
    <p:extLst>
      <p:ext uri="{BB962C8B-B14F-4D97-AF65-F5344CB8AC3E}">
        <p14:creationId xmlns:p14="http://schemas.microsoft.com/office/powerpoint/2010/main" val="2080189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7E820366-A5EF-4DDF-A3ED-19F0A2020E3C}"/>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9EC94670-4AF2-4A57-8810-90484ECC4167}"/>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저장된 기준이 X에 적용되는 순서를 읽어봅시다</a:t>
            </a:r>
          </a:p>
        </p:txBody>
      </p:sp>
      <p:sp>
        <p:nvSpPr>
          <p:cNvPr id="3" name="직선 연결선[R] 2">
            <a:extLst>
              <a:ext uri="{FF2B5EF4-FFF2-40B4-BE49-F238E27FC236}">
                <a16:creationId xmlns:a16="http://schemas.microsoft.com/office/drawing/2014/main" id="{F1F91410-E4C4-47BE-8592-C9FF3DE57A3B}"/>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4D8C07C9-B3D7-434A-B016-D1A4A1428410}"/>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코드 해석</a:t>
            </a:r>
          </a:p>
        </p:txBody>
      </p:sp>
      <p:sp>
        <p:nvSpPr>
          <p:cNvPr id="5" name="모서리가 둥근 직사각형 4">
            <a:extLst>
              <a:ext uri="{FF2B5EF4-FFF2-40B4-BE49-F238E27FC236}">
                <a16:creationId xmlns:a16="http://schemas.microsoft.com/office/drawing/2014/main" id="{6AD53046-8CB1-4038-9733-301E325439B7}"/>
              </a:ext>
            </a:extLst>
          </p:cNvPr>
          <p:cNvSpPr>
            <a:spLocks noGrp="1"/>
          </p:cNvSpPr>
          <p:nvPr/>
        </p:nvSpPr>
        <p:spPr>
          <a:xfrm>
            <a:off x="523875" y="2143125"/>
            <a:ext cx="3429000" cy="2428875"/>
          </a:xfrm>
          <a:prstGeom prst="roundRect">
            <a:avLst>
              <a:gd name="adj" fmla="val 470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2FE96FD2-B5C2-46F4-AAC0-359CEE7BBB04}"/>
              </a:ext>
            </a:extLst>
          </p:cNvPr>
          <p:cNvSpPr>
            <a:spLocks noGrp="1"/>
          </p:cNvSpPr>
          <p:nvPr/>
        </p:nvSpPr>
        <p:spPr>
          <a:xfrm>
            <a:off x="771525" y="2400300"/>
            <a:ext cx="2933700"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1 · 입력 확인</a:t>
            </a:r>
          </a:p>
        </p:txBody>
      </p:sp>
      <p:sp>
        <p:nvSpPr>
          <p:cNvPr id="7" name="직사각형 6">
            <a:extLst>
              <a:ext uri="{FF2B5EF4-FFF2-40B4-BE49-F238E27FC236}">
                <a16:creationId xmlns:a16="http://schemas.microsoft.com/office/drawing/2014/main" id="{813D456F-B448-4390-8D64-B5F7569B5A14}"/>
              </a:ext>
            </a:extLst>
          </p:cNvPr>
          <p:cNvSpPr>
            <a:spLocks noGrp="1"/>
          </p:cNvSpPr>
          <p:nvPr/>
        </p:nvSpPr>
        <p:spPr>
          <a:xfrm>
            <a:off x="77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preprocessor는 joblib에서 불러온 객체, processed는 1,000행×36열 DataFrame입니다.</a:t>
            </a:r>
          </a:p>
        </p:txBody>
      </p:sp>
      <p:sp>
        <p:nvSpPr>
          <p:cNvPr id="8" name="직선 연결선[R] 7">
            <a:extLst>
              <a:ext uri="{FF2B5EF4-FFF2-40B4-BE49-F238E27FC236}">
                <a16:creationId xmlns:a16="http://schemas.microsoft.com/office/drawing/2014/main" id="{07490F75-1642-4B79-B9B4-F32A3E218F1A}"/>
              </a:ext>
            </a:extLst>
          </p:cNvPr>
          <p:cNvSpPr>
            <a:spLocks noGrp="1"/>
          </p:cNvSpPr>
          <p:nvPr/>
        </p:nvSpPr>
        <p:spPr>
          <a:xfrm>
            <a:off x="4000500" y="3333750"/>
            <a:ext cx="285750" cy="0"/>
          </a:xfrm>
          <a:prstGeom prst="line">
            <a:avLst/>
          </a:prstGeom>
          <a:noFill/>
          <a:ln w="28575">
            <a:solidFill>
              <a:srgbClr val="2F7DF4"/>
            </a:solidFill>
          </a:ln>
        </p:spPr>
        <p:txBody>
          <a:bodyPr/>
          <a:lstStyle/>
          <a:p>
            <a:endParaRPr lang="ko-KR" altLang="en-US"/>
          </a:p>
        </p:txBody>
      </p:sp>
      <p:sp>
        <p:nvSpPr>
          <p:cNvPr id="9" name="모서리가 둥근 직사각형 8">
            <a:extLst>
              <a:ext uri="{FF2B5EF4-FFF2-40B4-BE49-F238E27FC236}">
                <a16:creationId xmlns:a16="http://schemas.microsoft.com/office/drawing/2014/main" id="{563B8296-6381-4BEB-BF7B-E474C5E40CAD}"/>
              </a:ext>
            </a:extLst>
          </p:cNvPr>
          <p:cNvSpPr>
            <a:spLocks noGrp="1"/>
          </p:cNvSpPr>
          <p:nvPr/>
        </p:nvSpPr>
        <p:spPr>
          <a:xfrm>
            <a:off x="4333875" y="2143125"/>
            <a:ext cx="3429000" cy="2428875"/>
          </a:xfrm>
          <a:prstGeom prst="roundRect">
            <a:avLst>
              <a:gd name="adj" fmla="val 4706"/>
            </a:avLst>
          </a:prstGeom>
          <a:solidFill>
            <a:srgbClr val="F5F7FA"/>
          </a:solid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77527E20-D5E8-45CB-BFB1-42C401A58DF3}"/>
              </a:ext>
            </a:extLst>
          </p:cNvPr>
          <p:cNvSpPr>
            <a:spLocks noGrp="1"/>
          </p:cNvSpPr>
          <p:nvPr/>
        </p:nvSpPr>
        <p:spPr>
          <a:xfrm>
            <a:off x="4581525" y="2400300"/>
            <a:ext cx="2933700"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2 · 기능 적용</a:t>
            </a:r>
          </a:p>
        </p:txBody>
      </p:sp>
      <p:sp>
        <p:nvSpPr>
          <p:cNvPr id="11" name="직사각형 10">
            <a:extLst>
              <a:ext uri="{FF2B5EF4-FFF2-40B4-BE49-F238E27FC236}">
                <a16:creationId xmlns:a16="http://schemas.microsoft.com/office/drawing/2014/main" id="{DFEF9A29-BDD2-4581-BD75-50E5746FC745}"/>
              </a:ext>
            </a:extLst>
          </p:cNvPr>
          <p:cNvSpPr>
            <a:spLocks noGrp="1"/>
          </p:cNvSpPr>
          <p:nvPr/>
        </p:nvSpPr>
        <p:spPr>
          <a:xfrm>
            <a:off x="458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load는 파일에 저장된 객체를 되살리고 transform은 저장된 기준만 적용합니다.</a:t>
            </a:r>
          </a:p>
        </p:txBody>
      </p:sp>
      <p:sp>
        <p:nvSpPr>
          <p:cNvPr id="12" name="직선 연결선[R] 11">
            <a:extLst>
              <a:ext uri="{FF2B5EF4-FFF2-40B4-BE49-F238E27FC236}">
                <a16:creationId xmlns:a16="http://schemas.microsoft.com/office/drawing/2014/main" id="{3D896082-FB7A-40F9-A0EC-A7E3885C330A}"/>
              </a:ext>
            </a:extLst>
          </p:cNvPr>
          <p:cNvSpPr>
            <a:spLocks noGrp="1"/>
          </p:cNvSpPr>
          <p:nvPr/>
        </p:nvSpPr>
        <p:spPr>
          <a:xfrm>
            <a:off x="7810500" y="3333750"/>
            <a:ext cx="285750" cy="0"/>
          </a:xfrm>
          <a:prstGeom prst="line">
            <a:avLst/>
          </a:prstGeom>
          <a:noFill/>
          <a:ln w="28575">
            <a:solidFill>
              <a:srgbClr val="2F7DF4"/>
            </a:solidFill>
          </a:ln>
        </p:spPr>
        <p:txBody>
          <a:bodyPr/>
          <a:lstStyle/>
          <a:p>
            <a:endParaRPr lang="ko-KR" altLang="en-US"/>
          </a:p>
        </p:txBody>
      </p:sp>
      <p:sp>
        <p:nvSpPr>
          <p:cNvPr id="13" name="모서리가 둥근 직사각형 12">
            <a:extLst>
              <a:ext uri="{FF2B5EF4-FFF2-40B4-BE49-F238E27FC236}">
                <a16:creationId xmlns:a16="http://schemas.microsoft.com/office/drawing/2014/main" id="{E5ED4422-982F-4370-A63B-86F61F643F50}"/>
              </a:ext>
            </a:extLst>
          </p:cNvPr>
          <p:cNvSpPr>
            <a:spLocks noGrp="1"/>
          </p:cNvSpPr>
          <p:nvPr/>
        </p:nvSpPr>
        <p:spPr>
          <a:xfrm>
            <a:off x="8143875" y="2143125"/>
            <a:ext cx="3429000" cy="2428875"/>
          </a:xfrm>
          <a:prstGeom prst="roundRect">
            <a:avLst>
              <a:gd name="adj" fmla="val 4706"/>
            </a:avLst>
          </a:prstGeom>
          <a:solidFill>
            <a:srgbClr val="EAF7F0"/>
          </a:solidFill>
          <a:ln w="9525">
            <a:solidFill>
              <a:srgbClr val="18794E"/>
            </a:solidFill>
          </a:ln>
        </p:spPr>
        <p:txBody>
          <a:bodyPr/>
          <a:lstStyle/>
          <a:p>
            <a:endParaRPr lang="ko-KR" altLang="en-US"/>
          </a:p>
        </p:txBody>
      </p:sp>
      <p:sp>
        <p:nvSpPr>
          <p:cNvPr id="14" name="직사각형 13">
            <a:extLst>
              <a:ext uri="{FF2B5EF4-FFF2-40B4-BE49-F238E27FC236}">
                <a16:creationId xmlns:a16="http://schemas.microsoft.com/office/drawing/2014/main" id="{77A734B1-CD6E-4A82-9AB9-8DA739CBDBFA}"/>
              </a:ext>
            </a:extLst>
          </p:cNvPr>
          <p:cNvSpPr>
            <a:spLocks noGrp="1"/>
          </p:cNvSpPr>
          <p:nvPr/>
        </p:nvSpPr>
        <p:spPr>
          <a:xfrm>
            <a:off x="8391525" y="2400300"/>
            <a:ext cx="2933700" cy="323850"/>
          </a:xfrm>
          <a:prstGeom prst="rect">
            <a:avLst/>
          </a:prstGeom>
          <a:noFill/>
          <a:ln w="0">
            <a:noFill/>
          </a:ln>
        </p:spPr>
        <p:txBody>
          <a:bodyPr lIns="0" tIns="0" rIns="0" bIns="0" anchor="t">
            <a:normAutofit/>
          </a:bodyPr>
          <a:lstStyle/>
          <a:p>
            <a:pPr algn="l">
              <a:defRPr sz="1500" b="1">
                <a:solidFill>
                  <a:srgbClr val="18794E"/>
                </a:solidFill>
                <a:latin typeface="Apple SD Gothic Neo"/>
                <a:ea typeface="Apple SD Gothic Neo"/>
                <a:cs typeface="Apple SD Gothic Neo"/>
              </a:defRPr>
            </a:pPr>
            <a:r>
              <a:rPr sz="1500" b="1">
                <a:solidFill>
                  <a:srgbClr val="18794E"/>
                </a:solidFill>
                <a:latin typeface="Apple SD Gothic Neo"/>
                <a:ea typeface="Apple SD Gothic Neo"/>
                <a:cs typeface="Apple SD Gothic Neo"/>
              </a:rPr>
              <a:t>3 · 결과 확인</a:t>
            </a:r>
          </a:p>
        </p:txBody>
      </p:sp>
      <p:sp>
        <p:nvSpPr>
          <p:cNvPr id="15" name="직사각형 14">
            <a:extLst>
              <a:ext uri="{FF2B5EF4-FFF2-40B4-BE49-F238E27FC236}">
                <a16:creationId xmlns:a16="http://schemas.microsoft.com/office/drawing/2014/main" id="{3539FAC6-6661-44DD-B1CB-B37585AB9B1E}"/>
              </a:ext>
            </a:extLst>
          </p:cNvPr>
          <p:cNvSpPr>
            <a:spLocks noGrp="1"/>
          </p:cNvSpPr>
          <p:nvPr/>
        </p:nvSpPr>
        <p:spPr>
          <a:xfrm>
            <a:off x="839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(1000, 36) 0</a:t>
            </a:r>
          </a:p>
        </p:txBody>
      </p:sp>
      <p:sp>
        <p:nvSpPr>
          <p:cNvPr id="16" name="모서리가 둥근 직사각형 15">
            <a:extLst>
              <a:ext uri="{FF2B5EF4-FFF2-40B4-BE49-F238E27FC236}">
                <a16:creationId xmlns:a16="http://schemas.microsoft.com/office/drawing/2014/main" id="{52992471-41DA-4144-81EE-4C76F24356C5}"/>
              </a:ext>
            </a:extLst>
          </p:cNvPr>
          <p:cNvSpPr>
            <a:spLocks noGrp="1"/>
          </p:cNvSpPr>
          <p:nvPr/>
        </p:nvSpPr>
        <p:spPr>
          <a:xfrm>
            <a:off x="1143000" y="5048250"/>
            <a:ext cx="9906000" cy="590550"/>
          </a:xfrm>
          <a:prstGeom prst="roundRect">
            <a:avLst>
              <a:gd name="adj" fmla="val 19355"/>
            </a:avLst>
          </a:prstGeom>
          <a:solidFill>
            <a:srgbClr val="EAF3FF"/>
          </a:solidFill>
          <a:ln w="0">
            <a:noFill/>
          </a:ln>
        </p:spPr>
        <p:txBody>
          <a:bodyPr/>
          <a:lstStyle/>
          <a:p>
            <a:endParaRPr lang="ko-KR" altLang="en-US"/>
          </a:p>
        </p:txBody>
      </p:sp>
      <p:sp>
        <p:nvSpPr>
          <p:cNvPr id="17" name="직사각형 16">
            <a:extLst>
              <a:ext uri="{FF2B5EF4-FFF2-40B4-BE49-F238E27FC236}">
                <a16:creationId xmlns:a16="http://schemas.microsoft.com/office/drawing/2014/main" id="{306AE464-A430-4BD8-81BE-4B1A803CA9E7}"/>
              </a:ext>
            </a:extLst>
          </p:cNvPr>
          <p:cNvSpPr>
            <a:spLocks noGrp="1"/>
          </p:cNvSpPr>
          <p:nvPr/>
        </p:nvSpPr>
        <p:spPr>
          <a:xfrm>
            <a:off x="1428750" y="5219700"/>
            <a:ext cx="9334500" cy="285750"/>
          </a:xfrm>
          <a:prstGeom prst="rect">
            <a:avLst/>
          </a:prstGeom>
          <a:noFill/>
          <a:ln w="0">
            <a:noFill/>
          </a:ln>
        </p:spPr>
        <p:txBody>
          <a:bodyPr lIns="0" tIns="0" rIns="0" bIns="0" anchor="t">
            <a:normAutofit/>
          </a:bodyPr>
          <a:lstStyle/>
          <a:p>
            <a:pPr algn="ctr">
              <a:defRPr sz="1575" b="1">
                <a:solidFill>
                  <a:srgbClr val="17324D"/>
                </a:solidFill>
                <a:latin typeface="Apple SD Gothic Neo"/>
                <a:ea typeface="Apple SD Gothic Neo"/>
                <a:cs typeface="Apple SD Gothic Neo"/>
              </a:defRPr>
            </a:pPr>
            <a:r>
              <a:rPr sz="1575" b="1">
                <a:solidFill>
                  <a:srgbClr val="17324D"/>
                </a:solidFill>
                <a:latin typeface="Apple SD Gothic Neo"/>
                <a:ea typeface="Apple SD Gothic Neo"/>
                <a:cs typeface="Apple SD Gothic Neo"/>
              </a:rPr>
              <a:t>정상 결과 · (1000, 36) 0</a:t>
            </a:r>
          </a:p>
        </p:txBody>
      </p:sp>
      <p:sp>
        <p:nvSpPr>
          <p:cNvPr id="18" name="직선 연결선[R] 17">
            <a:extLst>
              <a:ext uri="{FF2B5EF4-FFF2-40B4-BE49-F238E27FC236}">
                <a16:creationId xmlns:a16="http://schemas.microsoft.com/office/drawing/2014/main" id="{1C586EE1-AC86-45B7-874F-8868DFB0FDF2}"/>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9" name="직사각형 18">
            <a:extLst>
              <a:ext uri="{FF2B5EF4-FFF2-40B4-BE49-F238E27FC236}">
                <a16:creationId xmlns:a16="http://schemas.microsoft.com/office/drawing/2014/main" id="{23259011-5A45-4EF9-A288-4FE8EBB087EE}"/>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소괄호 안에 들어가는 값, 실행되는 기능과 등호 왼쪽에 저장되는 결과를 차례로 읽습니다.</a:t>
            </a:r>
          </a:p>
        </p:txBody>
      </p:sp>
      <p:sp>
        <p:nvSpPr>
          <p:cNvPr id="20" name="직사각형 19">
            <a:extLst>
              <a:ext uri="{FF2B5EF4-FFF2-40B4-BE49-F238E27FC236}">
                <a16:creationId xmlns:a16="http://schemas.microsoft.com/office/drawing/2014/main" id="{32E79D46-9564-4487-B8F5-042FBAC11711}"/>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28</a:t>
            </a:r>
          </a:p>
        </p:txBody>
      </p:sp>
    </p:spTree>
    <p:extLst>
      <p:ext uri="{BB962C8B-B14F-4D97-AF65-F5344CB8AC3E}">
        <p14:creationId xmlns:p14="http://schemas.microsoft.com/office/powerpoint/2010/main" val="15409441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2F895264-56B8-441D-8494-2382D5EEA3BC}"/>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BB14A43F-287E-42F1-933E-F53C5706F0DD}"/>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(1000, 36)과 결측 0을 함께 확인합니다</a:t>
            </a:r>
          </a:p>
        </p:txBody>
      </p:sp>
      <p:sp>
        <p:nvSpPr>
          <p:cNvPr id="3" name="직선 연결선[R] 2">
            <a:extLst>
              <a:ext uri="{FF2B5EF4-FFF2-40B4-BE49-F238E27FC236}">
                <a16:creationId xmlns:a16="http://schemas.microsoft.com/office/drawing/2014/main" id="{6B9874FF-84B7-41B8-83D3-EEDA8AFFBF29}"/>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3550FC53-FE7E-4C9A-AE2F-9613B78A2707}"/>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결과와 복구</a:t>
            </a:r>
          </a:p>
        </p:txBody>
      </p:sp>
      <p:sp>
        <p:nvSpPr>
          <p:cNvPr id="5" name="모서리가 둥근 직사각형 4">
            <a:extLst>
              <a:ext uri="{FF2B5EF4-FFF2-40B4-BE49-F238E27FC236}">
                <a16:creationId xmlns:a16="http://schemas.microsoft.com/office/drawing/2014/main" id="{392298F3-ED4D-46D8-A889-EA7CCE372A0B}"/>
              </a:ext>
            </a:extLst>
          </p:cNvPr>
          <p:cNvSpPr>
            <a:spLocks noGrp="1"/>
          </p:cNvSpPr>
          <p:nvPr/>
        </p:nvSpPr>
        <p:spPr>
          <a:xfrm>
            <a:off x="666750" y="1952625"/>
            <a:ext cx="5095875" cy="2524125"/>
          </a:xfrm>
          <a:prstGeom prst="roundRect">
            <a:avLst>
              <a:gd name="adj" fmla="val 4528"/>
            </a:avLst>
          </a:prstGeom>
          <a:solidFill>
            <a:srgbClr val="EAF7F0"/>
          </a:solidFill>
          <a:ln w="9525">
            <a:solidFill>
              <a:srgbClr val="18794E"/>
            </a:solidFill>
          </a:ln>
        </p:spPr>
        <p:txBody>
          <a:bodyPr/>
          <a:lstStyle/>
          <a:p>
            <a:endParaRPr lang="ko-KR" altLang="en-US"/>
          </a:p>
        </p:txBody>
      </p:sp>
      <p:sp>
        <p:nvSpPr>
          <p:cNvPr id="6" name="직사각형 5">
            <a:extLst>
              <a:ext uri="{FF2B5EF4-FFF2-40B4-BE49-F238E27FC236}">
                <a16:creationId xmlns:a16="http://schemas.microsoft.com/office/drawing/2014/main" id="{A88080F9-F4F5-49F9-9D84-6BA9F0DC6B17}"/>
              </a:ext>
            </a:extLst>
          </p:cNvPr>
          <p:cNvSpPr>
            <a:spLocks noGrp="1"/>
          </p:cNvSpPr>
          <p:nvPr/>
        </p:nvSpPr>
        <p:spPr>
          <a:xfrm>
            <a:off x="1000125" y="2266950"/>
            <a:ext cx="4429125" cy="323850"/>
          </a:xfrm>
          <a:prstGeom prst="rect">
            <a:avLst/>
          </a:prstGeom>
          <a:noFill/>
          <a:ln w="0">
            <a:noFill/>
          </a:ln>
        </p:spPr>
        <p:txBody>
          <a:bodyPr lIns="0" tIns="0" rIns="0" bIns="0" anchor="t">
            <a:normAutofit/>
          </a:bodyPr>
          <a:lstStyle/>
          <a:p>
            <a:pPr algn="l">
              <a:defRPr sz="1650" b="1">
                <a:solidFill>
                  <a:srgbClr val="18794E"/>
                </a:solidFill>
                <a:latin typeface="Apple SD Gothic Neo"/>
                <a:ea typeface="Apple SD Gothic Neo"/>
                <a:cs typeface="Apple SD Gothic Neo"/>
              </a:defRPr>
            </a:pPr>
            <a:r>
              <a:rPr sz="1650" b="1">
                <a:solidFill>
                  <a:srgbClr val="18794E"/>
                </a:solidFill>
                <a:latin typeface="Apple SD Gothic Neo"/>
                <a:ea typeface="Apple SD Gothic Neo"/>
                <a:cs typeface="Apple SD Gothic Neo"/>
              </a:rPr>
              <a:t>정상이라면</a:t>
            </a:r>
          </a:p>
        </p:txBody>
      </p:sp>
      <p:sp>
        <p:nvSpPr>
          <p:cNvPr id="7" name="직사각형 6">
            <a:extLst>
              <a:ext uri="{FF2B5EF4-FFF2-40B4-BE49-F238E27FC236}">
                <a16:creationId xmlns:a16="http://schemas.microsoft.com/office/drawing/2014/main" id="{6A476332-B1FC-4FFA-BC9C-C93EBC4C073C}"/>
              </a:ext>
            </a:extLst>
          </p:cNvPr>
          <p:cNvSpPr>
            <a:spLocks noGrp="1"/>
          </p:cNvSpPr>
          <p:nvPr/>
        </p:nvSpPr>
        <p:spPr>
          <a:xfrm>
            <a:off x="1000125" y="2905125"/>
            <a:ext cx="4429125" cy="1000125"/>
          </a:xfrm>
          <a:prstGeom prst="rect">
            <a:avLst/>
          </a:prstGeom>
          <a:noFill/>
          <a:ln w="0">
            <a:noFill/>
          </a:ln>
        </p:spPr>
        <p:txBody>
          <a:bodyPr lIns="0" tIns="0" rIns="0" bIns="0" anchor="t">
            <a:normAutofit/>
          </a:bodyPr>
          <a:lstStyle/>
          <a:p>
            <a:pPr algn="ctr">
              <a:defRPr sz="2175" b="1">
                <a:solidFill>
                  <a:srgbClr val="17202A"/>
                </a:solidFill>
                <a:latin typeface="Apple SD Gothic Neo"/>
                <a:ea typeface="Apple SD Gothic Neo"/>
                <a:cs typeface="Apple SD Gothic Neo"/>
              </a:defRPr>
            </a:pPr>
            <a:r>
              <a:rPr sz="2175" b="1">
                <a:solidFill>
                  <a:srgbClr val="17202A"/>
                </a:solidFill>
                <a:latin typeface="Apple SD Gothic Neo"/>
                <a:ea typeface="Apple SD Gothic Neo"/>
                <a:cs typeface="Apple SD Gothic Neo"/>
              </a:rPr>
              <a:t>(1000, 36) 0</a:t>
            </a:r>
          </a:p>
        </p:txBody>
      </p:sp>
      <p:sp>
        <p:nvSpPr>
          <p:cNvPr id="8" name="모서리가 둥근 직사각형 7">
            <a:extLst>
              <a:ext uri="{FF2B5EF4-FFF2-40B4-BE49-F238E27FC236}">
                <a16:creationId xmlns:a16="http://schemas.microsoft.com/office/drawing/2014/main" id="{E4B4AE9C-DC74-48D1-892F-6B0D31E04A4B}"/>
              </a:ext>
            </a:extLst>
          </p:cNvPr>
          <p:cNvSpPr>
            <a:spLocks noGrp="1"/>
          </p:cNvSpPr>
          <p:nvPr/>
        </p:nvSpPr>
        <p:spPr>
          <a:xfrm>
            <a:off x="6429375" y="1952625"/>
            <a:ext cx="5095875" cy="2524125"/>
          </a:xfrm>
          <a:prstGeom prst="roundRect">
            <a:avLst>
              <a:gd name="adj" fmla="val 4528"/>
            </a:avLst>
          </a:prstGeom>
          <a:solidFill>
            <a:srgbClr val="FFF0EE"/>
          </a:solidFill>
          <a:ln w="9525">
            <a:solidFill>
              <a:srgbClr val="B42318"/>
            </a:solidFill>
          </a:ln>
        </p:spPr>
        <p:txBody>
          <a:bodyPr/>
          <a:lstStyle/>
          <a:p>
            <a:endParaRPr lang="ko-KR" altLang="en-US"/>
          </a:p>
        </p:txBody>
      </p:sp>
      <p:sp>
        <p:nvSpPr>
          <p:cNvPr id="9" name="직사각형 8">
            <a:extLst>
              <a:ext uri="{FF2B5EF4-FFF2-40B4-BE49-F238E27FC236}">
                <a16:creationId xmlns:a16="http://schemas.microsoft.com/office/drawing/2014/main" id="{C00D3351-C62B-46B3-8803-4D5ADA63A360}"/>
              </a:ext>
            </a:extLst>
          </p:cNvPr>
          <p:cNvSpPr>
            <a:spLocks noGrp="1"/>
          </p:cNvSpPr>
          <p:nvPr/>
        </p:nvSpPr>
        <p:spPr>
          <a:xfrm>
            <a:off x="6762750" y="2266950"/>
            <a:ext cx="4429125" cy="323850"/>
          </a:xfrm>
          <a:prstGeom prst="rect">
            <a:avLst/>
          </a:prstGeom>
          <a:noFill/>
          <a:ln w="0">
            <a:noFill/>
          </a:ln>
        </p:spPr>
        <p:txBody>
          <a:bodyPr lIns="0" tIns="0" rIns="0" bIns="0" anchor="t">
            <a:normAutofit/>
          </a:bodyPr>
          <a:lstStyle/>
          <a:p>
            <a:pPr algn="l">
              <a:defRPr sz="1650" b="1">
                <a:solidFill>
                  <a:srgbClr val="B42318"/>
                </a:solidFill>
                <a:latin typeface="Apple SD Gothic Neo"/>
                <a:ea typeface="Apple SD Gothic Neo"/>
                <a:cs typeface="Apple SD Gothic Neo"/>
              </a:defRPr>
            </a:pPr>
            <a:r>
              <a:rPr sz="1650" b="1">
                <a:solidFill>
                  <a:srgbClr val="B42318"/>
                </a:solidFill>
                <a:latin typeface="Apple SD Gothic Neo"/>
                <a:ea typeface="Apple SD Gothic Neo"/>
                <a:cs typeface="Apple SD Gothic Neo"/>
              </a:rPr>
              <a:t>막혔다면</a:t>
            </a:r>
          </a:p>
        </p:txBody>
      </p:sp>
      <p:sp>
        <p:nvSpPr>
          <p:cNvPr id="10" name="직사각형 9">
            <a:extLst>
              <a:ext uri="{FF2B5EF4-FFF2-40B4-BE49-F238E27FC236}">
                <a16:creationId xmlns:a16="http://schemas.microsoft.com/office/drawing/2014/main" id="{2333BCCE-5A9B-476F-A5B3-CED9362B51ED}"/>
              </a:ext>
            </a:extLst>
          </p:cNvPr>
          <p:cNvSpPr>
            <a:spLocks noGrp="1"/>
          </p:cNvSpPr>
          <p:nvPr/>
        </p:nvSpPr>
        <p:spPr>
          <a:xfrm>
            <a:off x="6762750" y="2838450"/>
            <a:ext cx="4429125" cy="1095375"/>
          </a:xfrm>
          <a:prstGeom prst="rect">
            <a:avLst/>
          </a:prstGeom>
          <a:noFill/>
          <a:ln w="0">
            <a:noFill/>
          </a:ln>
        </p:spPr>
        <p:txBody>
          <a:bodyPr lIns="0" tIns="0" rIns="0" bIns="0" anchor="t">
            <a:normAutofit/>
          </a:bodyPr>
          <a:lstStyle/>
          <a:p>
            <a:pPr algn="ctr">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6교시 전체실행으로 artifact를 먼저 만들고 같은 경로인지 확인합니다.</a:t>
            </a:r>
          </a:p>
        </p:txBody>
      </p:sp>
      <p:sp>
        <p:nvSpPr>
          <p:cNvPr id="11" name="모서리가 둥근 직사각형 10">
            <a:extLst>
              <a:ext uri="{FF2B5EF4-FFF2-40B4-BE49-F238E27FC236}">
                <a16:creationId xmlns:a16="http://schemas.microsoft.com/office/drawing/2014/main" id="{0BF021E4-A543-4F98-9363-B533857B132B}"/>
              </a:ext>
            </a:extLst>
          </p:cNvPr>
          <p:cNvSpPr>
            <a:spLocks noGrp="1"/>
          </p:cNvSpPr>
          <p:nvPr/>
        </p:nvSpPr>
        <p:spPr>
          <a:xfrm>
            <a:off x="1524000" y="4905375"/>
            <a:ext cx="9144000" cy="628650"/>
          </a:xfrm>
          <a:prstGeom prst="roundRect">
            <a:avLst>
              <a:gd name="adj" fmla="val 18182"/>
            </a:avLst>
          </a:prstGeom>
          <a:solidFill>
            <a:srgbClr val="FFF5DF"/>
          </a:solidFill>
          <a:ln w="9525">
            <a:solidFill>
              <a:srgbClr val="9A5B13"/>
            </a:solidFill>
          </a:ln>
        </p:spPr>
        <p:txBody>
          <a:bodyPr/>
          <a:lstStyle/>
          <a:p>
            <a:endParaRPr lang="ko-KR" altLang="en-US"/>
          </a:p>
        </p:txBody>
      </p:sp>
      <p:sp>
        <p:nvSpPr>
          <p:cNvPr id="12" name="직사각형 11">
            <a:extLst>
              <a:ext uri="{FF2B5EF4-FFF2-40B4-BE49-F238E27FC236}">
                <a16:creationId xmlns:a16="http://schemas.microsoft.com/office/drawing/2014/main" id="{86E20406-71B8-46AB-8C31-2562A92CDA04}"/>
              </a:ext>
            </a:extLst>
          </p:cNvPr>
          <p:cNvSpPr>
            <a:spLocks noGrp="1"/>
          </p:cNvSpPr>
          <p:nvPr/>
        </p:nvSpPr>
        <p:spPr>
          <a:xfrm>
            <a:off x="1809750" y="5086350"/>
            <a:ext cx="8572500" cy="304800"/>
          </a:xfrm>
          <a:prstGeom prst="rect">
            <a:avLst/>
          </a:prstGeom>
          <a:noFill/>
          <a:ln w="0">
            <a:noFill/>
          </a:ln>
        </p:spPr>
        <p:txBody>
          <a:bodyPr lIns="0" tIns="0" rIns="0" bIns="0" anchor="t">
            <a:normAutofit/>
          </a:bodyPr>
          <a:lstStyle/>
          <a:p>
            <a:pPr algn="ctr">
              <a:defRPr sz="1425" b="1">
                <a:solidFill>
                  <a:srgbClr val="9A5B13"/>
                </a:solidFill>
                <a:latin typeface="Apple SD Gothic Neo"/>
                <a:ea typeface="Apple SD Gothic Neo"/>
                <a:cs typeface="Apple SD Gothic Neo"/>
              </a:defRPr>
            </a:pPr>
            <a:r>
              <a:rPr sz="1425" b="1">
                <a:solidFill>
                  <a:srgbClr val="9A5B13"/>
                </a:solidFill>
                <a:latin typeface="Apple SD Gothic Neo"/>
                <a:ea typeface="Apple SD Gothic Neo"/>
                <a:cs typeface="Apple SD Gothic Neo"/>
              </a:rPr>
              <a:t>자주 생기는 문제 · FileNotFoundError 또는 NotFittedError</a:t>
            </a:r>
          </a:p>
        </p:txBody>
      </p:sp>
      <p:sp>
        <p:nvSpPr>
          <p:cNvPr id="13" name="직선 연결선[R] 12">
            <a:extLst>
              <a:ext uri="{FF2B5EF4-FFF2-40B4-BE49-F238E27FC236}">
                <a16:creationId xmlns:a16="http://schemas.microsoft.com/office/drawing/2014/main" id="{B7BAFACF-6A2C-456F-BE35-4D16A7AB639E}"/>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4" name="직사각형 13">
            <a:extLst>
              <a:ext uri="{FF2B5EF4-FFF2-40B4-BE49-F238E27FC236}">
                <a16:creationId xmlns:a16="http://schemas.microsoft.com/office/drawing/2014/main" id="{A04ADD5E-3A04-4F5B-985F-39E0D68CC4D1}"/>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정상 결과 (1000, 36) 0이 무엇의 크기·개수·상태를 뜻하는지 말할 수 있어야 합니다.</a:t>
            </a:r>
          </a:p>
        </p:txBody>
      </p:sp>
      <p:sp>
        <p:nvSpPr>
          <p:cNvPr id="15" name="직사각형 14">
            <a:extLst>
              <a:ext uri="{FF2B5EF4-FFF2-40B4-BE49-F238E27FC236}">
                <a16:creationId xmlns:a16="http://schemas.microsoft.com/office/drawing/2014/main" id="{74CB0544-9B8B-49DB-AD50-8A80D595D67F}"/>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29</a:t>
            </a:r>
          </a:p>
        </p:txBody>
      </p:sp>
    </p:spTree>
    <p:extLst>
      <p:ext uri="{BB962C8B-B14F-4D97-AF65-F5344CB8AC3E}">
        <p14:creationId xmlns:p14="http://schemas.microsoft.com/office/powerpoint/2010/main" val="216760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5EC1BAF0-8746-4376-8F89-3698BB0ABC7A}"/>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05152F5F-CBA0-4FE2-8317-6A78F7138768}"/>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Q6. 요약표를 저장하고 API 두 주소의 응답을 검사합니다</a:t>
            </a:r>
          </a:p>
        </p:txBody>
      </p:sp>
      <p:sp>
        <p:nvSpPr>
          <p:cNvPr id="3" name="직선 연결선[R] 2">
            <a:extLst>
              <a:ext uri="{FF2B5EF4-FFF2-40B4-BE49-F238E27FC236}">
                <a16:creationId xmlns:a16="http://schemas.microsoft.com/office/drawing/2014/main" id="{4FB26C6C-8B7B-4561-9716-B861B7BA7B46}"/>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B30CCA47-4C85-4C0A-A147-79CF7FDEC374}"/>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왜 필요한가</a:t>
            </a:r>
          </a:p>
        </p:txBody>
      </p:sp>
      <p:sp>
        <p:nvSpPr>
          <p:cNvPr id="5" name="직사각형 4">
            <a:extLst>
              <a:ext uri="{FF2B5EF4-FFF2-40B4-BE49-F238E27FC236}">
                <a16:creationId xmlns:a16="http://schemas.microsoft.com/office/drawing/2014/main" id="{FE053BEB-668C-4E40-986E-A19B4C194DC0}"/>
              </a:ext>
            </a:extLst>
          </p:cNvPr>
          <p:cNvSpPr>
            <a:spLocks noGrp="1"/>
          </p:cNvSpPr>
          <p:nvPr/>
        </p:nvSpPr>
        <p:spPr>
          <a:xfrm>
            <a:off x="666750" y="1857375"/>
            <a:ext cx="10858500" cy="857250"/>
          </a:xfrm>
          <a:prstGeom prst="rect">
            <a:avLst/>
          </a:prstGeom>
          <a:noFill/>
          <a:ln w="0">
            <a:noFill/>
          </a:ln>
        </p:spPr>
        <p:txBody>
          <a:bodyPr lIns="0" tIns="0" rIns="0" bIns="0" anchor="t">
            <a:normAutofit/>
          </a:bodyPr>
          <a:lstStyle/>
          <a:p>
            <a:pPr algn="ctr">
              <a:defRPr sz="2775" b="1">
                <a:solidFill>
                  <a:srgbClr val="17324D"/>
                </a:solidFill>
                <a:latin typeface="Apple SD Gothic Neo"/>
                <a:ea typeface="Apple SD Gothic Neo"/>
                <a:cs typeface="Apple SD Gothic Neo"/>
              </a:defRPr>
            </a:pPr>
            <a:r>
              <a:rPr sz="2775" b="1">
                <a:solidFill>
                  <a:srgbClr val="17324D"/>
                </a:solidFill>
                <a:latin typeface="Apple SD Gothic Neo"/>
                <a:ea typeface="Apple SD Gothic Neo"/>
                <a:cs typeface="Apple SD Gothic Neo"/>
              </a:rPr>
              <a:t>브라우저를 열지 않고도 API 응답을 확인할 수 있는 이유는 무엇일까요?</a:t>
            </a:r>
          </a:p>
        </p:txBody>
      </p:sp>
      <p:sp>
        <p:nvSpPr>
          <p:cNvPr id="6" name="모서리가 둥근 직사각형 5">
            <a:extLst>
              <a:ext uri="{FF2B5EF4-FFF2-40B4-BE49-F238E27FC236}">
                <a16:creationId xmlns:a16="http://schemas.microsoft.com/office/drawing/2014/main" id="{82179E43-0193-41FA-B4EF-BECA172BC323}"/>
              </a:ext>
            </a:extLst>
          </p:cNvPr>
          <p:cNvSpPr>
            <a:spLocks noGrp="1"/>
          </p:cNvSpPr>
          <p:nvPr/>
        </p:nvSpPr>
        <p:spPr>
          <a:xfrm>
            <a:off x="1047750" y="3190875"/>
            <a:ext cx="10096500" cy="1428750"/>
          </a:xfrm>
          <a:prstGeom prst="roundRect">
            <a:avLst>
              <a:gd name="adj" fmla="val 8000"/>
            </a:avLst>
          </a:prstGeom>
          <a:solidFill>
            <a:srgbClr val="EAF3FF"/>
          </a:solidFill>
          <a:ln w="9525">
            <a:solidFill>
              <a:srgbClr val="2F7DF4"/>
            </a:solidFill>
          </a:ln>
        </p:spPr>
        <p:txBody>
          <a:bodyPr/>
          <a:lstStyle/>
          <a:p>
            <a:endParaRPr lang="ko-KR" altLang="en-US"/>
          </a:p>
        </p:txBody>
      </p:sp>
      <p:sp>
        <p:nvSpPr>
          <p:cNvPr id="7" name="직사각형 6">
            <a:extLst>
              <a:ext uri="{FF2B5EF4-FFF2-40B4-BE49-F238E27FC236}">
                <a16:creationId xmlns:a16="http://schemas.microsoft.com/office/drawing/2014/main" id="{45F69222-4DAA-4C03-B2FC-B3BAF5F88468}"/>
              </a:ext>
            </a:extLst>
          </p:cNvPr>
          <p:cNvSpPr>
            <a:spLocks noGrp="1"/>
          </p:cNvSpPr>
          <p:nvPr/>
        </p:nvSpPr>
        <p:spPr>
          <a:xfrm>
            <a:off x="1381125" y="3476625"/>
            <a:ext cx="2190750" cy="285750"/>
          </a:xfrm>
          <a:prstGeom prst="rect">
            <a:avLst/>
          </a:prstGeom>
          <a:noFill/>
          <a:ln w="0">
            <a:noFill/>
          </a:ln>
        </p:spPr>
        <p:txBody>
          <a:bodyPr lIns="0" tIns="0" rIns="0" bIns="0" anchor="t">
            <a:normAutofit/>
          </a:bodyPr>
          <a:lstStyle/>
          <a:p>
            <a:pPr algn="l">
              <a:defRPr sz="1425" b="1">
                <a:solidFill>
                  <a:srgbClr val="2F7DF4"/>
                </a:solidFill>
                <a:latin typeface="Apple SD Gothic Neo"/>
                <a:ea typeface="Apple SD Gothic Neo"/>
                <a:cs typeface="Apple SD Gothic Neo"/>
              </a:defRPr>
            </a:pPr>
            <a:r>
              <a:rPr sz="1425" b="1">
                <a:solidFill>
                  <a:srgbClr val="2F7DF4"/>
                </a:solidFill>
                <a:latin typeface="Apple SD Gothic Neo"/>
                <a:ea typeface="Apple SD Gothic Neo"/>
                <a:cs typeface="Apple SD Gothic Neo"/>
              </a:rPr>
              <a:t>이 일을 하는 이유</a:t>
            </a:r>
          </a:p>
        </p:txBody>
      </p:sp>
      <p:sp>
        <p:nvSpPr>
          <p:cNvPr id="8" name="직사각형 7">
            <a:extLst>
              <a:ext uri="{FF2B5EF4-FFF2-40B4-BE49-F238E27FC236}">
                <a16:creationId xmlns:a16="http://schemas.microsoft.com/office/drawing/2014/main" id="{F9EF8273-2075-44B3-9360-9AFC1DA8F031}"/>
              </a:ext>
            </a:extLst>
          </p:cNvPr>
          <p:cNvSpPr>
            <a:spLocks noGrp="1"/>
          </p:cNvSpPr>
          <p:nvPr/>
        </p:nvSpPr>
        <p:spPr>
          <a:xfrm>
            <a:off x="3810000" y="3429000"/>
            <a:ext cx="6858000" cy="742950"/>
          </a:xfrm>
          <a:prstGeom prst="rect">
            <a:avLst/>
          </a:prstGeom>
          <a:noFill/>
          <a:ln w="0">
            <a:noFill/>
          </a:ln>
        </p:spPr>
        <p:txBody>
          <a:bodyPr lIns="0" tIns="0" rIns="0" bIns="0" anchor="t">
            <a:normAutofit/>
          </a:bodyPr>
          <a:lstStyle/>
          <a:p>
            <a:pPr algn="l">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데이터 처리 결과가 실제 서버 응답까지 연결되는지 확인합니다.</a:t>
            </a:r>
          </a:p>
        </p:txBody>
      </p:sp>
      <p:sp>
        <p:nvSpPr>
          <p:cNvPr id="9" name="직선 연결선[R] 8">
            <a:extLst>
              <a:ext uri="{FF2B5EF4-FFF2-40B4-BE49-F238E27FC236}">
                <a16:creationId xmlns:a16="http://schemas.microsoft.com/office/drawing/2014/main" id="{5A476535-CE21-4248-B227-9F0172C6AABA}"/>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3580EF93-F348-40A3-B8A1-E8C730FB994A}"/>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데이터 처리 결과가 실제 서버 응답까지 연결되는지 확인합니다.</a:t>
            </a:r>
          </a:p>
        </p:txBody>
      </p:sp>
      <p:sp>
        <p:nvSpPr>
          <p:cNvPr id="11" name="직사각형 10">
            <a:extLst>
              <a:ext uri="{FF2B5EF4-FFF2-40B4-BE49-F238E27FC236}">
                <a16:creationId xmlns:a16="http://schemas.microsoft.com/office/drawing/2014/main" id="{D8B9BF63-8E9D-4418-BBC7-858239931234}"/>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30</a:t>
            </a:r>
          </a:p>
        </p:txBody>
      </p:sp>
    </p:spTree>
    <p:extLst>
      <p:ext uri="{BB962C8B-B14F-4D97-AF65-F5344CB8AC3E}">
        <p14:creationId xmlns:p14="http://schemas.microsoft.com/office/powerpoint/2010/main" val="747156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30B48A82-1A55-408F-A8AB-88B7BBD5EF67}"/>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30596E47-0EBA-47C0-AE4F-FEA9FF8A56C6}"/>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두 Response 객체에서 무엇을 확인해야 할까요?</a:t>
            </a:r>
          </a:p>
        </p:txBody>
      </p:sp>
      <p:sp>
        <p:nvSpPr>
          <p:cNvPr id="3" name="직선 연결선[R] 2">
            <a:extLst>
              <a:ext uri="{FF2B5EF4-FFF2-40B4-BE49-F238E27FC236}">
                <a16:creationId xmlns:a16="http://schemas.microsoft.com/office/drawing/2014/main" id="{42053DE2-10E2-432B-8B4B-6BA7AF12A481}"/>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81A567C6-38C4-4DDA-9AD7-C87711EDC3EA}"/>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자료구조</a:t>
            </a:r>
          </a:p>
        </p:txBody>
      </p:sp>
      <p:sp>
        <p:nvSpPr>
          <p:cNvPr id="5" name="모서리가 둥근 직사각형 4">
            <a:extLst>
              <a:ext uri="{FF2B5EF4-FFF2-40B4-BE49-F238E27FC236}">
                <a16:creationId xmlns:a16="http://schemas.microsoft.com/office/drawing/2014/main" id="{096EA63E-956E-48D2-B9FC-03F3D478330F}"/>
              </a:ext>
            </a:extLst>
          </p:cNvPr>
          <p:cNvSpPr>
            <a:spLocks noGrp="1"/>
          </p:cNvSpPr>
          <p:nvPr/>
        </p:nvSpPr>
        <p:spPr>
          <a:xfrm>
            <a:off x="704850" y="1952625"/>
            <a:ext cx="10782300" cy="1762125"/>
          </a:xfrm>
          <a:prstGeom prst="roundRect">
            <a:avLst>
              <a:gd name="adj" fmla="val 648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CFCB804B-8F19-448B-B928-F695EDA7DF4D}"/>
              </a:ext>
            </a:extLst>
          </p:cNvPr>
          <p:cNvSpPr>
            <a:spLocks noGrp="1"/>
          </p:cNvSpPr>
          <p:nvPr/>
        </p:nvSpPr>
        <p:spPr>
          <a:xfrm>
            <a:off x="1047750" y="2362200"/>
            <a:ext cx="10096500" cy="952500"/>
          </a:xfrm>
          <a:prstGeom prst="rect">
            <a:avLst/>
          </a:prstGeom>
          <a:noFill/>
          <a:ln w="0">
            <a:noFill/>
          </a:ln>
        </p:spPr>
        <p:txBody>
          <a:bodyPr lIns="0" tIns="0" rIns="0" bIns="0" anchor="t">
            <a:normAutofit/>
          </a:bodyPr>
          <a:lstStyle/>
          <a:p>
            <a:pPr algn="ctr">
              <a:defRPr sz="2175" b="1">
                <a:solidFill>
                  <a:srgbClr val="17202A"/>
                </a:solidFill>
                <a:latin typeface="Apple SD Gothic Neo"/>
                <a:ea typeface="Apple SD Gothic Neo"/>
                <a:cs typeface="Apple SD Gothic Neo"/>
              </a:defRPr>
            </a:pPr>
            <a:r>
              <a:rPr sz="2175" b="1">
                <a:solidFill>
                  <a:srgbClr val="17202A"/>
                </a:solidFill>
                <a:latin typeface="Apple SD Gothic Neo"/>
                <a:ea typeface="Apple SD Gothic Neo"/>
                <a:cs typeface="Apple SD Gothic Neo"/>
              </a:rPr>
              <a:t>model_table은 CSV로 저장되고 TestClient 응답은 status_code와 JSON 데이터를 가집니다.</a:t>
            </a:r>
          </a:p>
        </p:txBody>
      </p:sp>
      <p:sp>
        <p:nvSpPr>
          <p:cNvPr id="7" name="모서리가 둥근 직사각형 6">
            <a:extLst>
              <a:ext uri="{FF2B5EF4-FFF2-40B4-BE49-F238E27FC236}">
                <a16:creationId xmlns:a16="http://schemas.microsoft.com/office/drawing/2014/main" id="{2C85A401-C7E9-4087-93BA-E5BBD167877D}"/>
              </a:ext>
            </a:extLst>
          </p:cNvPr>
          <p:cNvSpPr>
            <a:spLocks noGrp="1"/>
          </p:cNvSpPr>
          <p:nvPr/>
        </p:nvSpPr>
        <p:spPr>
          <a:xfrm>
            <a:off x="2047875" y="4286250"/>
            <a:ext cx="2095500" cy="904875"/>
          </a:xfrm>
          <a:prstGeom prst="roundRect">
            <a:avLst>
              <a:gd name="adj" fmla="val 12632"/>
            </a:avLst>
          </a:prstGeom>
          <a:solidFill>
            <a:srgbClr val="EAF3FF"/>
          </a:solidFill>
          <a:ln w="9525">
            <a:solidFill>
              <a:srgbClr val="2F7DF4"/>
            </a:solidFill>
          </a:ln>
        </p:spPr>
        <p:txBody>
          <a:bodyPr/>
          <a:lstStyle/>
          <a:p>
            <a:endParaRPr lang="ko-KR" altLang="en-US"/>
          </a:p>
        </p:txBody>
      </p:sp>
      <p:sp>
        <p:nvSpPr>
          <p:cNvPr id="8" name="직사각형 7">
            <a:extLst>
              <a:ext uri="{FF2B5EF4-FFF2-40B4-BE49-F238E27FC236}">
                <a16:creationId xmlns:a16="http://schemas.microsoft.com/office/drawing/2014/main" id="{23AA6C7B-E3CE-4650-97C8-E2BFECEA3899}"/>
              </a:ext>
            </a:extLst>
          </p:cNvPr>
          <p:cNvSpPr>
            <a:spLocks noGrp="1"/>
          </p:cNvSpPr>
          <p:nvPr/>
        </p:nvSpPr>
        <p:spPr>
          <a:xfrm>
            <a:off x="2143125" y="4429125"/>
            <a:ext cx="1905000" cy="619125"/>
          </a:xfrm>
          <a:prstGeom prst="rect">
            <a:avLst/>
          </a:prstGeom>
          <a:noFill/>
          <a:ln w="0">
            <a:noFill/>
          </a:ln>
        </p:spPr>
        <p:txBody>
          <a:bodyPr lIns="0" tIns="0" rIns="0" bIns="0" anchor="t">
            <a:normAutofit/>
          </a:bodyPr>
          <a:lstStyle/>
          <a:p>
            <a:pPr algn="ctr">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model_table과 FastAPI app</a:t>
            </a:r>
          </a:p>
        </p:txBody>
      </p:sp>
      <p:sp>
        <p:nvSpPr>
          <p:cNvPr id="9" name="직선 연결선[R] 8">
            <a:extLst>
              <a:ext uri="{FF2B5EF4-FFF2-40B4-BE49-F238E27FC236}">
                <a16:creationId xmlns:a16="http://schemas.microsoft.com/office/drawing/2014/main" id="{6B496724-A1BC-4D2D-8D41-7DD88A81ED9F}"/>
              </a:ext>
            </a:extLst>
          </p:cNvPr>
          <p:cNvSpPr>
            <a:spLocks noGrp="1"/>
          </p:cNvSpPr>
          <p:nvPr/>
        </p:nvSpPr>
        <p:spPr>
          <a:xfrm>
            <a:off x="4191000" y="4733925"/>
            <a:ext cx="857250" cy="0"/>
          </a:xfrm>
          <a:prstGeom prst="line">
            <a:avLst/>
          </a:prstGeom>
          <a:noFill/>
          <a:ln w="28575">
            <a:solidFill>
              <a:srgbClr val="2F7DF4"/>
            </a:solidFill>
          </a:ln>
        </p:spPr>
        <p:txBody>
          <a:bodyPr/>
          <a:lstStyle/>
          <a:p>
            <a:endParaRPr lang="ko-KR" altLang="en-US"/>
          </a:p>
        </p:txBody>
      </p:sp>
      <p:sp>
        <p:nvSpPr>
          <p:cNvPr id="10" name="모서리가 둥근 직사각형 9">
            <a:extLst>
              <a:ext uri="{FF2B5EF4-FFF2-40B4-BE49-F238E27FC236}">
                <a16:creationId xmlns:a16="http://schemas.microsoft.com/office/drawing/2014/main" id="{763E8B3B-C99E-4664-BC27-F6D7CB2879E0}"/>
              </a:ext>
            </a:extLst>
          </p:cNvPr>
          <p:cNvSpPr>
            <a:spLocks noGrp="1"/>
          </p:cNvSpPr>
          <p:nvPr/>
        </p:nvSpPr>
        <p:spPr>
          <a:xfrm>
            <a:off x="5191125" y="4286250"/>
            <a:ext cx="2095500" cy="904875"/>
          </a:xfrm>
          <a:prstGeom prst="roundRect">
            <a:avLst>
              <a:gd name="adj" fmla="val 12632"/>
            </a:avLst>
          </a:prstGeom>
          <a:solidFill>
            <a:srgbClr val="EAF3FF"/>
          </a:solidFill>
          <a:ln w="9525">
            <a:solidFill>
              <a:srgbClr val="2F7DF4"/>
            </a:solidFill>
          </a:ln>
        </p:spPr>
        <p:txBody>
          <a:bodyPr/>
          <a:lstStyle/>
          <a:p>
            <a:endParaRPr lang="ko-KR" altLang="en-US"/>
          </a:p>
        </p:txBody>
      </p:sp>
      <p:sp>
        <p:nvSpPr>
          <p:cNvPr id="11" name="직사각형 10">
            <a:extLst>
              <a:ext uri="{FF2B5EF4-FFF2-40B4-BE49-F238E27FC236}">
                <a16:creationId xmlns:a16="http://schemas.microsoft.com/office/drawing/2014/main" id="{B855724A-75C7-4CC2-B113-B4BB87A2AC98}"/>
              </a:ext>
            </a:extLst>
          </p:cNvPr>
          <p:cNvSpPr>
            <a:spLocks noGrp="1"/>
          </p:cNvSpPr>
          <p:nvPr/>
        </p:nvSpPr>
        <p:spPr>
          <a:xfrm>
            <a:off x="5286375" y="4429125"/>
            <a:ext cx="1905000" cy="619125"/>
          </a:xfrm>
          <a:prstGeom prst="rect">
            <a:avLst/>
          </a:prstGeom>
          <a:noFill/>
          <a:ln w="0">
            <a:noFill/>
          </a:ln>
        </p:spPr>
        <p:txBody>
          <a:bodyPr lIns="0" tIns="0" rIns="0" bIns="0" anchor="t">
            <a:normAutofit/>
          </a:bodyPr>
          <a:lstStyle/>
          <a:p>
            <a:pPr algn="ctr">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CSV 저장과 TestClient 요청</a:t>
            </a:r>
          </a:p>
        </p:txBody>
      </p:sp>
      <p:sp>
        <p:nvSpPr>
          <p:cNvPr id="12" name="직선 연결선[R] 11">
            <a:extLst>
              <a:ext uri="{FF2B5EF4-FFF2-40B4-BE49-F238E27FC236}">
                <a16:creationId xmlns:a16="http://schemas.microsoft.com/office/drawing/2014/main" id="{E649B11B-76DB-4E35-8692-2A5D10592F21}"/>
              </a:ext>
            </a:extLst>
          </p:cNvPr>
          <p:cNvSpPr>
            <a:spLocks noGrp="1"/>
          </p:cNvSpPr>
          <p:nvPr/>
        </p:nvSpPr>
        <p:spPr>
          <a:xfrm>
            <a:off x="7334250" y="4733925"/>
            <a:ext cx="857250" cy="0"/>
          </a:xfrm>
          <a:prstGeom prst="line">
            <a:avLst/>
          </a:prstGeom>
          <a:noFill/>
          <a:ln w="28575">
            <a:solidFill>
              <a:srgbClr val="2F7DF4"/>
            </a:solidFill>
          </a:ln>
        </p:spPr>
        <p:txBody>
          <a:bodyPr/>
          <a:lstStyle/>
          <a:p>
            <a:endParaRPr lang="ko-KR" altLang="en-US"/>
          </a:p>
        </p:txBody>
      </p:sp>
      <p:sp>
        <p:nvSpPr>
          <p:cNvPr id="13" name="모서리가 둥근 직사각형 12">
            <a:extLst>
              <a:ext uri="{FF2B5EF4-FFF2-40B4-BE49-F238E27FC236}">
                <a16:creationId xmlns:a16="http://schemas.microsoft.com/office/drawing/2014/main" id="{36E664C3-F564-4244-BEEF-6F0D63A79EAF}"/>
              </a:ext>
            </a:extLst>
          </p:cNvPr>
          <p:cNvSpPr>
            <a:spLocks noGrp="1"/>
          </p:cNvSpPr>
          <p:nvPr/>
        </p:nvSpPr>
        <p:spPr>
          <a:xfrm>
            <a:off x="8334375" y="4286250"/>
            <a:ext cx="2095500" cy="904875"/>
          </a:xfrm>
          <a:prstGeom prst="roundRect">
            <a:avLst>
              <a:gd name="adj" fmla="val 12632"/>
            </a:avLst>
          </a:prstGeom>
          <a:solidFill>
            <a:srgbClr val="EAF7F0"/>
          </a:solidFill>
          <a:ln w="9525">
            <a:solidFill>
              <a:srgbClr val="18794E"/>
            </a:solidFill>
          </a:ln>
        </p:spPr>
        <p:txBody>
          <a:bodyPr/>
          <a:lstStyle/>
          <a:p>
            <a:endParaRPr lang="ko-KR" altLang="en-US"/>
          </a:p>
        </p:txBody>
      </p:sp>
      <p:sp>
        <p:nvSpPr>
          <p:cNvPr id="14" name="직사각형 13">
            <a:extLst>
              <a:ext uri="{FF2B5EF4-FFF2-40B4-BE49-F238E27FC236}">
                <a16:creationId xmlns:a16="http://schemas.microsoft.com/office/drawing/2014/main" id="{B996E5CA-960E-410E-91BE-6395D43F236B}"/>
              </a:ext>
            </a:extLst>
          </p:cNvPr>
          <p:cNvSpPr>
            <a:spLocks noGrp="1"/>
          </p:cNvSpPr>
          <p:nvPr/>
        </p:nvSpPr>
        <p:spPr>
          <a:xfrm>
            <a:off x="8429625" y="4429125"/>
            <a:ext cx="1905000" cy="619125"/>
          </a:xfrm>
          <a:prstGeom prst="rect">
            <a:avLst/>
          </a:prstGeom>
          <a:noFill/>
          <a:ln w="0">
            <a:noFill/>
          </a:ln>
        </p:spPr>
        <p:txBody>
          <a:bodyPr lIns="0" tIns="0" rIns="0" bIns="0" anchor="t">
            <a:normAutofit/>
          </a:bodyPr>
          <a:lstStyle/>
          <a:p>
            <a:pPr algn="ctr">
              <a:defRPr sz="1350" b="1">
                <a:solidFill>
                  <a:srgbClr val="18794E"/>
                </a:solidFill>
                <a:latin typeface="Apple SD Gothic Neo"/>
                <a:ea typeface="Apple SD Gothic Neo"/>
                <a:cs typeface="Apple SD Gothic Neo"/>
              </a:defRPr>
            </a:pPr>
            <a:r>
              <a:rPr sz="1350" b="1">
                <a:solidFill>
                  <a:srgbClr val="18794E"/>
                </a:solidFill>
                <a:latin typeface="Apple SD Gothic Neo"/>
                <a:ea typeface="Apple SD Gothic Neo"/>
                <a:cs typeface="Apple SD Gothic Neo"/>
              </a:rPr>
              <a:t>상태 코드 200과 회원 3명 JSON</a:t>
            </a:r>
          </a:p>
        </p:txBody>
      </p:sp>
      <p:sp>
        <p:nvSpPr>
          <p:cNvPr id="15" name="직선 연결선[R] 14">
            <a:extLst>
              <a:ext uri="{FF2B5EF4-FFF2-40B4-BE49-F238E27FC236}">
                <a16:creationId xmlns:a16="http://schemas.microsoft.com/office/drawing/2014/main" id="{74BB9360-3B32-4720-BC57-AFA3499FE9B3}"/>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6" name="직사각형 15">
            <a:extLst>
              <a:ext uri="{FF2B5EF4-FFF2-40B4-BE49-F238E27FC236}">
                <a16:creationId xmlns:a16="http://schemas.microsoft.com/office/drawing/2014/main" id="{10F1116C-300C-4845-AC3F-B4A640373C6B}"/>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model_table과 FastAPI app에서 상태 코드 200과 회원 3명 JSON이 만들어지는 동안 자료의 모양과 역할이 어떻게 달라지는지 확인합니다.</a:t>
            </a:r>
          </a:p>
        </p:txBody>
      </p:sp>
      <p:sp>
        <p:nvSpPr>
          <p:cNvPr id="17" name="직사각형 16">
            <a:extLst>
              <a:ext uri="{FF2B5EF4-FFF2-40B4-BE49-F238E27FC236}">
                <a16:creationId xmlns:a16="http://schemas.microsoft.com/office/drawing/2014/main" id="{5512E627-5A85-4A57-9E4E-81884A6D8F05}"/>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31</a:t>
            </a:r>
          </a:p>
        </p:txBody>
      </p:sp>
    </p:spTree>
    <p:extLst>
      <p:ext uri="{BB962C8B-B14F-4D97-AF65-F5344CB8AC3E}">
        <p14:creationId xmlns:p14="http://schemas.microsoft.com/office/powerpoint/2010/main" val="311209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42ED7FCC-4A03-4262-80B7-FD4A9B00B593}"/>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777B32A1-1AA5-4D6F-82E0-A608B0C79C44}"/>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/health, /members?limit=3과 200을 채워 마지막 검사를 해봅시다</a:t>
            </a:r>
          </a:p>
        </p:txBody>
      </p:sp>
      <p:sp>
        <p:nvSpPr>
          <p:cNvPr id="3" name="직선 연결선[R] 2">
            <a:extLst>
              <a:ext uri="{FF2B5EF4-FFF2-40B4-BE49-F238E27FC236}">
                <a16:creationId xmlns:a16="http://schemas.microsoft.com/office/drawing/2014/main" id="{754FB75F-E7EE-4C75-9EEA-73CB0FA82B10}"/>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28473BD9-673D-4723-8C99-F236E646DD54}"/>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학생 실습</a:t>
            </a:r>
          </a:p>
        </p:txBody>
      </p:sp>
      <p:sp>
        <p:nvSpPr>
          <p:cNvPr id="5" name="모서리가 둥근 직사각형 4">
            <a:extLst>
              <a:ext uri="{FF2B5EF4-FFF2-40B4-BE49-F238E27FC236}">
                <a16:creationId xmlns:a16="http://schemas.microsoft.com/office/drawing/2014/main" id="{9FA3D4DE-20FD-4C32-AA5F-5FCE9113C67A}"/>
              </a:ext>
            </a:extLst>
          </p:cNvPr>
          <p:cNvSpPr>
            <a:spLocks noGrp="1"/>
          </p:cNvSpPr>
          <p:nvPr/>
        </p:nvSpPr>
        <p:spPr>
          <a:xfrm>
            <a:off x="428625" y="1714500"/>
            <a:ext cx="7524750" cy="4095750"/>
          </a:xfrm>
          <a:prstGeom prst="roundRect">
            <a:avLst>
              <a:gd name="adj" fmla="val 2791"/>
            </a:avLst>
          </a:prstGeom>
          <a:solidFill>
            <a:srgbClr val="F7F8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5754343F-2214-44F0-A647-8A8B15407E93}"/>
              </a:ext>
            </a:extLst>
          </p:cNvPr>
          <p:cNvSpPr>
            <a:spLocks noGrp="1"/>
          </p:cNvSpPr>
          <p:nvPr/>
        </p:nvSpPr>
        <p:spPr>
          <a:xfrm>
            <a:off x="428625" y="1714500"/>
            <a:ext cx="85725" cy="4095750"/>
          </a:xfrm>
          <a:prstGeom prst="rect">
            <a:avLst/>
          </a:prstGeom>
          <a:solidFill>
            <a:srgbClr val="2F7DF4"/>
          </a:solidFill>
          <a:ln w="0">
            <a:noFill/>
          </a:ln>
        </p:spPr>
        <p:txBody>
          <a:bodyPr/>
          <a:lstStyle/>
          <a:p>
            <a:endParaRPr lang="ko-KR" altLang="en-US"/>
          </a:p>
        </p:txBody>
      </p:sp>
      <p:sp>
        <p:nvSpPr>
          <p:cNvPr id="7" name="직사각형 6">
            <a:extLst>
              <a:ext uri="{FF2B5EF4-FFF2-40B4-BE49-F238E27FC236}">
                <a16:creationId xmlns:a16="http://schemas.microsoft.com/office/drawing/2014/main" id="{0BE85E41-4EB7-40FE-9775-D01B81BB3BEB}"/>
              </a:ext>
            </a:extLst>
          </p:cNvPr>
          <p:cNvSpPr>
            <a:spLocks noGrp="1"/>
          </p:cNvSpPr>
          <p:nvPr/>
        </p:nvSpPr>
        <p:spPr>
          <a:xfrm>
            <a:off x="742950" y="1952625"/>
            <a:ext cx="6858000" cy="3524250"/>
          </a:xfrm>
          <a:prstGeom prst="rect">
            <a:avLst/>
          </a:prstGeom>
          <a:noFill/>
          <a:ln w="0">
            <a:noFill/>
          </a:ln>
        </p:spPr>
        <p:txBody>
          <a:bodyPr lIns="0" tIns="0" rIns="0" bIns="0" anchor="t">
            <a:normAutofit/>
          </a:bodyPr>
          <a:lstStyle/>
          <a:p>
            <a:pPr algn="l">
              <a:defRPr sz="1275" b="0">
                <a:solidFill>
                  <a:srgbClr val="17202A"/>
                </a:solidFill>
                <a:latin typeface="Menlo"/>
                <a:ea typeface="Menlo"/>
                <a:cs typeface="Menlo"/>
              </a:defRPr>
            </a:pPr>
            <a:r>
              <a:rPr sz="1275" b="0">
                <a:solidFill>
                  <a:srgbClr val="17202A"/>
                </a:solidFill>
                <a:latin typeface="Menlo"/>
                <a:ea typeface="Menlo"/>
                <a:cs typeface="Menlo"/>
              </a:rPr>
              <a:t>summary_path = OUTPUT_DIR / "member_activity_summary.csv"</a:t>
            </a:r>
          </a:p>
          <a:p>
            <a:pPr algn="l">
              <a:defRPr sz="1275" b="0">
                <a:solidFill>
                  <a:srgbClr val="17202A"/>
                </a:solidFill>
                <a:latin typeface="Menlo"/>
                <a:ea typeface="Menlo"/>
                <a:cs typeface="Menlo"/>
              </a:defRPr>
            </a:pPr>
            <a:r>
              <a:rPr sz="1275" b="0">
                <a:solidFill>
                  <a:srgbClr val="17202A"/>
                </a:solidFill>
                <a:latin typeface="Menlo"/>
                <a:ea typeface="Menlo"/>
                <a:cs typeface="Menlo"/>
              </a:rPr>
              <a:t>model_table.to_csv(summary_path, index=False)</a:t>
            </a:r>
          </a:p>
          <a:p>
            <a:endParaRPr sz="1275" b="0">
              <a:solidFill>
                <a:srgbClr val="17202A"/>
              </a:solidFill>
              <a:latin typeface="Menlo"/>
              <a:ea typeface="Menlo"/>
              <a:cs typeface="Menlo"/>
            </a:endParaRPr>
          </a:p>
          <a:p>
            <a:pPr algn="l">
              <a:defRPr sz="1275" b="0">
                <a:solidFill>
                  <a:srgbClr val="17202A"/>
                </a:solidFill>
                <a:latin typeface="Menlo"/>
                <a:ea typeface="Menlo"/>
                <a:cs typeface="Menlo"/>
              </a:defRPr>
            </a:pPr>
            <a:r>
              <a:rPr sz="1275" b="0">
                <a:solidFill>
                  <a:srgbClr val="17202A"/>
                </a:solidFill>
                <a:latin typeface="Menlo"/>
                <a:ea typeface="Menlo"/>
                <a:cs typeface="Menlo"/>
              </a:rPr>
              <a:t>from fastapi.testclient import TestClient</a:t>
            </a:r>
          </a:p>
          <a:p>
            <a:pPr algn="l">
              <a:defRPr sz="1275" b="0">
                <a:solidFill>
                  <a:srgbClr val="17202A"/>
                </a:solidFill>
                <a:latin typeface="Menlo"/>
                <a:ea typeface="Menlo"/>
                <a:cs typeface="Menlo"/>
              </a:defRPr>
            </a:pPr>
            <a:r>
              <a:rPr sz="1275" b="0">
                <a:solidFill>
                  <a:srgbClr val="17202A"/>
                </a:solidFill>
                <a:latin typeface="Menlo"/>
                <a:ea typeface="Menlo"/>
                <a:cs typeface="Menlo"/>
              </a:rPr>
              <a:t>import sys</a:t>
            </a:r>
          </a:p>
          <a:p>
            <a:pPr algn="l">
              <a:defRPr sz="1275" b="0">
                <a:solidFill>
                  <a:srgbClr val="17202A"/>
                </a:solidFill>
                <a:latin typeface="Menlo"/>
                <a:ea typeface="Menlo"/>
                <a:cs typeface="Menlo"/>
              </a:defRPr>
            </a:pPr>
            <a:r>
              <a:rPr sz="1275" b="0">
                <a:solidFill>
                  <a:srgbClr val="17202A"/>
                </a:solidFill>
                <a:latin typeface="Menlo"/>
                <a:ea typeface="Menlo"/>
                <a:cs typeface="Menlo"/>
              </a:rPr>
              <a:t>lesson7_dir = WEEK2_DIR / "lesson7_fastapi"</a:t>
            </a:r>
          </a:p>
          <a:p>
            <a:pPr algn="l">
              <a:defRPr sz="1275" b="0">
                <a:solidFill>
                  <a:srgbClr val="17202A"/>
                </a:solidFill>
                <a:latin typeface="Menlo"/>
                <a:ea typeface="Menlo"/>
                <a:cs typeface="Menlo"/>
              </a:defRPr>
            </a:pPr>
            <a:r>
              <a:rPr sz="1275" b="0">
                <a:solidFill>
                  <a:srgbClr val="17202A"/>
                </a:solidFill>
                <a:latin typeface="Menlo"/>
                <a:ea typeface="Menlo"/>
                <a:cs typeface="Menlo"/>
              </a:rPr>
              <a:t>sys.path.insert(0, str(lesson7_dir))</a:t>
            </a:r>
          </a:p>
          <a:p>
            <a:pPr algn="l">
              <a:defRPr sz="1275" b="0">
                <a:solidFill>
                  <a:srgbClr val="17202A"/>
                </a:solidFill>
                <a:latin typeface="Menlo"/>
                <a:ea typeface="Menlo"/>
                <a:cs typeface="Menlo"/>
              </a:defRPr>
            </a:pPr>
            <a:r>
              <a:rPr sz="1275" b="0">
                <a:solidFill>
                  <a:srgbClr val="17202A"/>
                </a:solidFill>
                <a:latin typeface="Menlo"/>
                <a:ea typeface="Menlo"/>
                <a:cs typeface="Menlo"/>
              </a:rPr>
              <a:t>from api_app_answer import app</a:t>
            </a:r>
          </a:p>
          <a:p>
            <a:pPr algn="l">
              <a:defRPr sz="1275" b="0">
                <a:solidFill>
                  <a:srgbClr val="17202A"/>
                </a:solidFill>
                <a:latin typeface="Menlo"/>
                <a:ea typeface="Menlo"/>
                <a:cs typeface="Menlo"/>
              </a:defRPr>
            </a:pPr>
            <a:r>
              <a:rPr sz="1275" b="0">
                <a:solidFill>
                  <a:srgbClr val="17202A"/>
                </a:solidFill>
                <a:latin typeface="Menlo"/>
                <a:ea typeface="Menlo"/>
                <a:cs typeface="Menlo"/>
              </a:rPr>
              <a:t>client = TestClient(app)</a:t>
            </a:r>
          </a:p>
          <a:p>
            <a:pPr algn="l">
              <a:defRPr sz="1275" b="0">
                <a:solidFill>
                  <a:srgbClr val="17202A"/>
                </a:solidFill>
                <a:latin typeface="Menlo"/>
                <a:ea typeface="Menlo"/>
                <a:cs typeface="Menlo"/>
              </a:defRPr>
            </a:pPr>
            <a:r>
              <a:rPr sz="1275" b="0">
                <a:solidFill>
                  <a:srgbClr val="17202A"/>
                </a:solidFill>
                <a:latin typeface="Menlo"/>
                <a:ea typeface="Menlo"/>
                <a:cs typeface="Menlo"/>
              </a:rPr>
              <a:t>health = client.get(___)</a:t>
            </a:r>
          </a:p>
          <a:p>
            <a:pPr algn="l">
              <a:defRPr sz="1275" b="0">
                <a:solidFill>
                  <a:srgbClr val="17202A"/>
                </a:solidFill>
                <a:latin typeface="Menlo"/>
                <a:ea typeface="Menlo"/>
                <a:cs typeface="Menlo"/>
              </a:defRPr>
            </a:pPr>
            <a:r>
              <a:rPr sz="1275" b="0">
                <a:solidFill>
                  <a:srgbClr val="17202A"/>
                </a:solidFill>
                <a:latin typeface="Menlo"/>
                <a:ea typeface="Menlo"/>
                <a:cs typeface="Menlo"/>
              </a:rPr>
              <a:t>members_response = client.get(___)</a:t>
            </a:r>
          </a:p>
          <a:p>
            <a:pPr algn="l">
              <a:defRPr sz="1275" b="0">
                <a:solidFill>
                  <a:srgbClr val="17202A"/>
                </a:solidFill>
                <a:latin typeface="Menlo"/>
                <a:ea typeface="Menlo"/>
                <a:cs typeface="Menlo"/>
              </a:defRPr>
            </a:pPr>
            <a:r>
              <a:rPr sz="1275" b="0">
                <a:solidFill>
                  <a:srgbClr val="17202A"/>
                </a:solidFill>
                <a:latin typeface="Menlo"/>
                <a:ea typeface="Menlo"/>
                <a:cs typeface="Menlo"/>
              </a:rPr>
              <a:t>assert health.status_code == ___</a:t>
            </a:r>
          </a:p>
          <a:p>
            <a:pPr algn="l">
              <a:defRPr sz="1275" b="0">
                <a:solidFill>
                  <a:srgbClr val="17202A"/>
                </a:solidFill>
                <a:latin typeface="Menlo"/>
                <a:ea typeface="Menlo"/>
                <a:cs typeface="Menlo"/>
              </a:defRPr>
            </a:pPr>
            <a:r>
              <a:rPr sz="1275" b="0">
                <a:solidFill>
                  <a:srgbClr val="17202A"/>
                </a:solidFill>
                <a:latin typeface="Menlo"/>
                <a:ea typeface="Menlo"/>
                <a:cs typeface="Menlo"/>
              </a:rPr>
              <a:t>assert len(members_response.json()) == 3</a:t>
            </a:r>
          </a:p>
          <a:p>
            <a:pPr algn="l">
              <a:defRPr sz="1275" b="0">
                <a:solidFill>
                  <a:srgbClr val="17202A"/>
                </a:solidFill>
                <a:latin typeface="Menlo"/>
                <a:ea typeface="Menlo"/>
                <a:cs typeface="Menlo"/>
              </a:defRPr>
            </a:pPr>
            <a:r>
              <a:rPr sz="1275" b="0">
                <a:solidFill>
                  <a:srgbClr val="17202A"/>
                </a:solidFill>
                <a:latin typeface="Menlo"/>
                <a:ea typeface="Menlo"/>
                <a:cs typeface="Menlo"/>
              </a:rPr>
              <a:t>print(health.json(), len(members_response.json()))</a:t>
            </a:r>
          </a:p>
        </p:txBody>
      </p:sp>
      <p:sp>
        <p:nvSpPr>
          <p:cNvPr id="8" name="모서리가 둥근 직사각형 7">
            <a:extLst>
              <a:ext uri="{FF2B5EF4-FFF2-40B4-BE49-F238E27FC236}">
                <a16:creationId xmlns:a16="http://schemas.microsoft.com/office/drawing/2014/main" id="{189A21AC-BBF9-49E5-9130-975EE31717AC}"/>
              </a:ext>
            </a:extLst>
          </p:cNvPr>
          <p:cNvSpPr>
            <a:spLocks noGrp="1"/>
          </p:cNvSpPr>
          <p:nvPr/>
        </p:nvSpPr>
        <p:spPr>
          <a:xfrm>
            <a:off x="8286750" y="1857375"/>
            <a:ext cx="3143250" cy="1095375"/>
          </a:xfrm>
          <a:prstGeom prst="roundRect">
            <a:avLst>
              <a:gd name="adj" fmla="val 10435"/>
            </a:avLst>
          </a:prstGeom>
          <a:solidFill>
            <a:srgbClr val="FFF5DF"/>
          </a:solidFill>
          <a:ln w="9525">
            <a:solidFill>
              <a:srgbClr val="9A5B13"/>
            </a:solidFill>
          </a:ln>
        </p:spPr>
        <p:txBody>
          <a:bodyPr/>
          <a:lstStyle/>
          <a:p>
            <a:endParaRPr lang="ko-KR" altLang="en-US"/>
          </a:p>
        </p:txBody>
      </p:sp>
      <p:sp>
        <p:nvSpPr>
          <p:cNvPr id="9" name="직사각형 8">
            <a:extLst>
              <a:ext uri="{FF2B5EF4-FFF2-40B4-BE49-F238E27FC236}">
                <a16:creationId xmlns:a16="http://schemas.microsoft.com/office/drawing/2014/main" id="{9BF8180F-7337-4EB4-87F6-23D782F31F20}"/>
              </a:ext>
            </a:extLst>
          </p:cNvPr>
          <p:cNvSpPr>
            <a:spLocks noGrp="1"/>
          </p:cNvSpPr>
          <p:nvPr/>
        </p:nvSpPr>
        <p:spPr>
          <a:xfrm>
            <a:off x="8524875" y="2076450"/>
            <a:ext cx="2667000" cy="238125"/>
          </a:xfrm>
          <a:prstGeom prst="rect">
            <a:avLst/>
          </a:prstGeom>
          <a:noFill/>
          <a:ln w="0">
            <a:noFill/>
          </a:ln>
        </p:spPr>
        <p:txBody>
          <a:bodyPr lIns="0" tIns="0" rIns="0" bIns="0" anchor="t">
            <a:normAutofit/>
          </a:bodyPr>
          <a:lstStyle/>
          <a:p>
            <a:pPr algn="l">
              <a:defRPr sz="1350" b="1">
                <a:solidFill>
                  <a:srgbClr val="9A5B13"/>
                </a:solidFill>
                <a:latin typeface="Apple SD Gothic Neo"/>
                <a:ea typeface="Apple SD Gothic Neo"/>
                <a:cs typeface="Apple SD Gothic Neo"/>
              </a:defRPr>
            </a:pPr>
            <a:r>
              <a:rPr sz="1350" b="1">
                <a:solidFill>
                  <a:srgbClr val="9A5B13"/>
                </a:solidFill>
                <a:latin typeface="Apple SD Gothic Neo"/>
                <a:ea typeface="Apple SD Gothic Neo"/>
                <a:cs typeface="Apple SD Gothic Neo"/>
              </a:rPr>
              <a:t>실행 전 예상</a:t>
            </a:r>
          </a:p>
        </p:txBody>
      </p:sp>
      <p:sp>
        <p:nvSpPr>
          <p:cNvPr id="10" name="직사각형 9">
            <a:extLst>
              <a:ext uri="{FF2B5EF4-FFF2-40B4-BE49-F238E27FC236}">
                <a16:creationId xmlns:a16="http://schemas.microsoft.com/office/drawing/2014/main" id="{21D17529-1D5C-4164-886A-A8C43F34684C}"/>
              </a:ext>
            </a:extLst>
          </p:cNvPr>
          <p:cNvSpPr>
            <a:spLocks noGrp="1"/>
          </p:cNvSpPr>
          <p:nvPr/>
        </p:nvSpPr>
        <p:spPr>
          <a:xfrm>
            <a:off x="8524875" y="2428875"/>
            <a:ext cx="2667000" cy="419100"/>
          </a:xfrm>
          <a:prstGeom prst="rect">
            <a:avLst/>
          </a:prstGeom>
          <a:noFill/>
          <a:ln w="0">
            <a:noFill/>
          </a:ln>
        </p:spPr>
        <p:txBody>
          <a:bodyPr lIns="0" tIns="0" rIns="0" bIns="0" anchor="t">
            <a:normAutofit fontScale="71777" lnSpcReduction="20000"/>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TestClient가 프로그램 안에서 FastAPI 주소에 요청을 보내고 Response를 돌려주기 때문입니다.</a:t>
            </a:r>
          </a:p>
        </p:txBody>
      </p:sp>
      <p:sp>
        <p:nvSpPr>
          <p:cNvPr id="11" name="모서리가 둥근 직사각형 10">
            <a:extLst>
              <a:ext uri="{FF2B5EF4-FFF2-40B4-BE49-F238E27FC236}">
                <a16:creationId xmlns:a16="http://schemas.microsoft.com/office/drawing/2014/main" id="{DBAD2518-9D5F-42AB-9759-A5966481B5C9}"/>
              </a:ext>
            </a:extLst>
          </p:cNvPr>
          <p:cNvSpPr>
            <a:spLocks noGrp="1"/>
          </p:cNvSpPr>
          <p:nvPr/>
        </p:nvSpPr>
        <p:spPr>
          <a:xfrm>
            <a:off x="8286750" y="3238500"/>
            <a:ext cx="3143250" cy="1476375"/>
          </a:xfrm>
          <a:prstGeom prst="roundRect">
            <a:avLst>
              <a:gd name="adj" fmla="val 7742"/>
            </a:avLst>
          </a:prstGeom>
          <a:solidFill>
            <a:srgbClr val="EAF3FF"/>
          </a:solidFill>
          <a:ln w="9525">
            <a:solidFill>
              <a:srgbClr val="2F7DF4"/>
            </a:solidFill>
          </a:ln>
        </p:spPr>
        <p:txBody>
          <a:bodyPr/>
          <a:lstStyle/>
          <a:p>
            <a:endParaRPr lang="ko-KR" altLang="en-US"/>
          </a:p>
        </p:txBody>
      </p:sp>
      <p:sp>
        <p:nvSpPr>
          <p:cNvPr id="12" name="직사각형 11">
            <a:extLst>
              <a:ext uri="{FF2B5EF4-FFF2-40B4-BE49-F238E27FC236}">
                <a16:creationId xmlns:a16="http://schemas.microsoft.com/office/drawing/2014/main" id="{6B2B5100-AB40-46EF-8FFF-3FFC7F5AA97D}"/>
              </a:ext>
            </a:extLst>
          </p:cNvPr>
          <p:cNvSpPr>
            <a:spLocks noGrp="1"/>
          </p:cNvSpPr>
          <p:nvPr/>
        </p:nvSpPr>
        <p:spPr>
          <a:xfrm>
            <a:off x="8524875" y="3457575"/>
            <a:ext cx="2667000" cy="238125"/>
          </a:xfrm>
          <a:prstGeom prst="rect">
            <a:avLst/>
          </a:prstGeom>
          <a:noFill/>
          <a:ln w="0">
            <a:noFill/>
          </a:ln>
        </p:spPr>
        <p:txBody>
          <a:bodyPr lIns="0" tIns="0" rIns="0" bIns="0" anchor="t">
            <a:normAutofit/>
          </a:bodyPr>
          <a:lstStyle/>
          <a:p>
            <a:pPr algn="l">
              <a:defRPr sz="1350" b="1">
                <a:solidFill>
                  <a:srgbClr val="2F7DF4"/>
                </a:solidFill>
                <a:latin typeface="Apple SD Gothic Neo"/>
                <a:ea typeface="Apple SD Gothic Neo"/>
                <a:cs typeface="Apple SD Gothic Neo"/>
              </a:defRPr>
            </a:pPr>
            <a:r>
              <a:rPr sz="1350" b="1">
                <a:solidFill>
                  <a:srgbClr val="2F7DF4"/>
                </a:solidFill>
                <a:latin typeface="Apple SD Gothic Neo"/>
                <a:ea typeface="Apple SD Gothic Neo"/>
                <a:cs typeface="Apple SD Gothic Neo"/>
              </a:rPr>
              <a:t>코드 읽기</a:t>
            </a:r>
          </a:p>
        </p:txBody>
      </p:sp>
      <p:sp>
        <p:nvSpPr>
          <p:cNvPr id="13" name="직사각형 12">
            <a:extLst>
              <a:ext uri="{FF2B5EF4-FFF2-40B4-BE49-F238E27FC236}">
                <a16:creationId xmlns:a16="http://schemas.microsoft.com/office/drawing/2014/main" id="{9E5C675B-3846-4245-BF23-F26371F62BE7}"/>
              </a:ext>
            </a:extLst>
          </p:cNvPr>
          <p:cNvSpPr>
            <a:spLocks noGrp="1"/>
          </p:cNvSpPr>
          <p:nvPr/>
        </p:nvSpPr>
        <p:spPr>
          <a:xfrm>
            <a:off x="8524875" y="3810000"/>
            <a:ext cx="2667000" cy="714375"/>
          </a:xfrm>
          <a:prstGeom prst="rect">
            <a:avLst/>
          </a:prstGeom>
          <a:noFill/>
          <a:ln w="0">
            <a:noFill/>
          </a:ln>
        </p:spPr>
        <p:txBody>
          <a:bodyPr lIns="0" tIns="0" rIns="0" bIns="0" anchor="t">
            <a:normAutofit/>
          </a:bodyPr>
          <a:lstStyle/>
          <a:p>
            <a:pPr algn="l">
              <a:defRPr sz="1425" b="1">
                <a:solidFill>
                  <a:srgbClr val="17202A"/>
                </a:solidFill>
                <a:latin typeface="Apple SD Gothic Neo"/>
                <a:ea typeface="Apple SD Gothic Neo"/>
                <a:cs typeface="Apple SD Gothic Neo"/>
              </a:defRPr>
            </a:pPr>
            <a:r>
              <a:rPr sz="1425" b="1">
                <a:solidFill>
                  <a:srgbClr val="17202A"/>
                </a:solidFill>
                <a:latin typeface="Apple SD Gothic Neo"/>
                <a:ea typeface="Apple SD Gothic Neo"/>
                <a:cs typeface="Apple SD Gothic Neo"/>
              </a:rPr>
              <a:t>TestClient는 실제 서버 포트를 열지 않고도 FastAPI 주소의 응답을 테스트합니다.</a:t>
            </a:r>
          </a:p>
        </p:txBody>
      </p:sp>
      <p:sp>
        <p:nvSpPr>
          <p:cNvPr id="14" name="직사각형 13">
            <a:extLst>
              <a:ext uri="{FF2B5EF4-FFF2-40B4-BE49-F238E27FC236}">
                <a16:creationId xmlns:a16="http://schemas.microsoft.com/office/drawing/2014/main" id="{6BDD4DEC-6C5B-462B-8E76-6430343B1356}"/>
              </a:ext>
            </a:extLst>
          </p:cNvPr>
          <p:cNvSpPr>
            <a:spLocks noGrp="1"/>
          </p:cNvSpPr>
          <p:nvPr/>
        </p:nvSpPr>
        <p:spPr>
          <a:xfrm>
            <a:off x="8334375" y="5238750"/>
            <a:ext cx="3048000" cy="238125"/>
          </a:xfrm>
          <a:prstGeom prst="rect">
            <a:avLst/>
          </a:prstGeom>
          <a:noFill/>
          <a:ln w="0">
            <a:noFill/>
          </a:ln>
        </p:spPr>
        <p:txBody>
          <a:bodyPr lIns="0" tIns="0" rIns="0" bIns="0" anchor="t">
            <a:normAutofit/>
          </a:bodyPr>
          <a:lstStyle/>
          <a:p>
            <a:pPr algn="ctr">
              <a:defRPr sz="1200" b="0">
                <a:solidFill>
                  <a:srgbClr val="5F6B78"/>
                </a:solidFill>
                <a:latin typeface="Apple SD Gothic Neo"/>
                <a:ea typeface="Apple SD Gothic Neo"/>
                <a:cs typeface="Apple SD Gothic Neo"/>
              </a:defRPr>
            </a:pPr>
            <a:r>
              <a:rPr sz="1200" b="0">
                <a:solidFill>
                  <a:srgbClr val="5F6B78"/>
                </a:solidFill>
                <a:latin typeface="Apple SD Gothic Neo"/>
                <a:ea typeface="Apple SD Gothic Neo"/>
                <a:cs typeface="Apple SD Gothic Neo"/>
              </a:rPr>
              <a:t>학생 노트북 · Q6</a:t>
            </a:r>
          </a:p>
        </p:txBody>
      </p:sp>
      <p:sp>
        <p:nvSpPr>
          <p:cNvPr id="15" name="직선 연결선[R] 14">
            <a:extLst>
              <a:ext uri="{FF2B5EF4-FFF2-40B4-BE49-F238E27FC236}">
                <a16:creationId xmlns:a16="http://schemas.microsoft.com/office/drawing/2014/main" id="{B91ABAB5-1E2F-4F86-AA39-24C93D2CA4E9}"/>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6" name="직사각형 15">
            <a:extLst>
              <a:ext uri="{FF2B5EF4-FFF2-40B4-BE49-F238E27FC236}">
                <a16:creationId xmlns:a16="http://schemas.microsoft.com/office/drawing/2014/main" id="{E09C95A1-D897-43B9-9254-79F085D6B339}"/>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학생 노트북 Q6에서 ___만 채우고 정상 결과 {'status': 'ok', 'rows': 1000} 3을 확인합니다.</a:t>
            </a:r>
          </a:p>
        </p:txBody>
      </p:sp>
      <p:sp>
        <p:nvSpPr>
          <p:cNvPr id="17" name="직사각형 16">
            <a:extLst>
              <a:ext uri="{FF2B5EF4-FFF2-40B4-BE49-F238E27FC236}">
                <a16:creationId xmlns:a16="http://schemas.microsoft.com/office/drawing/2014/main" id="{3ED6D7F9-1C6C-4E3C-818E-C70C6505E7FD}"/>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32</a:t>
            </a:r>
          </a:p>
        </p:txBody>
      </p:sp>
    </p:spTree>
    <p:extLst>
      <p:ext uri="{BB962C8B-B14F-4D97-AF65-F5344CB8AC3E}">
        <p14:creationId xmlns:p14="http://schemas.microsoft.com/office/powerpoint/2010/main" val="14461055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DFCA6BF8-AF81-484A-A77A-7712121A6A30}"/>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21B612B5-10CC-4192-9AD1-8560BC727558}"/>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CSV 저장부터 API 응답까지 마지막 연결을 읽어봅시다</a:t>
            </a:r>
          </a:p>
        </p:txBody>
      </p:sp>
      <p:sp>
        <p:nvSpPr>
          <p:cNvPr id="3" name="직선 연결선[R] 2">
            <a:extLst>
              <a:ext uri="{FF2B5EF4-FFF2-40B4-BE49-F238E27FC236}">
                <a16:creationId xmlns:a16="http://schemas.microsoft.com/office/drawing/2014/main" id="{A9DE5296-5E58-4C7C-919D-BA6A27FF6124}"/>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05F01D1C-987A-4C61-91D2-FB716210A28E}"/>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코드 해석</a:t>
            </a:r>
          </a:p>
        </p:txBody>
      </p:sp>
      <p:sp>
        <p:nvSpPr>
          <p:cNvPr id="5" name="모서리가 둥근 직사각형 4">
            <a:extLst>
              <a:ext uri="{FF2B5EF4-FFF2-40B4-BE49-F238E27FC236}">
                <a16:creationId xmlns:a16="http://schemas.microsoft.com/office/drawing/2014/main" id="{81F2A756-E3CF-4EB8-8614-17A46EA7912D}"/>
              </a:ext>
            </a:extLst>
          </p:cNvPr>
          <p:cNvSpPr>
            <a:spLocks noGrp="1"/>
          </p:cNvSpPr>
          <p:nvPr/>
        </p:nvSpPr>
        <p:spPr>
          <a:xfrm>
            <a:off x="523875" y="2143125"/>
            <a:ext cx="3429000" cy="2428875"/>
          </a:xfrm>
          <a:prstGeom prst="roundRect">
            <a:avLst>
              <a:gd name="adj" fmla="val 470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08D3406E-6121-40C0-8D1E-8FAB9FD632B5}"/>
              </a:ext>
            </a:extLst>
          </p:cNvPr>
          <p:cNvSpPr>
            <a:spLocks noGrp="1"/>
          </p:cNvSpPr>
          <p:nvPr/>
        </p:nvSpPr>
        <p:spPr>
          <a:xfrm>
            <a:off x="771525" y="2400300"/>
            <a:ext cx="2933700"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1 · 입력 확인</a:t>
            </a:r>
          </a:p>
        </p:txBody>
      </p:sp>
      <p:sp>
        <p:nvSpPr>
          <p:cNvPr id="7" name="직사각형 6">
            <a:extLst>
              <a:ext uri="{FF2B5EF4-FFF2-40B4-BE49-F238E27FC236}">
                <a16:creationId xmlns:a16="http://schemas.microsoft.com/office/drawing/2014/main" id="{6089FE80-385B-44C6-98F4-5F0B2512045D}"/>
              </a:ext>
            </a:extLst>
          </p:cNvPr>
          <p:cNvSpPr>
            <a:spLocks noGrp="1"/>
          </p:cNvSpPr>
          <p:nvPr/>
        </p:nvSpPr>
        <p:spPr>
          <a:xfrm>
            <a:off x="77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model_table은 CSV로 저장되고 TestClient 응답은 status_code와 JSON 데이터를 가집니다.</a:t>
            </a:r>
          </a:p>
        </p:txBody>
      </p:sp>
      <p:sp>
        <p:nvSpPr>
          <p:cNvPr id="8" name="직선 연결선[R] 7">
            <a:extLst>
              <a:ext uri="{FF2B5EF4-FFF2-40B4-BE49-F238E27FC236}">
                <a16:creationId xmlns:a16="http://schemas.microsoft.com/office/drawing/2014/main" id="{A3DF18AC-EF32-444C-8C6C-27B27C655CED}"/>
              </a:ext>
            </a:extLst>
          </p:cNvPr>
          <p:cNvSpPr>
            <a:spLocks noGrp="1"/>
          </p:cNvSpPr>
          <p:nvPr/>
        </p:nvSpPr>
        <p:spPr>
          <a:xfrm>
            <a:off x="4000500" y="3333750"/>
            <a:ext cx="285750" cy="0"/>
          </a:xfrm>
          <a:prstGeom prst="line">
            <a:avLst/>
          </a:prstGeom>
          <a:noFill/>
          <a:ln w="28575">
            <a:solidFill>
              <a:srgbClr val="2F7DF4"/>
            </a:solidFill>
          </a:ln>
        </p:spPr>
        <p:txBody>
          <a:bodyPr/>
          <a:lstStyle/>
          <a:p>
            <a:endParaRPr lang="ko-KR" altLang="en-US"/>
          </a:p>
        </p:txBody>
      </p:sp>
      <p:sp>
        <p:nvSpPr>
          <p:cNvPr id="9" name="모서리가 둥근 직사각형 8">
            <a:extLst>
              <a:ext uri="{FF2B5EF4-FFF2-40B4-BE49-F238E27FC236}">
                <a16:creationId xmlns:a16="http://schemas.microsoft.com/office/drawing/2014/main" id="{EAC36AF8-A93E-40AC-B26D-7AD94CC8C60C}"/>
              </a:ext>
            </a:extLst>
          </p:cNvPr>
          <p:cNvSpPr>
            <a:spLocks noGrp="1"/>
          </p:cNvSpPr>
          <p:nvPr/>
        </p:nvSpPr>
        <p:spPr>
          <a:xfrm>
            <a:off x="4333875" y="2143125"/>
            <a:ext cx="3429000" cy="2428875"/>
          </a:xfrm>
          <a:prstGeom prst="roundRect">
            <a:avLst>
              <a:gd name="adj" fmla="val 4706"/>
            </a:avLst>
          </a:prstGeom>
          <a:solidFill>
            <a:srgbClr val="F5F7FA"/>
          </a:solid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2E9EC4B5-38A4-4B57-A4F6-52F49BC3E605}"/>
              </a:ext>
            </a:extLst>
          </p:cNvPr>
          <p:cNvSpPr>
            <a:spLocks noGrp="1"/>
          </p:cNvSpPr>
          <p:nvPr/>
        </p:nvSpPr>
        <p:spPr>
          <a:xfrm>
            <a:off x="4581525" y="2400300"/>
            <a:ext cx="2933700" cy="323850"/>
          </a:xfrm>
          <a:prstGeom prst="rect">
            <a:avLst/>
          </a:prstGeom>
          <a:noFill/>
          <a:ln w="0">
            <a:noFill/>
          </a:ln>
        </p:spPr>
        <p:txBody>
          <a:bodyPr lIns="0" tIns="0" rIns="0" bIns="0" anchor="t">
            <a:normAutofit/>
          </a:bodyPr>
          <a:lstStyle/>
          <a:p>
            <a:pPr algn="l">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2 · 기능 적용</a:t>
            </a:r>
          </a:p>
        </p:txBody>
      </p:sp>
      <p:sp>
        <p:nvSpPr>
          <p:cNvPr id="11" name="직사각형 10">
            <a:extLst>
              <a:ext uri="{FF2B5EF4-FFF2-40B4-BE49-F238E27FC236}">
                <a16:creationId xmlns:a16="http://schemas.microsoft.com/office/drawing/2014/main" id="{D58268FC-3B8F-468D-937E-DE2E9A268DE4}"/>
              </a:ext>
            </a:extLst>
          </p:cNvPr>
          <p:cNvSpPr>
            <a:spLocks noGrp="1"/>
          </p:cNvSpPr>
          <p:nvPr/>
        </p:nvSpPr>
        <p:spPr>
          <a:xfrm>
            <a:off x="458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TestClient는 실제 서버 포트를 열지 않고도 FastAPI 주소의 응답을 테스트합니다.</a:t>
            </a:r>
          </a:p>
        </p:txBody>
      </p:sp>
      <p:sp>
        <p:nvSpPr>
          <p:cNvPr id="12" name="직선 연결선[R] 11">
            <a:extLst>
              <a:ext uri="{FF2B5EF4-FFF2-40B4-BE49-F238E27FC236}">
                <a16:creationId xmlns:a16="http://schemas.microsoft.com/office/drawing/2014/main" id="{C1CBC08A-8072-4449-9738-1CB74CE343DD}"/>
              </a:ext>
            </a:extLst>
          </p:cNvPr>
          <p:cNvSpPr>
            <a:spLocks noGrp="1"/>
          </p:cNvSpPr>
          <p:nvPr/>
        </p:nvSpPr>
        <p:spPr>
          <a:xfrm>
            <a:off x="7810500" y="3333750"/>
            <a:ext cx="285750" cy="0"/>
          </a:xfrm>
          <a:prstGeom prst="line">
            <a:avLst/>
          </a:prstGeom>
          <a:noFill/>
          <a:ln w="28575">
            <a:solidFill>
              <a:srgbClr val="2F7DF4"/>
            </a:solidFill>
          </a:ln>
        </p:spPr>
        <p:txBody>
          <a:bodyPr/>
          <a:lstStyle/>
          <a:p>
            <a:endParaRPr lang="ko-KR" altLang="en-US"/>
          </a:p>
        </p:txBody>
      </p:sp>
      <p:sp>
        <p:nvSpPr>
          <p:cNvPr id="13" name="모서리가 둥근 직사각형 12">
            <a:extLst>
              <a:ext uri="{FF2B5EF4-FFF2-40B4-BE49-F238E27FC236}">
                <a16:creationId xmlns:a16="http://schemas.microsoft.com/office/drawing/2014/main" id="{381D5715-3FB6-407B-90B7-5EE60E54DA8F}"/>
              </a:ext>
            </a:extLst>
          </p:cNvPr>
          <p:cNvSpPr>
            <a:spLocks noGrp="1"/>
          </p:cNvSpPr>
          <p:nvPr/>
        </p:nvSpPr>
        <p:spPr>
          <a:xfrm>
            <a:off x="8143875" y="2143125"/>
            <a:ext cx="3429000" cy="2428875"/>
          </a:xfrm>
          <a:prstGeom prst="roundRect">
            <a:avLst>
              <a:gd name="adj" fmla="val 4706"/>
            </a:avLst>
          </a:prstGeom>
          <a:solidFill>
            <a:srgbClr val="EAF7F0"/>
          </a:solidFill>
          <a:ln w="9525">
            <a:solidFill>
              <a:srgbClr val="18794E"/>
            </a:solidFill>
          </a:ln>
        </p:spPr>
        <p:txBody>
          <a:bodyPr/>
          <a:lstStyle/>
          <a:p>
            <a:endParaRPr lang="ko-KR" altLang="en-US"/>
          </a:p>
        </p:txBody>
      </p:sp>
      <p:sp>
        <p:nvSpPr>
          <p:cNvPr id="14" name="직사각형 13">
            <a:extLst>
              <a:ext uri="{FF2B5EF4-FFF2-40B4-BE49-F238E27FC236}">
                <a16:creationId xmlns:a16="http://schemas.microsoft.com/office/drawing/2014/main" id="{55CD1706-05DB-483C-A218-6D63F72DC81C}"/>
              </a:ext>
            </a:extLst>
          </p:cNvPr>
          <p:cNvSpPr>
            <a:spLocks noGrp="1"/>
          </p:cNvSpPr>
          <p:nvPr/>
        </p:nvSpPr>
        <p:spPr>
          <a:xfrm>
            <a:off x="8391525" y="2400300"/>
            <a:ext cx="2933700" cy="323850"/>
          </a:xfrm>
          <a:prstGeom prst="rect">
            <a:avLst/>
          </a:prstGeom>
          <a:noFill/>
          <a:ln w="0">
            <a:noFill/>
          </a:ln>
        </p:spPr>
        <p:txBody>
          <a:bodyPr lIns="0" tIns="0" rIns="0" bIns="0" anchor="t">
            <a:normAutofit/>
          </a:bodyPr>
          <a:lstStyle/>
          <a:p>
            <a:pPr algn="l">
              <a:defRPr sz="1500" b="1">
                <a:solidFill>
                  <a:srgbClr val="18794E"/>
                </a:solidFill>
                <a:latin typeface="Apple SD Gothic Neo"/>
                <a:ea typeface="Apple SD Gothic Neo"/>
                <a:cs typeface="Apple SD Gothic Neo"/>
              </a:defRPr>
            </a:pPr>
            <a:r>
              <a:rPr sz="1500" b="1">
                <a:solidFill>
                  <a:srgbClr val="18794E"/>
                </a:solidFill>
                <a:latin typeface="Apple SD Gothic Neo"/>
                <a:ea typeface="Apple SD Gothic Neo"/>
                <a:cs typeface="Apple SD Gothic Neo"/>
              </a:rPr>
              <a:t>3 · 결과 확인</a:t>
            </a:r>
          </a:p>
        </p:txBody>
      </p:sp>
      <p:sp>
        <p:nvSpPr>
          <p:cNvPr id="15" name="직사각형 14">
            <a:extLst>
              <a:ext uri="{FF2B5EF4-FFF2-40B4-BE49-F238E27FC236}">
                <a16:creationId xmlns:a16="http://schemas.microsoft.com/office/drawing/2014/main" id="{48841FAA-BE86-4C9F-B3DA-4D86780B8FB1}"/>
              </a:ext>
            </a:extLst>
          </p:cNvPr>
          <p:cNvSpPr>
            <a:spLocks noGrp="1"/>
          </p:cNvSpPr>
          <p:nvPr/>
        </p:nvSpPr>
        <p:spPr>
          <a:xfrm>
            <a:off x="8391525" y="3000375"/>
            <a:ext cx="2933700" cy="1047750"/>
          </a:xfrm>
          <a:prstGeom prst="rect">
            <a:avLst/>
          </a:prstGeom>
          <a:noFill/>
          <a:ln w="0">
            <a:noFill/>
          </a:ln>
        </p:spPr>
        <p:txBody>
          <a:bodyPr lIns="0" tIns="0" rIns="0" bIns="0" anchor="t">
            <a:normAutofit/>
          </a:bodyPr>
          <a:lstStyle/>
          <a:p>
            <a:pPr algn="l">
              <a:defRPr sz="1650" b="1">
                <a:solidFill>
                  <a:srgbClr val="17202A"/>
                </a:solidFill>
                <a:latin typeface="Apple SD Gothic Neo"/>
                <a:ea typeface="Apple SD Gothic Neo"/>
                <a:cs typeface="Apple SD Gothic Neo"/>
              </a:defRPr>
            </a:pPr>
            <a:r>
              <a:rPr sz="1650" b="1">
                <a:solidFill>
                  <a:srgbClr val="17202A"/>
                </a:solidFill>
                <a:latin typeface="Apple SD Gothic Neo"/>
                <a:ea typeface="Apple SD Gothic Neo"/>
                <a:cs typeface="Apple SD Gothic Neo"/>
              </a:rPr>
              <a:t>{'status': 'ok', 'rows': 1000} 3</a:t>
            </a:r>
          </a:p>
        </p:txBody>
      </p:sp>
      <p:sp>
        <p:nvSpPr>
          <p:cNvPr id="16" name="모서리가 둥근 직사각형 15">
            <a:extLst>
              <a:ext uri="{FF2B5EF4-FFF2-40B4-BE49-F238E27FC236}">
                <a16:creationId xmlns:a16="http://schemas.microsoft.com/office/drawing/2014/main" id="{FCAE6494-C93B-44D5-BE49-DB809436A426}"/>
              </a:ext>
            </a:extLst>
          </p:cNvPr>
          <p:cNvSpPr>
            <a:spLocks noGrp="1"/>
          </p:cNvSpPr>
          <p:nvPr/>
        </p:nvSpPr>
        <p:spPr>
          <a:xfrm>
            <a:off x="1143000" y="5048250"/>
            <a:ext cx="9906000" cy="590550"/>
          </a:xfrm>
          <a:prstGeom prst="roundRect">
            <a:avLst>
              <a:gd name="adj" fmla="val 19355"/>
            </a:avLst>
          </a:prstGeom>
          <a:solidFill>
            <a:srgbClr val="EAF3FF"/>
          </a:solidFill>
          <a:ln w="0">
            <a:noFill/>
          </a:ln>
        </p:spPr>
        <p:txBody>
          <a:bodyPr/>
          <a:lstStyle/>
          <a:p>
            <a:endParaRPr lang="ko-KR" altLang="en-US"/>
          </a:p>
        </p:txBody>
      </p:sp>
      <p:sp>
        <p:nvSpPr>
          <p:cNvPr id="17" name="직사각형 16">
            <a:extLst>
              <a:ext uri="{FF2B5EF4-FFF2-40B4-BE49-F238E27FC236}">
                <a16:creationId xmlns:a16="http://schemas.microsoft.com/office/drawing/2014/main" id="{7BA2D566-EF07-4080-A305-6F37F4F281AE}"/>
              </a:ext>
            </a:extLst>
          </p:cNvPr>
          <p:cNvSpPr>
            <a:spLocks noGrp="1"/>
          </p:cNvSpPr>
          <p:nvPr/>
        </p:nvSpPr>
        <p:spPr>
          <a:xfrm>
            <a:off x="1428750" y="5219700"/>
            <a:ext cx="9334500" cy="285750"/>
          </a:xfrm>
          <a:prstGeom prst="rect">
            <a:avLst/>
          </a:prstGeom>
          <a:noFill/>
          <a:ln w="0">
            <a:noFill/>
          </a:ln>
        </p:spPr>
        <p:txBody>
          <a:bodyPr lIns="0" tIns="0" rIns="0" bIns="0" anchor="t">
            <a:normAutofit/>
          </a:bodyPr>
          <a:lstStyle/>
          <a:p>
            <a:pPr algn="ctr">
              <a:defRPr sz="1575" b="1">
                <a:solidFill>
                  <a:srgbClr val="17324D"/>
                </a:solidFill>
                <a:latin typeface="Apple SD Gothic Neo"/>
                <a:ea typeface="Apple SD Gothic Neo"/>
                <a:cs typeface="Apple SD Gothic Neo"/>
              </a:defRPr>
            </a:pPr>
            <a:r>
              <a:rPr sz="1575" b="1">
                <a:solidFill>
                  <a:srgbClr val="17324D"/>
                </a:solidFill>
                <a:latin typeface="Apple SD Gothic Neo"/>
                <a:ea typeface="Apple SD Gothic Neo"/>
                <a:cs typeface="Apple SD Gothic Neo"/>
              </a:rPr>
              <a:t>정상 결과 · {'status': 'ok', 'rows': 1000} 3</a:t>
            </a:r>
          </a:p>
        </p:txBody>
      </p:sp>
      <p:sp>
        <p:nvSpPr>
          <p:cNvPr id="18" name="직선 연결선[R] 17">
            <a:extLst>
              <a:ext uri="{FF2B5EF4-FFF2-40B4-BE49-F238E27FC236}">
                <a16:creationId xmlns:a16="http://schemas.microsoft.com/office/drawing/2014/main" id="{56D9BDD2-AE23-4949-9390-7965E9124419}"/>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9" name="직사각형 18">
            <a:extLst>
              <a:ext uri="{FF2B5EF4-FFF2-40B4-BE49-F238E27FC236}">
                <a16:creationId xmlns:a16="http://schemas.microsoft.com/office/drawing/2014/main" id="{ABEC54B0-CF5D-4761-A5E8-6A28F96482B7}"/>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소괄호 안에 들어가는 값, 실행되는 기능과 등호 왼쪽에 저장되는 결과를 차례로 읽습니다.</a:t>
            </a:r>
          </a:p>
        </p:txBody>
      </p:sp>
      <p:sp>
        <p:nvSpPr>
          <p:cNvPr id="20" name="직사각형 19">
            <a:extLst>
              <a:ext uri="{FF2B5EF4-FFF2-40B4-BE49-F238E27FC236}">
                <a16:creationId xmlns:a16="http://schemas.microsoft.com/office/drawing/2014/main" id="{B341CAAA-86CE-4DA0-A746-363D50F9E984}"/>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33</a:t>
            </a:r>
          </a:p>
        </p:txBody>
      </p:sp>
    </p:spTree>
    <p:extLst>
      <p:ext uri="{BB962C8B-B14F-4D97-AF65-F5344CB8AC3E}">
        <p14:creationId xmlns:p14="http://schemas.microsoft.com/office/powerpoint/2010/main" val="7867913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69A1CADC-C89C-458E-943B-CC752D6FCBDD}"/>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66143856-40D4-448C-94EC-FA3C2EAACCDD}"/>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상태 JSON과 회원 세 명이 나오면 2주차 흐름이 끝납니다</a:t>
            </a:r>
          </a:p>
        </p:txBody>
      </p:sp>
      <p:sp>
        <p:nvSpPr>
          <p:cNvPr id="3" name="직선 연결선[R] 2">
            <a:extLst>
              <a:ext uri="{FF2B5EF4-FFF2-40B4-BE49-F238E27FC236}">
                <a16:creationId xmlns:a16="http://schemas.microsoft.com/office/drawing/2014/main" id="{741ADEA8-B2A4-49F3-9369-9C44B593ADAF}"/>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38EF48E1-51CC-4A3F-9023-47B9C56C05AB}"/>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결과와 복구</a:t>
            </a:r>
          </a:p>
        </p:txBody>
      </p:sp>
      <p:sp>
        <p:nvSpPr>
          <p:cNvPr id="5" name="모서리가 둥근 직사각형 4">
            <a:extLst>
              <a:ext uri="{FF2B5EF4-FFF2-40B4-BE49-F238E27FC236}">
                <a16:creationId xmlns:a16="http://schemas.microsoft.com/office/drawing/2014/main" id="{21237AC8-1D7D-49FF-B033-988BF33BFD5E}"/>
              </a:ext>
            </a:extLst>
          </p:cNvPr>
          <p:cNvSpPr>
            <a:spLocks noGrp="1"/>
          </p:cNvSpPr>
          <p:nvPr/>
        </p:nvSpPr>
        <p:spPr>
          <a:xfrm>
            <a:off x="666750" y="1952625"/>
            <a:ext cx="5095875" cy="2524125"/>
          </a:xfrm>
          <a:prstGeom prst="roundRect">
            <a:avLst>
              <a:gd name="adj" fmla="val 4528"/>
            </a:avLst>
          </a:prstGeom>
          <a:solidFill>
            <a:srgbClr val="EAF7F0"/>
          </a:solidFill>
          <a:ln w="9525">
            <a:solidFill>
              <a:srgbClr val="18794E"/>
            </a:solidFill>
          </a:ln>
        </p:spPr>
        <p:txBody>
          <a:bodyPr/>
          <a:lstStyle/>
          <a:p>
            <a:endParaRPr lang="ko-KR" altLang="en-US"/>
          </a:p>
        </p:txBody>
      </p:sp>
      <p:sp>
        <p:nvSpPr>
          <p:cNvPr id="6" name="직사각형 5">
            <a:extLst>
              <a:ext uri="{FF2B5EF4-FFF2-40B4-BE49-F238E27FC236}">
                <a16:creationId xmlns:a16="http://schemas.microsoft.com/office/drawing/2014/main" id="{E80EE61E-B735-4AF4-A7F0-A054D586D882}"/>
              </a:ext>
            </a:extLst>
          </p:cNvPr>
          <p:cNvSpPr>
            <a:spLocks noGrp="1"/>
          </p:cNvSpPr>
          <p:nvPr/>
        </p:nvSpPr>
        <p:spPr>
          <a:xfrm>
            <a:off x="1000125" y="2266950"/>
            <a:ext cx="4429125" cy="323850"/>
          </a:xfrm>
          <a:prstGeom prst="rect">
            <a:avLst/>
          </a:prstGeom>
          <a:noFill/>
          <a:ln w="0">
            <a:noFill/>
          </a:ln>
        </p:spPr>
        <p:txBody>
          <a:bodyPr lIns="0" tIns="0" rIns="0" bIns="0" anchor="t">
            <a:normAutofit/>
          </a:bodyPr>
          <a:lstStyle/>
          <a:p>
            <a:pPr algn="l">
              <a:defRPr sz="1650" b="1">
                <a:solidFill>
                  <a:srgbClr val="18794E"/>
                </a:solidFill>
                <a:latin typeface="Apple SD Gothic Neo"/>
                <a:ea typeface="Apple SD Gothic Neo"/>
                <a:cs typeface="Apple SD Gothic Neo"/>
              </a:defRPr>
            </a:pPr>
            <a:r>
              <a:rPr sz="1650" b="1">
                <a:solidFill>
                  <a:srgbClr val="18794E"/>
                </a:solidFill>
                <a:latin typeface="Apple SD Gothic Neo"/>
                <a:ea typeface="Apple SD Gothic Neo"/>
                <a:cs typeface="Apple SD Gothic Neo"/>
              </a:rPr>
              <a:t>정상이라면</a:t>
            </a:r>
          </a:p>
        </p:txBody>
      </p:sp>
      <p:sp>
        <p:nvSpPr>
          <p:cNvPr id="7" name="직사각형 6">
            <a:extLst>
              <a:ext uri="{FF2B5EF4-FFF2-40B4-BE49-F238E27FC236}">
                <a16:creationId xmlns:a16="http://schemas.microsoft.com/office/drawing/2014/main" id="{0C1072A2-F119-4AA0-A052-BF729FBC6B35}"/>
              </a:ext>
            </a:extLst>
          </p:cNvPr>
          <p:cNvSpPr>
            <a:spLocks noGrp="1"/>
          </p:cNvSpPr>
          <p:nvPr/>
        </p:nvSpPr>
        <p:spPr>
          <a:xfrm>
            <a:off x="1000125" y="2905125"/>
            <a:ext cx="4429125" cy="1000125"/>
          </a:xfrm>
          <a:prstGeom prst="rect">
            <a:avLst/>
          </a:prstGeom>
          <a:noFill/>
          <a:ln w="0">
            <a:noFill/>
          </a:ln>
        </p:spPr>
        <p:txBody>
          <a:bodyPr lIns="0" tIns="0" rIns="0" bIns="0" anchor="t">
            <a:normAutofit/>
          </a:bodyPr>
          <a:lstStyle/>
          <a:p>
            <a:pPr algn="ctr">
              <a:defRPr sz="2175" b="1">
                <a:solidFill>
                  <a:srgbClr val="17202A"/>
                </a:solidFill>
                <a:latin typeface="Apple SD Gothic Neo"/>
                <a:ea typeface="Apple SD Gothic Neo"/>
                <a:cs typeface="Apple SD Gothic Neo"/>
              </a:defRPr>
            </a:pPr>
            <a:r>
              <a:rPr sz="2175" b="1">
                <a:solidFill>
                  <a:srgbClr val="17202A"/>
                </a:solidFill>
                <a:latin typeface="Apple SD Gothic Neo"/>
                <a:ea typeface="Apple SD Gothic Neo"/>
                <a:cs typeface="Apple SD Gothic Neo"/>
              </a:rPr>
              <a:t>{'status': 'ok', 'rows': 1000} 3</a:t>
            </a:r>
          </a:p>
        </p:txBody>
      </p:sp>
      <p:sp>
        <p:nvSpPr>
          <p:cNvPr id="8" name="모서리가 둥근 직사각형 7">
            <a:extLst>
              <a:ext uri="{FF2B5EF4-FFF2-40B4-BE49-F238E27FC236}">
                <a16:creationId xmlns:a16="http://schemas.microsoft.com/office/drawing/2014/main" id="{5BBF9847-685D-4457-ACF6-E7F25F3813B9}"/>
              </a:ext>
            </a:extLst>
          </p:cNvPr>
          <p:cNvSpPr>
            <a:spLocks noGrp="1"/>
          </p:cNvSpPr>
          <p:nvPr/>
        </p:nvSpPr>
        <p:spPr>
          <a:xfrm>
            <a:off x="6429375" y="1952625"/>
            <a:ext cx="5095875" cy="2524125"/>
          </a:xfrm>
          <a:prstGeom prst="roundRect">
            <a:avLst>
              <a:gd name="adj" fmla="val 4528"/>
            </a:avLst>
          </a:prstGeom>
          <a:solidFill>
            <a:srgbClr val="FFF0EE"/>
          </a:solidFill>
          <a:ln w="9525">
            <a:solidFill>
              <a:srgbClr val="B42318"/>
            </a:solidFill>
          </a:ln>
        </p:spPr>
        <p:txBody>
          <a:bodyPr/>
          <a:lstStyle/>
          <a:p>
            <a:endParaRPr lang="ko-KR" altLang="en-US"/>
          </a:p>
        </p:txBody>
      </p:sp>
      <p:sp>
        <p:nvSpPr>
          <p:cNvPr id="9" name="직사각형 8">
            <a:extLst>
              <a:ext uri="{FF2B5EF4-FFF2-40B4-BE49-F238E27FC236}">
                <a16:creationId xmlns:a16="http://schemas.microsoft.com/office/drawing/2014/main" id="{C68F5F2A-A039-435E-84BF-AF73490238C6}"/>
              </a:ext>
            </a:extLst>
          </p:cNvPr>
          <p:cNvSpPr>
            <a:spLocks noGrp="1"/>
          </p:cNvSpPr>
          <p:nvPr/>
        </p:nvSpPr>
        <p:spPr>
          <a:xfrm>
            <a:off x="6762750" y="2266950"/>
            <a:ext cx="4429125" cy="323850"/>
          </a:xfrm>
          <a:prstGeom prst="rect">
            <a:avLst/>
          </a:prstGeom>
          <a:noFill/>
          <a:ln w="0">
            <a:noFill/>
          </a:ln>
        </p:spPr>
        <p:txBody>
          <a:bodyPr lIns="0" tIns="0" rIns="0" bIns="0" anchor="t">
            <a:normAutofit/>
          </a:bodyPr>
          <a:lstStyle/>
          <a:p>
            <a:pPr algn="l">
              <a:defRPr sz="1650" b="1">
                <a:solidFill>
                  <a:srgbClr val="B42318"/>
                </a:solidFill>
                <a:latin typeface="Apple SD Gothic Neo"/>
                <a:ea typeface="Apple SD Gothic Neo"/>
                <a:cs typeface="Apple SD Gothic Neo"/>
              </a:defRPr>
            </a:pPr>
            <a:r>
              <a:rPr sz="1650" b="1">
                <a:solidFill>
                  <a:srgbClr val="B42318"/>
                </a:solidFill>
                <a:latin typeface="Apple SD Gothic Neo"/>
                <a:ea typeface="Apple SD Gothic Neo"/>
                <a:cs typeface="Apple SD Gothic Neo"/>
              </a:rPr>
              <a:t>막혔다면</a:t>
            </a:r>
          </a:p>
        </p:txBody>
      </p:sp>
      <p:sp>
        <p:nvSpPr>
          <p:cNvPr id="10" name="직사각형 9">
            <a:extLst>
              <a:ext uri="{FF2B5EF4-FFF2-40B4-BE49-F238E27FC236}">
                <a16:creationId xmlns:a16="http://schemas.microsoft.com/office/drawing/2014/main" id="{C0DB78EF-B5CE-495F-880B-7A5621C3D0F7}"/>
              </a:ext>
            </a:extLst>
          </p:cNvPr>
          <p:cNvSpPr>
            <a:spLocks noGrp="1"/>
          </p:cNvSpPr>
          <p:nvPr/>
        </p:nvSpPr>
        <p:spPr>
          <a:xfrm>
            <a:off x="6762750" y="2838450"/>
            <a:ext cx="4429125" cy="1095375"/>
          </a:xfrm>
          <a:prstGeom prst="rect">
            <a:avLst/>
          </a:prstGeom>
          <a:noFill/>
          <a:ln w="0">
            <a:noFill/>
          </a:ln>
        </p:spPr>
        <p:txBody>
          <a:bodyPr lIns="0" tIns="0" rIns="0" bIns="0" anchor="t">
            <a:normAutofit/>
          </a:bodyPr>
          <a:lstStyle/>
          <a:p>
            <a:pPr algn="ctr">
              <a:defRPr sz="1800" b="1">
                <a:solidFill>
                  <a:srgbClr val="17202A"/>
                </a:solidFill>
                <a:latin typeface="Apple SD Gothic Neo"/>
                <a:ea typeface="Apple SD Gothic Neo"/>
                <a:cs typeface="Apple SD Gothic Neo"/>
              </a:defRPr>
            </a:pPr>
            <a:r>
              <a:rPr sz="1800" b="1">
                <a:solidFill>
                  <a:srgbClr val="17202A"/>
                </a:solidFill>
                <a:latin typeface="Apple SD Gothic Neo"/>
                <a:ea typeface="Apple SD Gothic Neo"/>
                <a:cs typeface="Apple SD Gothic Neo"/>
              </a:rPr>
              <a:t>lesson7 경로와 api_app_answer.py, summary CSV 존재를 확인합니다.</a:t>
            </a:r>
          </a:p>
        </p:txBody>
      </p:sp>
      <p:sp>
        <p:nvSpPr>
          <p:cNvPr id="11" name="모서리가 둥근 직사각형 10">
            <a:extLst>
              <a:ext uri="{FF2B5EF4-FFF2-40B4-BE49-F238E27FC236}">
                <a16:creationId xmlns:a16="http://schemas.microsoft.com/office/drawing/2014/main" id="{CFEC4C78-9FF2-49C9-AB98-68AAB1990067}"/>
              </a:ext>
            </a:extLst>
          </p:cNvPr>
          <p:cNvSpPr>
            <a:spLocks noGrp="1"/>
          </p:cNvSpPr>
          <p:nvPr/>
        </p:nvSpPr>
        <p:spPr>
          <a:xfrm>
            <a:off x="1524000" y="4905375"/>
            <a:ext cx="9144000" cy="628650"/>
          </a:xfrm>
          <a:prstGeom prst="roundRect">
            <a:avLst>
              <a:gd name="adj" fmla="val 18182"/>
            </a:avLst>
          </a:prstGeom>
          <a:solidFill>
            <a:srgbClr val="FFF5DF"/>
          </a:solidFill>
          <a:ln w="9525">
            <a:solidFill>
              <a:srgbClr val="9A5B13"/>
            </a:solidFill>
          </a:ln>
        </p:spPr>
        <p:txBody>
          <a:bodyPr/>
          <a:lstStyle/>
          <a:p>
            <a:endParaRPr lang="ko-KR" altLang="en-US"/>
          </a:p>
        </p:txBody>
      </p:sp>
      <p:sp>
        <p:nvSpPr>
          <p:cNvPr id="12" name="직사각형 11">
            <a:extLst>
              <a:ext uri="{FF2B5EF4-FFF2-40B4-BE49-F238E27FC236}">
                <a16:creationId xmlns:a16="http://schemas.microsoft.com/office/drawing/2014/main" id="{A2C24599-40F4-480A-91A5-16729B03413F}"/>
              </a:ext>
            </a:extLst>
          </p:cNvPr>
          <p:cNvSpPr>
            <a:spLocks noGrp="1"/>
          </p:cNvSpPr>
          <p:nvPr/>
        </p:nvSpPr>
        <p:spPr>
          <a:xfrm>
            <a:off x="1809750" y="5086350"/>
            <a:ext cx="8572500" cy="304800"/>
          </a:xfrm>
          <a:prstGeom prst="rect">
            <a:avLst/>
          </a:prstGeom>
          <a:noFill/>
          <a:ln w="0">
            <a:noFill/>
          </a:ln>
        </p:spPr>
        <p:txBody>
          <a:bodyPr lIns="0" tIns="0" rIns="0" bIns="0" anchor="t">
            <a:normAutofit/>
          </a:bodyPr>
          <a:lstStyle/>
          <a:p>
            <a:pPr algn="ctr">
              <a:defRPr sz="1425" b="1">
                <a:solidFill>
                  <a:srgbClr val="9A5B13"/>
                </a:solidFill>
                <a:latin typeface="Apple SD Gothic Neo"/>
                <a:ea typeface="Apple SD Gothic Neo"/>
                <a:cs typeface="Apple SD Gothic Neo"/>
              </a:defRPr>
            </a:pPr>
            <a:r>
              <a:rPr sz="1425" b="1">
                <a:solidFill>
                  <a:srgbClr val="9A5B13"/>
                </a:solidFill>
                <a:latin typeface="Apple SD Gothic Neo"/>
                <a:ea typeface="Apple SD Gothic Neo"/>
                <a:cs typeface="Apple SD Gothic Neo"/>
              </a:rPr>
              <a:t>자주 생기는 문제 · ModuleNotFoundError 또는 500</a:t>
            </a:r>
          </a:p>
        </p:txBody>
      </p:sp>
      <p:sp>
        <p:nvSpPr>
          <p:cNvPr id="13" name="직선 연결선[R] 12">
            <a:extLst>
              <a:ext uri="{FF2B5EF4-FFF2-40B4-BE49-F238E27FC236}">
                <a16:creationId xmlns:a16="http://schemas.microsoft.com/office/drawing/2014/main" id="{1B92FE15-E3F9-4296-99BA-D8EE7E14032C}"/>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4" name="직사각형 13">
            <a:extLst>
              <a:ext uri="{FF2B5EF4-FFF2-40B4-BE49-F238E27FC236}">
                <a16:creationId xmlns:a16="http://schemas.microsoft.com/office/drawing/2014/main" id="{D978DBA2-F1F2-481A-AB9F-4151EA2E6138}"/>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정상 결과 {'status': 'ok', 'rows': 1000} 3이 무엇의 크기·개수·상태를 뜻하는지 말할 수 있어야 합니다.</a:t>
            </a:r>
          </a:p>
        </p:txBody>
      </p:sp>
      <p:sp>
        <p:nvSpPr>
          <p:cNvPr id="15" name="직사각형 14">
            <a:extLst>
              <a:ext uri="{FF2B5EF4-FFF2-40B4-BE49-F238E27FC236}">
                <a16:creationId xmlns:a16="http://schemas.microsoft.com/office/drawing/2014/main" id="{125D0889-A9C3-4D69-AC77-CEE235245F1A}"/>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34</a:t>
            </a:r>
          </a:p>
        </p:txBody>
      </p:sp>
    </p:spTree>
    <p:extLst>
      <p:ext uri="{BB962C8B-B14F-4D97-AF65-F5344CB8AC3E}">
        <p14:creationId xmlns:p14="http://schemas.microsoft.com/office/powerpoint/2010/main" val="1696125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C2E62400-1AFF-4A89-9E68-84446A7FCEEE}"/>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367E1F9B-67F8-4604-8E83-3969975637DA}"/>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2주차의 여섯 단계를 처음부터 끝까지 연결했나요?</a:t>
            </a:r>
          </a:p>
        </p:txBody>
      </p:sp>
      <p:sp>
        <p:nvSpPr>
          <p:cNvPr id="3" name="직선 연결선[R] 2">
            <a:extLst>
              <a:ext uri="{FF2B5EF4-FFF2-40B4-BE49-F238E27FC236}">
                <a16:creationId xmlns:a16="http://schemas.microsoft.com/office/drawing/2014/main" id="{3AC916DC-4DE2-41B6-914A-36364CCA073B}"/>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994C85D8-DF16-495D-A78B-48B1C58D8283}"/>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전체 회수</a:t>
            </a:r>
          </a:p>
        </p:txBody>
      </p:sp>
      <p:sp>
        <p:nvSpPr>
          <p:cNvPr id="5" name="모서리가 둥근 직사각형 4">
            <a:extLst>
              <a:ext uri="{FF2B5EF4-FFF2-40B4-BE49-F238E27FC236}">
                <a16:creationId xmlns:a16="http://schemas.microsoft.com/office/drawing/2014/main" id="{470C83DD-90EA-4131-AE10-C8F2752535CB}"/>
              </a:ext>
            </a:extLst>
          </p:cNvPr>
          <p:cNvSpPr>
            <a:spLocks noGrp="1"/>
          </p:cNvSpPr>
          <p:nvPr/>
        </p:nvSpPr>
        <p:spPr>
          <a:xfrm>
            <a:off x="523875" y="1857375"/>
            <a:ext cx="3429000" cy="1381125"/>
          </a:xfrm>
          <a:prstGeom prst="roundRect">
            <a:avLst>
              <a:gd name="adj" fmla="val 8276"/>
            </a:avLst>
          </a:prstGeom>
          <a:solidFill>
            <a:srgbClr val="F5F7FA"/>
          </a:solidFill>
          <a:ln w="9525">
            <a:solidFill>
              <a:srgbClr val="D5DEE8"/>
            </a:solidFill>
          </a:ln>
        </p:spPr>
        <p:txBody>
          <a:bodyPr/>
          <a:lstStyle/>
          <a:p>
            <a:endParaRPr lang="ko-KR" altLang="en-US"/>
          </a:p>
        </p:txBody>
      </p:sp>
      <p:sp>
        <p:nvSpPr>
          <p:cNvPr id="6" name="직사각형 5">
            <a:extLst>
              <a:ext uri="{FF2B5EF4-FFF2-40B4-BE49-F238E27FC236}">
                <a16:creationId xmlns:a16="http://schemas.microsoft.com/office/drawing/2014/main" id="{82EE6B9C-6A7A-4003-B689-19060174568F}"/>
              </a:ext>
            </a:extLst>
          </p:cNvPr>
          <p:cNvSpPr>
            <a:spLocks noGrp="1"/>
          </p:cNvSpPr>
          <p:nvPr/>
        </p:nvSpPr>
        <p:spPr>
          <a:xfrm>
            <a:off x="714375" y="2047875"/>
            <a:ext cx="523875" cy="266700"/>
          </a:xfrm>
          <a:prstGeom prst="rect">
            <a:avLst/>
          </a:prstGeom>
          <a:noFill/>
          <a:ln w="0">
            <a:noFill/>
          </a:ln>
        </p:spPr>
        <p:txBody>
          <a:bodyPr lIns="0" tIns="0" rIns="0" bIns="0" anchor="t">
            <a:normAutofit/>
          </a:bodyPr>
          <a:lstStyle/>
          <a:p>
            <a:pPr algn="l">
              <a:defRPr sz="1425" b="1">
                <a:solidFill>
                  <a:srgbClr val="2F7DF4"/>
                </a:solidFill>
                <a:latin typeface="Apple SD Gothic Neo"/>
                <a:ea typeface="Apple SD Gothic Neo"/>
                <a:cs typeface="Apple SD Gothic Neo"/>
              </a:defRPr>
            </a:pPr>
            <a:r>
              <a:rPr sz="1425" b="1">
                <a:solidFill>
                  <a:srgbClr val="2F7DF4"/>
                </a:solidFill>
                <a:latin typeface="Apple SD Gothic Neo"/>
                <a:ea typeface="Apple SD Gothic Neo"/>
                <a:cs typeface="Apple SD Gothic Neo"/>
              </a:rPr>
              <a:t>Q1</a:t>
            </a:r>
          </a:p>
        </p:txBody>
      </p:sp>
      <p:sp>
        <p:nvSpPr>
          <p:cNvPr id="7" name="직사각형 6">
            <a:extLst>
              <a:ext uri="{FF2B5EF4-FFF2-40B4-BE49-F238E27FC236}">
                <a16:creationId xmlns:a16="http://schemas.microsoft.com/office/drawing/2014/main" id="{01BC9C04-2A31-4DC5-A364-B5BCD0F834FB}"/>
              </a:ext>
            </a:extLst>
          </p:cNvPr>
          <p:cNvSpPr>
            <a:spLocks noGrp="1"/>
          </p:cNvSpPr>
          <p:nvPr/>
        </p:nvSpPr>
        <p:spPr>
          <a:xfrm>
            <a:off x="1304925" y="2028825"/>
            <a:ext cx="2381250" cy="523875"/>
          </a:xfrm>
          <a:prstGeom prst="rect">
            <a:avLst/>
          </a:prstGeom>
          <a:noFill/>
          <a:ln w="0">
            <a:noFill/>
          </a:ln>
        </p:spPr>
        <p:txBody>
          <a:bodyPr lIns="0" tIns="0" rIns="0" bIns="0" anchor="t">
            <a:normAutofit/>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CSV 25개의 위치를 찾아 종합실습 입력을 확정합니다</a:t>
            </a:r>
          </a:p>
        </p:txBody>
      </p:sp>
      <p:sp>
        <p:nvSpPr>
          <p:cNvPr id="8" name="직사각형 7">
            <a:extLst>
              <a:ext uri="{FF2B5EF4-FFF2-40B4-BE49-F238E27FC236}">
                <a16:creationId xmlns:a16="http://schemas.microsoft.com/office/drawing/2014/main" id="{98FCBAD8-8C86-487B-9BBA-2BAF6CEB1D93}"/>
              </a:ext>
            </a:extLst>
          </p:cNvPr>
          <p:cNvSpPr>
            <a:spLocks noGrp="1"/>
          </p:cNvSpPr>
          <p:nvPr/>
        </p:nvSpPr>
        <p:spPr>
          <a:xfrm>
            <a:off x="733425" y="2695575"/>
            <a:ext cx="3009900" cy="333375"/>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activity_batch_01.csv activity_batch_25.csv</a:t>
            </a:r>
          </a:p>
        </p:txBody>
      </p:sp>
      <p:sp>
        <p:nvSpPr>
          <p:cNvPr id="9" name="모서리가 둥근 직사각형 8">
            <a:extLst>
              <a:ext uri="{FF2B5EF4-FFF2-40B4-BE49-F238E27FC236}">
                <a16:creationId xmlns:a16="http://schemas.microsoft.com/office/drawing/2014/main" id="{C6E202F8-666D-4D73-899E-80C7F9D60720}"/>
              </a:ext>
            </a:extLst>
          </p:cNvPr>
          <p:cNvSpPr>
            <a:spLocks noGrp="1"/>
          </p:cNvSpPr>
          <p:nvPr/>
        </p:nvSpPr>
        <p:spPr>
          <a:xfrm>
            <a:off x="4333875" y="1857375"/>
            <a:ext cx="3429000" cy="1381125"/>
          </a:xfrm>
          <a:prstGeom prst="roundRect">
            <a:avLst>
              <a:gd name="adj" fmla="val 8276"/>
            </a:avLst>
          </a:prstGeom>
          <a:solidFill>
            <a:srgbClr val="F5F7FA"/>
          </a:solidFill>
          <a:ln w="9525">
            <a:solidFill>
              <a:srgbClr val="D5DEE8"/>
            </a:solidFill>
          </a:ln>
        </p:spPr>
        <p:txBody>
          <a:bodyPr/>
          <a:lstStyle/>
          <a:p>
            <a:endParaRPr lang="ko-KR" altLang="en-US"/>
          </a:p>
        </p:txBody>
      </p:sp>
      <p:sp>
        <p:nvSpPr>
          <p:cNvPr id="10" name="직사각형 9">
            <a:extLst>
              <a:ext uri="{FF2B5EF4-FFF2-40B4-BE49-F238E27FC236}">
                <a16:creationId xmlns:a16="http://schemas.microsoft.com/office/drawing/2014/main" id="{0979B930-EA9A-4CA9-B297-D99CE3EFDEAF}"/>
              </a:ext>
            </a:extLst>
          </p:cNvPr>
          <p:cNvSpPr>
            <a:spLocks noGrp="1"/>
          </p:cNvSpPr>
          <p:nvPr/>
        </p:nvSpPr>
        <p:spPr>
          <a:xfrm>
            <a:off x="4524375" y="2047875"/>
            <a:ext cx="523875" cy="266700"/>
          </a:xfrm>
          <a:prstGeom prst="rect">
            <a:avLst/>
          </a:prstGeom>
          <a:noFill/>
          <a:ln w="0">
            <a:noFill/>
          </a:ln>
        </p:spPr>
        <p:txBody>
          <a:bodyPr lIns="0" tIns="0" rIns="0" bIns="0" anchor="t">
            <a:normAutofit/>
          </a:bodyPr>
          <a:lstStyle/>
          <a:p>
            <a:pPr algn="l">
              <a:defRPr sz="1425" b="1">
                <a:solidFill>
                  <a:srgbClr val="2F7DF4"/>
                </a:solidFill>
                <a:latin typeface="Apple SD Gothic Neo"/>
                <a:ea typeface="Apple SD Gothic Neo"/>
                <a:cs typeface="Apple SD Gothic Neo"/>
              </a:defRPr>
            </a:pPr>
            <a:r>
              <a:rPr sz="1425" b="1">
                <a:solidFill>
                  <a:srgbClr val="2F7DF4"/>
                </a:solidFill>
                <a:latin typeface="Apple SD Gothic Neo"/>
                <a:ea typeface="Apple SD Gothic Neo"/>
                <a:cs typeface="Apple SD Gothic Neo"/>
              </a:rPr>
              <a:t>Q2</a:t>
            </a:r>
          </a:p>
        </p:txBody>
      </p:sp>
      <p:sp>
        <p:nvSpPr>
          <p:cNvPr id="11" name="직사각형 10">
            <a:extLst>
              <a:ext uri="{FF2B5EF4-FFF2-40B4-BE49-F238E27FC236}">
                <a16:creationId xmlns:a16="http://schemas.microsoft.com/office/drawing/2014/main" id="{2681A32E-0674-453B-B85E-9E43B0C889A5}"/>
              </a:ext>
            </a:extLst>
          </p:cNvPr>
          <p:cNvSpPr>
            <a:spLocks noGrp="1"/>
          </p:cNvSpPr>
          <p:nvPr/>
        </p:nvSpPr>
        <p:spPr>
          <a:xfrm>
            <a:off x="5114925" y="2028825"/>
            <a:ext cx="2381250" cy="523875"/>
          </a:xfrm>
          <a:prstGeom prst="rect">
            <a:avLst/>
          </a:prstGeom>
          <a:noFill/>
          <a:ln w="0">
            <a:noFill/>
          </a:ln>
        </p:spPr>
        <p:txBody>
          <a:bodyPr lIns="0" tIns="0" rIns="0" bIns="0" anchor="t">
            <a:normAutofit fontScale="98772"/>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각 행에 출처를 남기며 CSV 25개를 30,000행으로 합칩니다</a:t>
            </a:r>
          </a:p>
        </p:txBody>
      </p:sp>
      <p:sp>
        <p:nvSpPr>
          <p:cNvPr id="12" name="직사각형 11">
            <a:extLst>
              <a:ext uri="{FF2B5EF4-FFF2-40B4-BE49-F238E27FC236}">
                <a16:creationId xmlns:a16="http://schemas.microsoft.com/office/drawing/2014/main" id="{CC9E0E68-25B7-4B78-BFAE-6B830B771ECA}"/>
              </a:ext>
            </a:extLst>
          </p:cNvPr>
          <p:cNvSpPr>
            <a:spLocks noGrp="1"/>
          </p:cNvSpPr>
          <p:nvPr/>
        </p:nvSpPr>
        <p:spPr>
          <a:xfrm>
            <a:off x="4543425" y="2695575"/>
            <a:ext cx="3009900" cy="333375"/>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assert 통과, (30000, 10)</a:t>
            </a:r>
          </a:p>
        </p:txBody>
      </p:sp>
      <p:sp>
        <p:nvSpPr>
          <p:cNvPr id="13" name="모서리가 둥근 직사각형 12">
            <a:extLst>
              <a:ext uri="{FF2B5EF4-FFF2-40B4-BE49-F238E27FC236}">
                <a16:creationId xmlns:a16="http://schemas.microsoft.com/office/drawing/2014/main" id="{042B6FB9-05D4-4327-8511-E493E2A1A9CC}"/>
              </a:ext>
            </a:extLst>
          </p:cNvPr>
          <p:cNvSpPr>
            <a:spLocks noGrp="1"/>
          </p:cNvSpPr>
          <p:nvPr/>
        </p:nvSpPr>
        <p:spPr>
          <a:xfrm>
            <a:off x="8143875" y="1857375"/>
            <a:ext cx="3429000" cy="1381125"/>
          </a:xfrm>
          <a:prstGeom prst="roundRect">
            <a:avLst>
              <a:gd name="adj" fmla="val 8276"/>
            </a:avLst>
          </a:prstGeom>
          <a:solidFill>
            <a:srgbClr val="F5F7FA"/>
          </a:solidFill>
          <a:ln w="9525">
            <a:solidFill>
              <a:srgbClr val="D5DEE8"/>
            </a:solidFill>
          </a:ln>
        </p:spPr>
        <p:txBody>
          <a:bodyPr/>
          <a:lstStyle/>
          <a:p>
            <a:endParaRPr lang="ko-KR" altLang="en-US"/>
          </a:p>
        </p:txBody>
      </p:sp>
      <p:sp>
        <p:nvSpPr>
          <p:cNvPr id="14" name="직사각형 13">
            <a:extLst>
              <a:ext uri="{FF2B5EF4-FFF2-40B4-BE49-F238E27FC236}">
                <a16:creationId xmlns:a16="http://schemas.microsoft.com/office/drawing/2014/main" id="{88782B5D-25BF-4A04-AE3A-42B2125352AD}"/>
              </a:ext>
            </a:extLst>
          </p:cNvPr>
          <p:cNvSpPr>
            <a:spLocks noGrp="1"/>
          </p:cNvSpPr>
          <p:nvPr/>
        </p:nvSpPr>
        <p:spPr>
          <a:xfrm>
            <a:off x="8334375" y="2047875"/>
            <a:ext cx="523875" cy="266700"/>
          </a:xfrm>
          <a:prstGeom prst="rect">
            <a:avLst/>
          </a:prstGeom>
          <a:noFill/>
          <a:ln w="0">
            <a:noFill/>
          </a:ln>
        </p:spPr>
        <p:txBody>
          <a:bodyPr lIns="0" tIns="0" rIns="0" bIns="0" anchor="t">
            <a:normAutofit/>
          </a:bodyPr>
          <a:lstStyle/>
          <a:p>
            <a:pPr algn="l">
              <a:defRPr sz="1425" b="1">
                <a:solidFill>
                  <a:srgbClr val="2F7DF4"/>
                </a:solidFill>
                <a:latin typeface="Apple SD Gothic Neo"/>
                <a:ea typeface="Apple SD Gothic Neo"/>
                <a:cs typeface="Apple SD Gothic Neo"/>
              </a:defRPr>
            </a:pPr>
            <a:r>
              <a:rPr sz="1425" b="1">
                <a:solidFill>
                  <a:srgbClr val="2F7DF4"/>
                </a:solidFill>
                <a:latin typeface="Apple SD Gothic Neo"/>
                <a:ea typeface="Apple SD Gothic Neo"/>
                <a:cs typeface="Apple SD Gothic Neo"/>
              </a:rPr>
              <a:t>Q3</a:t>
            </a:r>
          </a:p>
        </p:txBody>
      </p:sp>
      <p:sp>
        <p:nvSpPr>
          <p:cNvPr id="15" name="직사각형 14">
            <a:extLst>
              <a:ext uri="{FF2B5EF4-FFF2-40B4-BE49-F238E27FC236}">
                <a16:creationId xmlns:a16="http://schemas.microsoft.com/office/drawing/2014/main" id="{320D386B-1FCA-44F9-8FDB-0C8DCE36350E}"/>
              </a:ext>
            </a:extLst>
          </p:cNvPr>
          <p:cNvSpPr>
            <a:spLocks noGrp="1"/>
          </p:cNvSpPr>
          <p:nvPr/>
        </p:nvSpPr>
        <p:spPr>
          <a:xfrm>
            <a:off x="8924925" y="2028825"/>
            <a:ext cx="2381250" cy="523875"/>
          </a:xfrm>
          <a:prstGeom prst="rect">
            <a:avLst/>
          </a:prstGeom>
          <a:noFill/>
          <a:ln w="0">
            <a:noFill/>
          </a:ln>
        </p:spPr>
        <p:txBody>
          <a:bodyPr lIns="0" tIns="0" rIns="0" bIns="0" anchor="t">
            <a:normAutofit/>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30일 활동을 회원별 한 행으로 요약합니다</a:t>
            </a:r>
          </a:p>
        </p:txBody>
      </p:sp>
      <p:sp>
        <p:nvSpPr>
          <p:cNvPr id="16" name="직사각형 15">
            <a:extLst>
              <a:ext uri="{FF2B5EF4-FFF2-40B4-BE49-F238E27FC236}">
                <a16:creationId xmlns:a16="http://schemas.microsoft.com/office/drawing/2014/main" id="{417FA62D-DCEC-4E87-BAC1-E4EF20463DD7}"/>
              </a:ext>
            </a:extLst>
          </p:cNvPr>
          <p:cNvSpPr>
            <a:spLocks noGrp="1"/>
          </p:cNvSpPr>
          <p:nvPr/>
        </p:nvSpPr>
        <p:spPr>
          <a:xfrm>
            <a:off x="8353425" y="2695575"/>
            <a:ext cx="3009900" cy="333375"/>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assert 통과, 1,000명</a:t>
            </a:r>
          </a:p>
        </p:txBody>
      </p:sp>
      <p:sp>
        <p:nvSpPr>
          <p:cNvPr id="17" name="모서리가 둥근 직사각형 16">
            <a:extLst>
              <a:ext uri="{FF2B5EF4-FFF2-40B4-BE49-F238E27FC236}">
                <a16:creationId xmlns:a16="http://schemas.microsoft.com/office/drawing/2014/main" id="{75583D1E-A3F1-472F-AA47-3CCB6D115DA1}"/>
              </a:ext>
            </a:extLst>
          </p:cNvPr>
          <p:cNvSpPr>
            <a:spLocks noGrp="1"/>
          </p:cNvSpPr>
          <p:nvPr/>
        </p:nvSpPr>
        <p:spPr>
          <a:xfrm>
            <a:off x="523875" y="3667125"/>
            <a:ext cx="3429000" cy="1381125"/>
          </a:xfrm>
          <a:prstGeom prst="roundRect">
            <a:avLst>
              <a:gd name="adj" fmla="val 8276"/>
            </a:avLst>
          </a:prstGeom>
          <a:solidFill>
            <a:srgbClr val="F5F7FA"/>
          </a:solidFill>
          <a:ln w="9525">
            <a:solidFill>
              <a:srgbClr val="D5DEE8"/>
            </a:solidFill>
          </a:ln>
        </p:spPr>
        <p:txBody>
          <a:bodyPr/>
          <a:lstStyle/>
          <a:p>
            <a:endParaRPr lang="ko-KR" altLang="en-US"/>
          </a:p>
        </p:txBody>
      </p:sp>
      <p:sp>
        <p:nvSpPr>
          <p:cNvPr id="18" name="직사각형 17">
            <a:extLst>
              <a:ext uri="{FF2B5EF4-FFF2-40B4-BE49-F238E27FC236}">
                <a16:creationId xmlns:a16="http://schemas.microsoft.com/office/drawing/2014/main" id="{B7B6CB60-E3BC-4B28-B710-D2245CD79EBC}"/>
              </a:ext>
            </a:extLst>
          </p:cNvPr>
          <p:cNvSpPr>
            <a:spLocks noGrp="1"/>
          </p:cNvSpPr>
          <p:nvPr/>
        </p:nvSpPr>
        <p:spPr>
          <a:xfrm>
            <a:off x="714375" y="3857625"/>
            <a:ext cx="523875" cy="266700"/>
          </a:xfrm>
          <a:prstGeom prst="rect">
            <a:avLst/>
          </a:prstGeom>
          <a:noFill/>
          <a:ln w="0">
            <a:noFill/>
          </a:ln>
        </p:spPr>
        <p:txBody>
          <a:bodyPr lIns="0" tIns="0" rIns="0" bIns="0" anchor="t">
            <a:normAutofit/>
          </a:bodyPr>
          <a:lstStyle/>
          <a:p>
            <a:pPr algn="l">
              <a:defRPr sz="1425" b="1">
                <a:solidFill>
                  <a:srgbClr val="2F7DF4"/>
                </a:solidFill>
                <a:latin typeface="Apple SD Gothic Neo"/>
                <a:ea typeface="Apple SD Gothic Neo"/>
                <a:cs typeface="Apple SD Gothic Neo"/>
              </a:defRPr>
            </a:pPr>
            <a:r>
              <a:rPr sz="1425" b="1">
                <a:solidFill>
                  <a:srgbClr val="2F7DF4"/>
                </a:solidFill>
                <a:latin typeface="Apple SD Gothic Neo"/>
                <a:ea typeface="Apple SD Gothic Neo"/>
                <a:cs typeface="Apple SD Gothic Neo"/>
              </a:rPr>
              <a:t>Q4</a:t>
            </a:r>
          </a:p>
        </p:txBody>
      </p:sp>
      <p:sp>
        <p:nvSpPr>
          <p:cNvPr id="19" name="직사각형 18">
            <a:extLst>
              <a:ext uri="{FF2B5EF4-FFF2-40B4-BE49-F238E27FC236}">
                <a16:creationId xmlns:a16="http://schemas.microsoft.com/office/drawing/2014/main" id="{0C2A5727-A592-429F-AE8C-2EF6D49C98D4}"/>
              </a:ext>
            </a:extLst>
          </p:cNvPr>
          <p:cNvSpPr>
            <a:spLocks noGrp="1"/>
          </p:cNvSpPr>
          <p:nvPr/>
        </p:nvSpPr>
        <p:spPr>
          <a:xfrm>
            <a:off x="1304925" y="3838575"/>
            <a:ext cx="2381250" cy="523875"/>
          </a:xfrm>
          <a:prstGeom prst="rect">
            <a:avLst/>
          </a:prstGeom>
          <a:noFill/>
          <a:ln w="0">
            <a:noFill/>
          </a:ln>
        </p:spPr>
        <p:txBody>
          <a:bodyPr lIns="0" tIns="0" rIns="0" bIns="0" anchor="t">
            <a:normAutofit/>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회원 기본정보를 붙이고 전처리할 13개 열을 고릅니다</a:t>
            </a:r>
          </a:p>
        </p:txBody>
      </p:sp>
      <p:sp>
        <p:nvSpPr>
          <p:cNvPr id="20" name="직사각형 19">
            <a:extLst>
              <a:ext uri="{FF2B5EF4-FFF2-40B4-BE49-F238E27FC236}">
                <a16:creationId xmlns:a16="http://schemas.microsoft.com/office/drawing/2014/main" id="{9EBC0DB6-EEDC-42B5-96FE-B8AA2F8AD664}"/>
              </a:ext>
            </a:extLst>
          </p:cNvPr>
          <p:cNvSpPr>
            <a:spLocks noGrp="1"/>
          </p:cNvSpPr>
          <p:nvPr/>
        </p:nvSpPr>
        <p:spPr>
          <a:xfrm>
            <a:off x="733425" y="4505325"/>
            <a:ext cx="3009900" cy="333375"/>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(1000, 16) (1000, 13)</a:t>
            </a:r>
          </a:p>
        </p:txBody>
      </p:sp>
      <p:sp>
        <p:nvSpPr>
          <p:cNvPr id="21" name="모서리가 둥근 직사각형 20">
            <a:extLst>
              <a:ext uri="{FF2B5EF4-FFF2-40B4-BE49-F238E27FC236}">
                <a16:creationId xmlns:a16="http://schemas.microsoft.com/office/drawing/2014/main" id="{EDD83DAD-3727-4344-89A8-E3B377BA9520}"/>
              </a:ext>
            </a:extLst>
          </p:cNvPr>
          <p:cNvSpPr>
            <a:spLocks noGrp="1"/>
          </p:cNvSpPr>
          <p:nvPr/>
        </p:nvSpPr>
        <p:spPr>
          <a:xfrm>
            <a:off x="4333875" y="3667125"/>
            <a:ext cx="3429000" cy="1381125"/>
          </a:xfrm>
          <a:prstGeom prst="roundRect">
            <a:avLst>
              <a:gd name="adj" fmla="val 8276"/>
            </a:avLst>
          </a:prstGeom>
          <a:solidFill>
            <a:srgbClr val="F5F7FA"/>
          </a:solidFill>
          <a:ln w="9525">
            <a:solidFill>
              <a:srgbClr val="D5DEE8"/>
            </a:solidFill>
          </a:ln>
        </p:spPr>
        <p:txBody>
          <a:bodyPr/>
          <a:lstStyle/>
          <a:p>
            <a:endParaRPr lang="ko-KR" altLang="en-US"/>
          </a:p>
        </p:txBody>
      </p:sp>
      <p:sp>
        <p:nvSpPr>
          <p:cNvPr id="22" name="직사각형 21">
            <a:extLst>
              <a:ext uri="{FF2B5EF4-FFF2-40B4-BE49-F238E27FC236}">
                <a16:creationId xmlns:a16="http://schemas.microsoft.com/office/drawing/2014/main" id="{128BB90F-2D4A-432E-9C43-B9DD9C02DAFF}"/>
              </a:ext>
            </a:extLst>
          </p:cNvPr>
          <p:cNvSpPr>
            <a:spLocks noGrp="1"/>
          </p:cNvSpPr>
          <p:nvPr/>
        </p:nvSpPr>
        <p:spPr>
          <a:xfrm>
            <a:off x="4524375" y="3857625"/>
            <a:ext cx="523875" cy="266700"/>
          </a:xfrm>
          <a:prstGeom prst="rect">
            <a:avLst/>
          </a:prstGeom>
          <a:noFill/>
          <a:ln w="0">
            <a:noFill/>
          </a:ln>
        </p:spPr>
        <p:txBody>
          <a:bodyPr lIns="0" tIns="0" rIns="0" bIns="0" anchor="t">
            <a:normAutofit/>
          </a:bodyPr>
          <a:lstStyle/>
          <a:p>
            <a:pPr algn="l">
              <a:defRPr sz="1425" b="1">
                <a:solidFill>
                  <a:srgbClr val="2F7DF4"/>
                </a:solidFill>
                <a:latin typeface="Apple SD Gothic Neo"/>
                <a:ea typeface="Apple SD Gothic Neo"/>
                <a:cs typeface="Apple SD Gothic Neo"/>
              </a:defRPr>
            </a:pPr>
            <a:r>
              <a:rPr sz="1425" b="1">
                <a:solidFill>
                  <a:srgbClr val="2F7DF4"/>
                </a:solidFill>
                <a:latin typeface="Apple SD Gothic Neo"/>
                <a:ea typeface="Apple SD Gothic Neo"/>
                <a:cs typeface="Apple SD Gothic Neo"/>
              </a:rPr>
              <a:t>Q5</a:t>
            </a:r>
          </a:p>
        </p:txBody>
      </p:sp>
      <p:sp>
        <p:nvSpPr>
          <p:cNvPr id="23" name="직사각형 22">
            <a:extLst>
              <a:ext uri="{FF2B5EF4-FFF2-40B4-BE49-F238E27FC236}">
                <a16:creationId xmlns:a16="http://schemas.microsoft.com/office/drawing/2014/main" id="{7DD83834-DDE5-4CD7-A2F1-5A2FA3405673}"/>
              </a:ext>
            </a:extLst>
          </p:cNvPr>
          <p:cNvSpPr>
            <a:spLocks noGrp="1"/>
          </p:cNvSpPr>
          <p:nvPr/>
        </p:nvSpPr>
        <p:spPr>
          <a:xfrm>
            <a:off x="5114925" y="3838575"/>
            <a:ext cx="2381250" cy="523875"/>
          </a:xfrm>
          <a:prstGeom prst="rect">
            <a:avLst/>
          </a:prstGeom>
          <a:noFill/>
          <a:ln w="0">
            <a:noFill/>
          </a:ln>
        </p:spPr>
        <p:txBody>
          <a:bodyPr lIns="0" tIns="0" rIns="0" bIns="0" anchor="t">
            <a:normAutofit/>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저장한 전처리기로 1,000명을 36개 숫자 열로 바꿉니다</a:t>
            </a:r>
          </a:p>
        </p:txBody>
      </p:sp>
      <p:sp>
        <p:nvSpPr>
          <p:cNvPr id="24" name="직사각형 23">
            <a:extLst>
              <a:ext uri="{FF2B5EF4-FFF2-40B4-BE49-F238E27FC236}">
                <a16:creationId xmlns:a16="http://schemas.microsoft.com/office/drawing/2014/main" id="{8082A849-2450-4852-A0B8-79DEF03D2DD8}"/>
              </a:ext>
            </a:extLst>
          </p:cNvPr>
          <p:cNvSpPr>
            <a:spLocks noGrp="1"/>
          </p:cNvSpPr>
          <p:nvPr/>
        </p:nvSpPr>
        <p:spPr>
          <a:xfrm>
            <a:off x="4543425" y="4505325"/>
            <a:ext cx="3009900" cy="333375"/>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(1000, 36) 0</a:t>
            </a:r>
          </a:p>
        </p:txBody>
      </p:sp>
      <p:sp>
        <p:nvSpPr>
          <p:cNvPr id="25" name="모서리가 둥근 직사각형 24">
            <a:extLst>
              <a:ext uri="{FF2B5EF4-FFF2-40B4-BE49-F238E27FC236}">
                <a16:creationId xmlns:a16="http://schemas.microsoft.com/office/drawing/2014/main" id="{2D54641A-DD36-4529-8FE4-4F0D473D97E0}"/>
              </a:ext>
            </a:extLst>
          </p:cNvPr>
          <p:cNvSpPr>
            <a:spLocks noGrp="1"/>
          </p:cNvSpPr>
          <p:nvPr/>
        </p:nvSpPr>
        <p:spPr>
          <a:xfrm>
            <a:off x="8143875" y="3667125"/>
            <a:ext cx="3429000" cy="1381125"/>
          </a:xfrm>
          <a:prstGeom prst="roundRect">
            <a:avLst>
              <a:gd name="adj" fmla="val 8276"/>
            </a:avLst>
          </a:prstGeom>
          <a:solidFill>
            <a:srgbClr val="EAF7F0"/>
          </a:solidFill>
          <a:ln w="9525">
            <a:solidFill>
              <a:srgbClr val="18794E"/>
            </a:solidFill>
          </a:ln>
        </p:spPr>
        <p:txBody>
          <a:bodyPr/>
          <a:lstStyle/>
          <a:p>
            <a:endParaRPr lang="ko-KR" altLang="en-US"/>
          </a:p>
        </p:txBody>
      </p:sp>
      <p:sp>
        <p:nvSpPr>
          <p:cNvPr id="26" name="직사각형 25">
            <a:extLst>
              <a:ext uri="{FF2B5EF4-FFF2-40B4-BE49-F238E27FC236}">
                <a16:creationId xmlns:a16="http://schemas.microsoft.com/office/drawing/2014/main" id="{7512FF03-E4F8-41B3-A1E1-4BD44BB6D829}"/>
              </a:ext>
            </a:extLst>
          </p:cNvPr>
          <p:cNvSpPr>
            <a:spLocks noGrp="1"/>
          </p:cNvSpPr>
          <p:nvPr/>
        </p:nvSpPr>
        <p:spPr>
          <a:xfrm>
            <a:off x="8334375" y="3857625"/>
            <a:ext cx="523875" cy="266700"/>
          </a:xfrm>
          <a:prstGeom prst="rect">
            <a:avLst/>
          </a:prstGeom>
          <a:noFill/>
          <a:ln w="0">
            <a:noFill/>
          </a:ln>
        </p:spPr>
        <p:txBody>
          <a:bodyPr lIns="0" tIns="0" rIns="0" bIns="0" anchor="t">
            <a:normAutofit/>
          </a:bodyPr>
          <a:lstStyle/>
          <a:p>
            <a:pPr algn="l">
              <a:defRPr sz="1425" b="1">
                <a:solidFill>
                  <a:srgbClr val="2F7DF4"/>
                </a:solidFill>
                <a:latin typeface="Apple SD Gothic Neo"/>
                <a:ea typeface="Apple SD Gothic Neo"/>
                <a:cs typeface="Apple SD Gothic Neo"/>
              </a:defRPr>
            </a:pPr>
            <a:r>
              <a:rPr sz="1425" b="1">
                <a:solidFill>
                  <a:srgbClr val="2F7DF4"/>
                </a:solidFill>
                <a:latin typeface="Apple SD Gothic Neo"/>
                <a:ea typeface="Apple SD Gothic Neo"/>
                <a:cs typeface="Apple SD Gothic Neo"/>
              </a:rPr>
              <a:t>Q6</a:t>
            </a:r>
          </a:p>
        </p:txBody>
      </p:sp>
      <p:sp>
        <p:nvSpPr>
          <p:cNvPr id="27" name="직사각형 26">
            <a:extLst>
              <a:ext uri="{FF2B5EF4-FFF2-40B4-BE49-F238E27FC236}">
                <a16:creationId xmlns:a16="http://schemas.microsoft.com/office/drawing/2014/main" id="{F83E2230-6ED0-4A19-B663-F9A16127A852}"/>
              </a:ext>
            </a:extLst>
          </p:cNvPr>
          <p:cNvSpPr>
            <a:spLocks noGrp="1"/>
          </p:cNvSpPr>
          <p:nvPr/>
        </p:nvSpPr>
        <p:spPr>
          <a:xfrm>
            <a:off x="8924925" y="3838575"/>
            <a:ext cx="2381250" cy="523875"/>
          </a:xfrm>
          <a:prstGeom prst="rect">
            <a:avLst/>
          </a:prstGeom>
          <a:noFill/>
          <a:ln w="0">
            <a:noFill/>
          </a:ln>
        </p:spPr>
        <p:txBody>
          <a:bodyPr lIns="0" tIns="0" rIns="0" bIns="0" anchor="t">
            <a:normAutofit/>
          </a:bodyPr>
          <a:lstStyle/>
          <a:p>
            <a:pPr algn="l">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요약표를 저장하고 API 두 주소의 응답을 검사합니다</a:t>
            </a:r>
          </a:p>
        </p:txBody>
      </p:sp>
      <p:sp>
        <p:nvSpPr>
          <p:cNvPr id="28" name="직사각형 27">
            <a:extLst>
              <a:ext uri="{FF2B5EF4-FFF2-40B4-BE49-F238E27FC236}">
                <a16:creationId xmlns:a16="http://schemas.microsoft.com/office/drawing/2014/main" id="{A80133B0-8D04-4F80-AB5D-6CA87905D8C2}"/>
              </a:ext>
            </a:extLst>
          </p:cNvPr>
          <p:cNvSpPr>
            <a:spLocks noGrp="1"/>
          </p:cNvSpPr>
          <p:nvPr/>
        </p:nvSpPr>
        <p:spPr>
          <a:xfrm>
            <a:off x="8353425" y="4505325"/>
            <a:ext cx="3009900" cy="333375"/>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{'status': 'ok', 'rows': 1000} 3</a:t>
            </a:r>
          </a:p>
        </p:txBody>
      </p:sp>
      <p:sp>
        <p:nvSpPr>
          <p:cNvPr id="29" name="직선 연결선[R] 28">
            <a:extLst>
              <a:ext uri="{FF2B5EF4-FFF2-40B4-BE49-F238E27FC236}">
                <a16:creationId xmlns:a16="http://schemas.microsoft.com/office/drawing/2014/main" id="{0E54398A-E4C5-4C12-BE81-68BDE3F1B3C2}"/>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30" name="직사각형 29">
            <a:extLst>
              <a:ext uri="{FF2B5EF4-FFF2-40B4-BE49-F238E27FC236}">
                <a16:creationId xmlns:a16="http://schemas.microsoft.com/office/drawing/2014/main" id="{91DE650E-0B7A-4745-A9C7-230E2259506C}"/>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각 단계의 결과 크기와 API 상태 코드가 모두 맞아야 전체 실습이 끝납니다.</a:t>
            </a:r>
          </a:p>
        </p:txBody>
      </p:sp>
      <p:sp>
        <p:nvSpPr>
          <p:cNvPr id="31" name="직사각형 30">
            <a:extLst>
              <a:ext uri="{FF2B5EF4-FFF2-40B4-BE49-F238E27FC236}">
                <a16:creationId xmlns:a16="http://schemas.microsoft.com/office/drawing/2014/main" id="{8B037E65-B3E9-4277-A32E-D30FB273CA43}"/>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35</a:t>
            </a:r>
          </a:p>
        </p:txBody>
      </p:sp>
    </p:spTree>
    <p:extLst>
      <p:ext uri="{BB962C8B-B14F-4D97-AF65-F5344CB8AC3E}">
        <p14:creationId xmlns:p14="http://schemas.microsoft.com/office/powerpoint/2010/main" val="11286415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55D6B55F-3305-42BB-BE55-04CC5EB56D0D}"/>
              </a:ext>
            </a:extLst>
          </p:cNvPr>
          <p:cNvSpPr>
            <a:spLocks noGrp="1"/>
          </p:cNvSpPr>
          <p:nvPr/>
        </p:nvSpPr>
        <p:spPr>
          <a:xfrm>
            <a:off x="419100" y="247650"/>
            <a:ext cx="7239000" cy="228600"/>
          </a:xfrm>
          <a:prstGeom prst="rect">
            <a:avLst/>
          </a:prstGeom>
          <a:noFill/>
          <a:ln w="0">
            <a:noFill/>
          </a:ln>
        </p:spPr>
        <p:txBody>
          <a:bodyPr lIns="0" tIns="0" rIns="0" bIns="0" anchor="t">
            <a:normAutofit/>
          </a:bodyPr>
          <a:lstStyle/>
          <a:p>
            <a:pPr algn="l">
              <a:defRPr sz="1125" b="1">
                <a:solidFill>
                  <a:srgbClr val="5F6B78"/>
                </a:solidFill>
                <a:latin typeface="Apple SD Gothic Neo"/>
                <a:ea typeface="Apple SD Gothic Neo"/>
                <a:cs typeface="Apple SD Gothic Neo"/>
              </a:defRPr>
            </a:pPr>
            <a:r>
              <a:rPr sz="1125" b="1">
                <a:solidFill>
                  <a:srgbClr val="5F6B78"/>
                </a:solidFill>
                <a:latin typeface="Apple SD Gothic Neo"/>
                <a:ea typeface="Apple SD Gothic Neo"/>
                <a:cs typeface="Apple SD Gothic Neo"/>
              </a:rPr>
              <a:t>DATA ENGINEERING · WEEK 2 · LESSON 8</a:t>
            </a:r>
          </a:p>
        </p:txBody>
      </p:sp>
      <p:sp>
        <p:nvSpPr>
          <p:cNvPr id="2" name="직사각형 1">
            <a:extLst>
              <a:ext uri="{FF2B5EF4-FFF2-40B4-BE49-F238E27FC236}">
                <a16:creationId xmlns:a16="http://schemas.microsoft.com/office/drawing/2014/main" id="{15727FDC-A115-4D98-8B5D-149A8D14452A}"/>
              </a:ext>
            </a:extLst>
          </p:cNvPr>
          <p:cNvSpPr>
            <a:spLocks noGrp="1"/>
          </p:cNvSpPr>
          <p:nvPr/>
        </p:nvSpPr>
        <p:spPr>
          <a:xfrm>
            <a:off x="419100" y="600075"/>
            <a:ext cx="11239500" cy="685800"/>
          </a:xfrm>
          <a:prstGeom prst="rect">
            <a:avLst/>
          </a:prstGeom>
          <a:noFill/>
          <a:ln w="0">
            <a:noFill/>
          </a:ln>
        </p:spPr>
        <p:txBody>
          <a:bodyPr lIns="0" tIns="0" rIns="0" bIns="0" anchor="t">
            <a:normAutofit/>
          </a:bodyPr>
          <a:lstStyle/>
          <a:p>
            <a:pPr algn="l">
              <a:defRPr sz="2850" b="1">
                <a:solidFill>
                  <a:srgbClr val="17202A"/>
                </a:solidFill>
                <a:latin typeface="Apple SD Gothic Neo"/>
                <a:ea typeface="Apple SD Gothic Neo"/>
                <a:cs typeface="Apple SD Gothic Neo"/>
              </a:defRPr>
            </a:pPr>
            <a:r>
              <a:rPr sz="2850" b="1">
                <a:solidFill>
                  <a:srgbClr val="17202A"/>
                </a:solidFill>
                <a:latin typeface="Apple SD Gothic Neo"/>
                <a:ea typeface="Apple SD Gothic Neo"/>
                <a:cs typeface="Apple SD Gothic Neo"/>
              </a:rPr>
              <a:t>수업이 끝난 뒤 무엇을 저장하고 받아야 할까요?</a:t>
            </a:r>
          </a:p>
        </p:txBody>
      </p:sp>
      <p:sp>
        <p:nvSpPr>
          <p:cNvPr id="3" name="직선 연결선[R] 2">
            <a:extLst>
              <a:ext uri="{FF2B5EF4-FFF2-40B4-BE49-F238E27FC236}">
                <a16:creationId xmlns:a16="http://schemas.microsoft.com/office/drawing/2014/main" id="{4BC87BBD-E718-4C32-9ECA-5A32CB40B14B}"/>
              </a:ext>
            </a:extLst>
          </p:cNvPr>
          <p:cNvSpPr>
            <a:spLocks noGrp="1"/>
          </p:cNvSpPr>
          <p:nvPr/>
        </p:nvSpPr>
        <p:spPr>
          <a:xfrm>
            <a:off x="419100" y="1381125"/>
            <a:ext cx="11353800" cy="0"/>
          </a:xfrm>
          <a:prstGeom prst="line">
            <a:avLst/>
          </a:prstGeom>
          <a:noFill/>
          <a:ln w="9525">
            <a:solidFill>
              <a:srgbClr val="D5DEE8"/>
            </a:solidFill>
          </a:ln>
        </p:spPr>
        <p:txBody>
          <a:bodyPr/>
          <a:lstStyle/>
          <a:p>
            <a:endParaRPr lang="ko-KR" altLang="en-US"/>
          </a:p>
        </p:txBody>
      </p:sp>
      <p:sp>
        <p:nvSpPr>
          <p:cNvPr id="4" name="직사각형 3">
            <a:extLst>
              <a:ext uri="{FF2B5EF4-FFF2-40B4-BE49-F238E27FC236}">
                <a16:creationId xmlns:a16="http://schemas.microsoft.com/office/drawing/2014/main" id="{821B27E4-FEF4-4068-8FC3-8EE6468F2F26}"/>
              </a:ext>
            </a:extLst>
          </p:cNvPr>
          <p:cNvSpPr>
            <a:spLocks noGrp="1"/>
          </p:cNvSpPr>
          <p:nvPr/>
        </p:nvSpPr>
        <p:spPr>
          <a:xfrm>
            <a:off x="9334500" y="257175"/>
            <a:ext cx="2381250" cy="209550"/>
          </a:xfrm>
          <a:prstGeom prst="rect">
            <a:avLst/>
          </a:prstGeom>
          <a:noFill/>
          <a:ln w="0">
            <a:noFill/>
          </a:ln>
        </p:spPr>
        <p:txBody>
          <a:bodyPr lIns="0" tIns="0" rIns="0" bIns="0" anchor="t">
            <a:normAutofit/>
          </a:bodyPr>
          <a:lstStyle/>
          <a:p>
            <a:pPr algn="r">
              <a:defRPr sz="1050" b="1">
                <a:solidFill>
                  <a:srgbClr val="2F7DF4"/>
                </a:solidFill>
                <a:latin typeface="Apple SD Gothic Neo"/>
                <a:ea typeface="Apple SD Gothic Neo"/>
                <a:cs typeface="Apple SD Gothic Neo"/>
              </a:defRPr>
            </a:pPr>
            <a:r>
              <a:rPr sz="1050" b="1">
                <a:solidFill>
                  <a:srgbClr val="2F7DF4"/>
                </a:solidFill>
                <a:latin typeface="Apple SD Gothic Neo"/>
                <a:ea typeface="Apple SD Gothic Neo"/>
                <a:cs typeface="Apple SD Gothic Neo"/>
              </a:rPr>
              <a:t>마무리</a:t>
            </a:r>
          </a:p>
        </p:txBody>
      </p:sp>
      <p:sp>
        <p:nvSpPr>
          <p:cNvPr id="5" name="모서리가 둥근 직사각형 4">
            <a:extLst>
              <a:ext uri="{FF2B5EF4-FFF2-40B4-BE49-F238E27FC236}">
                <a16:creationId xmlns:a16="http://schemas.microsoft.com/office/drawing/2014/main" id="{6D1879DB-ED78-4999-AE9D-22460D6C36B1}"/>
              </a:ext>
            </a:extLst>
          </p:cNvPr>
          <p:cNvSpPr>
            <a:spLocks noGrp="1"/>
          </p:cNvSpPr>
          <p:nvPr/>
        </p:nvSpPr>
        <p:spPr>
          <a:xfrm>
            <a:off x="952500" y="2143125"/>
            <a:ext cx="3143250" cy="2238375"/>
          </a:xfrm>
          <a:prstGeom prst="roundRect">
            <a:avLst>
              <a:gd name="adj" fmla="val 5106"/>
            </a:avLst>
          </a:prstGeom>
          <a:solidFill>
            <a:srgbClr val="EAF3FF"/>
          </a:solidFill>
          <a:ln w="9525">
            <a:solidFill>
              <a:srgbClr val="2F7DF4"/>
            </a:solidFill>
          </a:ln>
        </p:spPr>
        <p:txBody>
          <a:bodyPr/>
          <a:lstStyle/>
          <a:p>
            <a:endParaRPr lang="ko-KR" altLang="en-US"/>
          </a:p>
        </p:txBody>
      </p:sp>
      <p:sp>
        <p:nvSpPr>
          <p:cNvPr id="6" name="직사각형 5">
            <a:extLst>
              <a:ext uri="{FF2B5EF4-FFF2-40B4-BE49-F238E27FC236}">
                <a16:creationId xmlns:a16="http://schemas.microsoft.com/office/drawing/2014/main" id="{6061319E-AE7A-416D-AA38-33AE7053CA62}"/>
              </a:ext>
            </a:extLst>
          </p:cNvPr>
          <p:cNvSpPr>
            <a:spLocks noGrp="1"/>
          </p:cNvSpPr>
          <p:nvPr/>
        </p:nvSpPr>
        <p:spPr>
          <a:xfrm>
            <a:off x="1190625" y="2428875"/>
            <a:ext cx="2667000" cy="333375"/>
          </a:xfrm>
          <a:prstGeom prst="rect">
            <a:avLst/>
          </a:prstGeom>
          <a:noFill/>
          <a:ln w="0">
            <a:noFill/>
          </a:ln>
        </p:spPr>
        <p:txBody>
          <a:bodyPr lIns="0" tIns="0" rIns="0" bIns="0" anchor="t">
            <a:normAutofit/>
          </a:bodyPr>
          <a:lstStyle/>
          <a:p>
            <a:pPr algn="ctr">
              <a:defRPr sz="1500" b="1">
                <a:solidFill>
                  <a:srgbClr val="2F7DF4"/>
                </a:solidFill>
                <a:latin typeface="Apple SD Gothic Neo"/>
                <a:ea typeface="Apple SD Gothic Neo"/>
                <a:cs typeface="Apple SD Gothic Neo"/>
              </a:defRPr>
            </a:pPr>
            <a:r>
              <a:rPr sz="1500" b="1">
                <a:solidFill>
                  <a:srgbClr val="2F7DF4"/>
                </a:solidFill>
                <a:latin typeface="Apple SD Gothic Neo"/>
                <a:ea typeface="Apple SD Gothic Neo"/>
                <a:cs typeface="Apple SD Gothic Neo"/>
              </a:rPr>
              <a:t>지금 저장</a:t>
            </a:r>
          </a:p>
        </p:txBody>
      </p:sp>
      <p:sp>
        <p:nvSpPr>
          <p:cNvPr id="7" name="직사각형 6">
            <a:extLst>
              <a:ext uri="{FF2B5EF4-FFF2-40B4-BE49-F238E27FC236}">
                <a16:creationId xmlns:a16="http://schemas.microsoft.com/office/drawing/2014/main" id="{47BF6AE8-0B44-4446-A1F9-1FA228B19610}"/>
              </a:ext>
            </a:extLst>
          </p:cNvPr>
          <p:cNvSpPr>
            <a:spLocks noGrp="1"/>
          </p:cNvSpPr>
          <p:nvPr/>
        </p:nvSpPr>
        <p:spPr>
          <a:xfrm>
            <a:off x="1238250" y="3095625"/>
            <a:ext cx="2571750" cy="904875"/>
          </a:xfrm>
          <a:prstGeom prst="rect">
            <a:avLst/>
          </a:prstGeom>
          <a:noFill/>
          <a:ln w="0">
            <a:noFill/>
          </a:ln>
        </p:spPr>
        <p:txBody>
          <a:bodyPr lIns="0" tIns="0" rIns="0" bIns="0" anchor="t">
            <a:normAutofit/>
          </a:bodyPr>
          <a:lstStyle/>
          <a:p>
            <a:pPr algn="ctr">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내가 채운</a:t>
            </a:r>
          </a:p>
          <a:p>
            <a:pPr algn="ctr">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학생용 노트북</a:t>
            </a:r>
          </a:p>
        </p:txBody>
      </p:sp>
      <p:sp>
        <p:nvSpPr>
          <p:cNvPr id="8" name="모서리가 둥근 직사각형 7">
            <a:extLst>
              <a:ext uri="{FF2B5EF4-FFF2-40B4-BE49-F238E27FC236}">
                <a16:creationId xmlns:a16="http://schemas.microsoft.com/office/drawing/2014/main" id="{AFCE6CB7-2281-4A60-B1BC-A6581F30D443}"/>
              </a:ext>
            </a:extLst>
          </p:cNvPr>
          <p:cNvSpPr>
            <a:spLocks noGrp="1"/>
          </p:cNvSpPr>
          <p:nvPr/>
        </p:nvSpPr>
        <p:spPr>
          <a:xfrm>
            <a:off x="4476750" y="2143125"/>
            <a:ext cx="3143250" cy="2238375"/>
          </a:xfrm>
          <a:prstGeom prst="roundRect">
            <a:avLst>
              <a:gd name="adj" fmla="val 5106"/>
            </a:avLst>
          </a:prstGeom>
          <a:solidFill>
            <a:srgbClr val="F5F7FA"/>
          </a:solidFill>
          <a:ln w="9525">
            <a:solidFill>
              <a:srgbClr val="D5DEE8"/>
            </a:solidFill>
          </a:ln>
        </p:spPr>
        <p:txBody>
          <a:bodyPr/>
          <a:lstStyle/>
          <a:p>
            <a:endParaRPr lang="ko-KR" altLang="en-US"/>
          </a:p>
        </p:txBody>
      </p:sp>
      <p:sp>
        <p:nvSpPr>
          <p:cNvPr id="9" name="직사각형 8">
            <a:extLst>
              <a:ext uri="{FF2B5EF4-FFF2-40B4-BE49-F238E27FC236}">
                <a16:creationId xmlns:a16="http://schemas.microsoft.com/office/drawing/2014/main" id="{8CEA5B90-541D-4DB2-85EC-ADD5D567ECA2}"/>
              </a:ext>
            </a:extLst>
          </p:cNvPr>
          <p:cNvSpPr>
            <a:spLocks noGrp="1"/>
          </p:cNvSpPr>
          <p:nvPr/>
        </p:nvSpPr>
        <p:spPr>
          <a:xfrm>
            <a:off x="4714875" y="2428875"/>
            <a:ext cx="2667000" cy="333375"/>
          </a:xfrm>
          <a:prstGeom prst="rect">
            <a:avLst/>
          </a:prstGeom>
          <a:noFill/>
          <a:ln w="0">
            <a:noFill/>
          </a:ln>
        </p:spPr>
        <p:txBody>
          <a:bodyPr lIns="0" tIns="0" rIns="0" bIns="0" anchor="t">
            <a:normAutofit/>
          </a:bodyPr>
          <a:lstStyle/>
          <a:p>
            <a:pPr algn="ctr">
              <a:defRPr sz="1500" b="1">
                <a:solidFill>
                  <a:srgbClr val="5F6B78"/>
                </a:solidFill>
                <a:latin typeface="Apple SD Gothic Neo"/>
                <a:ea typeface="Apple SD Gothic Neo"/>
                <a:cs typeface="Apple SD Gothic Neo"/>
              </a:defRPr>
            </a:pPr>
            <a:r>
              <a:rPr sz="1500" b="1">
                <a:solidFill>
                  <a:srgbClr val="5F6B78"/>
                </a:solidFill>
                <a:latin typeface="Apple SD Gothic Neo"/>
                <a:ea typeface="Apple SD Gothic Neo"/>
                <a:cs typeface="Apple SD Gothic Neo"/>
              </a:rPr>
              <a:t>수업 뒤 받기</a:t>
            </a:r>
          </a:p>
        </p:txBody>
      </p:sp>
      <p:sp>
        <p:nvSpPr>
          <p:cNvPr id="10" name="직사각형 9">
            <a:extLst>
              <a:ext uri="{FF2B5EF4-FFF2-40B4-BE49-F238E27FC236}">
                <a16:creationId xmlns:a16="http://schemas.microsoft.com/office/drawing/2014/main" id="{B86C674B-0373-4943-8356-EC4928D61EFF}"/>
              </a:ext>
            </a:extLst>
          </p:cNvPr>
          <p:cNvSpPr>
            <a:spLocks noGrp="1"/>
          </p:cNvSpPr>
          <p:nvPr/>
        </p:nvSpPr>
        <p:spPr>
          <a:xfrm>
            <a:off x="4762500" y="3095625"/>
            <a:ext cx="2571750" cy="904875"/>
          </a:xfrm>
          <a:prstGeom prst="rect">
            <a:avLst/>
          </a:prstGeom>
          <a:noFill/>
          <a:ln w="0">
            <a:noFill/>
          </a:ln>
        </p:spPr>
        <p:txBody>
          <a:bodyPr lIns="0" tIns="0" rIns="0" bIns="0" anchor="t">
            <a:normAutofit/>
          </a:bodyPr>
          <a:lstStyle/>
          <a:p>
            <a:pPr algn="ctr">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04_학생용_</a:t>
            </a:r>
          </a:p>
          <a:p>
            <a:pPr algn="ctr">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복습완성본.ipynb</a:t>
            </a:r>
          </a:p>
        </p:txBody>
      </p:sp>
      <p:sp>
        <p:nvSpPr>
          <p:cNvPr id="11" name="모서리가 둥근 직사각형 10">
            <a:extLst>
              <a:ext uri="{FF2B5EF4-FFF2-40B4-BE49-F238E27FC236}">
                <a16:creationId xmlns:a16="http://schemas.microsoft.com/office/drawing/2014/main" id="{A5BDC7A8-12A1-42BA-BF40-2B3B001ACF4C}"/>
              </a:ext>
            </a:extLst>
          </p:cNvPr>
          <p:cNvSpPr>
            <a:spLocks noGrp="1"/>
          </p:cNvSpPr>
          <p:nvPr/>
        </p:nvSpPr>
        <p:spPr>
          <a:xfrm>
            <a:off x="8001000" y="2143125"/>
            <a:ext cx="3143250" cy="2238375"/>
          </a:xfrm>
          <a:prstGeom prst="roundRect">
            <a:avLst>
              <a:gd name="adj" fmla="val 5106"/>
            </a:avLst>
          </a:prstGeom>
          <a:solidFill>
            <a:srgbClr val="F5F7FA"/>
          </a:solidFill>
          <a:ln w="9525">
            <a:solidFill>
              <a:srgbClr val="D5DEE8"/>
            </a:solidFill>
          </a:ln>
        </p:spPr>
        <p:txBody>
          <a:bodyPr/>
          <a:lstStyle/>
          <a:p>
            <a:endParaRPr lang="ko-KR" altLang="en-US"/>
          </a:p>
        </p:txBody>
      </p:sp>
      <p:sp>
        <p:nvSpPr>
          <p:cNvPr id="12" name="직사각형 11">
            <a:extLst>
              <a:ext uri="{FF2B5EF4-FFF2-40B4-BE49-F238E27FC236}">
                <a16:creationId xmlns:a16="http://schemas.microsoft.com/office/drawing/2014/main" id="{DBF2B08F-2C11-4F61-903F-673D2E1C21E5}"/>
              </a:ext>
            </a:extLst>
          </p:cNvPr>
          <p:cNvSpPr>
            <a:spLocks noGrp="1"/>
          </p:cNvSpPr>
          <p:nvPr/>
        </p:nvSpPr>
        <p:spPr>
          <a:xfrm>
            <a:off x="8239125" y="2428875"/>
            <a:ext cx="2667000" cy="333375"/>
          </a:xfrm>
          <a:prstGeom prst="rect">
            <a:avLst/>
          </a:prstGeom>
          <a:noFill/>
          <a:ln w="0">
            <a:noFill/>
          </a:ln>
        </p:spPr>
        <p:txBody>
          <a:bodyPr lIns="0" tIns="0" rIns="0" bIns="0" anchor="t">
            <a:normAutofit/>
          </a:bodyPr>
          <a:lstStyle/>
          <a:p>
            <a:pPr algn="ctr">
              <a:defRPr sz="1500" b="1">
                <a:solidFill>
                  <a:srgbClr val="5F6B78"/>
                </a:solidFill>
                <a:latin typeface="Apple SD Gothic Neo"/>
                <a:ea typeface="Apple SD Gothic Neo"/>
                <a:cs typeface="Apple SD Gothic Neo"/>
              </a:defRPr>
            </a:pPr>
            <a:r>
              <a:rPr sz="1500" b="1">
                <a:solidFill>
                  <a:srgbClr val="5F6B78"/>
                </a:solidFill>
                <a:latin typeface="Apple SD Gothic Neo"/>
                <a:ea typeface="Apple SD Gothic Neo"/>
                <a:cs typeface="Apple SD Gothic Neo"/>
              </a:rPr>
              <a:t>강사만 보관</a:t>
            </a:r>
          </a:p>
        </p:txBody>
      </p:sp>
      <p:sp>
        <p:nvSpPr>
          <p:cNvPr id="13" name="직사각형 12">
            <a:extLst>
              <a:ext uri="{FF2B5EF4-FFF2-40B4-BE49-F238E27FC236}">
                <a16:creationId xmlns:a16="http://schemas.microsoft.com/office/drawing/2014/main" id="{9F59555A-9CD4-410F-87DB-135E9FF4B329}"/>
              </a:ext>
            </a:extLst>
          </p:cNvPr>
          <p:cNvSpPr>
            <a:spLocks noGrp="1"/>
          </p:cNvSpPr>
          <p:nvPr/>
        </p:nvSpPr>
        <p:spPr>
          <a:xfrm>
            <a:off x="8286750" y="3095625"/>
            <a:ext cx="2571750" cy="904875"/>
          </a:xfrm>
          <a:prstGeom prst="rect">
            <a:avLst/>
          </a:prstGeom>
          <a:noFill/>
          <a:ln w="0">
            <a:noFill/>
          </a:ln>
        </p:spPr>
        <p:txBody>
          <a:bodyPr lIns="0" tIns="0" rIns="0" bIns="0" anchor="t">
            <a:normAutofit/>
          </a:bodyPr>
          <a:lstStyle/>
          <a:p>
            <a:pPr algn="ctr">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정답 노트북과</a:t>
            </a:r>
          </a:p>
          <a:p>
            <a:pPr algn="ctr">
              <a:defRPr sz="1500" b="1">
                <a:solidFill>
                  <a:srgbClr val="17202A"/>
                </a:solidFill>
                <a:latin typeface="Apple SD Gothic Neo"/>
                <a:ea typeface="Apple SD Gothic Neo"/>
                <a:cs typeface="Apple SD Gothic Neo"/>
              </a:defRPr>
            </a:pPr>
            <a:r>
              <a:rPr sz="1500" b="1">
                <a:solidFill>
                  <a:srgbClr val="17202A"/>
                </a:solidFill>
                <a:latin typeface="Apple SD Gothic Neo"/>
                <a:ea typeface="Apple SD Gothic Neo"/>
                <a:cs typeface="Apple SD Gothic Neo"/>
              </a:rPr>
              <a:t>03_전체실행.py</a:t>
            </a:r>
          </a:p>
        </p:txBody>
      </p:sp>
      <p:sp>
        <p:nvSpPr>
          <p:cNvPr id="14" name="모서리가 둥근 직사각형 13">
            <a:extLst>
              <a:ext uri="{FF2B5EF4-FFF2-40B4-BE49-F238E27FC236}">
                <a16:creationId xmlns:a16="http://schemas.microsoft.com/office/drawing/2014/main" id="{0F6ABA46-DD24-47A2-AAD3-192393CD0415}"/>
              </a:ext>
            </a:extLst>
          </p:cNvPr>
          <p:cNvSpPr>
            <a:spLocks noGrp="1"/>
          </p:cNvSpPr>
          <p:nvPr/>
        </p:nvSpPr>
        <p:spPr>
          <a:xfrm>
            <a:off x="1619250" y="5048250"/>
            <a:ext cx="8953500" cy="590550"/>
          </a:xfrm>
          <a:prstGeom prst="roundRect">
            <a:avLst>
              <a:gd name="adj" fmla="val 19355"/>
            </a:avLst>
          </a:prstGeom>
          <a:solidFill>
            <a:srgbClr val="EAF7F0"/>
          </a:solidFill>
          <a:ln w="9525">
            <a:solidFill>
              <a:srgbClr val="18794E"/>
            </a:solidFill>
          </a:ln>
        </p:spPr>
        <p:txBody>
          <a:bodyPr/>
          <a:lstStyle/>
          <a:p>
            <a:endParaRPr lang="ko-KR" altLang="en-US"/>
          </a:p>
        </p:txBody>
      </p:sp>
      <p:sp>
        <p:nvSpPr>
          <p:cNvPr id="15" name="직사각형 14">
            <a:extLst>
              <a:ext uri="{FF2B5EF4-FFF2-40B4-BE49-F238E27FC236}">
                <a16:creationId xmlns:a16="http://schemas.microsoft.com/office/drawing/2014/main" id="{F935602D-7E51-4B99-B08F-9ABA73D8D7AB}"/>
              </a:ext>
            </a:extLst>
          </p:cNvPr>
          <p:cNvSpPr>
            <a:spLocks noGrp="1"/>
          </p:cNvSpPr>
          <p:nvPr/>
        </p:nvSpPr>
        <p:spPr>
          <a:xfrm>
            <a:off x="1905000" y="5210175"/>
            <a:ext cx="8382000" cy="295275"/>
          </a:xfrm>
          <a:prstGeom prst="rect">
            <a:avLst/>
          </a:prstGeom>
          <a:noFill/>
          <a:ln w="0">
            <a:noFill/>
          </a:ln>
        </p:spPr>
        <p:txBody>
          <a:bodyPr lIns="0" tIns="0" rIns="0" bIns="0" anchor="t">
            <a:normAutofit/>
          </a:bodyPr>
          <a:lstStyle/>
          <a:p>
            <a:pPr algn="ctr">
              <a:defRPr sz="1500" b="1">
                <a:solidFill>
                  <a:srgbClr val="18794E"/>
                </a:solidFill>
                <a:latin typeface="Apple SD Gothic Neo"/>
                <a:ea typeface="Apple SD Gothic Neo"/>
                <a:cs typeface="Apple SD Gothic Neo"/>
              </a:defRPr>
            </a:pPr>
            <a:r>
              <a:rPr sz="1500" b="1">
                <a:solidFill>
                  <a:srgbClr val="18794E"/>
                </a:solidFill>
                <a:latin typeface="Apple SD Gothic Neo"/>
                <a:ea typeface="Apple SD Gothic Neo"/>
                <a:cs typeface="Apple SD Gothic Neo"/>
              </a:rPr>
              <a:t>CSV 25개를 30,000행으로 합치고 1,000행으로 요약한 뒤 36열로 변환해 API 응답까지 확인합니다.</a:t>
            </a:r>
          </a:p>
        </p:txBody>
      </p:sp>
      <p:sp>
        <p:nvSpPr>
          <p:cNvPr id="16" name="직선 연결선[R] 15">
            <a:extLst>
              <a:ext uri="{FF2B5EF4-FFF2-40B4-BE49-F238E27FC236}">
                <a16:creationId xmlns:a16="http://schemas.microsoft.com/office/drawing/2014/main" id="{632482E9-FFA4-4555-9598-245CD7728D22}"/>
              </a:ext>
            </a:extLst>
          </p:cNvPr>
          <p:cNvSpPr>
            <a:spLocks noGrp="1"/>
          </p:cNvSpPr>
          <p:nvPr/>
        </p:nvSpPr>
        <p:spPr>
          <a:xfrm>
            <a:off x="419100" y="6191250"/>
            <a:ext cx="11353800" cy="0"/>
          </a:xfrm>
          <a:prstGeom prst="line">
            <a:avLst/>
          </a:prstGeom>
          <a:noFill/>
          <a:ln w="9525">
            <a:solidFill>
              <a:srgbClr val="D5DEE8"/>
            </a:solidFill>
          </a:ln>
        </p:spPr>
        <p:txBody>
          <a:bodyPr/>
          <a:lstStyle/>
          <a:p>
            <a:endParaRPr lang="ko-KR" altLang="en-US"/>
          </a:p>
        </p:txBody>
      </p:sp>
      <p:sp>
        <p:nvSpPr>
          <p:cNvPr id="17" name="직사각형 16">
            <a:extLst>
              <a:ext uri="{FF2B5EF4-FFF2-40B4-BE49-F238E27FC236}">
                <a16:creationId xmlns:a16="http://schemas.microsoft.com/office/drawing/2014/main" id="{79DC46B7-A129-4150-93C5-0518478D5507}"/>
              </a:ext>
            </a:extLst>
          </p:cNvPr>
          <p:cNvSpPr>
            <a:spLocks noGrp="1"/>
          </p:cNvSpPr>
          <p:nvPr/>
        </p:nvSpPr>
        <p:spPr>
          <a:xfrm>
            <a:off x="419100" y="6324600"/>
            <a:ext cx="9906000" cy="266700"/>
          </a:xfrm>
          <a:prstGeom prst="rect">
            <a:avLst/>
          </a:prstGeom>
          <a:noFill/>
          <a:ln w="0">
            <a:noFill/>
          </a:ln>
        </p:spPr>
        <p:txBody>
          <a:bodyPr lIns="0" tIns="0" rIns="0" bIns="0" anchor="t">
            <a:normAutofit/>
          </a:bodyPr>
          <a:lstStyle/>
          <a:p>
            <a:pPr algn="l">
              <a:defRPr sz="1200" b="1">
                <a:solidFill>
                  <a:srgbClr val="5F6B78"/>
                </a:solidFill>
                <a:latin typeface="Apple SD Gothic Neo"/>
                <a:ea typeface="Apple SD Gothic Neo"/>
                <a:cs typeface="Apple SD Gothic Neo"/>
              </a:defRPr>
            </a:pPr>
            <a:r>
              <a:rPr sz="1200" b="1">
                <a:solidFill>
                  <a:srgbClr val="5F6B78"/>
                </a:solidFill>
                <a:latin typeface="Apple SD Gothic Neo"/>
                <a:ea typeface="Apple SD Gothic Neo"/>
                <a:cs typeface="Apple SD Gothic Neo"/>
              </a:rPr>
              <a:t>학생용 배포 압축파일은 3주 전체 검토가 끝난 뒤 한꺼번에 만듭니다.</a:t>
            </a:r>
          </a:p>
        </p:txBody>
      </p:sp>
      <p:sp>
        <p:nvSpPr>
          <p:cNvPr id="18" name="직사각형 17">
            <a:extLst>
              <a:ext uri="{FF2B5EF4-FFF2-40B4-BE49-F238E27FC236}">
                <a16:creationId xmlns:a16="http://schemas.microsoft.com/office/drawing/2014/main" id="{B728A187-5B01-4F1D-A631-8C053A2CAB92}"/>
              </a:ext>
            </a:extLst>
          </p:cNvPr>
          <p:cNvSpPr>
            <a:spLocks noGrp="1"/>
          </p:cNvSpPr>
          <p:nvPr/>
        </p:nvSpPr>
        <p:spPr>
          <a:xfrm>
            <a:off x="10858500" y="6324600"/>
            <a:ext cx="876300" cy="238125"/>
          </a:xfrm>
          <a:prstGeom prst="rect">
            <a:avLst/>
          </a:prstGeom>
          <a:noFill/>
          <a:ln w="0">
            <a:noFill/>
          </a:ln>
        </p:spPr>
        <p:txBody>
          <a:bodyPr lIns="0" tIns="0" rIns="0" bIns="0" anchor="t">
            <a:normAutofit/>
          </a:bodyPr>
          <a:lstStyle/>
          <a:p>
            <a:pPr algn="r">
              <a:defRPr sz="1050" b="0">
                <a:solidFill>
                  <a:srgbClr val="5F6B78"/>
                </a:solidFill>
                <a:latin typeface="Apple SD Gothic Neo"/>
                <a:ea typeface="Apple SD Gothic Neo"/>
                <a:cs typeface="Apple SD Gothic Neo"/>
              </a:defRPr>
            </a:pPr>
            <a:r>
              <a:rPr sz="1050" b="0">
                <a:solidFill>
                  <a:srgbClr val="5F6B78"/>
                </a:solidFill>
                <a:latin typeface="Apple SD Gothic Neo"/>
                <a:ea typeface="Apple SD Gothic Neo"/>
                <a:cs typeface="Apple SD Gothic Neo"/>
              </a:rPr>
              <a:t>36</a:t>
            </a:r>
          </a:p>
        </p:txBody>
      </p:sp>
    </p:spTree>
    <p:extLst>
      <p:ext uri="{BB962C8B-B14F-4D97-AF65-F5344CB8AC3E}">
        <p14:creationId xmlns:p14="http://schemas.microsoft.com/office/powerpoint/2010/main" val="159153227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20477</Words>
  <Application>Microsoft Macintosh PowerPoint</Application>
  <DocSecurity>0</DocSecurity>
  <PresentationFormat>와이드스크린</PresentationFormat>
  <Paragraphs>2130</Paragraphs>
  <Slides>38</Slides>
  <Notes>37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38</vt:i4>
      </vt:variant>
    </vt:vector>
  </HeadingPairs>
  <TitlesOfParts>
    <vt:vector size="42" baseType="lpstr">
      <vt:lpstr>Apple SD Gothic Neo</vt:lpstr>
      <vt:lpstr>Calibri</vt:lpstr>
      <vt:lpstr>Menlo</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김윤이</cp:lastModifiedBy>
  <cp:revision>2</cp:revision>
  <dcterms:created xsi:type="dcterms:W3CDTF">2026-09-08T12:50:39Z</dcterms:created>
  <dcterms:modified xsi:type="dcterms:W3CDTF">2026-10-08T02:50:57Z</dcterms:modified>
</cp:coreProperties>
</file>