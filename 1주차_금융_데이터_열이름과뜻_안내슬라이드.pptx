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257"/>
  </p:normalViewPr>
  <p:slideViewPr>
    <p:cSldViewPr snapToGrid="0">
      <p:cViewPr varScale="1">
        <p:scale>
          <a:sx n="106" d="100"/>
          <a:sy n="106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자료의 목적]</a:t>
            </a:r>
          </a:p>
          <a:p>
            <a:r>
              <a:t>금융 선택과제의 CSV 열을 처음 보는 학생이 분야 배경과 데이터의 뜻을 함께 이해하도록 돕습니다.</a:t>
            </a:r>
          </a:p>
          <a:p>
            <a:endParaRPr/>
          </a:p>
          <a:p>
            <a:r>
              <a:t>[강사가 먼저 설명할 내용]</a:t>
            </a:r>
          </a:p>
          <a:p>
            <a:r>
              <a:t>이 데이터는 실제 회사 자료가 아니라 1주차 처리 원리를 다른 분야에 옮겨 보기 위해 만든 합성 데이터입니다.</a:t>
            </a:r>
          </a:p>
          <a:p>
            <a:endParaRPr/>
          </a:p>
          <a:p>
            <a:r>
              <a:t>[자료 사용]</a:t>
            </a:r>
          </a:p>
          <a:p>
            <a:r>
              <a:t>열 이름을 암기시키기보다 한 행의 대상, 값의 단위, 업무에서 기록하는 이유를 먼저 설명합니다.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학생이 데이터 열을 보기 전에 이 표가 어떤 업무에서 생기는지 이해합니다.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카드와 결제 서비스를 운영하는 회사는 여러 업종의 가맹점 거래를 관리합니다.</a:t>
            </a:r>
          </a:p>
          <a:p>
            <a:r>
              <a:t>- 가맹점마다 업종과 지역, 거래 규모, 정산 조건이 다릅니다.</a:t>
            </a:r>
          </a:p>
          <a:p>
            <a:r>
              <a:t>- 운영 담당자는 환불과 차지백, 고객확인 상태, 최근 문의 이력을 함께 살펴봅니다.</a:t>
            </a:r>
          </a:p>
          <a:p>
            <a:r>
              <a:t>- 가맹점별 거래 한도와 경보 기준, 검토 주기는 별도 위험 규칙표에서 관리합니다.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운영 담당자가 매출만 보고 수동 검토 대상을 정할 수 있을까요?</a:t>
            </a:r>
          </a:p>
          <a:p>
            <a:r>
              <a:t>[기대 답]</a:t>
            </a:r>
          </a:p>
          <a:p>
            <a:r>
              <a:t>한 가지 값만으로 판단하기 어렵고 여러 기록과 기준을 함께 봐야 합니다.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열 정리가 단순한 코딩 연습이 아니라 업무 판단의 기초라는 점을 설명합니다.</a:t>
            </a:r>
          </a:p>
          <a:p>
            <a:endParaRPr/>
          </a:p>
          <a:p>
            <a:r>
              <a:t>[각 항목을 설명하는 문장]</a:t>
            </a:r>
          </a:p>
          <a:p>
            <a:r>
              <a:t>- 이상 징후의 조기 확인: 환불과 차지백 비율이 평소보다 높으면 거래 내역을 추가로 확인할 필요가 있습니다.</a:t>
            </a:r>
          </a:p>
          <a:p>
            <a:r>
              <a:t>- 고객확인 일정 관리: KYC 검토일과 주기를 함께 보면 재확인이 필요한 가맹점을 놓치지 않을 수 있습니다.</a:t>
            </a:r>
          </a:p>
          <a:p>
            <a:r>
              <a:t>- 검토 인력의 우선순위: 모든 가맹점을 동시에 볼 수 없으므로 기록을 바탕으로 먼저 확인할 대상을 정합니다.</a:t>
            </a:r>
          </a:p>
          <a:p>
            <a:r>
              <a:t>- 판단 근거 보존: 왜 어떤 가맹점을 수동 검토 대상으로 골랐는지 나중에 다시 설명할 수 있어야 합니다.</a:t>
            </a:r>
          </a:p>
          <a:p>
            <a:endParaRPr/>
          </a:p>
          <a:p>
            <a:r>
              <a:t>[주의]</a:t>
            </a:r>
          </a:p>
          <a:p>
            <a:r>
              <a:t>이 과제는 합성 데이터로 처리 원리를 연습합니다. 실제 안전 또는 금융 판단은 별도의 검증과 책임 체계가 필요합니다.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학생이 새로운 분야의 단어를 1주차 결혼정보 데이터의 처리 역할과 연결합니다.</a:t>
            </a:r>
          </a:p>
          <a:p>
            <a:endParaRPr/>
          </a:p>
          <a:p>
            <a:r>
              <a:t>[핵심 설명]</a:t>
            </a:r>
          </a:p>
          <a:p>
            <a:r>
              <a:t>대상과 열 이름은 바뀌지만 ID 중복 제거, 문자 숫자 변환, 날짜 계산, 기준표 결합, X와 y 분리라는 처리 원리는 같습니다.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member_id와 같은 역할을 하는 금융 선택과제의 열은 무엇인가요?</a:t>
            </a:r>
          </a:p>
          <a:p>
            <a:r>
              <a:t>[기대 답]</a:t>
            </a:r>
          </a:p>
          <a:p>
            <a:r>
              <a:t>merchant_id입니다.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파일마다 한 행이 무엇을 뜻하고 언제 쓰는지 구분합니다.</a:t>
            </a:r>
          </a:p>
          <a:p>
            <a:endParaRPr/>
          </a:p>
          <a:p>
            <a:r>
              <a:t>[finance_merchants.csv]</a:t>
            </a:r>
          </a:p>
          <a:p>
            <a:r>
              <a:t>243행 × 16열. 가맹점 한 곳의 기본 정보와 교육용 정답. 고유 가맹점 240곳과 중복 3행이 들어 있습니다.</a:t>
            </a:r>
          </a:p>
          <a:p>
            <a:endParaRPr/>
          </a:p>
          <a:p>
            <a:r>
              <a:t>[finance_risk_rules.csv]</a:t>
            </a:r>
          </a:p>
          <a:p>
            <a:r>
              <a:t>240행 × 6열. 가맹점 한 곳의 거래 한도와 경보 기준. merchant_id로 기준표에 붙입니다.</a:t>
            </a:r>
          </a:p>
          <a:p>
            <a:endParaRPr/>
          </a:p>
          <a:p>
            <a:r>
              <a:t>[finance_merchants_new.csv]</a:t>
            </a:r>
          </a:p>
          <a:p>
            <a:r>
              <a:t>40행 × 15열. 정답 열이 없는 신규 가맹점. train에서 배운 전처리 기준만 적용합니다.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정답 열이 들어 있는 파일과 처음 보는 새 대상 파일은 무엇이 다른가요?</a:t>
            </a:r>
          </a:p>
          <a:p>
            <a:r>
              <a:t>[기대 답]</a:t>
            </a:r>
          </a:p>
          <a:p>
            <a:r>
              <a:t>신규 파일에는 아직 판단 결과인 정답 y가 없습니다.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오류가 우연히 생긴 것이 아니라 1주차 정제 기술을 다른 분야에서 다시 사용하도록 설계되었음을 설명합니다.</a:t>
            </a:r>
          </a:p>
          <a:p>
            <a:endParaRPr/>
          </a:p>
          <a:p>
            <a:r>
              <a:t>[의도적으로 넣은 문제]</a:t>
            </a:r>
          </a:p>
          <a:p>
            <a:r>
              <a:t>- 중복 merchant_id 3행을 제거해 240곳으로 정리합니다.</a:t>
            </a:r>
          </a:p>
          <a:p>
            <a:r>
              <a:t>- 지역명이 Seoul, seoul, 공백 포함 값으로 섞여 있습니다.</a:t>
            </a:r>
          </a:p>
          <a:p>
            <a:r>
              <a:t>- monthly_sales_10k_krw의 확인중 4개를 숫자 변환 뒤 결측으로 처리합니다.</a:t>
            </a:r>
          </a:p>
          <a:p>
            <a:r>
              <a:t>- refund_rate의 빈칸 4개를 중앙값으로 채웁니다.</a:t>
            </a:r>
          </a:p>
          <a:p>
            <a:r>
              <a:t>- 신규 가맹점에는 처음 보는 디지털콘텐츠 업종이 들어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코드가 실행되기만 하면 데이터가 올바르게 정리되었다고 믿어도 될까요?</a:t>
            </a:r>
          </a:p>
          <a:p>
            <a:r>
              <a:t>[기대 답]</a:t>
            </a:r>
          </a:p>
          <a:p>
            <a:r>
              <a:t>행 수, 중복, 결측, 자료형과 범주를 결과로 다시 확인해야 합니다.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세 파일이 과제에서 어떤 순서로 사용되는지 한눈에 봅니다.</a:t>
            </a:r>
          </a:p>
          <a:p>
            <a:endParaRPr/>
          </a:p>
          <a:p>
            <a:r>
              <a:t>[설명 순서]</a:t>
            </a:r>
          </a:p>
          <a:p>
            <a:r>
              <a:t>기준표 확인, 잘못된 값 정리, 추가 기준표 결합, X와 y 분리, 신규 대상에 같은 전처리 적용 순서입니다.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신규 데이터에 fit_transform 대신 transform을 쓰는 이유는 무엇인가요?</a:t>
            </a:r>
          </a:p>
          <a:p>
            <a:r>
              <a:t>[기대 답]</a:t>
            </a:r>
          </a:p>
          <a:p>
            <a:r>
              <a:t>기존 train에서 배운 기준을 그대로 사용해야 같은 열 구조와 비교 기준을 유지할 수 있기 때문입니다.</a:t>
            </a:r>
          </a:p>
          <a:p>
            <a:endParaRPr/>
          </a:p>
          <a:p>
            <a:r>
              <a:t>[이미지 출처] 프로젝트 내 1주차_금융_선택과제_한눈에보기.png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finance_merchants.csv의 열을 역할별로 먼저 묶어 본 뒤 다음 장부터 한 열씩 살펴봅니다.</a:t>
            </a:r>
          </a:p>
          <a:p>
            <a:endParaRPr/>
          </a:p>
          <a:p>
            <a:r>
              <a:t>[자료구조]</a:t>
            </a:r>
          </a:p>
          <a:p>
            <a:r>
              <a:t>CSV를 pd.read_csv로 읽으면 DataFrame이 되고, 한 열을 대괄호 한 겹으로 꺼내면 Series가 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표에서 한 행은 무엇을 뜻하나요?</a:t>
            </a:r>
          </a:p>
          <a:p>
            <a:r>
              <a:t>[기대 답]</a:t>
            </a:r>
          </a:p>
          <a:p>
            <a:r>
              <a:t>가맹점 한 곳입니다.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merchant_id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기준표와 위험 규칙표 DataFrame의 한 열입니다. 대괄호 한 겹으로 선택하면 Series가 됩니다. 읽은 직후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 한 곳을 구분하고 두 표의 같은 대상을 정확히 연결하는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원본 243행에는 같은 ID가 3번 더 들어 있습니다. 상호명이나 행 번호로 연결하면 다른 가맹점이 섞일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가맹점 이름보다 ID가 결합 기준으로 안전한 이유는 무엇일까요?</a:t>
            </a:r>
          </a:p>
          <a:p>
            <a:r>
              <a:t>[기대 답]</a:t>
            </a:r>
          </a:p>
          <a:p>
            <a:r>
              <a:t>이름은 바뀌거나 겹칠 수 있지만 고유 ID는 같은 가맹점을 안정적으로 가리키기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중복 제거 · is_unique 확인 · merge의 on 값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merchant_name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운영 담당자가 화면과 보고서에서 가맹점을 알아보기 쉽게 보여 주는 이름입니다.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사람이 읽기에는 편하지만 고유하다고 보장할 수 없어 표 결합의 기준으로 쓰지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상호명이 바뀌면 과거 기록과 연결이 끊길 수 있을까요?</a:t>
            </a:r>
          </a:p>
          <a:p>
            <a:r>
              <a:t>[기대 답]</a:t>
            </a:r>
          </a:p>
          <a:p>
            <a:r>
              <a:t>이름으로 연결했다면 끊길 수 있지만 고유 ID로 연결하면 같은 가맹점 기록을 이어갈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결과표 표시용 · ID와 함께 확인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industry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업종에 따라 거래 형태와 환불 패턴이 달라질 수 있어 비교 기준으로 사용합니다.</a:t>
            </a:r>
          </a:p>
          <a:p>
            <a:endParaRPr/>
          </a:p>
          <a:p>
            <a:r>
              <a:t>[주의할 점]</a:t>
            </a:r>
          </a:p>
          <a:p>
            <a:r>
              <a:t>신규 데이터에는 기존 학습표에 없던 디지털콘텐츠 업종이 등장합니다.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새 업종이 들어와도 기존 열 구조를 유지해야 하는 이유는 무엇일까요?</a:t>
            </a:r>
          </a:p>
          <a:p>
            <a:r>
              <a:t>[기대 답]</a:t>
            </a:r>
          </a:p>
          <a:p>
            <a:r>
              <a:t>기존 전처리기와 이후 모델이 같은 입력 열 구조를 기대하기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범주형 입력 X · handle_unknown='ignore'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region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지역별 가맹점 수와 운영·검토 업무량을 비교할 때 사용합니다.</a:t>
            </a:r>
          </a:p>
          <a:p>
            <a:endParaRPr/>
          </a:p>
          <a:p>
            <a:r>
              <a:t>[주의할 점]</a:t>
            </a:r>
          </a:p>
          <a:p>
            <a:r>
              <a:t>서울이 Seoul, seoul처럼 섞이고 일부 값에는 공백이 있습니다. 먼저 표기를 통일해야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같은 서울이 여러 표기로 남으면 어떤 문제가 생길까요?</a:t>
            </a:r>
          </a:p>
          <a:p>
            <a:r>
              <a:t>[기대 답]</a:t>
            </a:r>
          </a:p>
          <a:p>
            <a:r>
              <a:t>서로 다른 지역처럼 나뉘어 가맹점 수와 검토 건수가 잘못 집계됩니다.</a:t>
            </a:r>
          </a:p>
          <a:p>
            <a:endParaRPr/>
          </a:p>
          <a:p>
            <a:r>
              <a:t>[과제 연결]</a:t>
            </a:r>
          </a:p>
          <a:p>
            <a:r>
              <a:t>str.strip · replace · 문자 전처리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account_open_date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읽은 직후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가맹점이 언제부터 거래를 시작했는지 계산할 출발 날짜입니다.</a:t>
            </a:r>
          </a:p>
          <a:p>
            <a:endParaRPr/>
          </a:p>
          <a:p>
            <a:r>
              <a:t>[주의할 점]</a:t>
            </a:r>
          </a:p>
          <a:p>
            <a:r>
              <a:t>CSV에서는 날짜처럼 보여도 문자열입니다. 운영기간을 계산하려면 datetime으로 바꿔야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계정 개설일만 보고 오래된 가맹점인지 바로 비교하기 쉬울까요?</a:t>
            </a:r>
          </a:p>
          <a:p>
            <a:r>
              <a:t>[기대 답]</a:t>
            </a:r>
          </a:p>
          <a:p>
            <a:r>
              <a:t>날짜를 경과일이나 운영기간으로 바꾸면 서로 비교하기 쉬워집니다.</a:t>
            </a:r>
          </a:p>
          <a:p>
            <a:endParaRPr/>
          </a:p>
          <a:p>
            <a:r>
              <a:t>[과제 연결]</a:t>
            </a:r>
          </a:p>
          <a:p>
            <a:r>
              <a:t>pd.to_datetime · 운영기간 확장 가능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last_kyc_review_date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읽은 직후 문자열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가맹점의 신원과 사업 정보를 마지막으로 확인한 날짜입니다. KYC는 고객확인 절차를 뜻합니다.</a:t>
            </a:r>
          </a:p>
          <a:p>
            <a:endParaRPr/>
          </a:p>
          <a:p>
            <a:r>
              <a:t>[주의할 점]</a:t>
            </a:r>
          </a:p>
          <a:p>
            <a:r>
              <a:t>기준일 2026-09-01에서 이 날짜를 빼 days_since_kyc_review를 만듭니다.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최근 검토일을 경과일로 바꾸면 무엇이 쉬워질까요?</a:t>
            </a:r>
          </a:p>
          <a:p>
            <a:r>
              <a:t>[기대 답]</a:t>
            </a:r>
          </a:p>
          <a:p>
            <a:r>
              <a:t>검토 후 오래 지난 가맹점을 같은 숫자 기준으로 비교할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datetime 변환 · 검토 경과일 파생열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monthly_sales_10k_krw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혼합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한 달 동안 가맹점에서 발생한 거래 규모를 만원 단위로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확인중 4개가 섞여 있어 바로 평균을 낼 수 없습니다. 숫자 변환 뒤 결측을 중앙값 7,492만원으로 채웁니다.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14,305라는 숫자에 실제 단위가 원인지 만원인지 왜 확인해야 할까요?</a:t>
            </a:r>
          </a:p>
          <a:p>
            <a:r>
              <a:t>[기대 답]</a:t>
            </a:r>
          </a:p>
          <a:p>
            <a:r>
              <a:t>단위를 잘못 읽으면 실제 금액을 만 배까지 다르게 해석할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pd.to_numeric(errors='coerce') · median · fillna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avg_ticket_krw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실수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한 번의 결제에서 평균적으로 얼마가 거래되는지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월 매출은 만원 단위이고 평균 결제금액은 원 단위입니다. 서로 단위가 다릅니다.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월 매출과 평균 결제금액을 숫자만 보고 직접 비교해도 될까요?</a:t>
            </a:r>
          </a:p>
          <a:p>
            <a:r>
              <a:t>[기대 답]</a:t>
            </a:r>
          </a:p>
          <a:p>
            <a:r>
              <a:t>안 됩니다. 기간과 단위가 다르므로 의미를 구분해야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단위 확인 · 스케일링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refund_rate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실수 비율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전체 거래 중 환불된 거래가 차지하는 비율을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원본에 빈칸 4개가 있습니다. 0.0038을 3.8%로 읽지 않도록 비율 표시 방식을 확인해야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0.01은 1%일까요, 0.01%일까요?</a:t>
            </a:r>
          </a:p>
          <a:p>
            <a:r>
              <a:t>[기대 답]</a:t>
            </a:r>
          </a:p>
          <a:p>
            <a:r>
              <a:t>소수 비율 0.01은 1%입니다.</a:t>
            </a:r>
          </a:p>
          <a:p>
            <a:endParaRPr/>
          </a:p>
          <a:p>
            <a:r>
              <a:t>[과제 연결]</a:t>
            </a:r>
          </a:p>
          <a:p>
            <a:r>
              <a:t>isna 점검 · median · 숫자형 입력 X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차지백</a:t>
            </a:r>
            <a:r>
              <a:rPr lang="ko-KR" altLang="ko-KR" dirty="0"/>
              <a:t>(</a:t>
            </a:r>
            <a:r>
              <a:rPr lang="ko-KR" altLang="ko-KR" dirty="0" err="1"/>
              <a:t>chargeback</a:t>
            </a:r>
            <a:r>
              <a:rPr lang="ko-KR" altLang="ko-KR" dirty="0"/>
              <a:t>)은 고객이 카드사나 결제기관에 “이 결제가 </a:t>
            </a:r>
            <a:r>
              <a:rPr lang="ko-KR" altLang="ko-KR" dirty="0" err="1"/>
              <a:t>이상하다”라고</a:t>
            </a:r>
            <a:r>
              <a:rPr lang="ko-KR" altLang="ko-KR" dirty="0"/>
              <a:t> 이의를 제기해서, 결제 금액을 강제로 되돌리는 절차입니다.</a:t>
            </a:r>
          </a:p>
          <a:p>
            <a:r>
              <a:rPr lang="ko-KR" altLang="ko-KR" dirty="0"/>
              <a:t>예를 들어:</a:t>
            </a:r>
          </a:p>
          <a:p>
            <a:pPr lvl="0"/>
            <a:r>
              <a:rPr lang="ko-KR" altLang="ko-KR" dirty="0"/>
              <a:t>고객이 가맹점에서 10만 원을 결제합니다.</a:t>
            </a:r>
          </a:p>
          <a:p>
            <a:pPr lvl="0"/>
            <a:r>
              <a:rPr lang="ko-KR" altLang="ko-KR" dirty="0"/>
              <a:t>고객이 “내가 한 결제가 아니다” 또는 “상품을 받지 </a:t>
            </a:r>
            <a:r>
              <a:rPr lang="ko-KR" altLang="ko-KR" dirty="0" err="1"/>
              <a:t>못했다”고</a:t>
            </a:r>
            <a:r>
              <a:rPr lang="ko-KR" altLang="ko-KR" dirty="0"/>
              <a:t> 카드사에 신고합니다.</a:t>
            </a:r>
          </a:p>
          <a:p>
            <a:pPr lvl="0"/>
            <a:r>
              <a:rPr lang="ko-KR" altLang="ko-KR" dirty="0"/>
              <a:t>카드사가 가맹점의 돈을 일단 고객에게 돌려줍니다.</a:t>
            </a:r>
          </a:p>
          <a:p>
            <a:pPr lvl="0"/>
            <a:r>
              <a:rPr lang="ko-KR" altLang="ko-KR" dirty="0"/>
              <a:t>가맹점은 결제 금액과 처리 수수료를 부담할 수 있습니다.</a:t>
            </a:r>
          </a:p>
          <a:p>
            <a:r>
              <a:rPr lang="ko-KR" altLang="ko-KR" dirty="0"/>
              <a:t>그래서 </a:t>
            </a:r>
            <a:r>
              <a:rPr lang="ko-KR" altLang="ko-KR" sz="1200" kern="1200" dirty="0" err="1"/>
              <a:t>chargeback_rate</a:t>
            </a:r>
            <a:r>
              <a:rPr lang="ko-KR" altLang="ko-KR" dirty="0" err="1"/>
              <a:t>가</a:t>
            </a:r>
            <a:r>
              <a:rPr lang="ko-KR" altLang="ko-KR" dirty="0"/>
              <a:t> 높다는 것은 보통 다음 위험을 의미합니다.</a:t>
            </a:r>
          </a:p>
          <a:p>
            <a:pPr lvl="0"/>
            <a:r>
              <a:rPr lang="ko-KR" altLang="ko-KR" dirty="0"/>
              <a:t>도난 카드나 부정 결제가 많을 가능성</a:t>
            </a:r>
          </a:p>
          <a:p>
            <a:pPr lvl="0"/>
            <a:r>
              <a:rPr lang="ko-KR" altLang="ko-KR" dirty="0" err="1"/>
              <a:t>상품·서비스</a:t>
            </a:r>
            <a:r>
              <a:rPr lang="ko-KR" altLang="ko-KR" dirty="0"/>
              <a:t> 분쟁이 많은 가능성</a:t>
            </a:r>
          </a:p>
          <a:p>
            <a:pPr lvl="0"/>
            <a:r>
              <a:rPr lang="ko-KR" altLang="ko-KR" dirty="0"/>
              <a:t>결제 취소나 고객 불만이 많은 가능성</a:t>
            </a:r>
          </a:p>
          <a:p>
            <a:pPr lvl="0"/>
            <a:r>
              <a:rPr lang="ko-KR" altLang="ko-KR" dirty="0"/>
              <a:t>가맹점의 매출을 실제로 회수하지 못할 가능성</a:t>
            </a:r>
          </a:p>
          <a:p>
            <a:pPr lvl="0"/>
            <a:r>
              <a:rPr lang="ko-KR" altLang="ko-KR" dirty="0"/>
              <a:t>금융회사가 추가 조사를 해야 할 가능성</a:t>
            </a:r>
          </a:p>
          <a:p>
            <a:r>
              <a:rPr lang="ko-KR" altLang="ko-KR" dirty="0"/>
              <a:t>다만 </a:t>
            </a:r>
            <a:r>
              <a:rPr lang="ko-KR" altLang="ko-KR" dirty="0" err="1"/>
              <a:t>차지백</a:t>
            </a:r>
            <a:r>
              <a:rPr lang="ko-KR" altLang="ko-KR" dirty="0"/>
              <a:t> 비율이 높다고 해서 곧바로 가맹점이 부정행위를 했다는 뜻은 아닙니다. 배송 문제, 고객의 단순 오해, 결제 시스템 오류 때문에 발생할 수도 있습니다.</a:t>
            </a:r>
          </a:p>
          <a:p>
            <a:r>
              <a:rPr lang="ko-KR" altLang="ko-KR" sz="1200" kern="1200" dirty="0" err="1"/>
              <a:t>refund_rate</a:t>
            </a:r>
            <a:r>
              <a:rPr lang="ko-KR" altLang="ko-KR" dirty="0" err="1"/>
              <a:t>와도</a:t>
            </a:r>
            <a:r>
              <a:rPr lang="ko-KR" altLang="ko-KR" dirty="0"/>
              <a:t> 다릅니다.</a:t>
            </a:r>
          </a:p>
          <a:p>
            <a:pPr lvl="0"/>
            <a:r>
              <a:rPr lang="ko-KR" altLang="ko-KR" sz="1200" kern="1200" dirty="0" err="1"/>
              <a:t>refund_rate</a:t>
            </a:r>
            <a:r>
              <a:rPr lang="ko-KR" altLang="ko-KR" dirty="0"/>
              <a:t>: 가맹점과 고객이 합의해서 정상적으로 환불한 비율</a:t>
            </a:r>
          </a:p>
          <a:p>
            <a:pPr lvl="0"/>
            <a:r>
              <a:rPr lang="ko-KR" altLang="ko-KR" sz="1200" kern="1200" dirty="0" err="1"/>
              <a:t>chargeback_rate</a:t>
            </a:r>
            <a:r>
              <a:rPr lang="ko-KR" altLang="ko-KR" dirty="0"/>
              <a:t>: 고객이 카드사나 결제기관을 통해 강제로 이의를 제기한 비율</a:t>
            </a:r>
          </a:p>
          <a:p>
            <a:r>
              <a:rPr lang="ko-KR" altLang="ko-KR" dirty="0"/>
              <a:t>따라서 금융회사 입장에서는 </a:t>
            </a:r>
            <a:r>
              <a:rPr lang="ko-KR" altLang="ko-KR" dirty="0" err="1"/>
              <a:t>차지백</a:t>
            </a:r>
            <a:r>
              <a:rPr lang="ko-KR" altLang="ko-KR" dirty="0"/>
              <a:t> 비율이 높으면 “이 가맹점을 바로 나쁘다고 </a:t>
            </a:r>
            <a:r>
              <a:rPr lang="ko-KR" altLang="ko-KR" dirty="0" err="1"/>
              <a:t>판단한다”기보다</a:t>
            </a:r>
            <a:r>
              <a:rPr lang="ko-KR" altLang="ko-KR" dirty="0"/>
              <a:t>, 다음을 추가로 확인할 대상으로 봅니다.</a:t>
            </a:r>
          </a:p>
          <a:p>
            <a:r>
              <a:rPr lang="ko-KR" altLang="ko-KR" dirty="0"/>
              <a:t>거래 내역, 환불 사유, 고객 민원, 본인 인증 기록 등을 더 살펴볼 필요가 있는 가맹점</a:t>
            </a:r>
          </a:p>
          <a:p>
            <a:r>
              <a:rPr lang="ko-KR" altLang="ko-KR" dirty="0"/>
              <a:t>우리 선택과제에서는 </a:t>
            </a:r>
            <a:r>
              <a:rPr lang="ko-KR" altLang="ko-KR" sz="1200" kern="1200" dirty="0" err="1"/>
              <a:t>chargeback_rate</a:t>
            </a:r>
            <a:r>
              <a:rPr lang="ko-KR" altLang="ko-KR" dirty="0" err="1"/>
              <a:t>와</a:t>
            </a:r>
            <a:r>
              <a:rPr lang="ko-KR" altLang="ko-KR" dirty="0"/>
              <a:t> </a:t>
            </a:r>
            <a:r>
              <a:rPr lang="ko-KR" altLang="ko-KR" sz="1200" kern="1200" dirty="0" err="1"/>
              <a:t>chargeback_alert_rate</a:t>
            </a:r>
            <a:r>
              <a:rPr lang="ko-KR" altLang="ko-KR" dirty="0" err="1"/>
              <a:t>를</a:t>
            </a:r>
            <a:r>
              <a:rPr lang="ko-KR" altLang="ko-KR" dirty="0"/>
              <a:t> 비교해서, 실제 비율이 기준을 넘는지를 확인하는 연습을 하도록 만든 것입니다. 즉, 이 값은 “문제가 확정된 </a:t>
            </a:r>
            <a:r>
              <a:rPr lang="ko-KR" altLang="ko-KR" dirty="0" err="1"/>
              <a:t>점수”가</a:t>
            </a:r>
            <a:r>
              <a:rPr lang="ko-KR" altLang="ko-KR" dirty="0"/>
              <a:t> 아니라 </a:t>
            </a:r>
            <a:r>
              <a:rPr lang="ko-KR" altLang="ko-KR" b="1" dirty="0"/>
              <a:t>추가 확인이 필요한 위험 신호</a:t>
            </a:r>
            <a:r>
              <a:rPr lang="ko-KR" altLang="ko-KR" dirty="0"/>
              <a:t>입니다.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kyc_status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가맹점의 신원과 사업자 정보 확인이 어느 단계인지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수업용 단순화 값입니다. 실제 금융기관의 절차와 법적 판단을 대신하지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갱신필요와 검토중은 같은 상태일까요?</a:t>
            </a:r>
          </a:p>
          <a:p>
            <a:r>
              <a:t>[기대 답]</a:t>
            </a:r>
          </a:p>
          <a:p>
            <a:r>
              <a:t>다릅니다. 하나는 재확인이 필요한 상태이고 다른 하나는 현재 검토가 진행 중인 상태입니다.</a:t>
            </a:r>
          </a:p>
          <a:p>
            <a:endParaRPr/>
          </a:p>
          <a:p>
            <a:r>
              <a:t>[과제 연결]</a:t>
            </a:r>
          </a:p>
          <a:p>
            <a:r>
              <a:t>범주형 입력 X · OneHotEncoder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risk_tier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회사 내부 기준으로 가맹점의 관리 수준을 구분한 교육용 등급입니다.</a:t>
            </a:r>
          </a:p>
          <a:p>
            <a:endParaRPr/>
          </a:p>
          <a:p>
            <a:r>
              <a:t>[주의할 점]</a:t>
            </a:r>
          </a:p>
          <a:p>
            <a:r>
              <a:t>위험 등급은 부정 거래 확정이나 법적 결론이 아닙니다. 검토 우선순위를 정하는 참고값입니다.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위험 등급이 높음이면 반드시 문제가 있는 가맹점일까요?</a:t>
            </a:r>
          </a:p>
          <a:p>
            <a:r>
              <a:t>[기대 답]</a:t>
            </a:r>
          </a:p>
          <a:p>
            <a:r>
              <a:t>아니요. 추가 검토가 더 필요하다는 신호로 이해해야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범주형 입력 X · 업무 우선순위 해석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settlement_cycle_days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거래 대금을 가맹점에 지급하기까지 걸리는 주기를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숫자이지만 단순 크기만으로 좋고 나쁨을 판단할 수 없습니다. 계약과 위험 정책에 따라 의미가 달라집니다.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정산 주기가 짧으면 항상 좋은 조건일까요?</a:t>
            </a:r>
          </a:p>
          <a:p>
            <a:r>
              <a:t>[기대 답]</a:t>
            </a:r>
          </a:p>
          <a:p>
            <a:r>
              <a:t>가맹점에는 편리할 수 있지만 회사의 위험 정책과 운영 조건도 함께 봐야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업무 확인용 · 필요 시 숫자형 입력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support_tickets_90d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최근 운영 과정에서 고객지원 요청이 얼마나 발생했는지 보여 줍니다.</a:t>
            </a:r>
          </a:p>
          <a:p>
            <a:endParaRPr/>
          </a:p>
          <a:p>
            <a:r>
              <a:t>[주의할 점]</a:t>
            </a:r>
          </a:p>
          <a:p>
            <a:r>
              <a:t>문의가 많다는 사실만으로 위험하다고 단정할 수 없습니다. 문의 내용과 거래 규모를 함께 봐야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문의 0건과 기록 없음은 왜 구분해야 할까요?</a:t>
            </a:r>
          </a:p>
          <a:p>
            <a:r>
              <a:t>[기대 답]</a:t>
            </a:r>
          </a:p>
          <a:p>
            <a:r>
              <a:t>0건은 문의가 없었다는 기록이고 기록 없음은 상태를 모른다는 뜻이기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최근 운영 이력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active_status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문자열 범주 · object입니다.</a:t>
            </a:r>
          </a:p>
          <a:p>
            <a:endParaRPr/>
          </a:p>
          <a:p>
            <a:r>
              <a:t>[업무 배경]</a:t>
            </a:r>
          </a:p>
          <a:p>
            <a:r>
              <a:t>현재 거래를 정상적으로 받고 있는지 알려 줍니다.</a:t>
            </a:r>
          </a:p>
          <a:p>
            <a:endParaRPr/>
          </a:p>
          <a:p>
            <a:r>
              <a:t>[주의할 점]</a:t>
            </a:r>
          </a:p>
          <a:p>
            <a:r>
              <a:t>일시중지와 manual_review_required=True는 같은 뜻이 아닙니다. 운영 상태와 검토 판단을 분리합니다.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운영 중인 가맹점도 수동 검토 대상이 될 수 있을까요?</a:t>
            </a:r>
          </a:p>
          <a:p>
            <a:r>
              <a:t>[기대 답]</a:t>
            </a:r>
          </a:p>
          <a:p>
            <a:r>
              <a:t>그럴 수 있습니다. 운영 상태와 위험 검토는 서로 다른 업무 판단입니다.</a:t>
            </a:r>
          </a:p>
          <a:p>
            <a:endParaRPr/>
          </a:p>
          <a:p>
            <a:r>
              <a:t>[과제 연결]</a:t>
            </a:r>
          </a:p>
          <a:p>
            <a:r>
              <a:t>업무 확인용 · 필요 시 필터 조건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manual_review_required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가맹점 기준표 DataFrame의 한 열입니다. 대괄호 한 겹으로 선택하면 Series가 됩니다. 읽은 직후 자료형은 불리언 · bool입니다.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 정보를 보고 맞히려는 교육용 정답 y입니다. True는 담당자가 추가로 확인할 대상으로 표시된 경우입니다.</a:t>
            </a:r>
          </a:p>
          <a:p>
            <a:endParaRPr/>
          </a:p>
          <a:p>
            <a:r>
              <a:t>[주의할 점]</a:t>
            </a:r>
          </a:p>
          <a:p>
            <a:r>
              <a:t>부정 거래 확정이나 거래 중단 명령이 아닙니다. 수업용 합성 데이터의 검토 필요 표시입니다.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열을 X에 남기면 왜 답안 유출이 될까요?</a:t>
            </a:r>
          </a:p>
          <a:p>
            <a:r>
              <a:t>[기대 답]</a:t>
            </a:r>
          </a:p>
          <a:p>
            <a:r>
              <a:t>모델이 맞혀야 할 정답을 입력에서 미리 볼 수 있기 때문입니다.</a:t>
            </a:r>
          </a:p>
          <a:p>
            <a:endParaRPr/>
          </a:p>
          <a:p>
            <a:r>
              <a:t>[과제 연결]</a:t>
            </a:r>
          </a:p>
          <a:p>
            <a:r>
              <a:t>y로 분리 · X에서 제거 · stratify 기준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결혼정보 데이터로 비유하면:</a:t>
            </a:r>
          </a:p>
          <a:p>
            <a:pPr lvl="0"/>
            <a:r>
              <a:rPr lang="ko-KR" altLang="ko-KR" sz="1200" kern="1200" dirty="0" err="1"/>
              <a:t>members</a:t>
            </a:r>
            <a:r>
              <a:rPr lang="ko-KR" altLang="ko-KR" dirty="0"/>
              <a:t>: 회원의 기본정보</a:t>
            </a:r>
          </a:p>
          <a:p>
            <a:pPr lvl="0"/>
            <a:r>
              <a:rPr lang="ko-KR" altLang="ko-KR" sz="1200" kern="1200" dirty="0" err="1"/>
              <a:t>preferences</a:t>
            </a:r>
            <a:r>
              <a:rPr lang="ko-KR" altLang="ko-KR" dirty="0"/>
              <a:t>: 회원이 원하는 조건</a:t>
            </a:r>
          </a:p>
          <a:p>
            <a:r>
              <a:rPr lang="ko-KR" altLang="ko-KR" dirty="0" err="1"/>
              <a:t>제조·금융</a:t>
            </a:r>
            <a:r>
              <a:rPr lang="ko-KR" altLang="ko-KR" dirty="0"/>
              <a:t> 과제에서는:</a:t>
            </a:r>
          </a:p>
          <a:p>
            <a:pPr lvl="0"/>
            <a:r>
              <a:rPr lang="ko-KR" altLang="ko-KR" dirty="0"/>
              <a:t>제조 </a:t>
            </a:r>
            <a:r>
              <a:rPr lang="ko-KR" altLang="ko-KR" sz="1200" kern="1200" dirty="0" err="1"/>
              <a:t>manufacturing_equipment.csv</a:t>
            </a:r>
            <a:r>
              <a:rPr lang="ko-KR" altLang="ko-KR" dirty="0"/>
              <a:t>: 설비의 기본정보와 현재 상태</a:t>
            </a:r>
          </a:p>
          <a:p>
            <a:pPr lvl="0"/>
            <a:r>
              <a:rPr lang="ko-KR" altLang="ko-KR" dirty="0"/>
              <a:t>제조 </a:t>
            </a:r>
            <a:r>
              <a:rPr lang="ko-KR" altLang="ko-KR" sz="1200" kern="1200" dirty="0" err="1"/>
              <a:t>manufacturing_specs.csv</a:t>
            </a:r>
            <a:r>
              <a:rPr lang="ko-KR" altLang="ko-KR" dirty="0"/>
              <a:t>: 설비별 </a:t>
            </a:r>
            <a:r>
              <a:rPr lang="ko-KR" altLang="ko-KR" dirty="0" err="1"/>
              <a:t>온도·압력·진동</a:t>
            </a:r>
            <a:r>
              <a:rPr lang="ko-KR" altLang="ko-KR" dirty="0"/>
              <a:t> 허용 기준</a:t>
            </a:r>
          </a:p>
          <a:p>
            <a:pPr lvl="0"/>
            <a:r>
              <a:rPr lang="ko-KR" altLang="ko-KR" dirty="0"/>
              <a:t>금융 </a:t>
            </a:r>
            <a:r>
              <a:rPr lang="ko-KR" altLang="ko-KR" sz="1200" kern="1200" dirty="0" err="1"/>
              <a:t>finance_merchants.csv</a:t>
            </a:r>
            <a:r>
              <a:rPr lang="ko-KR" altLang="ko-KR" dirty="0"/>
              <a:t>: 가맹점의 기본정보와 현재 상태</a:t>
            </a:r>
          </a:p>
          <a:p>
            <a:pPr lvl="0"/>
            <a:r>
              <a:rPr lang="ko-KR" altLang="ko-KR" dirty="0"/>
              <a:t>금융 </a:t>
            </a:r>
            <a:r>
              <a:rPr lang="ko-KR" altLang="ko-KR" sz="1200" kern="1200" dirty="0" err="1"/>
              <a:t>finance_risk_rules.csv</a:t>
            </a:r>
            <a:r>
              <a:rPr lang="ko-KR" altLang="ko-KR" dirty="0"/>
              <a:t>: 가맹점별 </a:t>
            </a:r>
            <a:r>
              <a:rPr lang="ko-KR" altLang="ko-KR" dirty="0" err="1"/>
              <a:t>거래한도·위험</a:t>
            </a:r>
            <a:r>
              <a:rPr lang="ko-KR" altLang="ko-KR" dirty="0"/>
              <a:t> 경보 기준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추가 기준표를 따로 만든 이유는 세 가지입니다.</a:t>
            </a:r>
          </a:p>
          <a:p>
            <a:pPr lvl="0"/>
            <a:r>
              <a:rPr lang="ko-KR" altLang="ko-KR" b="1" dirty="0"/>
              <a:t>기본정보와 업무 규칙을 분리하기 위해서입니다.</a:t>
            </a:r>
            <a:br>
              <a:rPr lang="ko-KR" altLang="ko-KR" dirty="0"/>
            </a:br>
            <a:r>
              <a:rPr lang="ko-KR" altLang="ko-KR" dirty="0"/>
              <a:t>설비 이름이나 설치일이 바뀌는 것과, 허용 온도 기준이 바뀌는 것은 서로 다른 업무입니다.</a:t>
            </a:r>
          </a:p>
          <a:p>
            <a:pPr lvl="0"/>
            <a:r>
              <a:rPr lang="ko-KR" altLang="ko-KR" b="1" dirty="0" err="1"/>
              <a:t>기준값을</a:t>
            </a:r>
            <a:r>
              <a:rPr lang="ko-KR" altLang="ko-KR" b="1" dirty="0"/>
              <a:t> 코드에 직접 적지 않기 위해서입니다.</a:t>
            </a:r>
            <a:br>
              <a:rPr lang="ko-KR" altLang="ko-KR" dirty="0"/>
            </a:br>
            <a:r>
              <a:rPr lang="ko-KR" altLang="ko-KR" sz="1200" kern="1200" dirty="0" err="1"/>
              <a:t>if</a:t>
            </a:r>
            <a:r>
              <a:rPr lang="ko-KR" altLang="ko-KR" sz="1200" kern="1200" dirty="0"/>
              <a:t> </a:t>
            </a:r>
            <a:r>
              <a:rPr lang="ko-KR" altLang="ko-KR" sz="1200" kern="1200" dirty="0" err="1"/>
              <a:t>pressure</a:t>
            </a:r>
            <a:r>
              <a:rPr lang="ko-KR" altLang="ko-KR" sz="1200" kern="1200" dirty="0"/>
              <a:t> &gt; 6.09</a:t>
            </a:r>
            <a:r>
              <a:rPr lang="ko-KR" altLang="ko-KR" dirty="0"/>
              <a:t>처럼 코딩해 버리면 기준이 바뀔 때 프로그램을 고쳐야 합니다. 표로 분리하면 기준표만 교체하거나 갱신할 수 있습니다.</a:t>
            </a:r>
          </a:p>
          <a:p>
            <a:pPr lvl="0"/>
            <a:r>
              <a:rPr lang="ko-KR" altLang="ko-KR" b="1" dirty="0"/>
              <a:t>실무적인 여러 표 결합을 연습하기 위해서입니다.</a:t>
            </a:r>
            <a:br>
              <a:rPr lang="ko-KR" altLang="ko-KR" dirty="0"/>
            </a:br>
            <a:r>
              <a:rPr lang="ko-KR" altLang="ko-KR" dirty="0"/>
              <a:t>실제 회사 데이터도 기본정보, 운영 규칙, </a:t>
            </a:r>
            <a:r>
              <a:rPr lang="ko-KR" altLang="ko-KR" dirty="0" err="1"/>
              <a:t>사양표</a:t>
            </a:r>
            <a:r>
              <a:rPr lang="ko-KR" altLang="ko-KR" dirty="0"/>
              <a:t>, 위험 기준표가 각각 다른 파일이나 테이블에 저장되는 경우가 많습니다.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daily_limit_10k_krw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위험 규칙표 DataFrame의 한 열입니다. 대괄호 한 겹으로 선택하면 Series가 됩니다. 읽은 직후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가맹점이 하루 동안 처리할 수 있도록 설정된 거래 규모 한도입니다.</a:t>
            </a:r>
          </a:p>
          <a:p>
            <a:endParaRPr/>
          </a:p>
          <a:p>
            <a:r>
              <a:t>[주의할 점]</a:t>
            </a:r>
          </a:p>
          <a:p>
            <a:r>
              <a:t>만원 단위입니다. 실제 거래액과 비교할 때 단위를 맞춰야 합니다.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월 매출과 일일 한도를 비교하려면 무엇을 먼저 맞춰야 할까요?</a:t>
            </a:r>
          </a:p>
          <a:p>
            <a:r>
              <a:t>[기대 답]</a:t>
            </a:r>
          </a:p>
          <a:p>
            <a:r>
              <a:t>기간과 단위를 같은 기준으로 맞춰야 합니다.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규칙표 결합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cross_border_allowed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위험 규칙표 DataFrame의 한 열입니다. 대괄호 한 겹으로 선택하면 Series가 됩니다. 읽은 직후 자료형은 불리언 · bool입니다.</a:t>
            </a:r>
          </a:p>
          <a:p>
            <a:endParaRPr/>
          </a:p>
          <a:p>
            <a:r>
              <a:t>[업무 배경]</a:t>
            </a:r>
          </a:p>
          <a:p>
            <a:r>
              <a:t>해외에서 발생한 거래를 허용하는 가맹점인지 알려 줍니다.</a:t>
            </a:r>
          </a:p>
          <a:p>
            <a:endParaRPr/>
          </a:p>
          <a:p>
            <a:r>
              <a:t>[주의할 점]</a:t>
            </a:r>
          </a:p>
          <a:p>
            <a:r>
              <a:t>False는 오류나 결측이 아니라 해외결제를 허용하지 않는 명확한 정책값입니다.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False를 빈칸처럼 취급하면 어떤 문제가 생길까요?</a:t>
            </a:r>
          </a:p>
          <a:p>
            <a:r>
              <a:t>[기대 답]</a:t>
            </a:r>
          </a:p>
          <a:p>
            <a:r>
              <a:t>해외결제 불허라는 중요한 정책 정보가 사라집니다.</a:t>
            </a:r>
          </a:p>
          <a:p>
            <a:endParaRPr/>
          </a:p>
          <a:p>
            <a:r>
              <a:t>[과제 연결]</a:t>
            </a:r>
          </a:p>
          <a:p>
            <a:r>
              <a:t>규칙 확인용 · 필요 시 범주형 처리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refund_alert_rate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위험 규칙표 DataFrame의 한 열입니다. 대괄호 한 겹으로 선택하면 Series가 됩니다. 읽은 직후 자료형은 실수 비율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환불 비율이 어느 수준을 넘으면 추가 확인할지 정한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실제 환불 비율 refund_rate와 비교해야 의미가 생깁니다. 기준값만으로는 상태를 알 수 없습니다.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refund_rate가 0.12이고 경보 기준이 0.10이면 무엇을 확인할까요?</a:t>
            </a:r>
          </a:p>
          <a:p>
            <a:r>
              <a:t>[기대 답]</a:t>
            </a:r>
          </a:p>
          <a:p>
            <a:r>
              <a:t>실제 환불 비율이 기준을 넘었으므로 추가 검토 대상으로 확인합니다.</a:t>
            </a:r>
          </a:p>
          <a:p>
            <a:endParaRPr/>
          </a:p>
          <a:p>
            <a:r>
              <a:t>[과제 연결]</a:t>
            </a:r>
          </a:p>
          <a:p>
            <a:r>
              <a:t>규칙표 결합 · 실제값과 기준 비교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chargeback_alert_rate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위험 규칙표 DataFrame의 한 열입니다. 대괄호 한 겹으로 선택하면 Series가 됩니다. 읽은 직후 자료형은 실수 비율 · float64입니다.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차지백 비율이 어느 수준을 넘으면 추가 확인할지 정한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가맹점마다 적용 기준이 다를 수 있으므로 하나의 고정 숫자를 모든 가맹점에 적용하지 않습니다.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왜 실제 차지백 비율과 규칙표의 기준을 같은 행에 붙일까요?</a:t>
            </a:r>
          </a:p>
          <a:p>
            <a:r>
              <a:t>[기대 답]</a:t>
            </a:r>
          </a:p>
          <a:p>
            <a:r>
              <a:t>가맹점별 실제값이 해당 가맹점의 기준을 넘었는지 비교하기 위해서입니다.</a:t>
            </a:r>
          </a:p>
          <a:p>
            <a:endParaRPr/>
          </a:p>
          <a:p>
            <a:r>
              <a:t>[과제 연결]</a:t>
            </a:r>
          </a:p>
          <a:p>
            <a:r>
              <a:t>규칙표 결합 · 기준 초과 여부 확장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review_cycle_days 열의 업무 의미와 자료형, 과제에서의 사용 방법을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위험 규칙표 DataFrame의 한 열입니다. 대괄호 한 겹으로 선택하면 Series가 됩니다. 읽은 직후 자료형은 정수 · int64입니다.</a:t>
            </a:r>
          </a:p>
          <a:p>
            <a:endParaRPr/>
          </a:p>
          <a:p>
            <a:r>
              <a:t>[업무 배경]</a:t>
            </a:r>
          </a:p>
          <a:p>
            <a:r>
              <a:t>가맹점 정보를 몇 일마다 다시 확인하도록 정했는지 보여 주는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days_since_kyc_review와 비교하면 정기 검토 시점이 지났는지 판단할 수 있습니다.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검토 경과일이 검토 주기보다 크면 어떤 상태일까요?</a:t>
            </a:r>
          </a:p>
          <a:p>
            <a:r>
              <a:t>[기대 답]</a:t>
            </a:r>
          </a:p>
          <a:p>
            <a:r>
              <a:t>정기 검토 시점을 넘긴 가맹점으로 볼 수 있습니다.</a:t>
            </a:r>
          </a:p>
          <a:p>
            <a:endParaRPr/>
          </a:p>
          <a:p>
            <a:r>
              <a:t>[과제 연결]</a:t>
            </a:r>
          </a:p>
          <a:p>
            <a:r>
              <a:t>숫자형 입력 X · 검토 지연 플래그 확장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학습에 사용한 기준표와 처음 보는 신규 데이터의 차이를 이해합니다.</a:t>
            </a:r>
          </a:p>
          <a:p>
            <a:endParaRPr/>
          </a:p>
          <a:p>
            <a:r>
              <a:t>[핵심 설명]</a:t>
            </a:r>
          </a:p>
          <a:p>
            <a:r>
              <a:t>- 기준표와 같은 15개 입력 열을 가지지만 manual_review_required는 없습니다.</a:t>
            </a:r>
          </a:p>
          <a:p>
            <a:r>
              <a:t>- 기존 240곳에서 배운 중앙값과 범주 열 구조를 그대로 적용합니다.</a:t>
            </a:r>
          </a:p>
          <a:p>
            <a:r>
              <a:t>- 새 업종 디지털콘텐츠가 있어도 handle_unknown='ignore'가 열 구조를 유지합니다.</a:t>
            </a:r>
          </a:p>
          <a:p>
            <a:r>
              <a:t>- 신규 가맹점에서 다시 fit하면 기존 가맹점과 비교 기준이 달라집니다.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신규 데이터에서 다시 fit하면 왜 안 될까요?</a:t>
            </a:r>
          </a:p>
          <a:p>
            <a:r>
              <a:t>[기대 답]</a:t>
            </a:r>
          </a:p>
          <a:p>
            <a:r>
              <a:t>신규 데이터의 정보를 기준에 섞으면 기존 train과 다른 비교 기준과 열 구조가 생길 수 있기 때문입니다.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학생이 열 설명을 실제 노트북 Q1부터 Q7까지 연결합니다.</a:t>
            </a:r>
          </a:p>
          <a:p>
            <a:endParaRPr/>
          </a:p>
          <a:p>
            <a:r>
              <a:t>[진행 순서]</a:t>
            </a:r>
          </a:p>
          <a:p>
            <a:r>
              <a:t>- Q1에서 세 CSV의 위치와 243행, 240행을 확인합니다.</a:t>
            </a:r>
          </a:p>
          <a:p>
            <a:r>
              <a:t>- Q2에서 중복, 지역 표기, 문자 숫자, 결측값을 정리합니다.</a:t>
            </a:r>
          </a:p>
          <a:p>
            <a:r>
              <a:t>- Q3과 Q4에서 위험 규칙표를 붙이고 KYC 검토 경과일을 만듭니다.</a:t>
            </a:r>
          </a:p>
          <a:p>
            <a:r>
              <a:t>- Q5와 Q6에서 X와 y를 나누고 전처리 기준을 train에서 배웁니다.</a:t>
            </a:r>
          </a:p>
          <a:p>
            <a:r>
              <a:t>- Q7에서 신규 가맹점 40곳에 같은 기준을 적용하고 결과를 저장합니다.</a:t>
            </a:r>
          </a:p>
          <a:p>
            <a:endParaRPr/>
          </a:p>
          <a:p>
            <a:r>
              <a:t>[마무리 질문]</a:t>
            </a:r>
          </a:p>
          <a:p>
            <a:r>
              <a:t>결혼정보회사 데이터와 분야는 달라졌지만 다시 사용할 수 있었던 처리 원리는 무엇인가요?</a:t>
            </a:r>
          </a:p>
          <a:p>
            <a:r>
              <a:t>[기대 답]</a:t>
            </a:r>
          </a:p>
          <a:p>
            <a:r>
              <a:t>파일 확인, 중복 제거, 문자 숫자 변환, 날짜 계산, ID 결합, X와 y 분리, train 기준 전처리입니다.</a:t>
            </a:r>
          </a:p>
          <a:p>
            <a:endParaRPr/>
          </a:p>
          <a:p>
            <a:r>
              <a:t>[근거 자료] 1주차_금융_데이터사전.md, finance_merchants.csv, finance_risk_rules.csv, 금융 선택과제 정답 노트북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8B72EA0-C1FC-4B30-8B79-0D740B553F1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3E4AB8-A31E-4A2D-9C7B-DF222DC90CC1}"/>
              </a:ext>
            </a:extLst>
          </p:cNvPr>
          <p:cNvSpPr>
            <a:spLocks noGrp="1"/>
          </p:cNvSpPr>
          <p:nvPr/>
        </p:nvSpPr>
        <p:spPr>
          <a:xfrm>
            <a:off x="495300" y="1314450"/>
            <a:ext cx="7143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1주차 금융 선택과제</a:t>
            </a:r>
          </a:p>
          <a:p>
            <a:pPr>
              <a:def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데이터 열 이름과 뜻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5830AD-825C-45A6-8B6B-B14DACD1D2D6}"/>
              </a:ext>
            </a:extLst>
          </p:cNvPr>
          <p:cNvSpPr>
            <a:spLocks noGrp="1"/>
          </p:cNvSpPr>
          <p:nvPr/>
        </p:nvSpPr>
        <p:spPr>
          <a:xfrm>
            <a:off x="495300" y="300990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ko-KR" sz="1725" dirty="0">
                <a:solidFill>
                  <a:srgbClr val="667482"/>
                </a:solidFill>
                <a:latin typeface="Apple SD Gothic Neo"/>
              </a:rPr>
              <a:t>“우리 결제망을 이용하는 가맹점 중에서 거래 이상이나 분쟁 가능성이 높은 곳을 찾아 추가 검토 순서를 정하자.”</a:t>
            </a:r>
            <a:endParaRPr sz="1725" b="0" dirty="0">
              <a:solidFill>
                <a:srgbClr val="66748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19EAC6-DC30-4ED4-BF32-95F5D30E004B}"/>
              </a:ext>
            </a:extLst>
          </p:cNvPr>
          <p:cNvSpPr>
            <a:spLocks noGrp="1"/>
          </p:cNvSpPr>
          <p:nvPr/>
        </p:nvSpPr>
        <p:spPr>
          <a:xfrm>
            <a:off x="495300" y="5143500"/>
            <a:ext cx="4000500" cy="1143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CF2530-8142-4370-97FB-BF2772DFB971}"/>
              </a:ext>
            </a:extLst>
          </p:cNvPr>
          <p:cNvSpPr>
            <a:spLocks noGrp="1"/>
          </p:cNvSpPr>
          <p:nvPr/>
        </p:nvSpPr>
        <p:spPr>
          <a:xfrm>
            <a:off x="495300" y="551497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도메인 배경 · 파일 관계 · 열별 의미 · 과제 사용법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73449E-A134-4A67-A81D-2BF8D0CA229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D1B34F-2799-4457-95A8-9F4D42F4574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수업용 합성 데이터이며 실제 회사의 안전·신용·법적 판단을 대신하지 않습니다.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039750-1AEA-42FB-9C60-706A1C256733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201BDD-A994-C610-6166-9B461090AB18}"/>
              </a:ext>
            </a:extLst>
          </p:cNvPr>
          <p:cNvSpPr txBox="1"/>
          <p:nvPr/>
        </p:nvSpPr>
        <p:spPr>
          <a:xfrm>
            <a:off x="419100" y="4606409"/>
            <a:ext cx="10545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카드사·PG사·결제</a:t>
            </a:r>
            <a:r>
              <a:rPr lang="ko-KR" altLang="ko-KR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플랫폼에서 공통으로 볼 수 있는 가맹점 위험관리 상황을 단순화한 교육용 데이터</a:t>
            </a:r>
            <a:endParaRPr lang="ko-KR" alt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4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0CD9AC-C3A7-4CCC-9309-4ACDC85E80F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9DFE98-E73C-4878-A790-0BD1FFCE5696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도메인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8B94EF-E473-4A9A-BFDF-D514F736844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운영 데이터를 왜 관리할까요?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784370-E9C3-433B-98CF-F03C880DEF3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EA4E11-F863-43E6-8CFA-2EDC02C115C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7C3918-B0A1-4FD0-9114-46EF8D5A882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2BE96D-BEF9-40DF-B3B1-E5317E84F9C2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B55F80-E12C-45DE-BDE9-EF1F61F0E2F6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카드와 결제 서비스를 운영하는 회사는 여러 업종의 가맹점 거래를 관리합니다.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17ABDD-8985-465A-B02E-3126D6139D6F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1C7013-F3AD-4E62-8137-173C07DBA01B}"/>
              </a:ext>
            </a:extLst>
          </p:cNvPr>
          <p:cNvSpPr>
            <a:spLocks noGrp="1"/>
          </p:cNvSpPr>
          <p:nvPr/>
        </p:nvSpPr>
        <p:spPr>
          <a:xfrm>
            <a:off x="1381125" y="2609850"/>
            <a:ext cx="9620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가맹점마다 업종과 지역, 거래 규모, 정산 조건이 다릅니다.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31A49B-E1F0-457C-B543-DA8B24B8D64D}"/>
              </a:ext>
            </a:extLst>
          </p:cNvPr>
          <p:cNvSpPr>
            <a:spLocks noGrp="1"/>
          </p:cNvSpPr>
          <p:nvPr/>
        </p:nvSpPr>
        <p:spPr>
          <a:xfrm>
            <a:off x="1381125" y="321945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B94756-23F2-482A-8213-042A343131FE}"/>
              </a:ext>
            </a:extLst>
          </p:cNvPr>
          <p:cNvSpPr>
            <a:spLocks noGrp="1"/>
          </p:cNvSpPr>
          <p:nvPr/>
        </p:nvSpPr>
        <p:spPr>
          <a:xfrm>
            <a:off x="647700" y="34671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9503F7-61E6-4499-BFCD-6E3B3EDC5605}"/>
              </a:ext>
            </a:extLst>
          </p:cNvPr>
          <p:cNvSpPr>
            <a:spLocks noGrp="1"/>
          </p:cNvSpPr>
          <p:nvPr/>
        </p:nvSpPr>
        <p:spPr>
          <a:xfrm>
            <a:off x="1381125" y="3429000"/>
            <a:ext cx="9620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운영 담당자는 환불과 차지백, 고객확인 상태, 최근 문의 이력을 함께 살펴봅니다.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6F4748-A69C-4DFC-BA34-313FD4DB9F82}"/>
              </a:ext>
            </a:extLst>
          </p:cNvPr>
          <p:cNvSpPr>
            <a:spLocks noGrp="1"/>
          </p:cNvSpPr>
          <p:nvPr/>
        </p:nvSpPr>
        <p:spPr>
          <a:xfrm>
            <a:off x="1381125" y="4038600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26DD57-6465-4474-96B4-615DFC11D83B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9C1CC9-F809-44AD-9010-1DCCDF30E42C}"/>
              </a:ext>
            </a:extLst>
          </p:cNvPr>
          <p:cNvSpPr>
            <a:spLocks noGrp="1"/>
          </p:cNvSpPr>
          <p:nvPr/>
        </p:nvSpPr>
        <p:spPr>
          <a:xfrm>
            <a:off x="1381125" y="4248150"/>
            <a:ext cx="9620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가맹점별 거래 한도와 경보 기준, 검토 주기는 별도 위험 규칙표에서 관리합니다.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742FC2C-4DB7-42C9-A472-CB3ACA3D09D1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B0C7AB-A85C-4750-8E0D-CDF7762F5FE3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핵심 질문: 어떤 가맹점을 먼저 추가 확인해야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86637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73CACAC-5B27-456D-9EB9-11DF5F490028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411F53-6B4B-4B4C-9D9D-D89A57BF276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업무 중요성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CFE7F3-916F-4D25-89A7-8A2FEA325D1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 데이터를 관리하는 이유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9C3CB7-FC90-4E3B-A0E3-78554B3C0E6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AA7331-34B2-4D13-87A5-BE038A4B205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5A5076-D273-41F1-ABB7-A65B7A50F5F6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91C87C-E52C-487F-B3BE-97ECA4231BDA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C0F3C5-C71B-434B-915D-635A8BA39535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131D30-DFAC-48AF-B26F-DFB2874DE50D}"/>
              </a:ext>
            </a:extLst>
          </p:cNvPr>
          <p:cNvSpPr>
            <a:spLocks noGrp="1"/>
          </p:cNvSpPr>
          <p:nvPr/>
        </p:nvSpPr>
        <p:spPr>
          <a:xfrm>
            <a:off x="1381125" y="17716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이상 징후의 조기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DBFCFD-8979-4E4A-B511-E09397DEDF60}"/>
              </a:ext>
            </a:extLst>
          </p:cNvPr>
          <p:cNvSpPr>
            <a:spLocks noGrp="1"/>
          </p:cNvSpPr>
          <p:nvPr/>
        </p:nvSpPr>
        <p:spPr>
          <a:xfrm>
            <a:off x="4238625" y="17716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환불과 차지백 비율이 평소보다 높으면 거래 내역을 추가로 확인할 필요가 있습니다.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F17F4C-0AE1-4AC5-94E0-FA1EB6C18D7E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98107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6C4563-12C1-44CD-9606-BA63A3063F07}"/>
              </a:ext>
            </a:extLst>
          </p:cNvPr>
          <p:cNvSpPr>
            <a:spLocks noGrp="1"/>
          </p:cNvSpPr>
          <p:nvPr/>
        </p:nvSpPr>
        <p:spPr>
          <a:xfrm>
            <a:off x="647700" y="27432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67DC34-6CB8-4F81-8178-C71FE50569A8}"/>
              </a:ext>
            </a:extLst>
          </p:cNvPr>
          <p:cNvSpPr>
            <a:spLocks noGrp="1"/>
          </p:cNvSpPr>
          <p:nvPr/>
        </p:nvSpPr>
        <p:spPr>
          <a:xfrm>
            <a:off x="1381125" y="27241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고객확인 일정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8BA257-04C4-48DA-84DF-E7572937B488}"/>
              </a:ext>
            </a:extLst>
          </p:cNvPr>
          <p:cNvSpPr>
            <a:spLocks noGrp="1"/>
          </p:cNvSpPr>
          <p:nvPr/>
        </p:nvSpPr>
        <p:spPr>
          <a:xfrm>
            <a:off x="4238625" y="27241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KYC 검토일과 주기를 함께 보면 재확인이 필요한 가맹점을 놓치지 않을 수 있습니다.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9EDA0A-2624-44DB-92AD-1EE58DC74528}"/>
              </a:ext>
            </a:extLst>
          </p:cNvPr>
          <p:cNvSpPr>
            <a:spLocks noGrp="1"/>
          </p:cNvSpPr>
          <p:nvPr/>
        </p:nvSpPr>
        <p:spPr>
          <a:xfrm>
            <a:off x="1381125" y="3429000"/>
            <a:ext cx="98107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8EFFF7-A3AA-4150-964A-801418FB1E87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65E971-EDC6-4E74-A4C5-15062702ABC7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검토 인력의 우선순위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73CD0E-B9F3-49DE-AD68-8E8225047370}"/>
              </a:ext>
            </a:extLst>
          </p:cNvPr>
          <p:cNvSpPr>
            <a:spLocks noGrp="1"/>
          </p:cNvSpPr>
          <p:nvPr/>
        </p:nvSpPr>
        <p:spPr>
          <a:xfrm>
            <a:off x="4238625" y="36766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모든 가맹점을 동시에 볼 수 없으므로 기록을 바탕으로 먼저 확인할 대상을 정합니다.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D99521-C4F5-478C-8613-E46BA9E3555A}"/>
              </a:ext>
            </a:extLst>
          </p:cNvPr>
          <p:cNvSpPr>
            <a:spLocks noGrp="1"/>
          </p:cNvSpPr>
          <p:nvPr/>
        </p:nvSpPr>
        <p:spPr>
          <a:xfrm>
            <a:off x="1381125" y="4381500"/>
            <a:ext cx="981075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61E75D-A888-4506-9957-9C7DF06917C9}"/>
              </a:ext>
            </a:extLst>
          </p:cNvPr>
          <p:cNvSpPr>
            <a:spLocks noGrp="1"/>
          </p:cNvSpPr>
          <p:nvPr/>
        </p:nvSpPr>
        <p:spPr>
          <a:xfrm>
            <a:off x="647700" y="4648200"/>
            <a:ext cx="571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13A4FF-9F24-4436-95D3-29AB7C896C1E}"/>
              </a:ext>
            </a:extLst>
          </p:cNvPr>
          <p:cNvSpPr>
            <a:spLocks noGrp="1"/>
          </p:cNvSpPr>
          <p:nvPr/>
        </p:nvSpPr>
        <p:spPr>
          <a:xfrm>
            <a:off x="1381125" y="46291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판단 근거 보존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10C7047-09BE-4571-9D91-0D52892D0DFC}"/>
              </a:ext>
            </a:extLst>
          </p:cNvPr>
          <p:cNvSpPr>
            <a:spLocks noGrp="1"/>
          </p:cNvSpPr>
          <p:nvPr/>
        </p:nvSpPr>
        <p:spPr>
          <a:xfrm>
            <a:off x="4238625" y="4629150"/>
            <a:ext cx="7000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왜 어떤 가맹점을 수동 검토 대상으로 골랐는지 나중에 다시 설명할 수 있어야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07123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4A5D25B-9968-42EC-850E-319C3E37022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581413-DE0A-47F0-AD3A-7A0084B91590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수업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B940C5-ECBF-458F-8503-6740AA481EAE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결혼정보 데이터에서 무엇을 바꿔 생각할까요?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B53C84-645E-43C4-AEBC-94BAC82E40A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FCE29E-119F-40A6-A57F-A8D7DC79419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A267DF-397E-4CB0-9D7D-EF2763F6AC0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A7A5C2-27D4-4D20-90A6-1CEF3895D8DE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571500" y="1762125"/>
          <a:ext cx="11049000" cy="3905253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91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역할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결혼정보회사 수업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enlo"/>
                          <a:ea typeface="Menlo"/>
                          <a:cs typeface="Menlo"/>
                        </a:rPr>
                        <a:t>금융 선택과제</a:t>
                      </a:r>
                    </a:p>
                  </a:txBody>
                  <a:tcPr>
                    <a:solidFill>
                      <a:srgbClr val="123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대상을 구분하는 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member_id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merchant_id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사람이 읽는 이름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merchant_name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지역과 위치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residence_region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region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시작 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signup_datetime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account_open_date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문자가 섞인 숫자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annual_income_10k_krw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monthly_sales_10k_krw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 기준표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선호조건표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위험 규칙표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정답 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meeting_scheduled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manual_review_required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1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253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처음 보는 새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신규 회원 100명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2532"/>
                          </a:solidFill>
                          <a:latin typeface="Menlo"/>
                          <a:ea typeface="Menlo"/>
                          <a:cs typeface="Menlo"/>
                        </a:rPr>
                        <a:t>신규 가맹점 40곳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27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E74213-9A5E-40E7-A075-984AABD53B15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6FC779-1729-4458-B45F-65E1F03A3C3F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파일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DB96D6-54F0-4A5C-B10E-F74D31C3DE5E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세 CSV는 서로 다른 역할을 맡습니다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8DC4CE-FD6F-473F-85F4-D717E2F0168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A700C8-928E-41E6-8B61-E3EDB28DD81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7B0B73-8C1A-4420-8FE2-8E30E5DFE35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F89001-53FC-436B-AB6E-3E91BE0AC0E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167CA0-CCCC-4CB6-99BB-FB5B66E3A859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finance_merchants.csv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3DAAD-FACE-4A82-B1F9-2D271855309A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243행 × 16열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1F1185-890E-49EE-8A83-A85F556EF89E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가맹점 한 곳의 기본 정보와 교육용 정답. 고유 가맹점 240곳과 중복 3행이 들어 있습니다.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A3C0F4-9834-4828-A05C-55212188A415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10477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E507A3-D6F2-4D81-9D78-B69885B2D1BA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finance_risk_rules.csv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A6DA30-950A-468E-8B18-70C2D9F00F37}"/>
              </a:ext>
            </a:extLst>
          </p:cNvPr>
          <p:cNvSpPr>
            <a:spLocks noGrp="1"/>
          </p:cNvSpPr>
          <p:nvPr/>
        </p:nvSpPr>
        <p:spPr>
          <a:xfrm>
            <a:off x="4953000" y="30670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240행 × 6열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53824F-BFCD-491B-90EA-A395F4D68B05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가맹점 한 곳의 거래 한도와 경보 기준. merchant_id로 기준표에 붙입니다.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154816-BE05-4953-84E3-6ACC280691AF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10477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B68316-DE79-4CE9-B906-7292FFB83567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4000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finance_merchants_new.csv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1ED603-9344-4778-A706-65506985571B}"/>
              </a:ext>
            </a:extLst>
          </p:cNvPr>
          <p:cNvSpPr>
            <a:spLocks noGrp="1"/>
          </p:cNvSpPr>
          <p:nvPr/>
        </p:nvSpPr>
        <p:spPr>
          <a:xfrm>
            <a:off x="4953000" y="43243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40행 × 15열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56E1A13-C195-49EA-B10B-F2E1D001EA7A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정답 열이 없는 신규 가맹점. train에서 배운 전처리 기준만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405116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5B46D0-2CE9-4A43-B4A2-4054F4C39CC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378FFD-E04B-4254-9375-72642A5C1511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데이터 품질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17125F-0744-4B45-B6E6-42A9E01DEADE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처리 연습을 위해 일부러 넣은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CFEC4F-D1D1-49BD-A24E-7779FF8140D3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12886F-000F-4421-ABC4-20D23E7178D2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25301F-6BD7-4DA2-877C-BAC208E7790D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729B15-4CAD-48C6-8983-28AF9481A7F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71126D-6A85-4F5E-B83B-D264D3883A6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572750" cy="3238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중복 merchant_id 3행을 제거해 240곳으로 정리합니다.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지역명이 Seoul, seoul, 공백 포함 값으로 섞여 있습니다.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monthly_sales_10k_krw의 확인중 4개를 숫자 변환 뒤 결측으로 처리합니다.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refund_rate의 빈칸 4개를 중앙값으로 채웁니다.</a:t>
            </a:r>
          </a:p>
          <a:p>
            <a:pPr marL="228600" indent="-114300">
              <a:spcAft>
                <a:spcPts val="1800"/>
              </a:spcAft>
              <a:buChar char="•"/>
              <a:def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신규 가맹점에는 처음 보는 디지털콘텐츠 업종이 들어 있습니다.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C882FD8-6655-4879-B964-BCC1ADD18D1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572750" cy="571500"/>
          </a:xfrm>
          <a:prstGeom prst="roundRect">
            <a:avLst>
              <a:gd name="adj" fmla="val 13333"/>
            </a:avLst>
          </a:prstGeom>
          <a:solidFill>
            <a:srgbClr val="FFF3E8"/>
          </a:solidFill>
          <a:ln w="9525">
            <a:solidFill>
              <a:srgbClr val="F0B4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63C399-4492-47EE-9A3A-F192F2A151C0}"/>
              </a:ext>
            </a:extLst>
          </p:cNvPr>
          <p:cNvSpPr>
            <a:spLocks noGrp="1"/>
          </p:cNvSpPr>
          <p:nvPr/>
        </p:nvSpPr>
        <p:spPr>
          <a:xfrm>
            <a:off x="895350" y="548640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이 오류들은 실제 업무에서 자주 만나는 유형을 안전하게 연습하도록 만든 교육 장치입니다.</a:t>
            </a:r>
          </a:p>
        </p:txBody>
      </p:sp>
    </p:spTree>
    <p:extLst>
      <p:ext uri="{BB962C8B-B14F-4D97-AF65-F5344CB8AC3E}">
        <p14:creationId xmlns:p14="http://schemas.microsoft.com/office/powerpoint/2010/main" val="1382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121612D-FA8B-4C24-9730-C48420E0ACB5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CAD30-585A-4BA7-969E-D9541138F4FF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A77ABC-A820-439A-B1EE-60DAF8DB5742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 데이터가 이동하는 전체 과정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4491F8-0AF5-4611-934C-93EECCD7AD29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E308E4-454E-40EF-93EC-E224DB9DA12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3ABAC4-307D-462E-9BD6-9943DBF9E9E7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FF7414-2400-45E0-9FB5-A92E8BB1017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40951" y="1619250"/>
            <a:ext cx="7700573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8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66A5741E-68C5-48D7-BF3E-3E5231458605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14B0E7-C6EC-4D99-A1CC-BDE4CB08C83B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655676-AC56-4B0A-B0E0-ECE1DC5037CA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기준표 16열의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FF3DB6-C952-4306-871D-5C9BF1DC1E6A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6AB5B5-1682-4B69-92A1-21814D05F1B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9FD0B3-9BAB-4FA8-A404-77FB71C5FD5D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9442D1-CD36-4EB5-9454-DDBCE6099978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FB99F2-7238-45D2-A1BC-F171EB3BFC90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finance_merchants.csv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9477E7-C1FF-4748-9D6E-3EA705BA1A1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식별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EC7AD5-B140-4885-AC6E-8067C7CBEC8A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merchant_id · merchant_name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84AD80-A4EA-497E-885A-4C5D5DCC9CA8}"/>
              </a:ext>
            </a:extLst>
          </p:cNvPr>
          <p:cNvSpPr>
            <a:spLocks noGrp="1"/>
          </p:cNvSpPr>
          <p:nvPr/>
        </p:nvSpPr>
        <p:spPr>
          <a:xfrm>
            <a:off x="2857500" y="28384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E053F8-B363-4930-B620-B9F0499E6FFD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업종과 지역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FE94A8-F435-43F7-8305-02F3549A2183}"/>
              </a:ext>
            </a:extLst>
          </p:cNvPr>
          <p:cNvSpPr>
            <a:spLocks noGrp="1"/>
          </p:cNvSpPr>
          <p:nvPr/>
        </p:nvSpPr>
        <p:spPr>
          <a:xfrm>
            <a:off x="2857500" y="30480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industry · region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C626E3-9F5A-444D-A3B3-2ADB448555C8}"/>
              </a:ext>
            </a:extLst>
          </p:cNvPr>
          <p:cNvSpPr>
            <a:spLocks noGrp="1"/>
          </p:cNvSpPr>
          <p:nvPr/>
        </p:nvSpPr>
        <p:spPr>
          <a:xfrm>
            <a:off x="2857500" y="350520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286789-543A-494A-B943-A0EB891ED1E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631259-D4EF-4649-8778-9D819324F45C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account_open_date · last_kyc_review_date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2CAC50-6E2F-48A4-BADE-1161FC0E45D9}"/>
              </a:ext>
            </a:extLst>
          </p:cNvPr>
          <p:cNvSpPr>
            <a:spLocks noGrp="1"/>
          </p:cNvSpPr>
          <p:nvPr/>
        </p:nvSpPr>
        <p:spPr>
          <a:xfrm>
            <a:off x="2857500" y="41719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D567E3-6657-4491-983A-A73B15E42AF4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거래와 운영 지표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D20B2E-F6A5-46AC-8544-0751EDB40F42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monthly_sales_10k_krw · avg_ticket_krw · refund_rate · chargeback_rate · settlement_cycle_days · support_tickets_90d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B747A3-2047-4D71-93C4-20BA19AB15F6}"/>
              </a:ext>
            </a:extLst>
          </p:cNvPr>
          <p:cNvSpPr>
            <a:spLocks noGrp="1"/>
          </p:cNvSpPr>
          <p:nvPr/>
        </p:nvSpPr>
        <p:spPr>
          <a:xfrm>
            <a:off x="2857500" y="483870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34E106-1720-40E1-9818-01A38F971584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상태와 정답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37AE4E2-E478-4F7F-8321-2E11765AEF89}"/>
              </a:ext>
            </a:extLst>
          </p:cNvPr>
          <p:cNvSpPr>
            <a:spLocks noGrp="1"/>
          </p:cNvSpPr>
          <p:nvPr/>
        </p:nvSpPr>
        <p:spPr>
          <a:xfrm>
            <a:off x="2857500" y="50482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kyc_status · risk_tier · active_status · manual_review_required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16A62AEC-EBB5-4550-AF5C-9FB24D6B6AD9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CF55F44-6E1D-4067-8CEF-777C96C77E0D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행은 대상 한 개입니다.</a:t>
            </a:r>
          </a:p>
        </p:txBody>
      </p:sp>
    </p:spTree>
    <p:extLst>
      <p:ext uri="{BB962C8B-B14F-4D97-AF65-F5344CB8AC3E}">
        <p14:creationId xmlns:p14="http://schemas.microsoft.com/office/powerpoint/2010/main" val="46710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F5B3255-4093-49F7-81D8-FCDFA9CA42EB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2DF6B9-00D5-4D5F-A86A-2CB090BD17CB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658ABB-678C-4148-88E4-0252755034F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merchant_id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5A6653-88F9-48C3-B64E-54D6E64ED2EF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9CF6D5-5DE4-4A0C-B0A9-8FED9B304CD7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8DBD7F-BD37-4578-A771-B1B12E06A4E8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1A4C7D-CD48-412F-AC20-5E8BE6AAE049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B51232-72AA-4328-8191-DBBA16F9F6D2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ID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28E431-1500-490A-BBDF-BB98023F709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merchant_id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F6C5E6-151A-4A0A-88FD-89E6441D471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BDD045-9FB5-4787-AF02-9F0241E5783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8BA710-AE93-4893-9D12-0CBF299CD3EF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MC0001 · MC0002 · MC0003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AD763D-AE2A-4C02-AB41-7718987029A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953159-0FF7-4E8A-A8EB-561E160C0811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기준표와 위험 규칙표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F2C802-EFB0-4DAF-8A3A-965CCB0BE8B9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515C19-916F-4F21-9216-9784845A60E4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한 곳을 구분하고 두 표의 같은 대상을 정확히 연결하는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C87140-F81B-443D-B9AC-4C644CF622E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FCA50A-E534-4B17-BC41-5105D01CAA47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원본 243행에는 같은 ID가 3번 더 들어 있습니다. 상호명이나 행 번호로 연결하면 다른 가맹점이 섞일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331BFAB-6DFE-444F-8498-72450C50D82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330123-C9F4-41B5-9A34-275DFFB128D6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중복 제거 · is_unique 확인 · merge의 on 값</a:t>
            </a:r>
          </a:p>
        </p:txBody>
      </p:sp>
    </p:spTree>
    <p:extLst>
      <p:ext uri="{BB962C8B-B14F-4D97-AF65-F5344CB8AC3E}">
        <p14:creationId xmlns:p14="http://schemas.microsoft.com/office/powerpoint/2010/main" val="3608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A1AA87-18E4-41A5-8E8F-69540A19B6E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ACEFD5-6E49-4344-8A7F-139CF6D952EE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02/21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9F970F-3908-4CE6-9F70-B5E5B4BD387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merchant_name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B1249A-9642-4E33-B1BC-9E61A624DA7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6EAB08-77D2-48E4-B98E-CFEA0589ABF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61A12A-EB13-4A7D-B2E5-9BE5355E43F7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12B0CD-2650-4A77-B7AA-96A9CAE571CA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BAA64E-794A-4FD0-A2D6-62F2F1EC576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이름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8E3096-EEC3-4D95-89E8-CB9C412967DF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merchant_name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2BDF87-4DD5-406D-9FED-AEA02A32F85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447348-EE47-4185-9C39-594C6F16C90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7CCA07-1617-4001-85FC-DEAA3EDC7FCB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가맹점-001 · 가맹점-002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DEB2BA-EF78-490C-BBE1-CC899EF0371B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EB773F-92FD-4DC8-AD49-D052DCE80234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EC18CC-80CF-4827-82FA-78F0EFDA274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4F87C2-5DDB-4D02-BF5A-288987AAD0F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운영 담당자가 화면과 보고서에서 가맹점을 알아보기 쉽게 보여 주는 이름입니다.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4D4375A-6F7E-485C-808E-C2A3A4A947C2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DD08DB-1025-4AA8-995C-20D0B83638F8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사람이 읽기에는 편하지만 고유하다고 보장할 수 없어 표 결합의 기준으로 쓰지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6B288AA-165F-41FD-BCCC-14EB9F10D9D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15BEF6-1156-45BD-B3CD-23E37CAFA2C6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결과표 표시용 · ID와 함께 확인</a:t>
            </a:r>
          </a:p>
        </p:txBody>
      </p:sp>
    </p:spTree>
    <p:extLst>
      <p:ext uri="{BB962C8B-B14F-4D97-AF65-F5344CB8AC3E}">
        <p14:creationId xmlns:p14="http://schemas.microsoft.com/office/powerpoint/2010/main" val="67212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281908-AEA1-44B5-ADF9-1DCC9F3DB53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09005C-3DDC-4087-8C35-16804A24A3D5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03/21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8562C-654F-47B6-8BAA-B4685B7F66ED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industry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8F8491-E5BA-4759-83ED-38F92307F43C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1E23E4-CF6F-42CC-8273-79899C04FE8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D301A3-8257-40F9-880E-CBE8B5ECA1B2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6A6286-EAEA-42AA-AE30-07304FA7BB7E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7F46F8-7774-4D82-AF53-93BDFF9546D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업종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A6A0E5-2B18-4BC5-91C9-90B6EF91E085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industry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7637F8-93A0-40BB-89CC-068651252F09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F8B7A3-7D34-4B2F-9E2F-316FCE677E1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0A86FA-8424-4149-8A03-00315C157B89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여행 · 외식 · 쇼핑 · 서비스 · 교육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3CEB4E-238C-4C99-B055-01D6ACF486E4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DB3087-945D-459D-A3A6-F1B96867CF9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02EBA4-7F44-472E-9280-6D88F4F1AAA4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C15955-C9CE-4831-B95C-279F10CFE83B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업종에 따라 거래 형태와 환불 패턴이 달라질 수 있어 비교 기준으로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7745AEB-2E6B-4400-BDC8-B946897CA52F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328185-4A76-4B51-98EB-41C01B4627EE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신규 데이터에는 기존 학습표에 없던 디지털콘텐츠 업종이 등장합니다.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9375CF4-C9F8-49BA-9852-0037D1224C57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9DE98B4-277A-4EB0-8E65-315A06D4A14A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 X · handle_unknown='ignore'</a:t>
            </a:r>
          </a:p>
        </p:txBody>
      </p:sp>
    </p:spTree>
    <p:extLst>
      <p:ext uri="{BB962C8B-B14F-4D97-AF65-F5344CB8AC3E}">
        <p14:creationId xmlns:p14="http://schemas.microsoft.com/office/powerpoint/2010/main" val="484803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0E2277-8221-4FB4-BF61-0DBE4369465D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D91467-19CA-4439-BED5-7C73D5C78F54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04/21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21A1F6-CE34-41E4-88E1-F8DFB06B2887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region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432B6D-5DB0-4B57-A7C7-16CBEBA871E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20C38D-F97A-4B7C-B622-CD81C929D95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988634-9D3B-46C4-A7AF-0694AC836E76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14F762-320B-4380-B570-7ACA44F2FB5D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595428-C990-46EB-9F90-1F81B330467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지역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5943B4-553F-4B2B-90E5-CA63883B73F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region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63C482-8183-46C1-AC82-9C018A6606A0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966FED-5BA0-433B-91EF-5FD955683A0A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C1D346-13DC-4643-B4AB-4448763E2C9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서울 · 경기 · 부산 · 대전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465598-2CA4-4823-AD5B-49DD49FAB2B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53358B-4297-41B2-971C-B18A8821E392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A8D197-4C4B-43D6-9302-1B767CE8FEBA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C2DE3A4-7A57-48B5-A8B3-2B6FE0B89A00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지역별 가맹점 수와 운영·검토 업무량을 비교할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EAFB4C-D4B3-4B17-B0D8-D1FABD844CD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B38ADBA-7F7A-4574-89DD-FCBDA6120D6A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서울이 Seoul, seoul처럼 섞이고 일부 값에는 공백이 있습니다. 먼저 표기를 통일해야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62AE8EB-8D10-46F0-A7D0-F0B78D85786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2BA2F2-F460-4C56-9E67-4EDC061ACCB2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str.strip · replace · 문자 전처리</a:t>
            </a:r>
          </a:p>
        </p:txBody>
      </p:sp>
    </p:spTree>
    <p:extLst>
      <p:ext uri="{BB962C8B-B14F-4D97-AF65-F5344CB8AC3E}">
        <p14:creationId xmlns:p14="http://schemas.microsoft.com/office/powerpoint/2010/main" val="107265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3AE527-5F8C-4E2C-9053-FB05C4E92039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ADA1FC-D255-4617-96A2-001FEB62BD3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05/21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FD0623-3C0D-48E7-8C40-FDADC3C103AF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account_open_date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3B15B5-76B4-463F-A8FF-0B046C7D5BD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85DBD6-918C-4D14-8EA1-6BF29D2920D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435EC7-55BD-45CE-9573-58E4A8A5B14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8A91B5-3944-4DD7-A6E6-25FD861E0462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AEDC62-CE3B-4716-AED6-2EB887518ADB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계정 개설일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5B1A5C-7EE8-4E35-9752-1BBD34DB566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account_open_date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546D76-A6EE-435F-94FD-2626C9FDF795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4C37A2-DC2B-41FB-BBA3-F24990C92C81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D5673-455D-4E21-841A-6323E968DD5D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2021-08-18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7E5368-A32B-4D1A-A4CC-AE82239BF348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6C39A4-4975-4247-91BC-B391B8130F6B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읽은 직후 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ABD49D-50EA-49F9-8449-332D6D2D2B50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834B63-4A5D-496A-8A20-79F49543618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가맹점이 언제부터 거래를 시작했는지 계산할 출발 날짜입니다.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05E718-2519-4675-99D9-021CDF7FAA18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9AD311-9EBA-4D7B-A597-1B8D647D6E0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CSV에서는 날짜처럼 보여도 문자열입니다. 운영기간을 계산하려면 datetime으로 바꿔야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EC259CA-EC24-402A-AD74-09B24BA53850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0CCE5C-08AC-4AFC-9930-789165A99B4A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pd.to_datetime · 운영기간 확장 가능</a:t>
            </a:r>
          </a:p>
        </p:txBody>
      </p:sp>
    </p:spTree>
    <p:extLst>
      <p:ext uri="{BB962C8B-B14F-4D97-AF65-F5344CB8AC3E}">
        <p14:creationId xmlns:p14="http://schemas.microsoft.com/office/powerpoint/2010/main" val="187626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1BEEA3-7E18-4729-B0B5-E68D58F0EA26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2906A6-C503-4D55-BB96-9DB1D125E43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06/21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73774D-F929-4F2A-ADA4-9C332471A9F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last_kyc_review_date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9CF2F2-0726-4299-A230-C26143F7E0BA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DDA813-D6CE-49A8-8846-F8B083C5834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72565F-70A0-4E7A-B11F-A2B06EAD86EB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B38964-A3FB-4B2E-8303-23B4CAB6786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0B61B2E-F707-4359-8711-84E8B4ED7E8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KYC 검토일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52F955-BEBB-4950-9376-129443AF7CB0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last_kyc_review_date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D5FFE5-52FD-4534-87F9-68EF7082378A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DB687A-1DAF-4ED8-A1F9-F434D9F59FB4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AF477F-1AB6-4F37-AF15-D36B92552EE8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2026-02-19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E1BA0F-34CC-4C08-ADA0-72C2BADA1D9A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EA9DEF-7C8E-4963-97F9-F96F390477D8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읽은 직후 문자열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7A44C9-7E2A-4032-8A72-CBFE37F9959A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EF1EC3-3284-4571-9623-823707F2F1D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가맹점의 신원과 사업 정보를 마지막으로 확인한 날짜입니다. KYC는 고객확인 절차를 뜻합니다.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3DCC22-56FE-4AD6-A469-DABE5C9DEF5D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8027D1-306A-42B1-BFE6-F8FE2BED7E0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기준일 2026-09-01에서 이 날짜를 빼 days_since_kyc_review를 만듭니다.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01760F2-6A11-4377-9145-6D31C8FEC269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8C13CC-341A-4A96-8007-BDB890ABE09B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datetime 변환 · 검토 경과일 파생열</a:t>
            </a:r>
          </a:p>
        </p:txBody>
      </p:sp>
    </p:spTree>
    <p:extLst>
      <p:ext uri="{BB962C8B-B14F-4D97-AF65-F5344CB8AC3E}">
        <p14:creationId xmlns:p14="http://schemas.microsoft.com/office/powerpoint/2010/main" val="408895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A19B1D-7960-4686-A15B-20D21190C2C2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A79DD6-7BFE-4EE1-A245-F18F5FD5A71C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07/21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06C483-EBBC-4855-A5A3-B260CEF5C71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monthly_sales_10k_krw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809407-5593-4AC5-BC15-E9B263F3AEF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CC460B-2677-4D11-8AB8-485C4084A898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3BFD3C-37B1-4E68-B72C-435BF1FE6107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C8508F-F5AC-4DD9-90B1-DDFFF26AA2BD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F7D143-3852-43BB-AF18-1BC4AF2BFE2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월 매출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04593F9-7498-41E2-88FE-4CB94BD12E81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monthly_sales_10k_krw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5B6597-4CC5-45D6-BB07-39F2ACD9699A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F45C14-EC82-485E-BDC8-9AA3555B62B6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1E4F30-B629-4618-8C0C-3441997D423B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14,305만원 · 9,608만원 · 확인중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A69CB5-55FC-43E9-8F3B-5C07B27CA45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41204D-B3BE-4693-ABB0-074A68FEB613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혼합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842255-40B7-4BBB-BF65-58903F85AFAA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0DD26F-79A5-407D-9D17-E5A620F728E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달 동안 가맹점에서 발생한 거래 규모를 만원 단위로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861E02-FF4D-4D9C-B2AB-B21B6E6F81C8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1B08743-D220-4CEE-A772-C6E2E67EE2E5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확인중 4개가 섞여 있어 바로 평균을 낼 수 없습니다. 숫자 변환 뒤 결측을 중앙값 7,492만원으로 채웁니다.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FB1F662-379A-4609-ABD8-CD2C6BD32094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4FEC3C-B741-4612-8E7D-9D46159917EA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pd.to_numeric(errors='coerce') · median · fillna</a:t>
            </a:r>
          </a:p>
        </p:txBody>
      </p:sp>
    </p:spTree>
    <p:extLst>
      <p:ext uri="{BB962C8B-B14F-4D97-AF65-F5344CB8AC3E}">
        <p14:creationId xmlns:p14="http://schemas.microsoft.com/office/powerpoint/2010/main" val="394443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FDC244-0742-4E17-B29A-EC17C610E3D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04E5F5-E9A3-4965-BD26-AFA4875EEBD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08/21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933D6C-0088-43D7-BF65-8F46680FFBE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avg_ticket_krw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D24C14-2434-4835-9C70-0589EE0D7058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274EEB-6CEF-42BB-A4D1-2C705F0E488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B097E7-32BC-4557-A7E9-AE19F9A0DB5E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2F496E-8E48-4749-AD97-16779649AED8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9FFE02-5017-4172-A1EC-4EC1DB52F072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평균 결제금액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9C0C65-CC36-4E3E-9ED8-5CD22622F845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avg_ticket_krw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ACCB3A-79E5-454C-93F6-10FCF9FFB8A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139360-8756-4A38-AF88-42027C0E242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04CD13-67E8-422E-9094-D26D545FB02B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127,471원 · 64,672원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DF21E-D205-4F58-BDCB-22F626248B0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4FEA83-2CCF-43B1-871D-4688BD8FB2D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D9DF65-8C1C-42C4-AD73-F2391D25D1AD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D15184F-81C4-4691-8526-DA791E6BE3E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한 번의 결제에서 평균적으로 얼마가 거래되는지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A5CED8-F8C1-47CD-BAA9-602D4464EA4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AD6BD7-39E9-44C9-9C0E-8E129FFAD7E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월 매출은 만원 단위이고 평균 결제금액은 원 단위입니다. 서로 단위가 다릅니다.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F43024D-C190-4057-B889-D8DC91D9835A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311FEA-1AFD-4B20-AC96-86AB44D9998E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단위 확인 · 스케일링</a:t>
            </a:r>
          </a:p>
        </p:txBody>
      </p:sp>
    </p:spTree>
    <p:extLst>
      <p:ext uri="{BB962C8B-B14F-4D97-AF65-F5344CB8AC3E}">
        <p14:creationId xmlns:p14="http://schemas.microsoft.com/office/powerpoint/2010/main" val="951243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CAFDD9-14CF-4C41-8960-5AEF1773BB6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97B71F-3498-42EB-ABC1-B22E1C75A92C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09/21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D92270-6171-464C-81A4-681EA60CF82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refund_rate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83A4E1-AE7B-4644-86CA-8A12A120FC9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5C0A33-4813-4101-9371-DB6B487B0E5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5897F4-27F3-4CA8-8C57-E1DA25E04A6C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97EDC2-B2E6-47CD-80F1-4DCA57CAB87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5BEB4B-97F0-442B-B1E0-1D9108E94CB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환불 비율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AB0F6C-BBB1-47A8-9BC8-D70E0F5A879B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refund_rate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CC1FEC-77D9-4DBC-BCA4-DE135C37AEE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EE84AB-DF9A-4A1A-8564-8365E8FCAC3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28B070-9802-4B4F-BA79-DB00FFB5A510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0.0038 = 0.38%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2F3CFA-4454-41A0-A0AC-8FF0B66B1CA0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17EBE1-467C-443B-951F-FDCD2EBD9E4C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비율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2AABCA-EDF1-4C92-A1D9-4D004009632C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1C2B93-B2AB-4BC4-B172-2DD37C45B93B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전체 거래 중 환불된 거래가 차지하는 비율을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A7E5CA-1061-42D6-AF5C-99D8BD3DC898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0119D6C-369C-4B40-AD6F-9ADDE729B14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원본에 빈칸 4개가 있습니다. 0.0038을 3.8%로 읽지 않도록 비율 표시 방식을 확인해야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3F59734-E189-43BC-93B6-6C4FD7C999BE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452870-9611-4DE5-AD88-363BC6DE11C7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isna 점검 · median · 숫자형 입력 X</a:t>
            </a:r>
          </a:p>
        </p:txBody>
      </p:sp>
    </p:spTree>
    <p:extLst>
      <p:ext uri="{BB962C8B-B14F-4D97-AF65-F5344CB8AC3E}">
        <p14:creationId xmlns:p14="http://schemas.microsoft.com/office/powerpoint/2010/main" val="190682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D28F93-7AAE-452F-80D2-8CE604739769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77C30A-1BF7-42B6-8A63-9F4660D7D666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10/21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FA7561-902C-4535-8C0C-D0045FF38C60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chargeback_rate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CC4AF5-3C6C-44EC-B38B-2FDEABEE0777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E99361-BA28-4A5C-9A9B-49AB9162203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AA12C2-836F-4D84-8734-DD56F0A43C1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57C10E-9A6B-472D-B72E-491B3ABEBF9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EEB6D3-AAC9-4239-A012-1941BDAB8783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차지백 비율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862ECE-06E5-4E89-A642-83CC03CD081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chargeback_rate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94CBD4-30D6-46A4-B9BD-9C1EFE3C492E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CC9EE6-883A-411B-84D5-9B0A4CECC95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08D364-F9FF-4184-B758-2B1BB4C0D74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0.0049 = 0.49%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F199E2-D347-4A72-ABB6-AFCFE1BA7BD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934377-E0AA-41B9-AFBB-DBD952137F30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비율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147DA3-F461-4273-95C3-A1E34FE1B58C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2E3120-89F2-488D-AC2F-68533D7BC19F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카드 거래에 이의가 제기되어 결제가 되돌려진 비율을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90CF42-515E-4BA0-9D11-AB75FC97EE7D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431B46-9CAC-4DD4-B5EB-B1139104CBED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차지백이 발생했다고 모든 거래가 부정 거래로 확정된 것은 아닙니다. 추가 확인이 필요한 신호입니다.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1895207-BB4A-4FC8-936D-D5FD7DA57981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135371C-84E0-4907-837D-07819F4AD2B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경보 기준과 비교</a:t>
            </a:r>
          </a:p>
        </p:txBody>
      </p:sp>
    </p:spTree>
    <p:extLst>
      <p:ext uri="{BB962C8B-B14F-4D97-AF65-F5344CB8AC3E}">
        <p14:creationId xmlns:p14="http://schemas.microsoft.com/office/powerpoint/2010/main" val="681349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2AFD6C-B01F-43CD-AE6F-904981803D60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239D98-3A85-4893-B7F2-C72BFB67AB59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1E91FB-185D-4B65-9219-2FC84C69006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kyc_status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FDCDEC-B4CC-4892-93BC-9A0328BBD17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53EF1-6620-4A65-A5AF-69C4B312A2B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B1C142-4684-4421-B496-2CD752E850E2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B048DB-87F9-47C5-8FE0-540D39AA7BEF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6040B0-31C5-4F1F-B588-2AA466D3F76D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고객확인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93B616-65A0-42FC-BEAF-DD60D828D807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kyc_status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6293AC-E3FE-4CFC-A7D5-8B46EADF0FF5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B545E2-479C-41CF-93F5-77FF782A0685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E547B7-822D-4018-9C27-B8837ED2D4B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완료 · 검토중 · 갱신필요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3CF7D8-9370-4E9B-BC8D-9DCED30ECCDF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3EF211-454A-48A1-A11F-0AC181EC41EF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48598C-6E51-4DB0-AA4C-D94FB8D48D9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EDB0EE-E93D-44BE-8C09-DF5BF870F197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가맹점의 신원과 사업자 정보 확인이 어느 단계인지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72E9BB-9847-4034-9F91-121CC8A3F6BF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57149C-FB49-4258-B66D-07ADCBC321FF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수업용 단순화 값입니다. 실제 금융기관의 절차와 법적 판단을 대신하지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300D7AB-B285-4A56-9FFB-0FF4CCC864AE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3E93A8-8259-4EFF-AF94-F6C9ECA2C531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 X · OneHotEncoder</a:t>
            </a:r>
          </a:p>
        </p:txBody>
      </p:sp>
    </p:spTree>
    <p:extLst>
      <p:ext uri="{BB962C8B-B14F-4D97-AF65-F5344CB8AC3E}">
        <p14:creationId xmlns:p14="http://schemas.microsoft.com/office/powerpoint/2010/main" val="340116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D1EB96-419D-46F8-B6B4-488741E59ED3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C54A19-9256-4AD3-8191-E1B576EA48BF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12/21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A046E5-3BCE-4655-A128-483904CAEDBD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risk_tier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9A71A1-6C06-464B-8320-8C514F7DCC1B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0E2F5A-3D6C-4FE0-9FFF-F23878059BA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58534E-2B51-46F8-A34E-C1A5F072455B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C30C6D-E130-44A6-858A-D900DDA2337E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3AB90B-1988-4E6F-A32D-ABF01B088165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내부 위험 등급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216138-4302-4A83-A3EC-502BADF7F089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risk_tier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1BE467-40DB-4AA4-9DDC-A22220ECD7AF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180657-4751-4B1F-AE5D-2E6803DAE158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123263-86BB-43C4-8E64-446CA1B74601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낮음 · 보통 · 높음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62437C-4678-4A78-8828-7FCBEC4D7877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AF5148-7ADC-4C6B-8EED-CB918BB2F1BC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20EA14-C217-449B-AFD2-189BF4F8C72C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4E93E8-746B-4E55-AD31-771B22DEA0B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회사 내부 기준으로 가맹점의 관리 수준을 구분한 교육용 등급입니다.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C8F61A-1D20-4AAC-808D-D5CBD57232BF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DB9116-F1F9-466F-A5BD-821F40D116B9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위험 등급은 부정 거래 확정이나 법적 결론이 아닙니다. 검토 우선순위를 정하는 참고값입니다.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8CC6B3D-0D33-48CB-A800-D78043EF1008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61B436-24DB-4B82-8080-10CFAF313CFE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범주형 입력 X · 업무 우선순위 해석</a:t>
            </a:r>
          </a:p>
        </p:txBody>
      </p:sp>
    </p:spTree>
    <p:extLst>
      <p:ext uri="{BB962C8B-B14F-4D97-AF65-F5344CB8AC3E}">
        <p14:creationId xmlns:p14="http://schemas.microsoft.com/office/powerpoint/2010/main" val="2094342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3897A9-A4DC-436F-BAC7-FAED6EAB94C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E04070-3C08-4B14-B76D-0F738270A54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13/21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B7F94D-EDC6-40BB-9D2D-C574F172C0A6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settlement_cycle_days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FF73DA-D89A-42C6-9F13-82A851BD511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C3962E-0622-42AF-95C4-0175507815DB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C64C3-2F84-410F-8D18-2A3E9E713C5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BFC5B6-E020-4C5A-B059-FDB145E049F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BD075D-54B6-44A5-BF2D-C57865710DE8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정산 주기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A114E7-9F2B-4A43-B1AD-444F4815E886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settlement_cycle_days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7BE13E-8C6C-4A54-8FDF-47F5C3A786A9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95ED69-BA78-4089-B392-EA447A82535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9347BE-3862-49D0-B775-1CF2796389F2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1일 · 3일 · 7일 · 14일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8917FC-788B-4678-9779-8A60DBCDEFF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36D90E-D058-49A3-A986-DCBADD79648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1538A4-AF50-4F7C-92A1-4D46B4030C3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490AB3-05BC-45F6-9793-1AE697EAC2D4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거래 대금을 가맹점에 지급하기까지 걸리는 주기를 나타냅니다.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29E0FB-1F60-491A-AC5D-9F86EE0FA27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9F2132D-8B98-4D61-AB78-269AA9BCF011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숫자이지만 단순 크기만으로 좋고 나쁨을 판단할 수 없습니다. 계약과 위험 정책에 따라 의미가 달라집니다.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AD3C03A-EFB9-465A-9165-998FF9D21303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7A258A-4A16-46FD-8A36-E542EC38D885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업무 확인용 · 필요 시 숫자형 입력</a:t>
            </a:r>
          </a:p>
        </p:txBody>
      </p:sp>
    </p:spTree>
    <p:extLst>
      <p:ext uri="{BB962C8B-B14F-4D97-AF65-F5344CB8AC3E}">
        <p14:creationId xmlns:p14="http://schemas.microsoft.com/office/powerpoint/2010/main" val="11083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9B9D4-816F-4E64-8951-94EFE1DD5F10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8E1D2B-DCA8-4E7D-994E-85ABC80DDB6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14/21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795D3E-684E-445C-8B4E-DEC66AE97A56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support_tickets_90d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C69EE1-4050-4673-AE2C-1E093AC645D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49E318-CBA2-4494-B913-3BB9803FE0D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BF6B25-7F25-4EDC-BD54-3D4EA719DAF8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D2B1F5-FC68-4961-BAC9-61EC54BCB4E0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B40B18-D833-4EC0-A0CA-B0A1A5EC3DC0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90일 문의 건수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CCD6E0-DD39-4657-880B-795F809CEDA3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support_tickets_90d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D3C25E-27B0-47CA-9F10-741CE6E56429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0836B1-D7F0-4FD0-A5BA-E504087C190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060344-2539-4A5A-B7D5-8FA54AA76FB5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 · 1 · 3 · 7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D3AF7C-8DDB-416C-8CDD-F3322C867F39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4FC4C2-EE23-4406-B1F5-2CEA68FB5EB1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8BF6C9-63FC-4B63-A334-98AD1A75700B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266582-538F-45E6-AE94-37DEC996ADF5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최근 운영 과정에서 고객지원 요청이 얼마나 발생했는지 보여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456B0C-21A4-4849-B179-5E4B7F659C2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FC21CE-4548-400B-938A-C91B592227A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문의가 많다는 사실만으로 위험하다고 단정할 수 없습니다. 문의 내용과 거래 규모를 함께 봐야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7DF10FA-6A18-47E3-A020-B3A40575C3FC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7A87EC-186A-44BC-A738-E18115A1B04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최근 운영 이력</a:t>
            </a:r>
          </a:p>
        </p:txBody>
      </p:sp>
    </p:spTree>
    <p:extLst>
      <p:ext uri="{BB962C8B-B14F-4D97-AF65-F5344CB8AC3E}">
        <p14:creationId xmlns:p14="http://schemas.microsoft.com/office/powerpoint/2010/main" val="1756912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0534B7-1040-440E-BEE6-445F08F8AD5B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BFF8CF-03D1-4BEE-8669-E74E3AA1BDA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15/21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5175E4-D4A8-4DF0-A5FF-A3790F3BDB70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active_status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59A7F6-B786-4632-8028-E6F66215FF00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888577-8C93-4539-9E88-D1A04A881687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16BEBC-D28A-485A-AFFE-9C331E9D2E34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2C882C-239D-4FDC-839E-9C3959EDCA0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99F2D-7405-4006-8DCB-9BB9870721C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운영 상태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912EB8-0C24-4A85-9763-969396935D5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active_status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126E61-0A2B-4780-B943-C84764B67CA0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54FFA-AC56-4F0F-A526-12280E34A18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9B76AD-659D-4494-8565-46F9B01336FA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운영 · 일시중지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9477A3-E22F-4B2D-98B7-E10FC2370CA5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E2ECCA-8076-4487-B2EB-8F7BFC72FAF0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문자열 범주 · object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A597C3-E3FE-4C53-AF70-4486EEA83394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43018D-EB28-438F-9EAA-7DBB8946988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현재 거래를 정상적으로 받고 있는지 알려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8BC133-DE0B-4895-9708-2F34C2BC48F1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505996-D5EE-44B4-95AF-1238D09F3DB6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일시중지와 manual_review_required=True는 같은 뜻이 아닙니다. 운영 상태와 검토 판단을 분리합니다.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3AD9B70-C7DE-42FB-8FCD-1427EEAFA68B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1CFDE2-C062-4870-8BB7-B812F053B2AF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업무 확인용 · 필요 시 필터 조건</a:t>
            </a:r>
          </a:p>
        </p:txBody>
      </p:sp>
    </p:spTree>
    <p:extLst>
      <p:ext uri="{BB962C8B-B14F-4D97-AF65-F5344CB8AC3E}">
        <p14:creationId xmlns:p14="http://schemas.microsoft.com/office/powerpoint/2010/main" val="1341608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67B91B5-C110-4CA4-B623-7241C3147B6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FC679C-F09D-42A2-84E7-D6692B53874D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기준표 16/21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6AEB24-A044-47F3-A7FF-4C1878D33B7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manual_review_required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2C9D32-079D-42A2-97E3-D240D5FFF6F8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6FB023-5276-4BDF-84C1-7B8E3C2F5CC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7A3DCD-474F-4D84-B2F0-398CC03012D3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C1941D-52C1-46F1-A497-7C2F4CBA9654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319A73-57CA-419F-81C3-E16DDD89AB76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수동 검토 필요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9092AF-A327-4DDB-B949-7EC6F5051268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manual_review_required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BE5194-E687-48FC-8063-243F19ED417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D2E98C-E59E-45F3-B555-2476BD39E494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B6CEE4-B0C7-4340-A8ED-C1165A7EAE24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False 163곳 · True 77곳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232594-6CC7-4332-B023-164BD90846B0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8AC80B-90A5-4F66-A818-4B239670EACF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기준표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1F77E3-FB10-440E-8ECA-51EAAA32637F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7B8025-537D-454C-88DB-29FBF0A486CA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정보를 보고 맞히려는 교육용 정답 y입니다. True는 담당자가 추가로 확인할 대상으로 표시된 경우입니다.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E1F282-5B6E-4672-9672-C77BDB3B08D4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17E887-F323-4AA4-9337-911662ABD3F3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부정 거래 확정이나 거래 중단 명령이 아닙니다. 수업용 합성 데이터의 검토 필요 표시입니다.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5F85873-71FE-4D7B-B3FE-729A57F89FC8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8A3975-2D2F-45ED-9821-4337D1AC2B75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y로 분리 · X에서 제거 · stratify 기준</a:t>
            </a:r>
          </a:p>
        </p:txBody>
      </p:sp>
    </p:spTree>
    <p:extLst>
      <p:ext uri="{BB962C8B-B14F-4D97-AF65-F5344CB8AC3E}">
        <p14:creationId xmlns:p14="http://schemas.microsoft.com/office/powerpoint/2010/main" val="1576303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36A2DF-8EDA-4A0F-AD21-3FDF8BF176D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1062F6-1345-41F6-861C-863BA859CFC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5201F6-1947-44A2-9253-4D260159F79E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추가 기준표 6열의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5B9DA4-C76A-40BD-B781-79C7DC1C9815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CD6B38-6F14-4F09-9EC5-14A2C73D77B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DD81A1-1570-4190-B186-E3F0A58123C0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85F0E9-833B-4D0E-8717-30304EBD8BAD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A00458-5278-4221-A201-B9D7BBE2FE15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finance_risk_rules.csv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3CC23D-C126-4EF5-A743-C0570FD902C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연결 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81A79F-1035-4B4F-836D-49BF06BA72A1}"/>
              </a:ext>
            </a:extLst>
          </p:cNvPr>
          <p:cNvSpPr>
            <a:spLocks noGrp="1"/>
          </p:cNvSpPr>
          <p:nvPr/>
        </p:nvSpPr>
        <p:spPr>
          <a:xfrm>
            <a:off x="2857500" y="23812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merchant_id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682C73-66C3-4510-B998-6212322EF36E}"/>
              </a:ext>
            </a:extLst>
          </p:cNvPr>
          <p:cNvSpPr>
            <a:spLocks noGrp="1"/>
          </p:cNvSpPr>
          <p:nvPr/>
        </p:nvSpPr>
        <p:spPr>
          <a:xfrm>
            <a:off x="2857500" y="28384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72EEF1-714B-4756-8D3B-8E4552905F16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거래 정책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0E7149-2850-456D-AAF9-25BC8AF9BFA8}"/>
              </a:ext>
            </a:extLst>
          </p:cNvPr>
          <p:cNvSpPr>
            <a:spLocks noGrp="1"/>
          </p:cNvSpPr>
          <p:nvPr/>
        </p:nvSpPr>
        <p:spPr>
          <a:xfrm>
            <a:off x="2857500" y="31623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daily_limit_10k_krw · cross_border_allowed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EFABCB-9CEE-4D50-991F-201496CCB931}"/>
              </a:ext>
            </a:extLst>
          </p:cNvPr>
          <p:cNvSpPr>
            <a:spLocks noGrp="1"/>
          </p:cNvSpPr>
          <p:nvPr/>
        </p:nvSpPr>
        <p:spPr>
          <a:xfrm>
            <a:off x="2857500" y="361950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3A1BE9-8728-4E20-8E80-6F3A5F261A66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경보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E3AC1A-3652-4968-B21B-D3E8757F21B2}"/>
              </a:ext>
            </a:extLst>
          </p:cNvPr>
          <p:cNvSpPr>
            <a:spLocks noGrp="1"/>
          </p:cNvSpPr>
          <p:nvPr/>
        </p:nvSpPr>
        <p:spPr>
          <a:xfrm>
            <a:off x="2857500" y="394335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refund_alert_rate · chargeback_alert_rate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989FA5-7B84-4060-99DB-CDFC5E13C093}"/>
              </a:ext>
            </a:extLst>
          </p:cNvPr>
          <p:cNvSpPr>
            <a:spLocks noGrp="1"/>
          </p:cNvSpPr>
          <p:nvPr/>
        </p:nvSpPr>
        <p:spPr>
          <a:xfrm>
            <a:off x="2857500" y="4400550"/>
            <a:ext cx="81915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A52EC8-4A9B-4591-BDDF-0838471AF602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검토 기준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EE4174-0955-4461-B8CE-7E42F335FDBD}"/>
              </a:ext>
            </a:extLst>
          </p:cNvPr>
          <p:cNvSpPr>
            <a:spLocks noGrp="1"/>
          </p:cNvSpPr>
          <p:nvPr/>
        </p:nvSpPr>
        <p:spPr>
          <a:xfrm>
            <a:off x="2857500" y="4724400"/>
            <a:ext cx="8191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review_cycle_days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3CE8F68-16F0-46C1-8665-72DF2BE1DE8A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FBF4DBE-FE3E-413E-B515-F48E78F361AD}"/>
              </a:ext>
            </a:extLst>
          </p:cNvPr>
          <p:cNvSpPr>
            <a:spLocks noGrp="1"/>
          </p:cNvSpPr>
          <p:nvPr/>
        </p:nvSpPr>
        <p:spPr>
          <a:xfrm>
            <a:off x="876300" y="5705475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ID 한 개에 추가 기준 한 행이 대응합니다.</a:t>
            </a:r>
          </a:p>
        </p:txBody>
      </p:sp>
    </p:spTree>
    <p:extLst>
      <p:ext uri="{BB962C8B-B14F-4D97-AF65-F5344CB8AC3E}">
        <p14:creationId xmlns:p14="http://schemas.microsoft.com/office/powerpoint/2010/main" val="813139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1085A1-89A6-43E4-A1A3-6DBE1BFDED8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F8EC59-51B1-42C7-B5AF-E11FB8C879CF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17/21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228169-07DF-45D0-8FE7-4A313A13672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daily_limit_10k_krw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776DCE-7F66-4062-A6E3-73F57B379A84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4D13C7-38F2-4E19-B3B4-0930CFAE652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1AA1CC-B1AD-499D-A9E4-7594F7BA4BAE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B274E3-8B00-4BA0-8C9D-D361D8727AA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8D8568-204C-4BDD-A00A-5BAEA77DCC97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일일 거래 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E46AB2-59F7-44AD-828E-AB46E7C0F26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daily_limit_10k_krw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3A1AC0-9BAD-4590-9BB6-9D9375434849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56BBB5-2DC8-4406-BF43-2C6038E2F5F9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031F35-7D6B-4035-8A5D-B1734E76C798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300만원 · 1,000만원 · 2,000만원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AB2E27-7A04-429D-AD88-93FCCD4DFC3F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92076A-A2D2-4571-900A-58C0BEFBA811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규칙표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CD8990-8989-427A-9FB9-E2FC7CB72B58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87CE8A-7634-48FD-8ACF-5BB60C1FDC1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가맹점이 하루 동안 처리할 수 있도록 설정된 거래 규모 한도입니다.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966433-83A6-4F1D-8BFE-635755F9C107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3B9758-6C7E-4767-BBBF-B9FA022A2944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만원 단위입니다. 실제 거래액과 비교할 때 단위를 맞춰야 합니다.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FE6F8AB-5617-41D5-AD58-8E6786C38A98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41A1B9-8FC0-4E0E-9A50-C5CE61269B38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규칙표 결합</a:t>
            </a:r>
          </a:p>
        </p:txBody>
      </p:sp>
    </p:spTree>
    <p:extLst>
      <p:ext uri="{BB962C8B-B14F-4D97-AF65-F5344CB8AC3E}">
        <p14:creationId xmlns:p14="http://schemas.microsoft.com/office/powerpoint/2010/main" val="1290446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49BD3C9-B826-4A08-9BAE-D99B3FBC92A2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E33E85-5CA8-4B98-A08A-EE18F3480AC0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18/21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DB41EF-AF9E-460D-9EAD-621E4553BCC2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cross_border_allowed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D1F8C7-67DE-4441-8999-6FBF11240E1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2C5F3B-1DAD-42A8-BF6B-11EC6F7E987F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F52E1D-15BF-4C2A-895F-E67A0763C425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6F5E9-5FD7-4A76-82DA-0FDE1F4FCC91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762D5A-CA9A-4375-A5B4-5A5195444B8F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해외결제 허용 여부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D94E4E-E3F5-4962-ADB0-A769E39DC2AD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cross_border_allowed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F2EC62-E0A4-4BBD-8E4F-6C39A7E4F88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EA4FF9-9C55-44D7-A9A4-0D768100B2EA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359AF0-5654-4F81-8A47-B53A3194438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True · False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2F363F-538B-4284-8DFA-01C3412FBBFE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831D9D-7583-4FD6-9457-6B09CC9D54DE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불리언 · bool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규칙표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8A1564-836B-4705-AEC7-0BD4188A4BC8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CCC6843-04A6-481A-BB5B-0D1AEC84837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해외에서 발생한 거래를 허용하는 가맹점인지 알려 줍니다.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B08A4D-486C-4441-BE99-4A4C9B51BC1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8599A7-5910-49BF-9903-02ED6FED257C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False는 오류나 결측이 아니라 해외결제를 허용하지 않는 명확한 정책값입니다.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8483AA3-4A0E-4AAE-AF5E-8EC451C75442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66F729-50A9-48FF-970E-DE955CCA665A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규칙 확인용 · 필요 시 범주형 처리</a:t>
            </a:r>
          </a:p>
        </p:txBody>
      </p:sp>
    </p:spTree>
    <p:extLst>
      <p:ext uri="{BB962C8B-B14F-4D97-AF65-F5344CB8AC3E}">
        <p14:creationId xmlns:p14="http://schemas.microsoft.com/office/powerpoint/2010/main" val="529569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3331A7-F139-4EA6-A3E1-BCF5FD3525EB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F6C2AE-9F4D-466F-BCE6-1F1E23771353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19/21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AFAEFB-35C5-4C5F-8178-18F0F461167C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refund_alert_rate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DFC19E-2904-4CE6-8343-0E1EED6D5FDD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9F2010-6AA4-4349-9229-EF3797D7302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91E1F1-9956-4E18-BAEF-0CB2BC8FEA05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A50564-B2DC-4EBB-9ECB-033728A4E01F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3547F7-F204-4BBC-AC13-5317BBA686F3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환불 경보 기준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5B956C-C4E8-4C55-A049-70B4FD6965A8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refund_alert_rate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814211-3A02-4B18-BAA8-5407E166B997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4DE114-D2D8-4517-8FAC-2C327C662C8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E36D4A-F56D-4B49-A3C1-2D662E55786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0.08 · 0.10 · 0.15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43A6EA-C458-4A28-8102-4734EE31EFA6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9FDA54-CC22-43D2-866C-158F1E85F275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비율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규칙표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09AE4C-4C9C-4E7D-9EA5-EFC8677C3EBF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59A16-5AF3-4A06-ACF6-9DDC0CA6EE31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환불 비율이 어느 수준을 넘으면 추가 확인할지 정한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44751D-5B32-428B-B497-9024D97F1973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396DAE-46F7-4E88-97E1-193B50FA36A0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실제 환불 비율 refund_rate와 비교해야 의미가 생깁니다. 기준값만으로는 상태를 알 수 없습니다.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5EC2077-F92A-492B-8982-823C6FAB3586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2871D7-BB7E-43FC-BEF1-A5235157E22E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규칙표 결합 · 실제값과 기준 비교</a:t>
            </a:r>
          </a:p>
        </p:txBody>
      </p:sp>
    </p:spTree>
    <p:extLst>
      <p:ext uri="{BB962C8B-B14F-4D97-AF65-F5344CB8AC3E}">
        <p14:creationId xmlns:p14="http://schemas.microsoft.com/office/powerpoint/2010/main" val="897917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35DBB1-AE90-4CDD-BE42-19420DCB099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F755A2-4525-4847-82B8-120AB5C57D24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20/21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45510D-7956-438C-B88F-1A8E812C9558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chargeback_alert_rate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8A0357-96F0-47A8-A30A-4C4DFC5B37B2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B99E38-6C7F-43C6-B783-619544B2C2A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F6101E-674D-4070-8E23-F4939BB6B30C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D774B2-CC2D-4331-A5F5-FF6292E1E821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4F059B-7842-402C-BAEB-29D298C7CB02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차지백 경보 기준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9015D2-B2E2-44BD-92A4-C7CC3FE89544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chargeback_alert_rate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328576-D34A-4E0E-907D-8D1DE597DA2B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C0ECE5-F736-4599-888B-F327BCA9A93E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3E9F1E-605C-4D33-9897-124D2662C02C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0.01 · 0.02 · 0.03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06C28C-5C46-4F1C-9B62-C13036DE767C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0EDB5A-0683-47F0-B369-20C10377F171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실수 비율 · float64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규칙표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786508-703E-4398-8B64-3EB1403E51E7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41F92C-EFE2-452D-8EAF-DC87D2602168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차지백 비율이 어느 수준을 넘으면 추가 확인할지 정한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43818B-0963-4553-B35A-9B4735F2711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53DC92-7DCF-48A4-A5E2-C8FAC090E6F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가맹점마다 적용 기준이 다를 수 있으므로 하나의 고정 숫자를 모든 가맹점에 적용하지 않습니다.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8F5C162-DC27-4085-B9C5-B259DCEAB8BF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4F7A520-497C-446D-B953-C10C09DF846A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규칙표 결합 · 기준 초과 여부 확장</a:t>
            </a:r>
          </a:p>
        </p:txBody>
      </p:sp>
    </p:spTree>
    <p:extLst>
      <p:ext uri="{BB962C8B-B14F-4D97-AF65-F5344CB8AC3E}">
        <p14:creationId xmlns:p14="http://schemas.microsoft.com/office/powerpoint/2010/main" val="1028658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926381-CF6F-4D07-90D8-96C3C6E34A81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C1ED1E-DA05-4784-B3DA-21B993E25437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추가 기준표 21/21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84CF37-8AC1-412F-BB3C-54188531F843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review_cycle_days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C26F2C-05A3-485F-B086-CEBB98B6B6BE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8AB67E-C367-4A67-B73B-B73631948DC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8FA041-EF58-41E7-BF0D-5899E201D9E8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A79ECC-30B9-4C0E-BAE4-75242A0C0EA6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A4382C-D4E0-45F1-9070-6C65A12194A9}"/>
              </a:ext>
            </a:extLst>
          </p:cNvPr>
          <p:cNvSpPr>
            <a:spLocks noGrp="1"/>
          </p:cNvSpPr>
          <p:nvPr/>
        </p:nvSpPr>
        <p:spPr>
          <a:xfrm>
            <a:off x="571500" y="1657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정기 검토 주기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602202-43D0-404D-8CEE-53314D6B186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review_cycle_days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7FD367-938A-4EC4-BA14-45B31339D4AA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1049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A36C59-FAAD-4BB2-B980-F749D0ECAC30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값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3EA12B-017C-4B76-8250-349B12986647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2532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82532"/>
                </a:solidFill>
                <a:latin typeface="Menlo"/>
                <a:ea typeface="Menlo"/>
                <a:cs typeface="Menlo"/>
              </a:rPr>
              <a:t>30일 · 60일 · 90일 · 180일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0BEFF-5101-41FE-A691-E0D0AA718462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자료형과 출처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B47F9A-C8A5-4F3F-BFB0-77D8AFEF5FB7}"/>
              </a:ext>
            </a:extLst>
          </p:cNvPr>
          <p:cNvSpPr>
            <a:spLocks noGrp="1"/>
          </p:cNvSpPr>
          <p:nvPr/>
        </p:nvSpPr>
        <p:spPr>
          <a:xfrm>
            <a:off x="6286500" y="3190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정수 · int64</a:t>
            </a:r>
          </a:p>
          <a:p>
            <a:pPr>
              <a:def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위험 규칙표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DE31D6-4EDF-4437-9E9B-986B96067415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왜 기록할까요?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4C71C87-881B-4F71-9240-39301D51C16C}"/>
              </a:ext>
            </a:extLst>
          </p:cNvPr>
          <p:cNvSpPr>
            <a:spLocks noGrp="1"/>
          </p:cNvSpPr>
          <p:nvPr/>
        </p:nvSpPr>
        <p:spPr>
          <a:xfrm>
            <a:off x="666750" y="4267200"/>
            <a:ext cx="4953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가맹점 정보를 몇 일마다 다시 확인하도록 정했는지 보여 주는 기준입니다.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63F2E2-1F02-426D-BF5A-ED0E36636C01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주의할 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663BE9-D762-40C9-A6E2-6156C4EDAE0B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days_since_kyc_review와 비교하면 정기 검토 시점이 지났는지 판단할 수 있습니다.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C53E192-7545-4B78-AEBD-4878E6B5658D}"/>
              </a:ext>
            </a:extLst>
          </p:cNvPr>
          <p:cNvSpPr>
            <a:spLocks noGrp="1"/>
          </p:cNvSpPr>
          <p:nvPr/>
        </p:nvSpPr>
        <p:spPr>
          <a:xfrm>
            <a:off x="571500" y="5257800"/>
            <a:ext cx="11049000" cy="647700"/>
          </a:xfrm>
          <a:prstGeom prst="roundRect">
            <a:avLst>
              <a:gd name="adj" fmla="val 11765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FCA65D-8AC1-400F-AC92-86349BCAE8DD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57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과제 연결: 숫자형 입력 X · 검토 지연 플래그 확장</a:t>
            </a:r>
          </a:p>
        </p:txBody>
      </p:sp>
    </p:spTree>
    <p:extLst>
      <p:ext uri="{BB962C8B-B14F-4D97-AF65-F5344CB8AC3E}">
        <p14:creationId xmlns:p14="http://schemas.microsoft.com/office/powerpoint/2010/main" val="921353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2FF167-82F1-4137-BF49-3050A6A529E3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41BB54-AF49-4E46-AB6B-9868AE275C49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신규 데이터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390523-D215-4BBC-9675-984A9D656A26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신규 가맹점 40곳에는 정답 열이 없습니다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2427C7-B5EF-4863-90D4-DCD68CDFE69F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5FC6C9-9518-4852-B6D8-ED2FCBBC5EE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93D04F-6A44-4086-922F-FAF0D87F560D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1CEEAB-B39A-4596-9F7A-A5EE602EAF9D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673FFB-FA10-41BA-BD59-A05C699CB7F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F80ED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2F80ED"/>
                </a:solidFill>
                <a:latin typeface="Menlo"/>
                <a:ea typeface="Menlo"/>
                <a:cs typeface="Menlo"/>
              </a:rPr>
              <a:t>finance_merchants_new.csv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3699FF-B07C-48D2-BBBF-B452CB85A78F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10287000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기준표와 같은 15개 입력 열을 가지지만 manual_review_required는 없습니다.</a:t>
            </a:r>
          </a:p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기존 240곳에서 배운 중앙값과 범주 열 구조를 그대로 적용합니다.</a:t>
            </a:r>
          </a:p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새 업종 디지털콘텐츠가 있어도 handle_unknown='ignore'가 열 구조를 유지합니다.</a:t>
            </a:r>
          </a:p>
          <a:p>
            <a:pPr marL="228600" indent="-114300">
              <a:spcAft>
                <a:spcPts val="1600"/>
              </a:spcAft>
              <a:buChar char="•"/>
              <a:def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신규 가맹점에서 다시 fit하면 기존 가맹점과 비교 기준이 달라집니다.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5AF4C1B-1495-4A22-A058-2423C91A6125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477500" cy="571500"/>
          </a:xfrm>
          <a:prstGeom prst="roundRect">
            <a:avLst>
              <a:gd name="adj" fmla="val 13333"/>
            </a:avLst>
          </a:prstGeom>
          <a:solidFill>
            <a:srgbClr val="EDF4FF"/>
          </a:solidFill>
          <a:ln w="9525">
            <a:solidFill>
              <a:srgbClr val="2F80ED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12451E-DE4C-4DD8-84D5-22A12DCBBDD1}"/>
              </a:ext>
            </a:extLst>
          </p:cNvPr>
          <p:cNvSpPr>
            <a:spLocks noGrp="1"/>
          </p:cNvSpPr>
          <p:nvPr/>
        </p:nvSpPr>
        <p:spPr>
          <a:xfrm>
            <a:off x="895350" y="548640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23A63"/>
                </a:solidFill>
                <a:latin typeface="Apple SD Gothic Neo"/>
                <a:ea typeface="Apple SD Gothic Neo"/>
                <a:cs typeface="Apple SD Gothic Neo"/>
              </a:rPr>
              <a:t>새 데이터는 정답을 맞히는 대상이므로 정답 열 y가 아직 없습니다.</a:t>
            </a:r>
          </a:p>
        </p:txBody>
      </p:sp>
    </p:spTree>
    <p:extLst>
      <p:ext uri="{BB962C8B-B14F-4D97-AF65-F5344CB8AC3E}">
        <p14:creationId xmlns:p14="http://schemas.microsoft.com/office/powerpoint/2010/main" val="578691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CF06484D-E3C2-4993-8C0D-8DAA7737AEA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PYTHON DATA · WEEK 1 · OPTIONAL ASSIGNMENT · FINANCE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36782F-51DD-4064-BDCC-127B6A33C93A}"/>
              </a:ext>
            </a:extLst>
          </p:cNvPr>
          <p:cNvSpPr>
            <a:spLocks noGrp="1"/>
          </p:cNvSpPr>
          <p:nvPr/>
        </p:nvSpPr>
        <p:spPr>
          <a:xfrm>
            <a:off x="10001250" y="20955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9B6A"/>
                </a:solidFill>
                <a:latin typeface="Apple SD Gothic Neo"/>
                <a:ea typeface="Apple SD Gothic Neo"/>
                <a:cs typeface="Apple SD Gothic Neo"/>
              </a:rPr>
              <a:t>과제 체크리스트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91A80A-4C97-468F-8AEF-B4EC016EDA37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과제에서 데이터를 다루는 순서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133A64-CD40-44E7-85EE-9C389CEB5663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06B84B-4A60-41F6-A9F0-C8E0EDB69F1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19050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598485-7E65-47D6-B7D3-A356142C3AF5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열 이름을 외우기보다, 값이 어디서 생기고 어떤 판단에 쓰이는지 이해합니다.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1F9472-91BB-4ACC-9EEA-4C0F2C706AE5}"/>
              </a:ext>
            </a:extLst>
          </p:cNvPr>
          <p:cNvSpPr>
            <a:spLocks noGrp="1"/>
          </p:cNvSpPr>
          <p:nvPr/>
        </p:nvSpPr>
        <p:spPr>
          <a:xfrm>
            <a:off x="11296650" y="63246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67482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C42CAE-729F-4E5A-92F7-BFEB9619D7E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A3607D-63A5-47A0-A356-6949C577033F}"/>
              </a:ext>
            </a:extLst>
          </p:cNvPr>
          <p:cNvSpPr>
            <a:spLocks noGrp="1"/>
          </p:cNvSpPr>
          <p:nvPr/>
        </p:nvSpPr>
        <p:spPr>
          <a:xfrm>
            <a:off x="1619250" y="18002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Q1에서 세 CSV의 위치와 243행, 240행을 확인합니다.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B014BC-C4A6-4364-A6D5-717787CBED7C}"/>
              </a:ext>
            </a:extLst>
          </p:cNvPr>
          <p:cNvSpPr>
            <a:spLocks noGrp="1"/>
          </p:cNvSpPr>
          <p:nvPr/>
        </p:nvSpPr>
        <p:spPr>
          <a:xfrm>
            <a:off x="1619250" y="231457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FDEEC-3754-459C-9C90-597593F1CDA3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9574E7-7688-427B-A6FE-857B4AAC014B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Q2에서 중복, 지역 표기, 문자 숫자, 결측값을 정리합니다.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E1B061-C526-42A6-8C0C-3D837852B4B9}"/>
              </a:ext>
            </a:extLst>
          </p:cNvPr>
          <p:cNvSpPr>
            <a:spLocks noGrp="1"/>
          </p:cNvSpPr>
          <p:nvPr/>
        </p:nvSpPr>
        <p:spPr>
          <a:xfrm>
            <a:off x="1619250" y="305752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E57A90-06CD-4D0C-A18B-67A399076EC0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Q3~Q4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282B3AC-E60C-496C-8EF4-E20445433597}"/>
              </a:ext>
            </a:extLst>
          </p:cNvPr>
          <p:cNvSpPr>
            <a:spLocks noGrp="1"/>
          </p:cNvSpPr>
          <p:nvPr/>
        </p:nvSpPr>
        <p:spPr>
          <a:xfrm>
            <a:off x="1619250" y="32861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Q3과 Q4에서 위험 규칙표를 붙이고 KYC 검토 경과일을 만듭니다.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D33FC7-CA9C-41CB-9DEB-81236AB03496}"/>
              </a:ext>
            </a:extLst>
          </p:cNvPr>
          <p:cNvSpPr>
            <a:spLocks noGrp="1"/>
          </p:cNvSpPr>
          <p:nvPr/>
        </p:nvSpPr>
        <p:spPr>
          <a:xfrm>
            <a:off x="1619250" y="380047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9186EA-DDDC-42DE-89A4-167342E007EF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Q5~Q6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F0094A-9398-4EC6-BB7C-C88B4E872815}"/>
              </a:ext>
            </a:extLst>
          </p:cNvPr>
          <p:cNvSpPr>
            <a:spLocks noGrp="1"/>
          </p:cNvSpPr>
          <p:nvPr/>
        </p:nvSpPr>
        <p:spPr>
          <a:xfrm>
            <a:off x="1619250" y="402907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Q5와 Q6에서 X와 y를 나누고 전처리 기준을 train에서 배웁니다.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514031-09FB-483E-A7CB-6FABD6F393B1}"/>
              </a:ext>
            </a:extLst>
          </p:cNvPr>
          <p:cNvSpPr>
            <a:spLocks noGrp="1"/>
          </p:cNvSpPr>
          <p:nvPr/>
        </p:nvSpPr>
        <p:spPr>
          <a:xfrm>
            <a:off x="1619250" y="4543425"/>
            <a:ext cx="9525000" cy="9525"/>
          </a:xfrm>
          <a:prstGeom prst="rect">
            <a:avLst/>
          </a:prstGeom>
          <a:solidFill>
            <a:srgbClr val="DCE4E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F8A54D-AF9E-479F-B8A4-7D921704B592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80ED"/>
                </a:solidFill>
                <a:latin typeface="Apple SD Gothic Neo"/>
                <a:ea typeface="Apple SD Gothic Neo"/>
                <a:cs typeface="Apple SD Gothic Neo"/>
              </a:rPr>
              <a:t>Q7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8266D8-2BD7-4FC8-AB6D-AC1E5E550B43}"/>
              </a:ext>
            </a:extLst>
          </p:cNvPr>
          <p:cNvSpPr>
            <a:spLocks noGrp="1"/>
          </p:cNvSpPr>
          <p:nvPr/>
        </p:nvSpPr>
        <p:spPr>
          <a:xfrm>
            <a:off x="1619250" y="4772025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Q7에서 신규 가맹점 40곳에 같은 기준을 적용하고 결과를 저장합니다.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7497EAC4-AC74-4C8A-A7C3-3B3D726C3A8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477500" cy="400050"/>
          </a:xfrm>
          <a:prstGeom prst="roundRect">
            <a:avLst>
              <a:gd name="adj" fmla="val 19048"/>
            </a:avLst>
          </a:prstGeom>
          <a:solidFill>
            <a:srgbClr val="EAF7F1"/>
          </a:solidFill>
          <a:ln w="9525">
            <a:solidFill>
              <a:srgbClr val="159B6A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2886BA-2862-4D69-B6A0-A0F58E558E34}"/>
              </a:ext>
            </a:extLst>
          </p:cNvPr>
          <p:cNvSpPr>
            <a:spLocks noGrp="1"/>
          </p:cNvSpPr>
          <p:nvPr/>
        </p:nvSpPr>
        <p:spPr>
          <a:xfrm>
            <a:off x="895350" y="5705475"/>
            <a:ext cx="1000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532"/>
                </a:solidFill>
                <a:latin typeface="Apple SD Gothic Neo"/>
                <a:ea typeface="Apple SD Gothic Neo"/>
                <a:cs typeface="Apple SD Gothic Neo"/>
              </a:rPr>
              <a:t>같은 처리 원리를 다른 분야의 대상과 열에 옮겨 보는 것이 이 선택과제의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1143874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ython Data Guide">
      <a:dk1>
        <a:srgbClr val="000000"/>
      </a:dk1>
      <a:lt1>
        <a:srgbClr val="FFFFFF"/>
      </a:lt1>
      <a:dk2>
        <a:srgbClr val="123A63"/>
      </a:dk2>
      <a:lt2>
        <a:srgbClr val="DCE4EB"/>
      </a:lt2>
      <a:accent1>
        <a:srgbClr val="2F80ED"/>
      </a:accent1>
      <a:accent2>
        <a:srgbClr val="159B6A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F80ED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ython Data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7800</Words>
  <Application>Microsoft Macintosh PowerPoint</Application>
  <DocSecurity>0</DocSecurity>
  <PresentationFormat>와이드스크린</PresentationFormat>
  <Paragraphs>1109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Malgun Gothic</vt:lpstr>
      <vt:lpstr>Apple SD Gothic Neo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김윤이</cp:lastModifiedBy>
  <cp:revision>2</cp:revision>
  <dcterms:created xsi:type="dcterms:W3CDTF">2026-10-07T23:14:55Z</dcterms:created>
  <dcterms:modified xsi:type="dcterms:W3CDTF">2026-10-08T03:12:39Z</dcterms:modified>
</cp:coreProperties>
</file>