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879b0ea99f4bd1" /><Relationship Type="http://schemas.openxmlformats.org/officeDocument/2006/relationships/extended-properties" Target="/docProps/app.xml" Id="R2bc4fffba1614098" /><Relationship Type="http://schemas.openxmlformats.org/officeDocument/2006/relationships/officeDocument" Target="/ppt/presentation.xml" Id="R56bf0f27317e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b67fb45af04a97"/>
  </p:sldMasterIdLst>
  <p:notesMasterIdLst>
    <p:notesMasterId xmlns:r="http://schemas.openxmlformats.org/officeDocument/2006/relationships" r:id="R3d9bb89e2c5548af"/>
  </p:notesMasterIdLst>
  <p:sldIdLst>
    <p:sldId xmlns:r="http://schemas.openxmlformats.org/officeDocument/2006/relationships" id="256" r:id="R8f529613b6dd4085"/>
    <p:sldId xmlns:r="http://schemas.openxmlformats.org/officeDocument/2006/relationships" id="257" r:id="R27dc29a12db34aa6"/>
    <p:sldId xmlns:r="http://schemas.openxmlformats.org/officeDocument/2006/relationships" id="258" r:id="R4d6dfb0c46094989"/>
    <p:sldId xmlns:r="http://schemas.openxmlformats.org/officeDocument/2006/relationships" id="259" r:id="R46d97cae3b0e456e"/>
    <p:sldId xmlns:r="http://schemas.openxmlformats.org/officeDocument/2006/relationships" id="260" r:id="R7a30e7a1127843ef"/>
    <p:sldId xmlns:r="http://schemas.openxmlformats.org/officeDocument/2006/relationships" id="261" r:id="R3754a8971b534240"/>
    <p:sldId xmlns:r="http://schemas.openxmlformats.org/officeDocument/2006/relationships" id="262" r:id="R8c88df7c35964cbb"/>
    <p:sldId xmlns:r="http://schemas.openxmlformats.org/officeDocument/2006/relationships" id="263" r:id="R58423cdd19be41dd"/>
    <p:sldId xmlns:r="http://schemas.openxmlformats.org/officeDocument/2006/relationships" id="264" r:id="R1768254761284361"/>
    <p:sldId xmlns:r="http://schemas.openxmlformats.org/officeDocument/2006/relationships" id="265" r:id="R12f367a21fa54865"/>
    <p:sldId xmlns:r="http://schemas.openxmlformats.org/officeDocument/2006/relationships" id="266" r:id="R80d7ee5034d54821"/>
    <p:sldId xmlns:r="http://schemas.openxmlformats.org/officeDocument/2006/relationships" id="267" r:id="R2174876895a94e1d"/>
    <p:sldId xmlns:r="http://schemas.openxmlformats.org/officeDocument/2006/relationships" id="268" r:id="R90f94f0a1809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ff2750b1c4f65" /><Relationship Type="http://schemas.openxmlformats.org/officeDocument/2006/relationships/slideMaster" Target="/ppt/slideMasters/slideMaster1.xml" Id="R1ab67fb45af04a97" /><Relationship Type="http://schemas.openxmlformats.org/officeDocument/2006/relationships/notesMaster" Target="/ppt/notesMasters/notesMaster1.xml" Id="R3d9bb89e2c5548af" /><Relationship Type="http://schemas.openxmlformats.org/officeDocument/2006/relationships/presProps" Target="/ppt/presProps.xml" Id="R273a34ac62db4812" /><Relationship Type="http://schemas.openxmlformats.org/officeDocument/2006/relationships/tableStyles" Target="/ppt/tableStyles.xml" Id="R040267b54b3c4f5c" /><Relationship Type="http://schemas.openxmlformats.org/officeDocument/2006/relationships/slide" Target="/ppt/slides/slide1.xml" Id="R8f529613b6dd4085" /><Relationship Type="http://schemas.openxmlformats.org/officeDocument/2006/relationships/slide" Target="/ppt/slides/slide2.xml" Id="R27dc29a12db34aa6" /><Relationship Type="http://schemas.openxmlformats.org/officeDocument/2006/relationships/slide" Target="/ppt/slides/slide3.xml" Id="R4d6dfb0c46094989" /><Relationship Type="http://schemas.openxmlformats.org/officeDocument/2006/relationships/slide" Target="/ppt/slides/slide4.xml" Id="R46d97cae3b0e456e" /><Relationship Type="http://schemas.openxmlformats.org/officeDocument/2006/relationships/slide" Target="/ppt/slides/slide5.xml" Id="R7a30e7a1127843ef" /><Relationship Type="http://schemas.openxmlformats.org/officeDocument/2006/relationships/slide" Target="/ppt/slides/slide6.xml" Id="R3754a8971b534240" /><Relationship Type="http://schemas.openxmlformats.org/officeDocument/2006/relationships/slide" Target="/ppt/slides/slide7.xml" Id="R8c88df7c35964cbb" /><Relationship Type="http://schemas.openxmlformats.org/officeDocument/2006/relationships/slide" Target="/ppt/slides/slide8.xml" Id="R58423cdd19be41dd" /><Relationship Type="http://schemas.openxmlformats.org/officeDocument/2006/relationships/slide" Target="/ppt/slides/slide9.xml" Id="R1768254761284361" /><Relationship Type="http://schemas.openxmlformats.org/officeDocument/2006/relationships/slide" Target="/ppt/slides/slide10.xml" Id="R12f367a21fa54865" /><Relationship Type="http://schemas.openxmlformats.org/officeDocument/2006/relationships/slide" Target="/ppt/slides/slide11.xml" Id="R80d7ee5034d54821" /><Relationship Type="http://schemas.openxmlformats.org/officeDocument/2006/relationships/slide" Target="/ppt/slides/slide12.xml" Id="R2174876895a94e1d" /><Relationship Type="http://schemas.openxmlformats.org/officeDocument/2006/relationships/slide" Target="/ppt/slides/slide13.xml" Id="R90f94f0a1809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7cd312958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805b6c5ac24774" /><Relationship Type="http://schemas.openxmlformats.org/officeDocument/2006/relationships/notesMaster" Target="/ppt/notesMasters/notesMaster1.xml" Id="R2b76d18b1d78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f1b69265024d1b" /><Relationship Type="http://schemas.openxmlformats.org/officeDocument/2006/relationships/notesMaster" Target="/ppt/notesMasters/notesMaster1.xml" Id="R101a2a97e94549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044d52b0e445b2" /><Relationship Type="http://schemas.openxmlformats.org/officeDocument/2006/relationships/notesMaster" Target="/ppt/notesMasters/notesMaster1.xml" Id="Rcc3bc5ba8d25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9cd76efaa44d3" /><Relationship Type="http://schemas.openxmlformats.org/officeDocument/2006/relationships/notesMaster" Target="/ppt/notesMasters/notesMaster1.xml" Id="R88333174d3964e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6df81e17144a4a" /><Relationship Type="http://schemas.openxmlformats.org/officeDocument/2006/relationships/notesMaster" Target="/ppt/notesMasters/notesMaster1.xml" Id="R7d048597e149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b98d3443054b0d" /><Relationship Type="http://schemas.openxmlformats.org/officeDocument/2006/relationships/notesMaster" Target="/ppt/notesMasters/notesMaster1.xml" Id="R621bd089391b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dc3bcc866c4a42" /><Relationship Type="http://schemas.openxmlformats.org/officeDocument/2006/relationships/notesMaster" Target="/ppt/notesMasters/notesMaster1.xml" Id="R4216fab8a792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6105adeb9e4abb" /><Relationship Type="http://schemas.openxmlformats.org/officeDocument/2006/relationships/notesMaster" Target="/ppt/notesMasters/notesMaster1.xml" Id="R50ffbdde9ad944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1e4c48cf2477f" /><Relationship Type="http://schemas.openxmlformats.org/officeDocument/2006/relationships/notesMaster" Target="/ppt/notesMasters/notesMaster1.xml" Id="Rcf21c1a4ffc14c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4d7aafd3fe4917" /><Relationship Type="http://schemas.openxmlformats.org/officeDocument/2006/relationships/notesMaster" Target="/ppt/notesMasters/notesMaster1.xml" Id="R619d72a2743d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5867748ef84911" /><Relationship Type="http://schemas.openxmlformats.org/officeDocument/2006/relationships/notesMaster" Target="/ppt/notesMasters/notesMaster1.xml" Id="R2c32551e1c6f47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37119075d2411c" /><Relationship Type="http://schemas.openxmlformats.org/officeDocument/2006/relationships/notesMaster" Target="/ppt/notesMasters/notesMaster1.xml" Id="R237bdaafea3345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427fc87f5844de" /><Relationship Type="http://schemas.openxmlformats.org/officeDocument/2006/relationships/notesMaster" Target="/ppt/notesMasters/notesMaster1.xml" Id="R68951ed6193947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선택과제는 1주차 데이터와 같은 ID 240개를 사용합니다. 새 도메인을 다시 고를 수도 있지만, 연계를 이해하려면 같은 도메인을 유지하는 편이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“왜 다시 groupby를 하는가?”라고 물으면 한 행의 뜻이 달라졌기 때문이라고 설명하세요. 1주차는 이미 대상당 한 행이지만 2주차는 같은 ID가 날짜별로 반복됩니다.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equipment_id 또는 merchant_id가 주차를 연결하는 중심입니다. 파일 경로나 행 번호로 연결하지 않습니다. 행 순서는 파일을 합치는 순간 달라질 수 있지만 ID는 대상을 계속 가리킵니다.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[사용 위치]</a:t>
            </a:r>
          </a:p>
          <a:p xmlns:a="http://schemas.openxmlformats.org/drawingml/2006/main">
            <a:r>
              <a:t>기존 3쪽의 3주 연계 구조를 설명한 직후에 사용합니다. 학생이 제조나 금융 과제를 열기 전에, 결혼정보 활동 로그에서 했던 처리와 새 도메인의 처리가 어떻게 이어지는지 먼저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학생이 낯선 열 이름을 외우기보다 각 열이 처리 과정에서 맡는 역할을 찾게 합니다. 같은 행에 놓인 열은 업무 의미가 완전히 같은 열이 아니라, 수업에서 비슷한 방법으로 다룰 수 있는 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[세 데이터의 공통 구조]</a:t>
            </a:r>
          </a:p>
          <a:p xmlns:a="http://schemas.openxmlformats.org/drawingml/2006/main">
            <a:r>
              <a:t>- 결혼정보 활동 로그는 회원 1,000명의 30일 기록 30,000행입니다.</a:t>
            </a:r>
          </a:p>
          <a:p xmlns:a="http://schemas.openxmlformats.org/drawingml/2006/main">
            <a:r>
              <a:t>- 제조 과제는 설비 240대의 30일 센서 기록 7,200행입니다.</a:t>
            </a:r>
          </a:p>
          <a:p xmlns:a="http://schemas.openxmlformats.org/drawingml/2006/main">
            <a:r>
              <a:t>- 금융 과제는 가맹점 240곳의 30일 거래 기록 7,200행입니다.</a:t>
            </a:r>
          </a:p>
          <a:p xmlns:a="http://schemas.openxmlformats.org/drawingml/2006/main">
            <a:r>
              <a:t>- 세 경우 모두 같은 ID가 여러 행에 반복되므로, 여러 CSV를 합친 뒤 ID별 한 행으로 요약합니다.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[표를 가로로 읽는 방법]</a:t>
            </a:r>
          </a:p>
          <a:p xmlns:a="http://schemas.openxmlformats.org/drawingml/2006/main">
            <a:r>
              <a:t>대상을 구분하는 열은 member_id, equipment_id, merchant_id입니다. 이름은 다르지만 중복 확인, groupby, 기준표 merge의 기준이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시간 열은 activity_date, event_datetime, transaction_datetime입니다. 제조와 금융의 원본은 날짜와 시간이 함께 있으므로 pd.to_datetime으로 바꾼 뒤 날짜 부분을 따로 꺼냅니다.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stay_time_min, vibration_mm_s, processing_ms에는 숫자가 아닌 값이 섞일 수 있습니다. pd.to_numeric(errors="coerce")로 계산할 수 없는 값을 결측으로 표시한 뒤 요약합니다.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[pivot과 요약의 연결]</a:t>
            </a:r>
          </a:p>
          <a:p xmlns:a="http://schemas.openxmlformats.org/drawingml/2006/main">
            <a:r>
              <a:t>작은 표에서는 app_opens, energy_kwh, amount_krw를 날짜별로 펼쳐 넓은 표를 만듭니다. 전체 데이터에서는 groupby와 agg를 사용해 30일 기록을 대상별 한 행으로 줄입니다. 이때 원본 로그를 삭제하는 것이 아니라 합계, 횟수, 평균, 최근 시점으로 요약합니다.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[1주차 기준표와 연결]</a:t>
            </a:r>
          </a:p>
          <a:p xmlns:a="http://schemas.openxmlformats.org/drawingml/2006/main">
            <a:r>
              <a:t>2주차 로그 요약표만으로는 대상의 기본 정보가 부족합니다. members.csv, equipment_master_reference.csv, merchant_master_reference.csv를 각 ID로 결합합니다. 결합 결과의 한 행은 회원 한 명, 설비 한 대, 가맹점 한 곳을 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그대로 설명할 문장]</a:t>
            </a:r>
          </a:p>
          <a:p xmlns:a="http://schemas.openxmlformats.org/drawingml/2006/main">
            <a:r>
              <a:t>“제조와 금융 과제의 영어 열 이름은 새롭지만 처리 순서는 같습니다. 먼저 여러 파일을 찾고 합칩니다. 날짜와 숫자를 계산할 수 있게 바꾼 뒤 ID별로 30일을 요약합니다. 마지막에는 1주차 기준표를 같은 ID로 붙이고, 그 결과를 3주차의 API와 DB가 읽게 합니다.”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“제조 데이터의 vibration_mm_s와 금융 데이터의 processing_ms를 보았을 때, 결혼정보 활동 로그의 어느 열에서 했던 숫자 변환을 떠올릴 수 있나요?”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stay_time_min입니다. 세 열 모두 숫자가 아닌 값이 섞일 수 있으므로 숫자로 변환하고, 변환되지 않는 값은 결측으로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[주의할 점]</a:t>
            </a:r>
          </a:p>
          <a:p xmlns:a="http://schemas.openxmlformats.org/drawingml/2006/main">
            <a:r>
              <a:t>activity_batches는 본 수업에서 25개 파일이지만 제조와 금융 선택과제는 각각 12개 파일입니다. 과제 규모를 줄였을 뿐 glob, concat, 숫자·날짜 변환, pivot, groupby, merge, 저장의 핵심 과정은 같습니다.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장 연결]</a:t>
            </a:r>
          </a:p>
          <a:p xmlns:a="http://schemas.openxmlformats.org/drawingml/2006/main">
            <a:r>
              <a:t>다음 장에서 학생이 처음 받는 파일과 과제 뒤에 공개할 파일을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 근거]</a:t>
            </a:r>
          </a:p>
          <a:p xmlns:a="http://schemas.openxmlformats.org/drawingml/2006/main">
            <a:r>
              <a:t>- course_materials/matchmaking_data/02_week2/00_2주차_데이터_열이름과뜻.md</a:t>
            </a:r>
          </a:p>
          <a:p xmlns:a="http://schemas.openxmlformats.org/drawingml/2006/main">
            <a:r>
              <a:t>- course_materials/assignments/week2/option1_manufacturing/2주차_제조_데이터사전.md</a:t>
            </a:r>
          </a:p>
          <a:p xmlns:a="http://schemas.openxmlformats.org/drawingml/2006/main">
            <a:r>
              <a:t>- course_materials/assignments/week2/option2_finance/2주차_금융_데이터사전.md</a:t>
            </a:r>
          </a:p>
          <a:p xmlns:a="http://schemas.openxmlformats.org/drawingml/2006/main">
            <a:r>
              <a:t>- 각 선택과제의 2주차 정답 노트북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CSV 12개를 하나씩 다운로드하거나 옮기게 하지 않습니다. option 폴더 전체를 배포하고, VS Code에서 폴더를 연 뒤 노트북만 실행하게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과제는 8교시 종합실습보다 파일 수를 12개, 행 수를 7,200행으로 줄였습니다. 기능은 유지하되 학생이 집에서 실행·복구하기 쉬운 크기입니다. 작은 4×7 표는 pivot_table로 넓혔다가 melt로 28행 긴 표로 되돌립니다.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record_count는 각 설비당 30이 됩니다. avg와 max, 합계와 비율은 질문이 다릅니다. 모든 열을 같은 함수로 집계하지 않게 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joblib 파일을 직접 열어 읽으려 하지 않게 하세요. 3주차 Python 코드가 joblib.load로 처리기를 다시 불러옵니다. CSV는 사람이 확인할 수 있는 요약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금융 로그는 실제 금융기관 자료가 아니라 합성 거래 데이터입니다. amount 합계와 평균, approved 평균을 비율로 읽는 법, country_code가 KR이 아닌 건수를 세는 법을 연습합니다.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manual_review_required는 교육용 라벨입니다. API가 반환하는 것은 의사결정이 아니라 요약 데이터입니다. 실제 금융 서비스라면 인증, 개인정보, 접근 제어, 감사 기록이 추가로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실행은 환경 문제로 시간이 늘어날 수 있으므로 선택 확장으로 둡니다. 학생이 실행한다면 터미널에서 option 폴더로 이동한 뒤 uvicorn 명령을 실행하고, 서버가 켜진 동안 다른 터미널이나 브라우저로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검증을 학생이 새로 작성하게 하지 않습니다. 핵심 빈칸은 학생이 채우고, 긴 assert와 출력은 제공해 결과 읽기에 집중하게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3주차에서 학생은 동일한 summary CSV를 API가 읽게 하고, SQLite에 저장한 뒤, EDA/PCA 결과와 함께 Streamlit에서 보여 줄 수 있습니다. 과제 파일을 다른 폴더로 복사하기보다 경로를 명확히 정해 한 곳을 원본으로 사용하게 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8fea1d796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0dccfddcdd4a6e" /><Relationship Type="http://schemas.openxmlformats.org/officeDocument/2006/relationships/slideLayout" Target="/ppt/slideLayouts/slideLayout1.xml" Id="Redfbbd86c83346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fbbd86c83346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b0ed9b3504902" /><Relationship Type="http://schemas.openxmlformats.org/officeDocument/2006/relationships/notesSlide" Target="/ppt/notesSlides/notesSlide1.xml" Id="Re7b466d01bbc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8062150ee4cb3" /><Relationship Type="http://schemas.openxmlformats.org/officeDocument/2006/relationships/notesSlide" Target="/ppt/notesSlides/notesSlide2.xml" Id="R10027a09f47d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b5a01235b4d65" /><Relationship Type="http://schemas.openxmlformats.org/officeDocument/2006/relationships/notesSlide" Target="/ppt/notesSlides/notesSlide3.xml" Id="R7b9ce9c89199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6204ac4e4240" /><Relationship Type="http://schemas.openxmlformats.org/officeDocument/2006/relationships/notesSlide" Target="/ppt/notesSlides/notesSlide4.xml" Id="Rda4e38824dac46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3bb4a09ba4ce7" /><Relationship Type="http://schemas.openxmlformats.org/officeDocument/2006/relationships/notesSlide" Target="/ppt/notesSlides/notesSlide5.xml" Id="R067a9bf33f7e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a16d621074408" /><Relationship Type="http://schemas.openxmlformats.org/officeDocument/2006/relationships/notesSlide" Target="/ppt/notesSlides/notesSlide6.xml" Id="Rf6af40b99237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7f30135764cb2" /><Relationship Type="http://schemas.openxmlformats.org/officeDocument/2006/relationships/notesSlide" Target="/ppt/notesSlides/notesSlide7.xml" Id="R75e059ce12e5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79c05654b4de0" /><Relationship Type="http://schemas.openxmlformats.org/officeDocument/2006/relationships/notesSlide" Target="/ppt/notesSlides/notesSlide8.xml" Id="R5e20c2205af1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c0ffd17094112" /><Relationship Type="http://schemas.openxmlformats.org/officeDocument/2006/relationships/notesSlide" Target="/ppt/notesSlides/notesSlide9.xml" Id="R90c912a090864d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0c20d01c4b86" /><Relationship Type="http://schemas.openxmlformats.org/officeDocument/2006/relationships/notesSlide" Target="/ppt/notesSlides/notesSlide10.xml" Id="R2c2ce07b0f6040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d2d3c7234382" /><Relationship Type="http://schemas.openxmlformats.org/officeDocument/2006/relationships/notesSlide" Target="/ppt/notesSlides/notesSlide11.xml" Id="R78fc670f73e242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a9f647f2475e" /><Relationship Type="http://schemas.openxmlformats.org/officeDocument/2006/relationships/notesSlide" Target="/ppt/notesSlides/notesSlide12.xml" Id="R6c4c0282492b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c636a72294fac" /><Relationship Type="http://schemas.openxmlformats.org/officeDocument/2006/relationships/notesSlide" Target="/ppt/notesSlides/notesSlide13.xml" Id="Rdffc506270a34f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6AC59-3A7F-4E8B-83E7-E7E1841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데이터 엔지니어링 · 2주차 선택과제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B6FCE-387A-4D92-9FCB-B7D1DE6E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095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여러 파일의 로그를 모아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대상당 한 행으로 요약하기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19776-0F44-446F-A33C-27FB518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1주차에 선택한 제조 또는 금융 도메인을 그대로 이어 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9CE9-ADA8-48E5-AC03-0177C6D6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CSV 12개, 합계 7,200행을 240행 요약표로 바꾸고 전처리기와 3주차용 CSV를 저장합니다.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2211-BD78-4540-8C92-754F5EA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06098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B7BB1-3353-41C1-AB71-C3292600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10BEF-1FED-456C-AFEF-DC84ED9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C96E3-670E-4706-A6E4-65AEB56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1주차와 무엇이 달라질까요?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ED23C-A5E3-4E7F-9FC4-10CAEA0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3052E-4258-46B8-81A6-5E21538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C9743-59C8-4B60-B7F9-063DFF26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선택과제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E7A0-0283-459D-BF70-15D80A3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1주차 · 기준표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1CFF4-845D-42DD-8156-59DAA58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행 = 설비 한 대 또는 가맹점 한 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대상당 한 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중복·결측·날짜·전처리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B5095-561E-449C-BD51-D55C267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0BC3-800A-42AB-8E91-1DFA3505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76AA-9C6B-45E8-AE44-B05F85B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· 로그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F58B7-3156-4D91-9C24-7929288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행 = 센서 한 번 또는 거래 한 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같은 ID가 30번 반복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파일 병합·집계·저장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2E718-4701-47D2-BAA3-3ECA5028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2주차의 핵심은 반복 기록을 ID별 한 행으로 요약하는 것입니다.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31032-DD51-416B-BF37-581D4A98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7989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85C2-7D5B-47EA-A34A-D24F2B2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3F18-EF5A-4897-AF82-248D489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370E-DDAA-4631-8C86-9F3BC0C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데이터는 3주 동안 어떻게 이어질까요?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27AA-3627-4712-9929-669D6A0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6B538-CD92-488B-A7E6-7AF1534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00A8A-D435-4B71-BD23-775F589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1주차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88BF6-6FFC-4520-8450-202B965E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240행 기준표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정적·기본 정보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AB19E-C3D0-4D00-A826-512D0A3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C6CA-3C61-4595-95A2-D66F3CC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26C0C-25F4-4827-B12A-34DA441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12개 CSV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7,200행 반복 로그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E06CB-01CF-4033-A6EF-AF2EB6C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1D67E-D256-43E6-B1BA-219DD47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C5A2F-2D37-4BFF-9C34-EAD22F7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240행 요약표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Pipeline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19787-303F-4E45-A03A-D9676A49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771B7-B51F-41CE-A96F-97F9CEA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4B9E9-3B14-44AC-9334-9C2E920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API·SQLite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EDA·PCA·Streamlit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748D-3D5E-41CC-B6AB-60952D2B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같은 ID가 기준표와 로그, API와 DB를 연결합니다.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1ECE6-1205-411F-9229-E0AB3A3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915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85C2-7D5B-47EA-A34A-D24F2B2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3F18-EF5A-4897-AF82-248D489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열별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370E-DDAA-4631-8C86-9F3BC0C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결혼정보·제조·금융 로그의 처리 역할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27AA-3627-4712-9929-669D6A0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748D-3D5E-41CC-B6AB-60952D2B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열 이름은 달라도 ID·날짜·숫자·요약·결합이라는 처리 순서는 같습니다.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1ECE6-1205-411F-9229-E0AB3A3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27" name="week2-cross-domain-column-map"/>
          <p:cNvGraphicFramePr/>
          <p:nvPr/>
        </p:nvGraphicFramePr>
        <p:xfrm>
          <a:off xmlns:a="http://schemas.openxmlformats.org/drawingml/2006/main" x="438150" y="1524000"/>
          <a:ext xmlns:a="http://schemas.openxmlformats.org/drawingml/2006/main" cx="11315700" cy="4476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2762250"/>
                <a:gridCol w="3190875"/>
                <a:gridCol w="3267075"/>
              </a:tblGrid>
              <a:tr h="400050"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결혼정보 활동 로그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제조 센서 로그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금융 거래 로그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배치 파일 폴더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activity_batches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sensor_batches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transaction_batches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대상을 구분하는 ID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member_id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equipment_id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merchant_id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시점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activity_date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event_datetime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transaction_datetime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숫자로 바꿀 열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stay_time_min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vibration_mm_s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processing_ms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넓은 표에 넣는 값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app_opens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energy_kwh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amount_krw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30일 요약 지표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active_days, total_app_opens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record_count, total_energy_kwh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transaction_count, total_amount_krw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최근 기록 시점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last_active_date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latest_event_at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latest_transaction_at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결합할 기준표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members.csv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equipment_master_reference.csv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merchant_master_reference.csv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교육용 정답 y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meeting_scheduled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maintenance_required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manual_review_required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3주차로 넘길 결과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member_activity_summary.csv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manufacturing_equipment_summary.csv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finance_merchant_summary.csv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15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4204C-C77F-40A7-A021-2EC7DAD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A7FC-4CD3-4990-AFEE-B256AEC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416ED-1004-4DA7-AE09-D2CFDA3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학생은 어떤 파일을 받나요?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9510-E150-4E38-9358-3D18DD8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A61B-F453-4140-9AA4-AB928CD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배치 CSV는 학생이 직접 만드는 폴더일까요?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6A20-22C6-4CD3-A418-2A59962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EAF72-767F-466F-81ED-A7042F5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1A1F-EE6D-42D5-8080-222173D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처음 배포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9FACC-C5A9-449F-8E88-D5FC9B8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학생용 빈칸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data 폴더 전체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배치 CSV 12개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1주차 정제 기준표 사본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README·데이터사전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FB1E8-D656-4C37-841D-BB7A2AB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3D3D1-401B-497F-89E5-E809740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ACED4-383B-4216-9E00-1B7E02F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과제 뒤 공개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BBD8E-E6A5-4CEE-BDE6-3D2ABAA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정답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api_app_answer.py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평가기준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3주차 확장 로드맵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7D06C-C670-4A84-A536-2E0BDBD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배치 폴더는 압축파일에 이미 들어 있으며 폴더째 압축을 풉니다.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9FF40-F276-4EC8-9E58-4C3C9C1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8752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F704D-8C41-4288-B3E7-D83449B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7C52D-4AE5-4A29-8BFF-7696D504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F6D5-4905-4694-8B7F-CC957AE4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과제는 일곱 단계로 진행합니다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D67F7-E60A-4849-85FC-DB5A819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693C9-4A77-4F96-B61B-2913AD7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F51E-7BEA-4C7F-B08D-7817D557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E4B61-A149-41EB-802C-428F0E5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glob으로 CSV 12개 찾기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B39C1-9C2A-45F2-8096-AFB1520F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310E0-669A-4CAF-AC0F-AC840D37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합치기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A00F5-D221-4772-8AB4-F15E446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source_file과 concat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02C27-2146-4017-A226-D4655AB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77CE-DA68-403B-A18E-1781BFA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5032E-0BBC-417F-AEEB-9B28162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숫자·날짜·pivot·melt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061E-1D9B-4894-987E-4FAAC4E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F99DA-4589-4FE6-BAF7-1250C6D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요약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5F5C8-6E40-447A-8BAF-89D8EE1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groupby와 agg로 240행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65E29-DDF3-4AA5-B5DD-EF6820D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3FCAA-7ADB-4801-B001-7DEB75F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50E89-6ED8-447F-930A-B049CA9D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1주차 기준표와 merge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308AA-6129-4364-A076-2491249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EB5A7-7080-4110-96D7-88ED690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7D9D7-6EB0-4212-83DC-0EC553A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Pipeline과 joblib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0173F-5FDD-403F-A139-C56B608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569C9-D26C-4F35-BABB-DBD4808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EE2C9-EFA5-435B-8B2C-D426003D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CSV·Parquet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JSON·선택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5DBAC-8E4B-4C0B-94DC-7273C796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각 단계의 shape가 달라지는 이유를 설명할 수 있어야 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B69E0-E0B4-49D4-AF3B-200D497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7113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8AC06-8234-4C16-BAE7-95DF646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FA873-E1EB-40F6-B18B-5238CC0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3F44-C7A9-434F-8DE1-6966D4F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로그 7,200행은 무엇을 뜻할까요?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ED18E-26B9-478E-9807-1880486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94A2-6844-4033-A677-35E1E2A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설비 240대의 30일 센서 기록을 어떻게 한 행으로 줄일까요?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342C7-9B02-44AB-A49E-34C15D1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C327-39DF-4366-B577-4F6B17E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10A69-DDA1-426A-8AB0-A436788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Q1~Q4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8F3A2-8532-4BF0-9AF1-EAF07FD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sensor_batch_*.csv 12개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각 파일 600행·합계 7,200행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vibration의 ‘미측정’을 숫자 결측으로 변환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temperature·pressure·alarm·energy를 설비별 집계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DEF46-FD15-432F-ABA6-6BFFCA6C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D5E11-0241-4D7E-8F74-0132ADFE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26F5-5EFD-4CF2-94BA-D141FC2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정상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396-54A9-449E-B6E8-4584B06A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source_file 12종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4개 설비×7일 pivot은 4×7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설비별 summary 240행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equipment_id 고유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36CE-A7E7-4D3D-B2D7-D3E6BF9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7,200행을 삭제하는 것이 아니라 30일 기록을 설비별 지표로 요약합니다.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534A1-B394-42E7-B44B-ADF6C84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8379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8BB1F-1CEB-402E-8A54-66EDACB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9ED4A-62B9-4CE8-8047-BEDFAF2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260E-8EAF-43CF-B317-FCC31D8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결과를 3주차에 어떻게 넘길까요?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CC891-A49F-489C-8F5E-7BEAFFA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CAFEB-211F-4360-8ED2-AA5146A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요약표와 처리기를 둘 다 저장하는 이유는 무엇일까요?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F4647-20F6-4BB4-9930-5D24EBB5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50C2-7617-4979-B64E-7150A9C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DFE3-E0DF-46E8-BD5B-E740AB6C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Q5~Q7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4C9E4-A40E-4D88-845C-508D865C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1주차 equipment master와 one-to-one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숫자 11열·문자 4열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preprocessor를 joblib로 저장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요약표를 UTF-8 CSV로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0BA5B-599F-4CF3-82F0-730E2C3A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1D563-541A-4929-A92E-C3CEA61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0AA6C-3EEF-4A3D-B31F-ED0E59C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F5A44-D520-4750-A901-B5B9888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manufacturing_equipment_summary.csv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manufacturing_preprocessor.joblib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JSON 미리보기 3행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선택: /health와 /items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D189-4215-4363-8547-421DDFE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CSV는 데이터, joblib은 같은 처리 규칙을 다시 쓰기 위한 객체 파일입니다.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58413-D9B9-4C6E-A7C1-250A8EA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2309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6A977-5A38-4292-AA66-98D859E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1D35B-858A-4C1A-BA3C-CBAC455D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CA638-3218-4A20-B5BF-6E3A499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로그 7,200행은 무엇을 뜻할까요?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65852-106E-40F6-ADB2-1E0D6196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48C1D-4EB4-47C4-B5B9-23FFB5A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가맹점 240곳의 30일 거래를 어떻게 한 행으로 줄일까요?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21C12-BEB5-451D-A9DB-4FFA8ED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268D8-9488-4E37-8513-F9860A6C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1ECB2-B0B2-40B9-B8FA-A344FD2B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Q1~Q4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DF4A-8275-4995-B64B-58957C16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transaction_batch_*.csv 12개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각 파일 600행·합계 7,200행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processing_ms의 ‘미측정’을 숫자 결측으로 변환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거래액·승인율·환불률·위험 신호 집계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CEFEA-7C89-4DB5-9EBF-3C50247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1BF37-0881-4726-93BB-E286C34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AB259-8C35-4801-AD09-C00A784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정상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D8831-EAD4-42C6-8969-68C01BB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source_file 12종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4개 가맹점×7일 pivot은 4×7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가맹점 summary 240행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merchant_id 고유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58D04-1F71-4DEE-AB6C-49CF25F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거래 한 건의 행을 없애는 것이 아니라 가맹점별 30일 지표로 요약합니다.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D2869-80AD-48B6-B215-2E10079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4999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78C8F-6F43-45BB-ACC8-E098111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26E1-A16A-46AE-A774-5CA78B5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FD4B3-D989-4EBB-8103-F7BB696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결과를 3주차에 어떻게 넘길까요?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82139-276D-4C28-B56F-4F46D43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FC3A-1E38-4AC4-9F31-E68045F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거래 요약표가 API와 DB에 적합한 이유는 무엇일까요?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448BC-941C-4F77-A4BD-BBDF617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DD62-A7DE-4C1A-AEF1-9122DEE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52E3E-7DA1-41E6-891E-B9A3EE3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Q5~Q7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EDE7-8199-417E-8951-7D5874A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1주차 merchant master와 one-to-one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숫자 12열·문자 4열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preprocessor를 joblib로 저장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요약표를 UTF-8 CSV로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4B68E-1324-472F-8F84-D88D9862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CD0A-65CC-42A8-9AAA-71EB1765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B78C8-AEE8-460F-94FF-4DEC117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571B4-079E-442B-A401-8F80E1FC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finance_merchant_summary.csv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finance_preprocessor.joblib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JSON 미리보기 3행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선택: /health와 /items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4137F-1507-4461-9DCD-BFACC8C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한 행이 가맹점 한 곳이면 API의 한 항목과 DB의 한 행으로 연결하기 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B9738-BFA4-4304-8E82-EC8ED727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6152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89DA-EDD2-466A-BF93-A58A9EF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A222-0975-4C64-A4C9-0B12693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17D5D-1C00-46EB-8BEF-60685F5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선택 확장 API는 어디까지 하면 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F9448-FB07-469E-B003-68244DF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6514-E31A-4088-A36A-B1A55F3F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노트북을 끝낸 뒤 서버를 켜면 무엇이 달라질까요?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FD512-AFCF-479A-B34F-75BED91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51084-FC17-4A50-9214-823EAC1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818A4-91FF-4B26-911B-C44DA73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64247-A8B2-468C-88AA-EE118E0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노트북 Q1~Q7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요약 CSV 저장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joblib 처리기 저장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JSON list[dict] 모양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FCCF3-3F26-44FE-891F-54DC1BA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67ED9-C9A4-4C02-8B10-4843D8A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9709E-D544-49F8-B775-62B37F5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C531E-61B2-45E7-8651-F22D9D12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api_app_student.py 빈칸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uvicorn 포트 8010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/health 응답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/items?limit=3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/docs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1BF78-D46B-4150-9DAF-3E504B80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서버 실행은 선택 확장이며 노트북 과제의 필수 완료를 막지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BBD49-D005-4A06-AE30-8F4095F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8869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47585-7794-49E6-A80E-753A6D0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06CE8-4E05-41C0-9E78-937FC0E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39C91-EEE8-4776-9D2C-41390B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제출 전에 무엇을 확인할까요?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76EBD-CF6B-414E-A188-019E82DF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CBD4-12A3-44C7-97E9-D03AA6F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243E4-974E-4AB1-AE39-186957A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3D80-9D1A-4B11-BB8A-52E6B7E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12개가 모두 발견됨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A20E3-AE19-43D9-B821-A1D64505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7C07-B822-44F4-B212-C08A64A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병합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34D7D-F415-445C-A9EF-4FE8498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7,200행·출처 12종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84EE1-3B74-4B21-88F5-C93D106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8FD80-65E2-4017-B819-23AED0D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5389A-79AA-4D61-92CE-D297827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240행·ID 고유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F3C78-09EF-425B-9218-1A768AB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3CDC8-F00A-4F53-86AD-684BED2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155B4-33AF-4D73-8D8F-3A70D78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결측 0·artifact 존재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4852F-3547-492C-B69D-0AE37DD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E61DD-9FDC-487E-BE77-A71790B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BFCDA-0E2B-4A23-8D3F-55047CD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CSV·Parquet·JSON 3행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02E87-B23D-4FF6-83B5-E6EFE54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shape와 ID 고유성은 처리 단계마다 자동으로 확인합니다.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7C458-6F85-4579-98F9-845071C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7692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37A54-293F-441C-8F0A-F0CF87F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2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472E-4663-46A6-9253-1DA7519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5587-C238-4C1E-8A06-9C47922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 개인 프로젝트의 출발점은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5FB2-2DF7-4352-9619-DFE4A8B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51173-8C16-45CE-BB60-9B35E05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2주차 결과 폴더에서 어떤 파일을 가져가야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92C3-7CA8-4554-AB3B-DEF49B4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96BF2-F0F2-445C-9B46-F7B8281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5723E-3BCC-4359-A9CC-A8EFAD34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가져갈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3BFB-06FD-400E-A345-03BBA67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outputs의 summary.csv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artifacts의 preprocessor.joblib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ID와 열 뜻이 적힌 데이터사전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선택한 도메인의 업무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16A00-5593-423F-B3EB-015A090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07B37-C270-47EF-A548-6B01EFE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325F4-094E-4511-B62F-C84CDD7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3주차에 만들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095F6-2837-40EC-AB33-55388E7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요약 API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SQLite 수집 이력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EDA·PCA 결과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Streamlit 필터·표·그래프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06BD9-51E2-448F-9575-50647ACD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2주차 과제 결과는 3주차 개인 프로젝트의 원본이 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443B3-6587-4B8C-B57B-6DE8208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8249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2026-09-25T00:30:01.1510000Z</dcterms:created>
  <dcterms:modified xsi:type="dcterms:W3CDTF">2026-09-25T00:30:01.1510000Z</dcterms:modified>
</coreProperties>
</file>