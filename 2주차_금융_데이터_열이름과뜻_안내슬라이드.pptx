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8ff8641be34d76" /><Relationship Type="http://schemas.openxmlformats.org/officeDocument/2006/relationships/extended-properties" Target="/docProps/app.xml" Id="Rce6da8fd0e8044f8" /><Relationship Type="http://schemas.openxmlformats.org/officeDocument/2006/relationships/officeDocument" Target="/ppt/presentation.xml" Id="R32c3b66783d84e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29e107883c4e84"/>
  </p:sldMasterIdLst>
  <p:notesMasterIdLst>
    <p:notesMasterId xmlns:r="http://schemas.openxmlformats.org/officeDocument/2006/relationships" r:id="R7f3b718d26bc47e6"/>
  </p:notesMasterIdLst>
  <p:sldIdLst>
    <p:sldId xmlns:r="http://schemas.openxmlformats.org/officeDocument/2006/relationships" id="256" r:id="R2d0d014df8524b04"/>
    <p:sldId xmlns:r="http://schemas.openxmlformats.org/officeDocument/2006/relationships" id="257" r:id="R1cbef58b07f847f2"/>
    <p:sldId xmlns:r="http://schemas.openxmlformats.org/officeDocument/2006/relationships" id="258" r:id="Rd094a669fbff4c50"/>
    <p:sldId xmlns:r="http://schemas.openxmlformats.org/officeDocument/2006/relationships" id="259" r:id="Re0ffb68fa4984d5a"/>
    <p:sldId xmlns:r="http://schemas.openxmlformats.org/officeDocument/2006/relationships" id="260" r:id="Rd693be57e51347cc"/>
    <p:sldId xmlns:r="http://schemas.openxmlformats.org/officeDocument/2006/relationships" id="261" r:id="R708e66816c4c4d15"/>
    <p:sldId xmlns:r="http://schemas.openxmlformats.org/officeDocument/2006/relationships" id="262" r:id="R8b28040d13fe4014"/>
    <p:sldId xmlns:r="http://schemas.openxmlformats.org/officeDocument/2006/relationships" id="263" r:id="Rcc20e5fe7d144f64"/>
    <p:sldId xmlns:r="http://schemas.openxmlformats.org/officeDocument/2006/relationships" id="264" r:id="Rcc073bb56c2d488d"/>
    <p:sldId xmlns:r="http://schemas.openxmlformats.org/officeDocument/2006/relationships" id="265" r:id="R8a7af4f1af214cb9"/>
    <p:sldId xmlns:r="http://schemas.openxmlformats.org/officeDocument/2006/relationships" id="266" r:id="R1951ab508aee43c6"/>
    <p:sldId xmlns:r="http://schemas.openxmlformats.org/officeDocument/2006/relationships" id="267" r:id="R0c94ad79e51b4a80"/>
    <p:sldId xmlns:r="http://schemas.openxmlformats.org/officeDocument/2006/relationships" id="268" r:id="Ra38af6cf8c3d4570"/>
    <p:sldId xmlns:r="http://schemas.openxmlformats.org/officeDocument/2006/relationships" id="269" r:id="Rd170deeb4e0d4f13"/>
    <p:sldId xmlns:r="http://schemas.openxmlformats.org/officeDocument/2006/relationships" id="270" r:id="R5a0a9c2c8a70422f"/>
    <p:sldId xmlns:r="http://schemas.openxmlformats.org/officeDocument/2006/relationships" id="271" r:id="R24bd881decd2495f"/>
    <p:sldId xmlns:r="http://schemas.openxmlformats.org/officeDocument/2006/relationships" id="272" r:id="R0c0f0fe71b5240a6"/>
    <p:sldId xmlns:r="http://schemas.openxmlformats.org/officeDocument/2006/relationships" id="273" r:id="R769e2e647e474072"/>
    <p:sldId xmlns:r="http://schemas.openxmlformats.org/officeDocument/2006/relationships" id="274" r:id="Rc5b2c596cc724b35"/>
    <p:sldId xmlns:r="http://schemas.openxmlformats.org/officeDocument/2006/relationships" id="275" r:id="R747adec5261246c8"/>
    <p:sldId xmlns:r="http://schemas.openxmlformats.org/officeDocument/2006/relationships" id="276" r:id="R136c0eac1f464d47"/>
    <p:sldId xmlns:r="http://schemas.openxmlformats.org/officeDocument/2006/relationships" id="277" r:id="R55b09b1016284224"/>
    <p:sldId xmlns:r="http://schemas.openxmlformats.org/officeDocument/2006/relationships" id="278" r:id="R6005ed04ff274b3d"/>
    <p:sldId xmlns:r="http://schemas.openxmlformats.org/officeDocument/2006/relationships" id="279" r:id="R8b14d64861d34e26"/>
    <p:sldId xmlns:r="http://schemas.openxmlformats.org/officeDocument/2006/relationships" id="280" r:id="Rc5bd258a643f410d"/>
    <p:sldId xmlns:r="http://schemas.openxmlformats.org/officeDocument/2006/relationships" id="281" r:id="Rafb40026ee6b4f18"/>
    <p:sldId xmlns:r="http://schemas.openxmlformats.org/officeDocument/2006/relationships" id="282" r:id="R7820ef032498415f"/>
    <p:sldId xmlns:r="http://schemas.openxmlformats.org/officeDocument/2006/relationships" id="283" r:id="R100a4813a5c544ec"/>
    <p:sldId xmlns:r="http://schemas.openxmlformats.org/officeDocument/2006/relationships" id="284" r:id="Ra4db8f6b0dce4f2f"/>
    <p:sldId xmlns:r="http://schemas.openxmlformats.org/officeDocument/2006/relationships" id="285" r:id="R20d845651a9649dc"/>
    <p:sldId xmlns:r="http://schemas.openxmlformats.org/officeDocument/2006/relationships" id="286" r:id="Rb9fe635ed0a5452d"/>
    <p:sldId xmlns:r="http://schemas.openxmlformats.org/officeDocument/2006/relationships" id="287" r:id="R0ea008f9d9054cd8"/>
    <p:sldId xmlns:r="http://schemas.openxmlformats.org/officeDocument/2006/relationships" id="288" r:id="R87320fc6dd684f7e"/>
    <p:sldId xmlns:r="http://schemas.openxmlformats.org/officeDocument/2006/relationships" id="289" r:id="Re80bc409e67141b4"/>
    <p:sldId xmlns:r="http://schemas.openxmlformats.org/officeDocument/2006/relationships" id="290" r:id="R28d3fab624ba4fcf"/>
    <p:sldId xmlns:r="http://schemas.openxmlformats.org/officeDocument/2006/relationships" id="291" r:id="R595d643b55a848f6"/>
    <p:sldId xmlns:r="http://schemas.openxmlformats.org/officeDocument/2006/relationships" id="292" r:id="R179ac784a9fd4c63"/>
    <p:sldId xmlns:r="http://schemas.openxmlformats.org/officeDocument/2006/relationships" id="293" r:id="R38e4578035cf4a25"/>
    <p:sldId xmlns:r="http://schemas.openxmlformats.org/officeDocument/2006/relationships" id="294" r:id="Rb4ea93c67af345e2"/>
    <p:sldId xmlns:r="http://schemas.openxmlformats.org/officeDocument/2006/relationships" id="295" r:id="R3e36ef14b0b34a43"/>
    <p:sldId xmlns:r="http://schemas.openxmlformats.org/officeDocument/2006/relationships" id="296" r:id="R24f22193278f45d6"/>
    <p:sldId xmlns:r="http://schemas.openxmlformats.org/officeDocument/2006/relationships" id="297" r:id="R997c33ae0d56468b"/>
    <p:sldId xmlns:r="http://schemas.openxmlformats.org/officeDocument/2006/relationships" id="298" r:id="R96875a34d42e421b"/>
    <p:sldId xmlns:r="http://schemas.openxmlformats.org/officeDocument/2006/relationships" id="299" r:id="R5af0679cd02049f9"/>
    <p:sldId xmlns:r="http://schemas.openxmlformats.org/officeDocument/2006/relationships" id="300" r:id="Rf6bad9c7f91b42dd"/>
    <p:sldId xmlns:r="http://schemas.openxmlformats.org/officeDocument/2006/relationships" id="301" r:id="R8e637d82a2694084"/>
    <p:sldId xmlns:r="http://schemas.openxmlformats.org/officeDocument/2006/relationships" id="302" r:id="Rf33cfab4919d41e7"/>
    <p:sldId xmlns:r="http://schemas.openxmlformats.org/officeDocument/2006/relationships" id="303" r:id="Rc15b8a37154c46a5"/>
    <p:sldId xmlns:r="http://schemas.openxmlformats.org/officeDocument/2006/relationships" id="304" r:id="R51a7abed0d784aa8"/>
    <p:sldId xmlns:r="http://schemas.openxmlformats.org/officeDocument/2006/relationships" id="305" r:id="R92c423186ccc4b72"/>
    <p:sldId xmlns:r="http://schemas.openxmlformats.org/officeDocument/2006/relationships" id="306" r:id="R941312edd2e2471c"/>
    <p:sldId xmlns:r="http://schemas.openxmlformats.org/officeDocument/2006/relationships" id="307" r:id="R6be92c5c587047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dd17448c274e8e" /><Relationship Type="http://schemas.openxmlformats.org/officeDocument/2006/relationships/slideMaster" Target="/ppt/slideMasters/slideMaster1.xml" Id="Rf429e107883c4e84" /><Relationship Type="http://schemas.openxmlformats.org/officeDocument/2006/relationships/notesMaster" Target="/ppt/notesMasters/notesMaster1.xml" Id="R7f3b718d26bc47e6" /><Relationship Type="http://schemas.openxmlformats.org/officeDocument/2006/relationships/presProps" Target="/ppt/presProps.xml" Id="Rc7fc8db38ae34752" /><Relationship Type="http://schemas.openxmlformats.org/officeDocument/2006/relationships/tableStyles" Target="/ppt/tableStyles.xml" Id="R42af4421205a4f95" /><Relationship Type="http://schemas.openxmlformats.org/officeDocument/2006/relationships/slide" Target="/ppt/slides/slide1.xml" Id="R2d0d014df8524b04" /><Relationship Type="http://schemas.openxmlformats.org/officeDocument/2006/relationships/slide" Target="/ppt/slides/slide2.xml" Id="R1cbef58b07f847f2" /><Relationship Type="http://schemas.openxmlformats.org/officeDocument/2006/relationships/slide" Target="/ppt/slides/slide3.xml" Id="Rd094a669fbff4c50" /><Relationship Type="http://schemas.openxmlformats.org/officeDocument/2006/relationships/slide" Target="/ppt/slides/slide4.xml" Id="Re0ffb68fa4984d5a" /><Relationship Type="http://schemas.openxmlformats.org/officeDocument/2006/relationships/slide" Target="/ppt/slides/slide5.xml" Id="Rd693be57e51347cc" /><Relationship Type="http://schemas.openxmlformats.org/officeDocument/2006/relationships/slide" Target="/ppt/slides/slide6.xml" Id="R708e66816c4c4d15" /><Relationship Type="http://schemas.openxmlformats.org/officeDocument/2006/relationships/slide" Target="/ppt/slides/slide7.xml" Id="R8b28040d13fe4014" /><Relationship Type="http://schemas.openxmlformats.org/officeDocument/2006/relationships/slide" Target="/ppt/slides/slide8.xml" Id="Rcc20e5fe7d144f64" /><Relationship Type="http://schemas.openxmlformats.org/officeDocument/2006/relationships/slide" Target="/ppt/slides/slide9.xml" Id="Rcc073bb56c2d488d" /><Relationship Type="http://schemas.openxmlformats.org/officeDocument/2006/relationships/slide" Target="/ppt/slides/slide10.xml" Id="R8a7af4f1af214cb9" /><Relationship Type="http://schemas.openxmlformats.org/officeDocument/2006/relationships/slide" Target="/ppt/slides/slide11.xml" Id="R1951ab508aee43c6" /><Relationship Type="http://schemas.openxmlformats.org/officeDocument/2006/relationships/slide" Target="/ppt/slides/slide12.xml" Id="R0c94ad79e51b4a80" /><Relationship Type="http://schemas.openxmlformats.org/officeDocument/2006/relationships/slide" Target="/ppt/slides/slide13.xml" Id="Ra38af6cf8c3d4570" /><Relationship Type="http://schemas.openxmlformats.org/officeDocument/2006/relationships/slide" Target="/ppt/slides/slide14.xml" Id="Rd170deeb4e0d4f13" /><Relationship Type="http://schemas.openxmlformats.org/officeDocument/2006/relationships/slide" Target="/ppt/slides/slide15.xml" Id="R5a0a9c2c8a70422f" /><Relationship Type="http://schemas.openxmlformats.org/officeDocument/2006/relationships/slide" Target="/ppt/slides/slide16.xml" Id="R24bd881decd2495f" /><Relationship Type="http://schemas.openxmlformats.org/officeDocument/2006/relationships/slide" Target="/ppt/slides/slide17.xml" Id="R0c0f0fe71b5240a6" /><Relationship Type="http://schemas.openxmlformats.org/officeDocument/2006/relationships/slide" Target="/ppt/slides/slide18.xml" Id="R769e2e647e474072" /><Relationship Type="http://schemas.openxmlformats.org/officeDocument/2006/relationships/slide" Target="/ppt/slides/slide19.xml" Id="Rc5b2c596cc724b35" /><Relationship Type="http://schemas.openxmlformats.org/officeDocument/2006/relationships/slide" Target="/ppt/slides/slide20.xml" Id="R747adec5261246c8" /><Relationship Type="http://schemas.openxmlformats.org/officeDocument/2006/relationships/slide" Target="/ppt/slides/slide21.xml" Id="R136c0eac1f464d47" /><Relationship Type="http://schemas.openxmlformats.org/officeDocument/2006/relationships/slide" Target="/ppt/slides/slide22.xml" Id="R55b09b1016284224" /><Relationship Type="http://schemas.openxmlformats.org/officeDocument/2006/relationships/slide" Target="/ppt/slides/slide23.xml" Id="R6005ed04ff274b3d" /><Relationship Type="http://schemas.openxmlformats.org/officeDocument/2006/relationships/slide" Target="/ppt/slides/slide24.xml" Id="R8b14d64861d34e26" /><Relationship Type="http://schemas.openxmlformats.org/officeDocument/2006/relationships/slide" Target="/ppt/slides/slide25.xml" Id="Rc5bd258a643f410d" /><Relationship Type="http://schemas.openxmlformats.org/officeDocument/2006/relationships/slide" Target="/ppt/slides/slide26.xml" Id="Rafb40026ee6b4f18" /><Relationship Type="http://schemas.openxmlformats.org/officeDocument/2006/relationships/slide" Target="/ppt/slides/slide27.xml" Id="R7820ef032498415f" /><Relationship Type="http://schemas.openxmlformats.org/officeDocument/2006/relationships/slide" Target="/ppt/slides/slide28.xml" Id="R100a4813a5c544ec" /><Relationship Type="http://schemas.openxmlformats.org/officeDocument/2006/relationships/slide" Target="/ppt/slides/slide29.xml" Id="Ra4db8f6b0dce4f2f" /><Relationship Type="http://schemas.openxmlformats.org/officeDocument/2006/relationships/slide" Target="/ppt/slides/slide30.xml" Id="R20d845651a9649dc" /><Relationship Type="http://schemas.openxmlformats.org/officeDocument/2006/relationships/slide" Target="/ppt/slides/slide31.xml" Id="Rb9fe635ed0a5452d" /><Relationship Type="http://schemas.openxmlformats.org/officeDocument/2006/relationships/slide" Target="/ppt/slides/slide32.xml" Id="R0ea008f9d9054cd8" /><Relationship Type="http://schemas.openxmlformats.org/officeDocument/2006/relationships/slide" Target="/ppt/slides/slide33.xml" Id="R87320fc6dd684f7e" /><Relationship Type="http://schemas.openxmlformats.org/officeDocument/2006/relationships/slide" Target="/ppt/slides/slide34.xml" Id="Re80bc409e67141b4" /><Relationship Type="http://schemas.openxmlformats.org/officeDocument/2006/relationships/slide" Target="/ppt/slides/slide35.xml" Id="R28d3fab624ba4fcf" /><Relationship Type="http://schemas.openxmlformats.org/officeDocument/2006/relationships/slide" Target="/ppt/slides/slide36.xml" Id="R595d643b55a848f6" /><Relationship Type="http://schemas.openxmlformats.org/officeDocument/2006/relationships/slide" Target="/ppt/slides/slide37.xml" Id="R179ac784a9fd4c63" /><Relationship Type="http://schemas.openxmlformats.org/officeDocument/2006/relationships/slide" Target="/ppt/slides/slide38.xml" Id="R38e4578035cf4a25" /><Relationship Type="http://schemas.openxmlformats.org/officeDocument/2006/relationships/slide" Target="/ppt/slides/slide39.xml" Id="Rb4ea93c67af345e2" /><Relationship Type="http://schemas.openxmlformats.org/officeDocument/2006/relationships/slide" Target="/ppt/slides/slide40.xml" Id="R3e36ef14b0b34a43" /><Relationship Type="http://schemas.openxmlformats.org/officeDocument/2006/relationships/slide" Target="/ppt/slides/slide41.xml" Id="R24f22193278f45d6" /><Relationship Type="http://schemas.openxmlformats.org/officeDocument/2006/relationships/slide" Target="/ppt/slides/slide42.xml" Id="R997c33ae0d56468b" /><Relationship Type="http://schemas.openxmlformats.org/officeDocument/2006/relationships/slide" Target="/ppt/slides/slide43.xml" Id="R96875a34d42e421b" /><Relationship Type="http://schemas.openxmlformats.org/officeDocument/2006/relationships/slide" Target="/ppt/slides/slide44.xml" Id="R5af0679cd02049f9" /><Relationship Type="http://schemas.openxmlformats.org/officeDocument/2006/relationships/slide" Target="/ppt/slides/slide45.xml" Id="Rf6bad9c7f91b42dd" /><Relationship Type="http://schemas.openxmlformats.org/officeDocument/2006/relationships/slide" Target="/ppt/slides/slide46.xml" Id="R8e637d82a2694084" /><Relationship Type="http://schemas.openxmlformats.org/officeDocument/2006/relationships/slide" Target="/ppt/slides/slide47.xml" Id="Rf33cfab4919d41e7" /><Relationship Type="http://schemas.openxmlformats.org/officeDocument/2006/relationships/slide" Target="/ppt/slides/slide48.xml" Id="Rc15b8a37154c46a5" /><Relationship Type="http://schemas.openxmlformats.org/officeDocument/2006/relationships/slide" Target="/ppt/slides/slide49.xml" Id="R51a7abed0d784aa8" /><Relationship Type="http://schemas.openxmlformats.org/officeDocument/2006/relationships/slide" Target="/ppt/slides/slide50.xml" Id="R92c423186ccc4b72" /><Relationship Type="http://schemas.openxmlformats.org/officeDocument/2006/relationships/slide" Target="/ppt/slides/slide51.xml" Id="R941312edd2e2471c" /><Relationship Type="http://schemas.openxmlformats.org/officeDocument/2006/relationships/slide" Target="/ppt/slides/slide52.xml" Id="R6be92c5c587047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b3c141cff044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ython Data Guide">
      <a:dk1>
        <a:srgbClr val="000000"/>
      </a:dk1>
      <a:lt1>
        <a:srgbClr val="FFFFFF"/>
      </a:lt1>
      <a:dk2>
        <a:srgbClr val="123A63"/>
      </a:dk2>
      <a:lt2>
        <a:srgbClr val="DCE4EB"/>
      </a:lt2>
      <a:accent1>
        <a:srgbClr val="2F80ED"/>
      </a:accent1>
      <a:accent2>
        <a:srgbClr val="159B6A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F80ED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ython Data Gu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c7840cda714c0d" /><Relationship Type="http://schemas.openxmlformats.org/officeDocument/2006/relationships/notesMaster" Target="/ppt/notesMasters/notesMaster1.xml" Id="Ra1e0bc4e684f4d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6b12e37e86485e" /><Relationship Type="http://schemas.openxmlformats.org/officeDocument/2006/relationships/notesMaster" Target="/ppt/notesMasters/notesMaster1.xml" Id="R312efbb1cc3248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58f87ccb534ebc" /><Relationship Type="http://schemas.openxmlformats.org/officeDocument/2006/relationships/notesMaster" Target="/ppt/notesMasters/notesMaster1.xml" Id="R8c7057f4442349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add7090ce64e66" /><Relationship Type="http://schemas.openxmlformats.org/officeDocument/2006/relationships/notesMaster" Target="/ppt/notesMasters/notesMaster1.xml" Id="R450282056d2443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9d95a613064d6d" /><Relationship Type="http://schemas.openxmlformats.org/officeDocument/2006/relationships/notesMaster" Target="/ppt/notesMasters/notesMaster1.xml" Id="R901f4d93ea6542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708d663593416a" /><Relationship Type="http://schemas.openxmlformats.org/officeDocument/2006/relationships/notesMaster" Target="/ppt/notesMasters/notesMaster1.xml" Id="Ra1e2ffdcc5ed4e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2e168c5e2648cd" /><Relationship Type="http://schemas.openxmlformats.org/officeDocument/2006/relationships/notesMaster" Target="/ppt/notesMasters/notesMaster1.xml" Id="R8ecc93c4e08148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435a6a74974207" /><Relationship Type="http://schemas.openxmlformats.org/officeDocument/2006/relationships/notesMaster" Target="/ppt/notesMasters/notesMaster1.xml" Id="Rbb32f983a5494c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730b0ca318482b" /><Relationship Type="http://schemas.openxmlformats.org/officeDocument/2006/relationships/notesMaster" Target="/ppt/notesMasters/notesMaster1.xml" Id="R35ff9bd3930747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f5f65e76574b5e" /><Relationship Type="http://schemas.openxmlformats.org/officeDocument/2006/relationships/notesMaster" Target="/ppt/notesMasters/notesMaster1.xml" Id="Rf5c18a041fdb46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0f6a3c7aa74a09" /><Relationship Type="http://schemas.openxmlformats.org/officeDocument/2006/relationships/notesMaster" Target="/ppt/notesMasters/notesMaster1.xml" Id="R52ad3c584e864c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71c720e9074d1f" /><Relationship Type="http://schemas.openxmlformats.org/officeDocument/2006/relationships/notesMaster" Target="/ppt/notesMasters/notesMaster1.xml" Id="R24c9fb26d06744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ca6f0a44c54c65" /><Relationship Type="http://schemas.openxmlformats.org/officeDocument/2006/relationships/notesMaster" Target="/ppt/notesMasters/notesMaster1.xml" Id="Rb005b51b2b9e4d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979270e6094462" /><Relationship Type="http://schemas.openxmlformats.org/officeDocument/2006/relationships/notesMaster" Target="/ppt/notesMasters/notesMaster1.xml" Id="R647d526264a649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30e036e2234984" /><Relationship Type="http://schemas.openxmlformats.org/officeDocument/2006/relationships/notesMaster" Target="/ppt/notesMasters/notesMaster1.xml" Id="Rb44f70e3bcdb4e8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541a84ba3243df" /><Relationship Type="http://schemas.openxmlformats.org/officeDocument/2006/relationships/notesMaster" Target="/ppt/notesMasters/notesMaster1.xml" Id="Rf2b95c832c9f48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8a51baaf65489f" /><Relationship Type="http://schemas.openxmlformats.org/officeDocument/2006/relationships/notesMaster" Target="/ppt/notesMasters/notesMaster1.xml" Id="R501fd7e99f8e4c0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c3307fbd7d94c5b" /><Relationship Type="http://schemas.openxmlformats.org/officeDocument/2006/relationships/notesMaster" Target="/ppt/notesMasters/notesMaster1.xml" Id="Rc6fa2293050940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db62fa51b1478a" /><Relationship Type="http://schemas.openxmlformats.org/officeDocument/2006/relationships/notesMaster" Target="/ppt/notesMasters/notesMaster1.xml" Id="R30696ce29c1043e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d83d95c77734a15" /><Relationship Type="http://schemas.openxmlformats.org/officeDocument/2006/relationships/notesMaster" Target="/ppt/notesMasters/notesMaster1.xml" Id="R9b84454ed2894d3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f235a7bf69a40bd" /><Relationship Type="http://schemas.openxmlformats.org/officeDocument/2006/relationships/notesMaster" Target="/ppt/notesMasters/notesMaster1.xml" Id="Rb5ba1a31d916423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a9d5e06a9d14f64" /><Relationship Type="http://schemas.openxmlformats.org/officeDocument/2006/relationships/notesMaster" Target="/ppt/notesMasters/notesMaster1.xml" Id="Rbc88b88bd98f428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88e645258ac435c" /><Relationship Type="http://schemas.openxmlformats.org/officeDocument/2006/relationships/notesMaster" Target="/ppt/notesMasters/notesMaster1.xml" Id="Rdc437f7cbd504eb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05ed937c38f42a4" /><Relationship Type="http://schemas.openxmlformats.org/officeDocument/2006/relationships/notesMaster" Target="/ppt/notesMasters/notesMaster1.xml" Id="Ra947de62a28243a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31d15dacd794802" /><Relationship Type="http://schemas.openxmlformats.org/officeDocument/2006/relationships/notesMaster" Target="/ppt/notesMasters/notesMaster1.xml" Id="R2253b69f0de546c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363d8025b534fa5" /><Relationship Type="http://schemas.openxmlformats.org/officeDocument/2006/relationships/notesMaster" Target="/ppt/notesMasters/notesMaster1.xml" Id="R10d55aa4b14e493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a68f6cc1afe4b8d" /><Relationship Type="http://schemas.openxmlformats.org/officeDocument/2006/relationships/notesMaster" Target="/ppt/notesMasters/notesMaster1.xml" Id="R8ed728869f4240e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3daa6cdc0524451" /><Relationship Type="http://schemas.openxmlformats.org/officeDocument/2006/relationships/notesMaster" Target="/ppt/notesMasters/notesMaster1.xml" Id="Rda00efa5f30d42f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136ff41c7864d40" /><Relationship Type="http://schemas.openxmlformats.org/officeDocument/2006/relationships/notesMaster" Target="/ppt/notesMasters/notesMaster1.xml" Id="R2cc5d27ef15c4fa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0eccded5c8d42ef" /><Relationship Type="http://schemas.openxmlformats.org/officeDocument/2006/relationships/notesMaster" Target="/ppt/notesMasters/notesMaster1.xml" Id="Rdb417cec3a284ae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2c4f144af334eff" /><Relationship Type="http://schemas.openxmlformats.org/officeDocument/2006/relationships/notesMaster" Target="/ppt/notesMasters/notesMaster1.xml" Id="R9f1cb75cdccf407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8a2428c4eb14d8d" /><Relationship Type="http://schemas.openxmlformats.org/officeDocument/2006/relationships/notesMaster" Target="/ppt/notesMasters/notesMaster1.xml" Id="R843133b8715745e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64a3a180ded48ed" /><Relationship Type="http://schemas.openxmlformats.org/officeDocument/2006/relationships/notesMaster" Target="/ppt/notesMasters/notesMaster1.xml" Id="R26eb9b122fd8450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4ae8a8539654dcf" /><Relationship Type="http://schemas.openxmlformats.org/officeDocument/2006/relationships/notesMaster" Target="/ppt/notesMasters/notesMaster1.xml" Id="R837f395470f3499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aa777e054aa492a" /><Relationship Type="http://schemas.openxmlformats.org/officeDocument/2006/relationships/notesMaster" Target="/ppt/notesMasters/notesMaster1.xml" Id="R30ee6152dba7460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efc48df070e4208" /><Relationship Type="http://schemas.openxmlformats.org/officeDocument/2006/relationships/notesMaster" Target="/ppt/notesMasters/notesMaster1.xml" Id="R7c9993c66e6643f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95c77990abf4ac5" /><Relationship Type="http://schemas.openxmlformats.org/officeDocument/2006/relationships/notesMaster" Target="/ppt/notesMasters/notesMaster1.xml" Id="Rbc2af636e90b441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02a73d626ba4cc7" /><Relationship Type="http://schemas.openxmlformats.org/officeDocument/2006/relationships/notesMaster" Target="/ppt/notesMasters/notesMaster1.xml" Id="R7a8a084252c44f8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15e5313294243d9" /><Relationship Type="http://schemas.openxmlformats.org/officeDocument/2006/relationships/notesMaster" Target="/ppt/notesMasters/notesMaster1.xml" Id="Rd7e1c8edcfee42e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19840ffc3334ac1" /><Relationship Type="http://schemas.openxmlformats.org/officeDocument/2006/relationships/notesMaster" Target="/ppt/notesMasters/notesMaster1.xml" Id="R789f8f9add974d8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2ec85cdbc7d40bb" /><Relationship Type="http://schemas.openxmlformats.org/officeDocument/2006/relationships/notesMaster" Target="/ppt/notesMasters/notesMaster1.xml" Id="R0d62c25756334bf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5ce572a93c543e9" /><Relationship Type="http://schemas.openxmlformats.org/officeDocument/2006/relationships/notesMaster" Target="/ppt/notesMasters/notesMaster1.xml" Id="R0274bddc8c22485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70413763a5f45d4" /><Relationship Type="http://schemas.openxmlformats.org/officeDocument/2006/relationships/notesMaster" Target="/ppt/notesMasters/notesMaster1.xml" Id="Rcd5d1a8ea8bc43b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2fadbe704af4622" /><Relationship Type="http://schemas.openxmlformats.org/officeDocument/2006/relationships/notesMaster" Target="/ppt/notesMasters/notesMaster1.xml" Id="R4f0e90ad08a24bd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4544b572056481d" /><Relationship Type="http://schemas.openxmlformats.org/officeDocument/2006/relationships/notesMaster" Target="/ppt/notesMasters/notesMaster1.xml" Id="Rb8a00e6ab9f141b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16823fb2a754ed1" /><Relationship Type="http://schemas.openxmlformats.org/officeDocument/2006/relationships/notesMaster" Target="/ppt/notesMasters/notesMaster1.xml" Id="R0b61fefee0ff4c8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f67ae93f4e144af" /><Relationship Type="http://schemas.openxmlformats.org/officeDocument/2006/relationships/notesMaster" Target="/ppt/notesMasters/notesMaster1.xml" Id="R4a5bc7f2a6884cb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6c492233be8468f" /><Relationship Type="http://schemas.openxmlformats.org/officeDocument/2006/relationships/notesMaster" Target="/ppt/notesMasters/notesMaster1.xml" Id="R53d6fff98ce448d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11be6c6b62b4179" /><Relationship Type="http://schemas.openxmlformats.org/officeDocument/2006/relationships/notesMaster" Target="/ppt/notesMasters/notesMaster1.xml" Id="R34635b80e055480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ca9716a77424dbf" /><Relationship Type="http://schemas.openxmlformats.org/officeDocument/2006/relationships/notesMaster" Target="/ppt/notesMasters/notesMaster1.xml" Id="Rae93bca71015433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acd31687cbc48a6" /><Relationship Type="http://schemas.openxmlformats.org/officeDocument/2006/relationships/notesMaster" Target="/ppt/notesMasters/notesMaster1.xml" Id="R1b71827d93a5497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dd711e06b724aa2" /><Relationship Type="http://schemas.openxmlformats.org/officeDocument/2006/relationships/notesMaster" Target="/ppt/notesMasters/notesMaster1.xml" Id="Rb1555a94ca564b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자료의 목적]</a:t>
            </a:r>
          </a:p>
          <a:p xmlns:a="http://schemas.openxmlformats.org/drawingml/2006/main">
            <a:r>
              <a:t>2주차 선택과제의 원천 로그와 최종 요약표 열을 초심자도 이해하도록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[강사에게 드리는 말]</a:t>
            </a:r>
          </a:p>
          <a:p xmlns:a="http://schemas.openxmlformats.org/drawingml/2006/main">
            <a:r>
              <a:t>1주차에는 대상 한 개가 한 행인 기준표를 정리했습니다. 2주차에는 같은 대상이 30일 동안 반복되는 로그를 모아 한 행으로 요약합니다.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1주차와 2주차의 행 단위가 어떻게 달라지는지 이해합니다.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7,200행을 240행으로 줄이면 기록을 버린 것일까요?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원본은 보존하고, 비교와 서비스에 편한 대표값을 별도 요약표로 만든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가맹점 기준표에는 평소 정보가 있지만 최근 거래의 변화는 거래 로그에서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[현장 상황]</a:t>
            </a:r>
          </a:p>
          <a:p xmlns:a="http://schemas.openxmlformats.org/drawingml/2006/main">
            <a:r>
              <a:t>- 승인과 환불, 처리 시간은 거래마다 달라집니다.</a:t>
            </a:r>
          </a:p>
          <a:p xmlns:a="http://schemas.openxmlformats.org/drawingml/2006/main">
            <a:r>
              <a:t>- 해외 거래와 위험 신호를 날짜별로 남겨야 최근 변화를 찾을 수 있습니다.</a:t>
            </a:r>
          </a:p>
          <a:p xmlns:a="http://schemas.openxmlformats.org/drawingml/2006/main">
            <a:r>
              <a:t>- 30일 로그를 가맹점별로 요약하면 운영 담당자가 한눈에 비교할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원천 로그와 기준표는 왜 따로 관리할까요?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기준표는 대상의 비교적 안정적인 정보이고 로그는 시간에 따라 계속 쌓이는 기록이기 때문입니다.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열을 외우기 전에 데이터를 관리하는 업무 목적을 이해합니다.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[거래 흐름 확인]</a:t>
            </a:r>
          </a:p>
          <a:p xmlns:a="http://schemas.openxmlformats.org/drawingml/2006/main">
            <a:r>
              <a:t>승인율과 최근 거래금액을 보면 가맹점의 최근 운영 상태를 파악할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[이상 징후 확인]</a:t>
            </a:r>
          </a:p>
          <a:p xmlns:a="http://schemas.openxmlformats.org/drawingml/2006/main">
            <a:r>
              <a:t>환불 비율과 위험 신호, 해외 거래 건수를 함께 살펴 추가 확인 대상을 찾습니다.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[수집 문제 발견]</a:t>
            </a:r>
          </a:p>
          <a:p xmlns:a="http://schemas.openxmlformats.org/drawingml/2006/main">
            <a:r>
              <a:t>거래 수와 최근 거래 시각을 확인하면 누락된 배치나 멈춘 수집을 찾을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[3주차 서비스 준비]</a:t>
            </a:r>
          </a:p>
          <a:p xmlns:a="http://schemas.openxmlformats.org/drawingml/2006/main">
            <a:r>
              <a:t>한 가맹점당 한 행으로 만든 표를 API, DB, Streamlit의 입력으로 이어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원천 로그를 단순히 모으는 것과 사용할 수 있게 관리하는 것은 무엇이 다를까요?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결측과 자료형을 정리하고 출처를 남기며 대상별 대표값으로 요약해야 비교와 서비스에 쓸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도메인 이름은 달라도 2주차의 파일 결합과 요약 원리가 같다는 점을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member_id와 같은 역할을 하는 금융 선택과제의 ID는 무엇인가요?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merchant_id입니다.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입력과 출력 파일의 역할을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[transaction_batches/]</a:t>
            </a:r>
          </a:p>
          <a:p xmlns:a="http://schemas.openxmlformats.org/drawingml/2006/main">
            <a:r>
              <a:t>CSV 12개. 각 파일 600행×11열. 가맹점 20곳의 30일 거래 기록입니다.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[merchant_master_reference.csv]</a:t>
            </a:r>
          </a:p>
          <a:p xmlns:a="http://schemas.openxmlformats.org/drawingml/2006/main">
            <a:r>
              <a:t>240행×16열. 1주차에서 정리한 가맹점 기준표입니다.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[outputs/와 artifacts/]</a:t>
            </a:r>
          </a:p>
          <a:p xmlns:a="http://schemas.openxmlformats.org/drawingml/2006/main">
            <a:r>
              <a:t>과제 결과. 요약 CSV와 학습된 전처리기 파일이 저장됩니다.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outputs와 artifacts에는 같은 종류의 파일이 저장될까요?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outputs에는 데이터 표, artifacts에는 학습한 전처리기 객체가 저장됩니다.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12개 파일과 7,200행이 만들어지는 계산을 이해합니다.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sensor_batch_01과 sensor_batch_02가 서로 다른 날짜 파일일까요?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서로 다른 대상 20개씩을 담은 묶음이며 각 파일 안에 30일 기록이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결측, 문자 숫자, 날짜, 출처와 반복 ID의 의미를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같은 ID가 여러 번 나오면 항상 drop_duplicates를 해야 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로그에서는 같은 대상의 여러 시점 기록이므로 먼저 한 행의 뜻을 확인해야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12개 원천 파일이 240행 결과표와 전처리기 파일로 바뀌는 전체 흐름을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원천 7,200행과 결과 240행 중 어느 파일을 지켜야 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용도가 다르므로 둘 다 보존합니다. 원천은 재처리 근거, 요약은 분석과 서비스 입력입니다.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[이미지 출처] 2주차_금융_선택과제_한눈에보기.png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배치 CSV의 11개 원본 열과 합칠 때 추가하는 source_file을 역할별로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같은 대상 ID가 여러 행에 반복되는 이유는 무엇인가요?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날짜별 로그이기 때문입니다.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transaction_id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거래 배치 CSV DataFrame의 한 열입니다. 대괄호 한 겹으로 선택하면 Series가 됩니다. 자료형은 문자열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거래 한 건을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7,200행에서 모두 고유합니다. 가맹점 ID와 역할이 다릅니다.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transaction_id와 merchant_id는 무엇이 다를까요?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transaction_id는 거래 한 건, merchant_id는 가맹점 한 곳을 가리킵니다.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거래 중복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merchant_id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거래 배치 CSV DataFrame의 한 열입니다. 대괄호 한 겹으로 선택하면 Series가 됩니다. 자료형은 문자열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같은 가맹점의 30일 거래를 묶고 기준표와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240개 ID가 각각 30번 반복되는 것이 정상입니다.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같은 ID가 30번 나오면 중복 오류일까요?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같은 가맹점의 거래 기록이므로 정상입니다.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groupby와 merge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transaction_datetime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거래 배치 CSV DataFrame의 한 열입니다. 대괄호 한 겹으로 선택하면 Series가 됩니다. 자료형은 읽은 직후 문자열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거래가 언제 발생했는지 알려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시간 계산 전 datetime으로 바꿉니다.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문자열 날짜로 최근 거래를 구해도 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먼저 datetime으로 변환해야 안전하게 비교할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pd.to_datetime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payment_channel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거래 배치 CSV DataFrame의 한 열입니다. 대괄호 한 겹으로 선택하면 Series가 됩니다. 자료형은 문자열 범주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거래가 어떤 통로에서 발생했는지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숫자가 아니라 거래 유형을 나누는 범주입니다.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웹과 앱을 더하거나 평균낼 수 있을까요?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없습니다. 채널 이름은 계산값이 아니라 범주입니다.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채널별 비교 확장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amount_krw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거래 배치 CSV DataFrame의 한 열입니다. 대괄호 한 겹으로 선택하면 Series가 됩니다. 자료형은 실수 · float64입니다.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거래 한 건의 금액입니다.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빈칸 12개가 있으며 0원 거래와 뜻이 다릅니다.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빈칸을 0으로 채우면 어떤 문제가 생길까요?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실제 0원 거래로 오해되어 합계와 평균이 왜곡됩니다.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결측 확인 · 합계와 평균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approved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거래 배치 CSV DataFrame의 한 열입니다. 대괄호 한 겹으로 선택하면 Series가 됩니다. 자료형은 불리언 · bool입니다.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결제가 승인되었는지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True 평균은 승인율로 해석할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승인 여부의 평균은 무엇을 뜻할까요?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전체 거래 중 승인된 거래의 비율입니다.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mean · approval_rate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refund_flag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거래 배치 CSV DataFrame의 한 열입니다. 대괄호 한 겹으로 선택하면 Series가 됩니다. 자료형은 불리언 · bool입니다.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거래가 환불되었는지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기준표의 장기 환불률과 최근 30일 환불률은 다른 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두 환불률을 따로 두는 이유는 무엇일까요?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기준 기간과 최근 30일의 변화를 비교하기 위해서입니다.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mean · refund_rate_30d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processing_ms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거래 배치 CSV DataFrame의 한 열입니다. 대괄호 한 겹으로 선택하면 Series가 됩니다. 자료형은 문자열 혼합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결제 시스템이 응답하는 데 걸린 밀리초입니다.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미측정 18개 때문에 숫자 변환이 필요합니다.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미측정은 처리 시간 0ms일까요?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측정값을 모른다는 뜻입니다.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to_numeric(errors='coerce')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country_code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거래 배치 CSV DataFrame의 한 열입니다. 대괄호 한 겹으로 선택하면 Series가 됩니다. 자료형은 문자열 범주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거래가 어느 국가에서 발생했는지 간단한 코드로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KR이 아닌 거래를 해외 거래로 세는 교육용 규칙을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국가 코드를 숫자로 평균내는 것이 의미가 있을까요?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없습니다. 국가 코드는 범주입니다.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cross_border_count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risk_signal_count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거래 배치 CSV DataFrame의 한 열입니다. 대괄호 한 겹으로 선택하면 Series가 됩니다. 자료형은 정수 · int64입니다.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한 거래에서 감지된 위험 신호 수입니다.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0도 위험 신호가 없었다는 의미 있는 기록입니다.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0과 빈칸을 구분해야 하는 이유는 무엇일까요?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0은 신호 없음이고 빈칸은 기록을 모른다는 뜻입니다.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sum · risk_signal_total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source_system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거래 배치 CSV DataFrame의 한 열입니다. 대괄호 한 겹으로 선택하면 Series가 됩니다. 자료형은 문자열 범주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거래 기록이 어느 시스템에서 들어왔는지 알려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파일 이름과 다른 수준의 출처 정보입니다.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source_file과 source_system은 같은 뜻일까요?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하나는 파일, 다른 하나는 거래를 만든 시스템입니다.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시스템별 오류 분석 확장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source_file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Q2에서 새로 만드는 열 DataFrame의 한 열입니다. 대괄호 한 겹으로 선택하면 Series가 됩니다. 자료형은 문자열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문제가 생긴 행이 어느 배치에서 왔는지 추적합니다.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CSV 원본에는 없고 파일을 합칠 때 코드가 추가합니다.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합친 뒤에도 출처를 남길 이유는 무엇일까요?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오류가 난 배치 파일을 다시 찾아 확인할 수 있기 때문입니다.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file_path.name · 추적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1주차 기준표 16열과 2주차 요약 10열이 합쳐진 최종표를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최종표에서 ID가 한 번만 나와야 하는 이유는 무엇인가요?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분석과 API가 대상 한 개를 한 행으로 읽도록 요약했기 때문입니다.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merchant_id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1주차 기준표 DataFrame의 한 열입니다. 대괄호 한 겹으로 선택하면 Series가 됩니다. 자료형은 문자열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가맹점 한 곳을 구분하고 거래 요약표와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최종표에서 고유값 240개여야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최종표에서 ID가 반복되면 무엇을 의심할까요?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요약 또는 결합 과정에서 중복이 생겼는지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merge의 on 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merchant_name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1주차 기준표 DataFrame의 한 열입니다. 대괄호 한 겹으로 선택하면 Series가 됩니다. 자료형은 문자열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운영 담당자가 가맹점을 알아보기 쉽게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결합 기준은 이름이 아니라 ID입니다.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이름을 결합 기준으로 쓰지 않는 이유는 무엇일까요?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이름은 바뀌거나 겹칠 수 있기 때문입니다.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화면과 보고서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industry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1주차 기준표 DataFrame의 한 열입니다. 대괄호 한 겹으로 선택하면 Series가 됩니다. 자료형은 문자열 범주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업종별 거래 형태를 비교합니다.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이번 전처리기의 범주형 입력입니다.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업종 이름에 평균을 계산할 수 있을까요?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아니요. 업종은 그룹을 나타내는 범주입니다.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OneHotEncoder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region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1주차 정제 기준표 DataFrame의 한 열입니다. 대괄호 한 겹으로 선택하면 Series가 됩니다. 자료형은 문자열 범주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지역별 거래와 검토 업무량을 비교합니다.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1주차에서 표기를 정리한 값입니다.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서울과 Seoul을 따로 남기면 어떻게 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같은 지역이 다른 그룹으로 집계됩니다.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범주형 입력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account_open_date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1주차 기준표 DataFrame의 한 열입니다. 대괄호 한 겹으로 선택하면 Series가 됩니다. 자료형은 문자열 날짜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가맹점 운영기간을 계산할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이번 필수 입력에는 포함하지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날짜 문자열을 바로 뺄 수 있을까요?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아니요. datetime으로 바꿔야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운영기간 확장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last_kyc_review_date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1주차 기준표 DataFrame의 한 열입니다. 대괄호 한 겹으로 선택하면 Series가 됩니다. 자료형은 문자열 날짜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고객확인 재검토 시점을 관리합니다.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최근 거래 시각과 다른 의미입니다.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latest_transaction_at과 무엇이 다를까요?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하나는 검토일, 다른 하나는 최근 거래 시각입니다.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검토 지연 분석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monthly_sales_10k_krw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1주차 정제 기준표 DataFrame의 한 열입니다. 대괄호 한 겹으로 선택하면 Series가 됩니다. 자료형은 실수 · float64입니다.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가맹점의 월간 거래 규모를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전처리기의 숫자형 입력입니다.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최근 30일 거래 합계와 항상 같을까요?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기준 기간과 집계 방식이 다를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median · StandardScaler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avg_ticket_krw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1주차 기준표 DataFrame의 한 열입니다. 대괄호 한 겹으로 선택하면 Series가 됩니다. 자료형은 실수 · float64입니다.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평소 거래 한 건의 평균 규모입니다.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최근 로그 평균과 비교할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avg_amount_krw와 무엇이 다를까요?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하나는 기준표의 평소 값, 다른 하나는 최근 30일 로그 평균입니다.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기준 대비 변화 확장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refund_rate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1주차 정제 기준표 DataFrame의 한 열입니다. 대괄호 한 겹으로 선택하면 Series가 됩니다. 자료형은 실수 · float64입니다.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가맹점의 평소 환불 수준을 나타냅니다.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최근 30일 환불률과 따로 관리합니다.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refund_rate_30d와 비교하면 무엇을 볼 수 있을까요?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최근 환불 수준이 평소보다 달라졌는지 볼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숫자형 입력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chargeback_rate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1주차 기준표 DataFrame의 한 열입니다. 대괄호 한 겹으로 선택하면 Series가 됩니다. 자료형은 실수 · float64입니다.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고객 이의 제기로 거래가 취소된 비율입니다.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환불과 차지백은 같은 업무 용어가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환불률과 한 열로 합쳐도 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아니요. 발생 원인과 관리 절차가 다릅니다.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숫자형 입력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kyc_status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1주차 기준표 DataFrame의 한 열입니다. 대괄호 한 겹으로 선택하면 Series가 됩니다. 자료형은 문자열 범주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가맹점 확인 절차의 현재 상태를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법적 판단이 아닌 교육용 합성 상태입니다.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상태 이름을 숫자 평균으로 계산할 수 있을까요?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아니요. 범주로 처리합니다.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범주형 입력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risk_tier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1주차 기준표 DataFrame의 한 열입니다. 대괄호 한 겹으로 선택하면 Series가 됩니다. 자료형은 문자열 범주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내부 운영 기준에 따른 위험 구간입니다.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이번 과제에서는 범주형 입력으로 처리합니다.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등급을 무조건 1, 2, 3으로 바꿔도 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간격의 의미를 확인하기 전에는 안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OneHotEncoder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settlement_cycle_days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1주차 기준표 DataFrame의 한 열입니다. 대괄호 한 겹으로 선택하면 Series가 됩니다. 자료형은 정수 · int64입니다.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거래대금을 며칠 단위로 정산하는지 나타냅니다.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이번 필수 입력에는 넣지 않지만 운영 조건으로 보존합니다.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정산 주기가 길면 무조건 위험할까요?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계약과 업종 조건을 함께 봐야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운영 분석 확장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support_tickets_90d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1주차 기준표 DataFrame의 한 열입니다. 대괄호 한 겹으로 선택하면 Series가 됩니다. 자료형은 정수 · int64입니다.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최근 운영 문의가 얼마나 있었는지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0은 문의 없음이라는 기록입니다.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문의 건수만으로 위험을 확정할 수 있을까요?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다른 거래 지표와 함께 봐야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운영 분석 확장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active_status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1주차 기준표 DataFrame의 한 열입니다. 대괄호 한 겹으로 선택하면 Series가 됩니다. 자료형은 문자열 범주 · object입니다.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현재 거래 운영 여부를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수동 검토 필요 여부와 같은 뜻이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일시정지면 모두 검토 대상일까요?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운영 상태와 검토 판단은 다른 정보입니다.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업무 확인용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manual_review_required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1주차 기준표 DataFrame의 한 열입니다. 대괄호 한 겹으로 선택하면 Series가 됩니다. 자료형은 불리언 · bool입니다.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운영자가 추가로 확인할 필요가 있는지 나타냅니다.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이번 2주차는 예측보다 데이터 파이프라인 구축에 집중합니다.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이 열은 거래 로그에서 새로 계산했을까요?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1주차 기준표에서 이어 온 교육용 판단 결과입니다.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결과표 보존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transaction_count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Q4에서 만든 요약 열 DataFrame의 한 열입니다. 대괄호 한 겹으로 선택하면 Series가 됩니다. 자료형은 정수 · int64입니다.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가맹점별 거래 로그가 몇 건인지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이번 데이터는 모두 30건이지만 실무에서는 누락 탐지에 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거래 수가 29라면 무엇을 확인할까요?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수집 누락이나 해당 가맹점의 기록 문제를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count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active_days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Q4에서 만든 요약 열 DataFrame의 한 열입니다. 대괄호 한 겹으로 선택하면 Series가 됩니다. 자료형은 정수 · int64입니다.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가맹점별로 며칠의 거래가 있는지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거래 건수와 날짜 수는 다른 개념입니다.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하루에 거래가 여러 건이면 두 값은 같을까요?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같지 않을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날짜 고유값 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total_amount_krw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Q4에서 만든 요약 열 DataFrame의 한 열입니다. 대괄호 한 겹으로 선택하면 Series가 됩니다. 자료형은 실수 · float64입니다.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가맹점별 최근 거래 규모를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빈 거래금액 12개는 합계에서 제외됩니다.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합계가 큰 가맹점이 항상 위험할까요?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업종과 평소 규모를 함께 봐야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sum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avg_amount_krw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Q4에서 만든 요약 열 DataFrame의 한 열입니다. 대괄호 한 겹으로 선택하면 Series가 됩니다. 자료형은 실수 · float64입니다.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거래 한 건의 평균 규모를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기준표의 avg_ticket_krw와 비교할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최근 평균이 평소보다 커지면 무엇을 확인할까요?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특정 고액 거래나 업종 특성, 기간 변화를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mean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approval_rate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Q4에서 만든 요약 열 DataFrame의 한 열입니다. 대괄호 한 겹으로 선택하면 Series가 됩니다. 자료형은 실수 · float64입니다.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전체 거래 중 승인된 비율입니다.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0.97은 약 97%입니다.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승인율 1.0은 무엇을 뜻할까요?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해당 기간의 거래가 모두 승인되었다는 뜻입니다.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bool 평균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refund_rate_30d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Q4에서 만든 요약 열 DataFrame의 한 열입니다. 대괄호 한 겹으로 선택하면 Series가 됩니다. 자료형은 실수 · float64입니다.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최근 거래 중 환불된 비율을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기준표의 refund_rate와 기간이 다릅니다.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두 환불률을 비교하는 이유는 무엇일까요?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최근 환불 패턴이 평소와 달라졌는지 보기 위해서입니다.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bool 평균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avg_processing_ms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Q4에서 만든 요약 열 DataFrame의 한 열입니다. 대괄호 한 겹으로 선택하면 Series가 됩니다. 자료형은 실수 · float64입니다.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결제 시스템의 평균 응답 속도를 비교합니다.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미측정 18개는 평균 계산에서 제외됩니다.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미측정을 0으로 바꾸면 어떤 문제가 생길까요?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처리가 실제보다 빠르게 보일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mean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risk_signal_total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Q4에서 만든 요약 열 DataFrame의 한 열입니다. 대괄호 한 겹으로 선택하면 Series가 됩니다. 자료형은 정수 · int64입니다.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30일 거래에서 감지된 위험 신호를 모두 합칩니다.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신호 종류와 심각도까지 반영한 값은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합계만으로 수동 검토를 확정해도 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거래 맥락과 다른 지표를 함께 봐야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sum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cross_border_count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Q4에서 만든 요약 열 DataFrame의 한 열입니다. 대괄호 한 겹으로 선택하면 Series가 됩니다. 자료형은 정수 · int64입니다.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country_code가 KR이 아닌 거래 수를 셉니다.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국가별 위험도를 판단하는 실제 규칙은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해외 거래가 있으면 모두 이상 거래일까요?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정상적인 해외 거래도 많습니다.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조건식과 sum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latest_transaction_at 열의 업무 의미와 자료형, 과제에서의 사용 방법을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이 열은 Q4에서 만든 요약 열 DataFrame의 한 열입니다. 대괄호 한 겹으로 선택하면 Series가 됩니다. 자료형은 datetime64입니다.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[업무 배경]</a:t>
            </a:r>
          </a:p>
          <a:p xmlns:a="http://schemas.openxmlformats.org/drawingml/2006/main">
            <a:r>
              <a:t>마지막으로 거래가 들어온 시각을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최근 KYC 검토일과 다른 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최근 거래가 오래되면 무엇을 확인할까요?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가맹점 비활성이나 데이터 수집 문제를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[과제 연결]</a:t>
            </a:r>
          </a:p>
          <a:p xmlns:a="http://schemas.openxmlformats.org/drawingml/2006/main">
            <a:r>
              <a:t>max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CSV와 joblib, JSON 미리보기가 서로 다른 역할을 한다는 점을 이해합니다.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CSV만 저장하면 전처리기의 중앙값과 범주 열 순서도 함께 저장될까요?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학습된 전처리기 객체는 joblib 파일로 별도 저장합니다.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2주차 결과표가 파일로 끝나지 않고 다른 프로그램이 요청할 수 있는 데이터가 되는 흐름을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api_app_student.py만 열면 서버가 자동으로 계속 실행될까요?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별도 터미널에서 uvicorn 명령을 실행해 서버 프로세스를 켜 두어야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각 열 설명을 학생용 노트북 Q1부터 Q7까지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[진행 순서]</a:t>
            </a:r>
          </a:p>
          <a:p xmlns:a="http://schemas.openxmlformats.org/drawingml/2006/main">
            <a:r>
              <a:t>- Q1에서 transaction_batch_*.csv 12개를 찾습니다.</a:t>
            </a:r>
          </a:p>
          <a:p xmlns:a="http://schemas.openxmlformats.org/drawingml/2006/main">
            <a:r>
              <a:t>- Q2에서 출처 열을 붙여 7,200행으로 합칩니다.</a:t>
            </a:r>
          </a:p>
          <a:p xmlns:a="http://schemas.openxmlformats.org/drawingml/2006/main">
            <a:r>
              <a:t>- Q3에서 숫자와 날짜를 정리하고 작은 넓은 표를 만듭니다.</a:t>
            </a:r>
          </a:p>
          <a:p xmlns:a="http://schemas.openxmlformats.org/drawingml/2006/main">
            <a:r>
              <a:t>- Q4에서 30일 로그를 가맹점 240행으로 요약합니다.</a:t>
            </a:r>
          </a:p>
          <a:p xmlns:a="http://schemas.openxmlformats.org/drawingml/2006/main">
            <a:r>
              <a:t>- Q5에서 1주차 기준표와 ID로 연결합니다.</a:t>
            </a:r>
          </a:p>
          <a:p xmlns:a="http://schemas.openxmlformats.org/drawingml/2006/main">
            <a:r>
              <a:t>- Q6에서 전처리기를 학습해 joblib로 저장합니다.</a:t>
            </a:r>
          </a:p>
          <a:p xmlns:a="http://schemas.openxmlformats.org/drawingml/2006/main">
            <a:r>
              <a:t>- Q7에서 3주차용 CSV와 JSON 미리보기를 만듭니다.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[마무리 질문]</a:t>
            </a:r>
          </a:p>
          <a:p xmlns:a="http://schemas.openxmlformats.org/drawingml/2006/main">
            <a:r>
              <a:t>1주차와 분야가 달라도 다시 사용할 수 있었던 처리 원리는 무엇인가요?</a:t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파일 찾기, 출처 보존, 숫자와 날짜 변환, ID별 요약, 기준표 결합, 전처리기 저장입니다.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자료] 2주차_금융_데이터사전.md, transaction_batches 12개, merchant_master_reference.csv, 금융 선택과제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6d7eb75fe4b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0692380974443e" /><Relationship Type="http://schemas.openxmlformats.org/officeDocument/2006/relationships/slideLayout" Target="/ppt/slideLayouts/slideLayout1.xml" Id="R4d737a1a02e047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737a1a02e047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ython Data Guide">
      <a:dk1>
        <a:srgbClr val="000000"/>
      </a:dk1>
      <a:lt1>
        <a:srgbClr val="FFFFFF"/>
      </a:lt1>
      <a:dk2>
        <a:srgbClr val="123A63"/>
      </a:dk2>
      <a:lt2>
        <a:srgbClr val="DCE4EB"/>
      </a:lt2>
      <a:accent1>
        <a:srgbClr val="2F80ED"/>
      </a:accent1>
      <a:accent2>
        <a:srgbClr val="159B6A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F80ED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ython Data Gu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b5307b3eb4e68" /><Relationship Type="http://schemas.openxmlformats.org/officeDocument/2006/relationships/notesSlide" Target="/ppt/notesSlides/notesSlide1.xml" Id="R347106a2499d43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686f64fc748be" /><Relationship Type="http://schemas.openxmlformats.org/officeDocument/2006/relationships/notesSlide" Target="/ppt/notesSlides/notesSlide2.xml" Id="R3591e7d9ce1445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9ee2ce23f483e" /><Relationship Type="http://schemas.openxmlformats.org/officeDocument/2006/relationships/notesSlide" Target="/ppt/notesSlides/notesSlide3.xml" Id="R0349169cdbae46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179662a334a13" /><Relationship Type="http://schemas.openxmlformats.org/officeDocument/2006/relationships/notesSlide" Target="/ppt/notesSlides/notesSlide4.xml" Id="Rec7889d1b5d445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1cd19bd124891" /><Relationship Type="http://schemas.openxmlformats.org/officeDocument/2006/relationships/notesSlide" Target="/ppt/notesSlides/notesSlide5.xml" Id="R0c94c1465a0f47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5e394bf924f8e" /><Relationship Type="http://schemas.openxmlformats.org/officeDocument/2006/relationships/notesSlide" Target="/ppt/notesSlides/notesSlide6.xml" Id="Rc56df020604841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a3c3825d544f7" /><Relationship Type="http://schemas.openxmlformats.org/officeDocument/2006/relationships/notesSlide" Target="/ppt/notesSlides/notesSlide7.xml" Id="R462cbac7afe540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b53af6af843c9" /><Relationship Type="http://schemas.openxmlformats.org/officeDocument/2006/relationships/notesSlide" Target="/ppt/notesSlides/notesSlide8.xml" Id="Rbdb7562cea0f49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c1a2476f0453e" /><Relationship Type="http://schemas.openxmlformats.org/officeDocument/2006/relationships/image" Target="/ppt/media/image.png" Id="R6246205842ab4cb1" /><Relationship Type="http://schemas.openxmlformats.org/officeDocument/2006/relationships/notesSlide" Target="/ppt/notesSlides/notesSlide9.xml" Id="R2e06a7996b7540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ac109462c4591" /><Relationship Type="http://schemas.openxmlformats.org/officeDocument/2006/relationships/notesSlide" Target="/ppt/notesSlides/notesSlide10.xml" Id="Rf74734144daf4e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cbc6657094462" /><Relationship Type="http://schemas.openxmlformats.org/officeDocument/2006/relationships/notesSlide" Target="/ppt/notesSlides/notesSlide11.xml" Id="R3f54b5a1032342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2af908e904912" /><Relationship Type="http://schemas.openxmlformats.org/officeDocument/2006/relationships/notesSlide" Target="/ppt/notesSlides/notesSlide12.xml" Id="R7c9d2d3ad8ad45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3edb5c9e343b7" /><Relationship Type="http://schemas.openxmlformats.org/officeDocument/2006/relationships/notesSlide" Target="/ppt/notesSlides/notesSlide13.xml" Id="R3b4a74325af645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89b1a59b24b76" /><Relationship Type="http://schemas.openxmlformats.org/officeDocument/2006/relationships/notesSlide" Target="/ppt/notesSlides/notesSlide14.xml" Id="R08d7432e596547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432c7f3fa4302" /><Relationship Type="http://schemas.openxmlformats.org/officeDocument/2006/relationships/notesSlide" Target="/ppt/notesSlides/notesSlide15.xml" Id="Ra56b0bbdf34741c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464dfe17a46fb" /><Relationship Type="http://schemas.openxmlformats.org/officeDocument/2006/relationships/notesSlide" Target="/ppt/notesSlides/notesSlide16.xml" Id="Re05f8205ff8a4f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06a9072814fec" /><Relationship Type="http://schemas.openxmlformats.org/officeDocument/2006/relationships/notesSlide" Target="/ppt/notesSlides/notesSlide17.xml" Id="R3fa1091680344eb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59a08492c49e6" /><Relationship Type="http://schemas.openxmlformats.org/officeDocument/2006/relationships/notesSlide" Target="/ppt/notesSlides/notesSlide18.xml" Id="Rbae736451899431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e99119c134f90" /><Relationship Type="http://schemas.openxmlformats.org/officeDocument/2006/relationships/notesSlide" Target="/ppt/notesSlides/notesSlide19.xml" Id="R33eba449bcf4478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bc10da7574684" /><Relationship Type="http://schemas.openxmlformats.org/officeDocument/2006/relationships/notesSlide" Target="/ppt/notesSlides/notesSlide20.xml" Id="Re15c06e7c869442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dbbb507394501" /><Relationship Type="http://schemas.openxmlformats.org/officeDocument/2006/relationships/notesSlide" Target="/ppt/notesSlides/notesSlide21.xml" Id="R05abab4b22fb4c2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ca7cddd1148ed" /><Relationship Type="http://schemas.openxmlformats.org/officeDocument/2006/relationships/notesSlide" Target="/ppt/notesSlides/notesSlide22.xml" Id="Rac41bb06e34d4ca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c222d7d25402e" /><Relationship Type="http://schemas.openxmlformats.org/officeDocument/2006/relationships/notesSlide" Target="/ppt/notesSlides/notesSlide23.xml" Id="R2cebbd7f546e460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2012b502c4c03" /><Relationship Type="http://schemas.openxmlformats.org/officeDocument/2006/relationships/notesSlide" Target="/ppt/notesSlides/notesSlide24.xml" Id="R488cb7ba0f104bc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fdbff5ea64d29" /><Relationship Type="http://schemas.openxmlformats.org/officeDocument/2006/relationships/notesSlide" Target="/ppt/notesSlides/notesSlide25.xml" Id="R4c45d6b3e19b40f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bbed618724c5a" /><Relationship Type="http://schemas.openxmlformats.org/officeDocument/2006/relationships/notesSlide" Target="/ppt/notesSlides/notesSlide26.xml" Id="Rd2c7769306a74c8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868a606a5412e" /><Relationship Type="http://schemas.openxmlformats.org/officeDocument/2006/relationships/notesSlide" Target="/ppt/notesSlides/notesSlide27.xml" Id="R4ac315c345764f7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240421af94d20" /><Relationship Type="http://schemas.openxmlformats.org/officeDocument/2006/relationships/notesSlide" Target="/ppt/notesSlides/notesSlide28.xml" Id="R52040cf7bf6645f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74c2e6f774499" /><Relationship Type="http://schemas.openxmlformats.org/officeDocument/2006/relationships/notesSlide" Target="/ppt/notesSlides/notesSlide29.xml" Id="R7b04d013a0b1493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04e80194d44c8" /><Relationship Type="http://schemas.openxmlformats.org/officeDocument/2006/relationships/notesSlide" Target="/ppt/notesSlides/notesSlide30.xml" Id="R778d2517e39b496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1315783d94f61" /><Relationship Type="http://schemas.openxmlformats.org/officeDocument/2006/relationships/notesSlide" Target="/ppt/notesSlides/notesSlide31.xml" Id="Raa10bb5e8d9d457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6f9a0dee54422" /><Relationship Type="http://schemas.openxmlformats.org/officeDocument/2006/relationships/notesSlide" Target="/ppt/notesSlides/notesSlide32.xml" Id="R62faa3ab5a34443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6736d0c1b4bb1" /><Relationship Type="http://schemas.openxmlformats.org/officeDocument/2006/relationships/notesSlide" Target="/ppt/notesSlides/notesSlide33.xml" Id="Rfe5b06bd8805461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ec3a19a5b4268" /><Relationship Type="http://schemas.openxmlformats.org/officeDocument/2006/relationships/notesSlide" Target="/ppt/notesSlides/notesSlide34.xml" Id="Rd96996d52e304a1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1bf2b0d8c43c8" /><Relationship Type="http://schemas.openxmlformats.org/officeDocument/2006/relationships/notesSlide" Target="/ppt/notesSlides/notesSlide35.xml" Id="R6e1057d55c9e41b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69e0a4bec4ff6" /><Relationship Type="http://schemas.openxmlformats.org/officeDocument/2006/relationships/notesSlide" Target="/ppt/notesSlides/notesSlide36.xml" Id="R15164aca51464b8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6f5186424446a" /><Relationship Type="http://schemas.openxmlformats.org/officeDocument/2006/relationships/notesSlide" Target="/ppt/notesSlides/notesSlide37.xml" Id="Re34bbbeaf747426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f790b700f495d" /><Relationship Type="http://schemas.openxmlformats.org/officeDocument/2006/relationships/notesSlide" Target="/ppt/notesSlides/notesSlide38.xml" Id="R82fcd552ffe14a4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71637170c489e" /><Relationship Type="http://schemas.openxmlformats.org/officeDocument/2006/relationships/notesSlide" Target="/ppt/notesSlides/notesSlide39.xml" Id="Ra0f51f036cdc463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1282be4804005" /><Relationship Type="http://schemas.openxmlformats.org/officeDocument/2006/relationships/notesSlide" Target="/ppt/notesSlides/notesSlide40.xml" Id="R08dd6d82d8e7459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2e7bf61134629" /><Relationship Type="http://schemas.openxmlformats.org/officeDocument/2006/relationships/notesSlide" Target="/ppt/notesSlides/notesSlide41.xml" Id="R12b44eed3e0e4ce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f79fe76b74d4e" /><Relationship Type="http://schemas.openxmlformats.org/officeDocument/2006/relationships/notesSlide" Target="/ppt/notesSlides/notesSlide42.xml" Id="R211987e493b0456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791f6fc694a21" /><Relationship Type="http://schemas.openxmlformats.org/officeDocument/2006/relationships/notesSlide" Target="/ppt/notesSlides/notesSlide43.xml" Id="R542eb72afe904bd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79371607f44a4" /><Relationship Type="http://schemas.openxmlformats.org/officeDocument/2006/relationships/notesSlide" Target="/ppt/notesSlides/notesSlide44.xml" Id="R3af343fc12da449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1a9c08dfd49bc" /><Relationship Type="http://schemas.openxmlformats.org/officeDocument/2006/relationships/notesSlide" Target="/ppt/notesSlides/notesSlide45.xml" Id="Raab3bb95dc63490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3fcd7da6c4684" /><Relationship Type="http://schemas.openxmlformats.org/officeDocument/2006/relationships/notesSlide" Target="/ppt/notesSlides/notesSlide46.xml" Id="Rc92054423a4042d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d27f83fc44a13" /><Relationship Type="http://schemas.openxmlformats.org/officeDocument/2006/relationships/notesSlide" Target="/ppt/notesSlides/notesSlide47.xml" Id="R851f4c6c58ef473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3d90b8b934382" /><Relationship Type="http://schemas.openxmlformats.org/officeDocument/2006/relationships/notesSlide" Target="/ppt/notesSlides/notesSlide48.xml" Id="Ra6666c9babdd41d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1d2f952c24ad7" /><Relationship Type="http://schemas.openxmlformats.org/officeDocument/2006/relationships/notesSlide" Target="/ppt/notesSlides/notesSlide49.xml" Id="Rc5f52a7e01b1427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7c6b9ee11439c" /><Relationship Type="http://schemas.openxmlformats.org/officeDocument/2006/relationships/notesSlide" Target="/ppt/notesSlides/notesSlide50.xml" Id="Rbc20f194a21f42b6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496ce74d44256" /><Relationship Type="http://schemas.openxmlformats.org/officeDocument/2006/relationships/notesSlide" Target="/ppt/notesSlides/notesSlide51.xml" Id="R5c092658adbc4bc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03d9296934efd" /><Relationship Type="http://schemas.openxmlformats.org/officeDocument/2006/relationships/notesSlide" Target="/ppt/notesSlides/notesSlide52.xml" Id="Rd8ffe3e7fc4d4d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29631-5DDF-4DE3-B2A3-FCD08E1D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075E4-95E8-43AF-92F3-ED12A4F5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2주차 금융 선택과제</a:t>
            </a:r>
          </a:p>
          <a:p xmlns:a="http://schemas.openxmlformats.org/drawingml/2006/main">
            <a:pPr>
              <a:defRPr sz="31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데이터 열 이름과 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DD7C3-02C7-431D-BA19-28A98252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12개 거래 로그를 합쳐 가맹점 240곳의 30일 거래 요약표를 만듭니다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3D644-96D7-44A7-9CBB-7ACCAACE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EF025-4E8B-4E59-A605-B5F1223A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863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74EDA-6109-487F-A2DD-D05103E7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006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도메인 배경 · 원천 로그 · 최종 240행 요약표 · 3주차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83B5E-9ECD-4597-AA9E-CF1D0188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실제 개인정보나 운영기록이 아닌 수업용 합성 데이터입니다.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8D83A-2E4C-4420-B70B-172D3BE7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60089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BA688-D5EF-45F7-9392-CC9E04DD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6CD8C-E293-4108-B91B-36E6DD49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주차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36F76-8EF9-449F-89B5-2DB17B61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기준표에 30일 로그를 더합니다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1487C-2AC0-4406-B507-F09DAF33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9E2DA-D889-490D-8614-5C7F86DD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C3BD5-8C54-4117-BECE-0D7BAF21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36E2B-93F0-47B4-A874-3B7C01A2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24C3E-BE44-40B1-8ED7-2AD8F187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76F5B-F22E-48AA-9471-1B7A40BA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09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87196-E103-412D-B4BD-35DBF2C7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대상 240개의 기본정보와 판단 결과를 한 행씩 정리했습니다.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E421B-0C68-4E10-A586-8632A94C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BE0FF-B666-4BF8-B055-726FD990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43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2주차 원천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3191F-AD9F-49CC-AEF9-8BC02222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432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같은 대상이 30일 동안 반복되어 7,200행의 로그가 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328AF-BBBC-4EBA-ACB2-E9DE8C2F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E07AF-F6B3-456D-BFCC-8F576E2E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76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2주차 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F4FE5-FBE3-40AE-8A8C-20BCA4FE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766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로그를 ID별로 요약해 기준표에 붙이면 240행×26열이 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90A306-F62F-4F82-8AEA-974B1C09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27B80-0B39-4728-9B3C-B7953908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0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3주차 연결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0E29B-1DD3-45A7-9577-66A2CDF6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101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이 결과표를 API, SQLite, EDA, PCA, Streamlit에서 다시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3457297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ED791-EDD1-4B34-9D49-CAB67527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15DA8-3008-49E2-BAC4-53D810E8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도메인 배경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8C9D9-E2F5-48D8-BEA6-C18CA535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가맹점의 거래 로그를 왜 모을까요?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2F717-C40A-4B26-AE1D-A9CB36B1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D4480-3236-4405-AD5F-26722FA6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82EB8-BAE9-4432-AA84-78C198B8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03CE2-B750-4835-954F-BBEF0455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ACBBD-024B-46F7-8247-561B21D2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가맹점 기준표에는 평소 정보가 있지만 최근 거래의 변화는 거래 로그에서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A116C-E6ED-41AD-BF8F-09787828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648BA-19CF-4EBC-928B-C559D6A6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03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승인과 환불, 처리 시간은 거래마다 달라집니다.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8AA3A-B8D5-4FB7-945F-0B6E5DD2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58390-FF04-4B48-95F8-81B89B82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해외 거래와 위험 신호를 날짜별로 남겨야 최근 변화를 찾을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F3503-554D-40DB-8584-26043ABD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4091D-9325-4287-BE0E-2885ADAF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624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30일 로그를 가맹점별로 요약하면 운영 담당자가 한눈에 비교할 수 있습니다.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9D1A2-E003-4926-B990-9AC15C75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1AC64-9C58-4D80-B316-FC4F8FC8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6257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핵심 질문: 한 대상의 여러 기록을 어떤 대표값으로 요약해야 할까요?</a:t>
            </a:r>
          </a:p>
        </p:txBody>
      </p:sp>
    </p:spTree>
    <p:extLst>
      <p:ext uri="{BB962C8B-B14F-4D97-AF65-F5344CB8AC3E}">
        <p14:creationId xmlns:p14="http://schemas.microsoft.com/office/powerpoint/2010/main" val="1805638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06ED4C-76BD-4DA2-9358-71EB80F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EB1CB-2358-43A9-9B0A-06F4DC17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업무 중요성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4E00C-F5C4-40BA-AB54-6432B42E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이 데이터를 관리하는 이유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A63C3-3456-4567-ACEC-0599C6AE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5DDF4-E77F-409C-9ED0-89E41F49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DEB1C-4652-40FF-AAD2-B15EA6F0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6958A-3A78-4C71-B9F7-6AFF81EF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B0EC1-46F6-46E5-A465-3DA4B117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41590-66A8-4216-A33B-79340058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097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흐름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9D892-46BB-4A7D-B1A3-E89EF3C9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9070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승인율과 최근 거래금액을 보면 가맹점의 최근 운영 상태를 파악할 수 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5BA94-2620-4B23-951E-69129A3E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A5E22-1E3B-4E7B-B42E-D077FEA4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이상 징후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D99CF-649E-4571-8D7F-A71EFBBB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환불 비율과 위험 신호, 해외 거래 건수를 함께 살펴 추가 확인 대상을 찾습니다.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F6D6C-B686-4FF6-A643-641F61E5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92B39-B362-46BC-95FD-F5061EFE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00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수집 문제 발견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C4D9F-D204-4940-9697-EA261CBF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거래 수와 최근 거래 시각을 확인하면 누락된 배치나 멈춘 수집을 찾을 수 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C7499-4586-456E-9C9B-D477F6AE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B9155-3BDF-4027-97FF-340D992A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958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3주차 서비스 준비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E2642-38DA-420F-9043-75D3427D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한 가맹점당 한 행으로 만든 표를 API, DB, Streamlit의 입력으로 이어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5217045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5ADEB-F985-44D4-BD1C-D9D23AD3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3F25C-AF72-43E7-8105-FAC05528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수업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F6DFD-A2F5-4C78-AAAB-1427D819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결혼정보회사 로그와 무엇이 대응할까요?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CD761-8FA7-417E-A728-F8732506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E4D13-7E96-43FE-8ADA-F2B73C28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AD727-1914-4677-A0EE-214E1DE4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99DDB-16B3-456F-A8F3-7B9F3605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695450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000500"/>
                <a:gridCol w="4191000"/>
              </a:tblGrid>
              <a:tr h="4550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처리 역할</a:t>
                      </a:r>
                    </a:p>
                  </a:txBody>
                  <a:tcPr marL="91440" marR="91440" marT="45720" marB="45720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enlo"/>
                          <a:ea typeface="Menlo"/>
                          <a:cs typeface="Menlo"/>
                        </a:rPr>
                        <a:t>2주차 결혼정보회사 수업</a:t>
                      </a:r>
                    </a:p>
                  </a:txBody>
                  <a:tcPr marL="91440" marR="91440" marT="45720" marB="45720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enlo"/>
                          <a:ea typeface="Menlo"/>
                          <a:cs typeface="Menlo"/>
                        </a:rPr>
                        <a:t>금융 선택과제</a:t>
                      </a:r>
                    </a:p>
                  </a:txBody>
                  <a:tcPr marL="91440" marR="91440" marT="45720" marB="45720">
                    <a:solidFill>
                      <a:srgbClr val="123A63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배치 폴더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activity_batches 25개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transaction_batches 12개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파일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회원 40명 × 30일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가맹점 20곳 × 30일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전체 로그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30,000행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7,200행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 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member_id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merchant_id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문자 숫자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stay_time_min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processing_ms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대표 합계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total_app_opens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total_amount_krw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대표 비율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없음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approval_rate · refund_rate_30d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최종 대상표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회원 1,000행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가맹점 240행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0533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0C5A8-6ECB-4385-85E5-20E11C2F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3E0FF-30FB-4462-924F-D43F4960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파일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7854E-E15A-4AA5-9085-A20E644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입력 파일과 결과 폴더의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30165-9BC5-45AF-BC87-E62D6914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73FDE-2C74-45F9-A140-6782F399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818BD-09D4-424C-82B5-694A8C41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23FC5-B046-49AF-90DA-F6550432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B32FC-6134-49A4-888F-A80899E9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transaction_batches/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2A3AE-5BAA-423A-9993-65CE6CCE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CSV 12개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F08B2-7BEC-4D6C-A67E-2F3742A6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각 파일 600행×11열. 가맹점 20곳의 30일 거래 기록입니다.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2506E-01C0-490C-9CA1-B5DAFE23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5F193-0963-4B5A-BDC6-CFBD8921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merchant_master_reference.csv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C5262-0D2C-4D96-BE3D-18261BBB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240행×16열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69FC0-8831-4486-825F-8FDE76BC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1주차에서 정리한 가맹점 기준표입니다.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22EFD-BFB8-4E85-9329-1D7B2B22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344DC-D847-4843-9EAA-02810B0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outputs/와 artifacts/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B898E-8954-4C4F-88A3-59C927F9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24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과제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7C4BF-7098-4BFE-8A4F-392D489F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요약 CSV와 학습된 전처리기 파일이 저장됩니다.</a:t>
            </a:r>
          </a:p>
        </p:txBody>
      </p:sp>
    </p:spTree>
    <p:extLst>
      <p:ext uri="{BB962C8B-B14F-4D97-AF65-F5344CB8AC3E}">
        <p14:creationId xmlns:p14="http://schemas.microsoft.com/office/powerpoint/2010/main" val="528756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AE41B-5658-4EE0-8F43-6DE9BBCA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56E02-FC07-47BB-B3AA-E81C0A9F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파일 분할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EEB5C-0806-4B62-A78D-53AAEE5B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배치 CSV가 12개인 이유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D59FD-8FB1-472C-8C31-C4D13168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2475E-8351-42D1-AECB-8F1BFBF1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603E6-305B-4829-80AA-0CAEF781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86DBA-14D0-4FB8-A675-7A9EDEE5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B7F39-3415-4770-ACE1-448C3030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한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5216D-601C-423B-925E-E8D48900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97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가맹점 20곳 × 30일 = 600행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7FD1A-3C11-4F4B-A72A-B4008EF0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파일 12개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E47E5-18AD-4479-92B4-231E7009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가맹점 20곳 × 12묶음 = 가맹점 240곳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85621-9137-48EE-BAFE-EF2A7507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전체 로그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51701-7438-480F-92DF-CEB8DE08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600행 × 12개 = 7,200행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C9494-9B62-49D8-B797-C307B253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38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분할 이유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83F94-106E-4266-AB6B-724AA36B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386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여러 번 도착한 배치를 안전하게 모으는 실무 흐름을 연습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EBE7E-0E58-4D8F-88F1-DDC7A0C7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572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2F80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1EAE0-C5A1-46F1-B907-DF6E4FDB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파일 번호는 날짜가 아니라 대상 20개씩 나눈 묶음 번호입니다.</a:t>
            </a:r>
          </a:p>
        </p:txBody>
      </p:sp>
    </p:spTree>
    <p:extLst>
      <p:ext uri="{BB962C8B-B14F-4D97-AF65-F5344CB8AC3E}">
        <p14:creationId xmlns:p14="http://schemas.microsoft.com/office/powerpoint/2010/main" val="18563535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F2A23-219E-4DD9-9A50-AC34B8EB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3490A-D288-4A4F-A2AB-2E32D5DC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데이터 품질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9D3DE-638C-4F18-A020-B4239483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처리 연습을 위해 넣은 현실적인 문제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F2313-D1A0-4A9C-A465-A811014E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1CD00-A620-4D12-83AF-CA383C98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021E3-37A6-4E3F-9E36-0D9ED31D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847B3-37EE-4D78-89A6-03792FC5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721F7-0A3C-48AA-AFE8-67EFD930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572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amount_krw에 빈칸 12개가 들어 있습니다.</a:t>
            </a:r>
          </a:p>
          <a:p xmlns:a="http://schemas.openxmlformats.org/drawingml/2006/main">
            <a:pPr marL="266700" indent="-1270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processing_ms에 미측정 18개가 섞여 있습니다.</a:t>
            </a:r>
          </a:p>
          <a:p xmlns:a="http://schemas.openxmlformats.org/drawingml/2006/main">
            <a:pPr marL="266700" indent="-1270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날짜는 CSV에서 문자열로 읽혀 datetime 변환이 필요합니다.</a:t>
            </a:r>
          </a:p>
          <a:p xmlns:a="http://schemas.openxmlformats.org/drawingml/2006/main">
            <a:pPr marL="266700" indent="-1270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12개 파일을 합친 뒤에도 source_file로 출처를 남깁니다.</a:t>
            </a:r>
          </a:p>
          <a:p xmlns:a="http://schemas.openxmlformats.org/drawingml/2006/main">
            <a:pPr marL="266700" indent="-1270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같은 가맹점 ID가 30번 반복되는 것은 거래 로그이므로 정상입니다.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F4075-9C12-4F65-836A-21CBA76E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572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0B4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3E01D-415C-46D2-A6C1-E6626C86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오류를 없애는 것보다 무엇을 왜 고쳤는지 확인하는 습관이 중요합니다.</a:t>
            </a:r>
          </a:p>
        </p:txBody>
      </p:sp>
    </p:spTree>
    <p:extLst>
      <p:ext uri="{BB962C8B-B14F-4D97-AF65-F5344CB8AC3E}">
        <p14:creationId xmlns:p14="http://schemas.microsoft.com/office/powerpoint/2010/main" val="18661166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32BC8-2631-484D-866A-4292F9D9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248DA-82FA-4451-ABC9-D4FCE2F1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과제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12C9B-007B-46E6-889B-56F0F8BF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과제 데이터가 이동하는 전체 과정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57B30-A2CB-45AF-9C87-71EC691C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86AB7-BAF1-4218-AB74-1D9C3EED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42AAB-A6EE-4B19-B569-5B93B1E6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20DD2-86CA-4275-BD6D-1FC279FC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6205842ab4cb1"/>
          <a:stretch xmlns:a="http://schemas.openxmlformats.org/drawingml/2006/main"/>
        </p:blipFill>
        <p:spPr>
          <a:xfrm xmlns:a="http://schemas.openxmlformats.org/drawingml/2006/main">
            <a:off x="2240951" y="1619250"/>
            <a:ext cx="7700573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199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124180-A886-451E-B9EA-3094206A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A177C-AE72-4268-9398-63B54B95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개요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19BA7-2505-4DF8-AC5D-D265D8EC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원천 로그 12열의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AD7EF-A509-4028-8E42-EED3CB9C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EC48F-6FEC-4076-A4A2-8E4C8BF6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E0330-AE78-4F7E-A246-D4AE07C5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BF3FB-9EF4-4EE2-8754-E63E2E65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872AE-3789-43CC-8AD8-F53947E4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transaction_batches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3254B-E4FD-40FB-B857-3D7C0ACC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식별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09A1D-0490-43E6-99EA-72393623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336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transaction_id · merchant_id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58AB4-3B58-4D1A-A00B-8B3AC52D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336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D3A2B-F969-4868-A1FB-F2788EF3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시간과 채널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27461-AB72-46DF-BCE2-FD9D164D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765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transaction_datetime · payment_channel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855DF-A4E8-4E1B-B516-E85EB931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39310-113C-435B-AC26-8B48A348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금액과 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CE723-09B3-4172-B711-8369A65A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194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amount_krw · approved · refund_flag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E4DFD-98BF-4F0D-B2FC-F8AE8F73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4E9B7-8E83-4B9A-BDD2-6D0E1BF0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처리와 위험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9C9252-BF8F-4579-8825-26279E1D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624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processing_ms · risk_signal_count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08813-7F00-41BF-8253-0D4A9C22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624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4A239-8537-4DC2-8A8C-2787D94F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F0EDE-0631-4178-B519-891878B5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053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country_code · source_system · source_file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F14827-F3B6-406C-B01B-9AD8EEC8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4AF19-9DE6-4D4C-B1AA-8DB0ED85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054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한 행은 한 시점의 기록입니다.</a:t>
            </a:r>
          </a:p>
        </p:txBody>
      </p:sp>
    </p:spTree>
    <p:extLst>
      <p:ext uri="{BB962C8B-B14F-4D97-AF65-F5344CB8AC3E}">
        <p14:creationId xmlns:p14="http://schemas.microsoft.com/office/powerpoint/2010/main" val="15782646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1E3EE-375F-4E2F-A7B9-E242415A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EAA6D-5B44-449E-81AB-8E544FE3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01/12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C8035-5609-4522-9FC6-9E7BF755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transaction_id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68940-ADA6-4972-A90C-2D2C8439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12755-F6B0-4C9C-B66C-36FF7A06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F6CD1-136A-4E27-BEBC-12D1FE93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890BF-2F3F-4A2B-A4B3-13E57AAD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F4641-9A49-4B75-8036-AAF2E7E9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0E798-A2F7-4491-9364-CE70262F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transaction_id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1BF8F-0705-4361-A12E-E6703CEA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04319-0654-4533-9788-7E87DEF1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4CDD3-D890-4493-A708-C11A141F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TX0003099 · TX0002532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D1435-3D39-4A7B-9128-712A79CD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AE161-2D7E-4A2B-9A0B-6D2A13F9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배치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511FC-AA29-4B8F-B57F-80E88E9B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202E3-EF6D-42AC-B38B-08DB5B3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한 건을 구분합니다.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791B4-4994-464B-B0F3-542739EF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20FA5-25A4-4DC8-8CC7-3F682B27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7,200행에서 모두 고유합니다. 가맹점 ID와 역할이 다릅니다.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95785-CF41-4F03-AD88-DD950F6D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FDB04-054D-4AF4-A8AB-4181159D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거래 중복 확인</a:t>
            </a:r>
          </a:p>
        </p:txBody>
      </p:sp>
    </p:spTree>
    <p:extLst>
      <p:ext uri="{BB962C8B-B14F-4D97-AF65-F5344CB8AC3E}">
        <p14:creationId xmlns:p14="http://schemas.microsoft.com/office/powerpoint/2010/main" val="14945756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34505-D7AE-4032-B6C5-68ACE414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D9641-7AB3-429C-99D3-15D84FD2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02/12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9AF95-1DC8-46F3-93D3-3804A16C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merchant_id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DEDB3-2C9E-489A-A821-0D3AF6D9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71739-5A17-4924-BDEA-7E699A78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98C9B-E095-4A24-B23E-BD049300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2AB5C-35B9-4225-ADE0-B01A3051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D8355-1C54-4F07-A9A5-EC78EAB0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5CAEA-5FB2-4C30-BF81-EBCAE964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merchant_id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CF861-3746-4520-9911-20E7CAE7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04D3E-3024-400A-98B5-51E46552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C0C30-80F3-4F87-AB44-69E23F12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MC0104 · MC0085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830B1-37DE-4E1A-9794-8E7B830E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87A5E-8D8F-493A-BDC1-6C0C6DCF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배치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9B732-4611-41A4-90EB-2F6B56A4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A6039-22B2-487E-BB60-A74E09AA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같은 가맹점의 30일 거래를 묶고 기준표와 연결합니다.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12FE25-692C-441C-B6AA-3CC51475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98B6A-8E05-427B-9DC4-68CC29B4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240개 ID가 각각 30번 반복되는 것이 정상입니다.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49F39-D5AD-4C95-AFCF-8D162312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6597CD-17DC-4FB0-BAB1-815FA1A7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groupby와 merge 기준</a:t>
            </a:r>
          </a:p>
        </p:txBody>
      </p:sp>
    </p:spTree>
    <p:extLst>
      <p:ext uri="{BB962C8B-B14F-4D97-AF65-F5344CB8AC3E}">
        <p14:creationId xmlns:p14="http://schemas.microsoft.com/office/powerpoint/2010/main" val="10326298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056BE8-2AA1-4324-BB10-A0318E37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F4DA6-33F8-4F31-BF26-9D148763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03/12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26BF5-7566-4CC8-818B-13DFD43B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transaction_datetime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0646F-207E-4A55-869A-EF16C36D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43020-32AB-4382-BB9B-FC367849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8D49F-753E-4896-B70C-795511FA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B7238-5FA5-4DEA-8C66-0FEA67F7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0384C-FB44-4152-BC7F-84E7AF3A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시각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3C063-2725-435A-9885-652B1B7C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transaction_datetime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87B45-4397-43AC-BA67-3EC3E89C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287E4-6FC1-4215-87D8-91C74366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9DD34-3B01-4ABC-BB4E-853376C5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2026-08-09 04:03:00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9C2FD-646C-4462-9F1E-F5CD0CF7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CC399-4AFD-4FBF-8FEE-CA8EE089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읽은 직후 문자열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배치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D153C-ACD2-408C-A56D-20C9511E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54ACF-8146-4E81-91AF-5F07C6BE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거래가 언제 발생했는지 알려 줍니다.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4CCC0-D615-4362-9FA0-52917F46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9165AB-7842-4E1C-B163-6BAAACAA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시간 계산 전 datetime으로 바꿉니다.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5DB05-15DF-402E-A678-5AC668FE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EA65E-9E6E-4DB6-9342-9FAE23EB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pd.to_datetime</a:t>
            </a:r>
          </a:p>
        </p:txBody>
      </p:sp>
    </p:spTree>
    <p:extLst>
      <p:ext uri="{BB962C8B-B14F-4D97-AF65-F5344CB8AC3E}">
        <p14:creationId xmlns:p14="http://schemas.microsoft.com/office/powerpoint/2010/main" val="18964877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B96831-38A2-41B5-B334-23CAF1DA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0C625-D7A6-4D0D-A4CE-2335386B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04/12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E521D-7998-4279-B77B-C2529A44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payment_channel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69287-A020-42AE-AF65-5D7DBA5D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026C5-FB00-4FEF-855E-F1F049FC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69F65-A776-4C85-B28A-83171968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164B7-16BC-4728-8495-54CD1C25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95CDB-6D70-4DCD-84EC-84E9ADD2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결제 채널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7826D-A6AC-4DDD-8AEB-4CD256AF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payment_channel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BC018-CEC6-4876-A7A8-6C04C06A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E5398-2710-463E-81C9-9D270009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34D11-A700-494B-ACB3-2935694F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오프라인 · 웹 · 앱 · 정기결제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06885-2EDA-4E6A-8112-6A47A433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E06EA-A62F-4BC4-BC4A-5DA6D601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배치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F0F3C-5F33-4DA8-9FEC-39041021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B858C9-A8CE-41C2-BA53-04D4A6FE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거래가 어떤 통로에서 발생했는지 구분합니다.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5026A-7466-4E89-800D-602510CC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57CC0A-FF6E-4D1A-AE7C-D886B960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숫자가 아니라 거래 유형을 나누는 범주입니다.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2D965-CEA5-4B06-A787-35047843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87506-9274-4F3F-B6C3-15651958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채널별 비교 확장</a:t>
            </a:r>
          </a:p>
        </p:txBody>
      </p:sp>
    </p:spTree>
    <p:extLst>
      <p:ext uri="{BB962C8B-B14F-4D97-AF65-F5344CB8AC3E}">
        <p14:creationId xmlns:p14="http://schemas.microsoft.com/office/powerpoint/2010/main" val="4572412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75147-98C7-4A15-822C-AD542D5B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528B2-EBFE-46C2-9A7D-DEC3F9FE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05/12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AFD12-D5D8-424B-B313-2AC038B3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amount_krw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48837-52A3-4E52-817A-203B3965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CFB5F-E584-4CAF-9A57-CCC30C9A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C7020-3304-4A4F-8E91-9D58912E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3264D-4E3F-4B73-8D94-B6DAA933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D4788-1725-4DFB-BEEB-2F76EE2A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금액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5959D-35CF-4950-B1CC-413EDDFC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amount_krw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84519-8D13-443D-9C68-3016A184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B3356-96C0-4736-B742-2F065BEB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A48EA-85FF-44B5-A835-E15E3DD7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83,838원 · 140,956원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01E79-B8B2-4E9B-AEA4-9A96CB14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EAF73-C54D-41AF-A2E7-E63F1E4B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배치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DD737-B043-4F3B-B79C-5C554D24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6E160-92F2-460F-AD27-330E6819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한 건의 금액입니다.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9C439-97DF-4853-AE89-DD6977C1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30E56-DDA0-4B1C-AABD-DB059131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빈칸 12개가 있으며 0원 거래와 뜻이 다릅니다.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29568-57CC-4991-BE42-FF7FBFDF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7F234-6196-421F-8F02-5AC827D6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결측 확인 · 합계와 평균</a:t>
            </a:r>
          </a:p>
        </p:txBody>
      </p:sp>
    </p:spTree>
    <p:extLst>
      <p:ext uri="{BB962C8B-B14F-4D97-AF65-F5344CB8AC3E}">
        <p14:creationId xmlns:p14="http://schemas.microsoft.com/office/powerpoint/2010/main" val="5716560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CE512B-A936-495C-B213-04CFC5EF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F18BB-60A2-42F0-8891-F6CC6262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06/12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23415-B161-4FF6-BCA6-97095B30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approved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4C7BC-4B4C-4846-987C-8F7F2E73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C2AD5-E857-4660-9474-0E7F2801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15CD8-81A0-465E-8A0E-6CF089AA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0CAB5-18A2-4B1E-9DDD-2423E274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F9B1D-9364-4AA1-84FE-BEBB99D1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승인 여부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F8097-F749-4290-8F2C-3938328E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approved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3FEE8-48FA-4CF5-AE9D-05FB82C6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E0280-90E2-48D3-8A7A-6A022CE7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A846A-EFA1-4865-956C-35615AE0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True · False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1E70D-00CB-4A3E-A98F-66CC2E75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EEA7E-910B-44D6-96B9-795B6704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불리언 · bool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배치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611D7-666B-42E1-A005-C7905A75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8D605-6E41-499F-9D3A-A6EC5236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결제가 승인되었는지 보여 줍니다.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B0A62-CD3C-433D-97DE-AF69FE64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326C7-8FD3-4F35-A646-4670C10C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True 평균은 승인율로 해석할 수 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B56FA8-614C-4CC8-912B-5A90661B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68281-77FE-48CF-B9C6-2F8ACCC9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mean · approval_rate</a:t>
            </a:r>
          </a:p>
        </p:txBody>
      </p:sp>
    </p:spTree>
    <p:extLst>
      <p:ext uri="{BB962C8B-B14F-4D97-AF65-F5344CB8AC3E}">
        <p14:creationId xmlns:p14="http://schemas.microsoft.com/office/powerpoint/2010/main" val="3706092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23305-B0B7-4426-A605-EBD1A187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219F8-4D59-4C47-B914-2C2ED72A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07/12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0EDF3-2147-479B-818A-024696D8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refund_flag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49919-09F9-4FFD-95E3-309D8B92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B1F2F-A562-486B-8D32-D4A98214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4F486-722B-4025-872E-B0BF7291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E0EF7-B313-4334-9FA5-89DA9C45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1853C-3157-4EAF-B6A1-73B29CF4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환불 여부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9FDC4-1454-458F-8590-8F6B4EA4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refund_flag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70FEC-CF0E-4ABD-A4EC-30A7ACFA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ECF9D-16AB-4660-8B60-DA1AAA40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D3D7F-F28F-424B-9D52-A7EF98C2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False · True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98B2B-0306-4E6E-BE99-3F9952B2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6CFDC-DA4D-4440-8B68-CAE2C427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불리언 · bool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배치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CF874-AA9B-4C53-91D6-92FD6774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85ED7-B8CC-4FFD-A433-9F7D205B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거래가 환불되었는지 표시합니다.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3D332-819D-404C-8C4F-30907CF8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31301-D81A-40BE-BA1D-8F0EC6F7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기준표의 장기 환불률과 최근 30일 환불률은 다른 열입니다.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76FE2-81C7-492B-9A54-48AACE26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576A85-3EC1-448F-8127-264FF84D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mean · refund_rate_30d</a:t>
            </a:r>
          </a:p>
        </p:txBody>
      </p:sp>
    </p:spTree>
    <p:extLst>
      <p:ext uri="{BB962C8B-B14F-4D97-AF65-F5344CB8AC3E}">
        <p14:creationId xmlns:p14="http://schemas.microsoft.com/office/powerpoint/2010/main" val="11479523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34068-7F46-409B-B8EC-80A4A552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E08A3-9BEC-4008-8A66-ED557A1C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08/12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4EFA0-CD11-4979-B00C-704856F8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processing_ms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DD89B-FD4E-4628-A22B-A8AC2049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9BC60-6418-4C84-92DF-A062C291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0BF1D-414B-429F-8CF8-75610D44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37EE6-A397-41A7-9F0B-AC4BF0DB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5FCAF-D2C9-4F7E-8C33-D35822F4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처리 시간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B8F25-57A2-4E8E-AEE5-1B536481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processing_ms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A98CC-7278-4623-8F22-AFFAEF6D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3273B-BB52-4AEC-95D7-CF5CB04F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6833E-9F7A-450A-85A6-D2193DE2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444 · 301 · 미측정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88A12-27F4-45BA-81BB-74CBBAFE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533B7-BA01-43D1-A6F6-0B804ADF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혼합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배치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1B771-8788-4BD3-A170-B5485F0D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98954-4BCB-4ECF-BD1A-91752DE1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결제 시스템이 응답하는 데 걸린 밀리초입니다.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E08D6-AB06-47A0-B0C2-850BDF55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D1B3BE-3ADE-4C09-B8B9-D6C95907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미측정 18개 때문에 숫자 변환이 필요합니다.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4A528-7487-4061-9D7B-51AE2981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6B133-C498-4B72-B36F-F6CB3F28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to_numeric(errors='coerce')</a:t>
            </a:r>
          </a:p>
        </p:txBody>
      </p:sp>
    </p:spTree>
    <p:extLst>
      <p:ext uri="{BB962C8B-B14F-4D97-AF65-F5344CB8AC3E}">
        <p14:creationId xmlns:p14="http://schemas.microsoft.com/office/powerpoint/2010/main" val="21145677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52483B-C951-46A1-8D54-12EA12D9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629A8-DD29-47E2-820A-B8C09847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09/12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1CB8A-4EC5-496B-8CC6-EDFCBF5C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country_code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93340-C8FF-4EF5-B3E5-6740C7E5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0782C-444A-4E46-8945-C07694C8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7AFEC-9F94-4FE3-9173-1F362A01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11787-E42B-44D2-BD18-3A98166E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99445-5048-4BBA-A7C3-4D0E1C48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국가 코드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3BA0A-3571-4366-B00D-CB05B7CC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country_code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081E4-7580-49D2-B942-430C639E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52F32-F5FE-45A4-A3FF-32E821F1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7039A-2A70-49EA-9B09-672C0BC8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KR · JP · SG · 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7CE64-74F5-44E8-B8F5-78557BB1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AF601-C36E-46D3-9C29-FE907FB8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배치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E0408-44F6-4E36-9FF2-5E7B9AA6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6473F-F2E2-4AFC-99EC-3B4C9468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거래가 어느 국가에서 발생했는지 간단한 코드로 표시합니다.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BB429-C1D3-4111-B6D9-98F9D14D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953D7-0088-43F4-9E4B-9BF08DC5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KR이 아닌 거래를 해외 거래로 세는 교육용 규칙을 사용합니다.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20F0D-89E1-4103-9AC0-458EC42F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6C6DD-3420-4630-9F16-29957855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cross_border_count</a:t>
            </a:r>
          </a:p>
        </p:txBody>
      </p:sp>
    </p:spTree>
    <p:extLst>
      <p:ext uri="{BB962C8B-B14F-4D97-AF65-F5344CB8AC3E}">
        <p14:creationId xmlns:p14="http://schemas.microsoft.com/office/powerpoint/2010/main" val="13070192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B5CE8-7953-4EFD-977D-68F2E27B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CEAB8-7F1B-4F44-8C57-6F1801A2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10/12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EF136-6563-42E3-86F1-46496DAC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risk_signal_count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631C2-DB5E-4B0C-B48A-155D5190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8F3E3-C3DF-4267-B220-66CBF18D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7E74C-4EDC-4253-9F68-7CFA3757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ADA94-769F-4D53-A400-57F7B794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15E47-034E-4B90-B7BD-754270A8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위험 신호 개수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63F9B-2D79-43D6-856D-83F13B90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risk_signal_count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024AE-E7CE-4D50-82A4-FC54530E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84C4B-5277-4A67-A6F4-104DB0BB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54170-E3CF-4CFF-A6AA-EAFE5112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0 · 1 · 2 · 3 ·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49EBB-9A24-4A7D-ABBF-261439DA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E6B94-E2F6-4352-9FC4-A620A8E8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배치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EDB99-86C9-458F-BC14-79285C76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0C64E-D712-4CBD-9873-1434E2ED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한 거래에서 감지된 위험 신호 수입니다.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766DF-82A8-408F-A456-36FA87AA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B7FB1-F5E4-4F1F-B5F0-97795D42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0도 위험 신호가 없었다는 의미 있는 기록입니다.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00D21-5E84-4E3A-BD86-CEACCD56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1E4A8-0ED8-4DFD-878E-02C0BD68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sum · risk_signal_total</a:t>
            </a:r>
          </a:p>
        </p:txBody>
      </p:sp>
    </p:spTree>
    <p:extLst>
      <p:ext uri="{BB962C8B-B14F-4D97-AF65-F5344CB8AC3E}">
        <p14:creationId xmlns:p14="http://schemas.microsoft.com/office/powerpoint/2010/main" val="13069670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E85E9A-D9AD-4511-9D72-BD115D2B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15257-D369-4A4A-A581-53C9B74A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11/12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0DD9F-024C-4E23-AEF3-5E20F89A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source_system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80CDA-90C2-4B99-AE64-A745427B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AF461-930F-4F0C-84FA-FEA6ED83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3CFC6-6D09-402C-A659-BD4EAF1C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A1639-8305-456D-B3D2-ED4573E6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95953-5840-4E9A-8E1D-3227CF08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출처 시스템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CF1CF-02A3-4013-B430-CAAF8732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source_system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70DA2-BA06-4E74-944D-5DFBAD38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F5F8E-1805-4A31-AD39-617B055C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DAF9C-8E75-40F6-9444-C8E81B9A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gateway_a · gateway_b · pos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8037F-803E-45D5-ADE1-C32BB58A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BCE22-D99F-4D70-AED8-66039E9D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배치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7A2B3-A2CA-4616-A45E-43643297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F78D2-64AB-43BB-8240-A1A7FE90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기록이 어느 시스템에서 들어왔는지 알려 줍니다.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AC8F8-6742-4A9F-AD67-4A46D84D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DC6C4-BD6D-4688-ADF7-80EB9E68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파일 이름과 다른 수준의 출처 정보입니다.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FBD7F-B88A-4A7E-891A-5E4B5B0A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54AC5-809B-4F0D-8383-AFD2161C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시스템별 오류 분석 확장</a:t>
            </a:r>
          </a:p>
        </p:txBody>
      </p:sp>
    </p:spTree>
    <p:extLst>
      <p:ext uri="{BB962C8B-B14F-4D97-AF65-F5344CB8AC3E}">
        <p14:creationId xmlns:p14="http://schemas.microsoft.com/office/powerpoint/2010/main" val="12603250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39FA95-2C40-4848-ACAE-F31FB6E6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AA26A-3AF1-479D-B533-859B756B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12/12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B539A-0EE8-4029-8D3A-134E0634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source_file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1D21F-33E1-4B88-843F-0EE16BA0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4F1C5-8CF8-4907-939D-21A07306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E1EC8-F0B0-4666-8AFF-7BDD033B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5D273-5FCE-45F1-B5B6-A70BB929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604D5-A80A-4690-B318-334EE538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원본 파일 이름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FEE8B-5BBB-4686-9ECE-2A32C12E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source_file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CD5E9-A7C8-4D43-A7BF-C7989C5F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05AF3-98FD-4332-B2D9-6E2D7E6A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0E37C-12C3-4157-A66E-884059E7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transaction_batch_01.csv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5DD37-8491-43D4-910D-968CF652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EEA62-3BC0-4C6E-8540-91AC0F39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Q2에서 새로 만드는 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AFDFD-425F-4259-BA93-8F32DC46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FFF15-2914-4DC8-8518-0371B512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문제가 생긴 행이 어느 배치에서 왔는지 추적합니다.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A7D22-FEE4-4682-A1BF-B3E4D4DA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2B800-CBF7-4A31-9EEF-8DB1F6F8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CSV 원본에는 없고 파일을 합칠 때 코드가 추가합니다.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2067E9-E58A-4CA0-8A0D-C9CBCCF7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85D66-58B3-4337-A70F-DB28C59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file_path.name · 추적</a:t>
            </a:r>
          </a:p>
        </p:txBody>
      </p:sp>
    </p:spTree>
    <p:extLst>
      <p:ext uri="{BB962C8B-B14F-4D97-AF65-F5344CB8AC3E}">
        <p14:creationId xmlns:p14="http://schemas.microsoft.com/office/powerpoint/2010/main" val="3939530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A925BF-D127-453D-91B1-38AC7603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DCBF4-B7EF-4E21-AB55-74344469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개요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A9F18-984C-4CF1-A89A-83F56BBA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최종 요약표 26열의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D2631-AFB2-43D3-B003-2C1F2B4B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27C00-42E8-48F3-9DB4-F1E776DA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9B0EF-9642-4763-AF59-652BFE26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49C0F-621A-44EB-B74C-B31C08BE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1A483-47BD-4066-827A-251E842E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finance_merchant_summary.csv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DB02B-9A54-4480-A269-6E4851A7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0B6DA-71B4-4E72-AC25-B06E369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336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가맹점 기본정보와 manual_review_required 16열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0CF13-44F2-4845-BCC7-95976965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336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870C0-2489-452C-80D6-A6B440AF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로그 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B1811-F443-4099-8FED-2A4D2C92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146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transaction_count · active_days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18F57-7CC2-40A1-972C-F33D56D5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4F45B-351C-4DAE-86AF-CF847E49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거래 대표값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7F8F0-EC5D-4EC5-9572-CAF90CB6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956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total_amount_krw · avg_amount_krw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D2AF5-1445-4B28-AC7F-7FD80C61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9572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A172B-5332-466F-8395-58CB62BE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운영 비율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2DE2DA-5C2A-4958-9E02-98A4FD3C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767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approval_rate · refund_rate_30d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6C3634-B1FC-42CA-9883-F5FED117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767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9CD91-7583-4C76-80EC-A5BA9B55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위험과 속도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678FB-1EFD-4E6B-974D-D8D039A2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avg_processing_ms · risk_signal_total · cross_border_count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FD7CF6-CC36-4BC1-9F85-C33E1845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577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C68D0-BEA5-45C8-894F-81F0B5FD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최근 시각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4730DE-5226-4018-9289-1BAD11C3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387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latest_transaction_at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410B85-E2D5-4A80-98FE-9CA5E674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2E35F9-DF48-43E8-B662-D9506908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054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한 행은 가맹점 한 곳입니다.</a:t>
            </a:r>
          </a:p>
        </p:txBody>
      </p:sp>
    </p:spTree>
    <p:extLst>
      <p:ext uri="{BB962C8B-B14F-4D97-AF65-F5344CB8AC3E}">
        <p14:creationId xmlns:p14="http://schemas.microsoft.com/office/powerpoint/2010/main" val="17900516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AB41C4-32B3-44C5-8D90-E98BA0A0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2E68A-B5D3-40BF-8CD8-4977AE08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01/26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35F99-D41D-430B-9ECA-361D2BF8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merchant_id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7A572-5FEE-43D4-8521-5A38F664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8EB8A-7FBC-43D4-8730-B093170C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755F4-CADD-4125-959B-5343DA0B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F76B2-B6F3-4FF7-A304-B7F7AAAA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A3BD8-13DA-4498-947C-4B97EA84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CC80A-CD21-4809-8BE9-6DFDD363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merchant_id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0546E-1D43-4776-BE27-AB3E3F65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68615-4290-4AA0-B842-63E3849A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332DF-603D-4EEE-B44F-E25C83BC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MC0001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0AC9E-AC92-4A33-856F-5E94B8F5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10F29-8A45-486E-86D7-AF9F6BF7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85EA9-AEB5-4DF2-B91F-177254E7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BCFCE-9F15-46A4-B35D-75CD9281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한 곳을 구분하고 거래 요약표와 연결합니다.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992D4-AE93-47CA-A82F-7965FF61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E34C8-D439-46B5-82A3-B0D16786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최종표에서 고유값 240개여야 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A10C07-7567-4697-8857-B39DA865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F3ED7-C848-41E8-ABFF-5C4F6439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merge의 on 값</a:t>
            </a:r>
          </a:p>
        </p:txBody>
      </p:sp>
    </p:spTree>
    <p:extLst>
      <p:ext uri="{BB962C8B-B14F-4D97-AF65-F5344CB8AC3E}">
        <p14:creationId xmlns:p14="http://schemas.microsoft.com/office/powerpoint/2010/main" val="1273763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33237-3B1B-4B9E-AD4C-05D30619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90E87-927F-419C-AF23-17B953ED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02/26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A4975-14FE-4074-A357-20DF80BF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merchant_name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038FA-E6C3-4E62-A562-C7E9A102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3703A-7DD8-4534-AD93-B7680897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232E6-EEE5-4240-9E68-833F4C60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42586-E438-404A-B5CF-40FC01CC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3D8B8-5BA1-4CC9-A669-AF43DFBB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이름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52182-E19A-4A79-86BC-8E80B851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merchant_name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91B5E-8FCF-4268-806D-C63C16BA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05C18-07C6-4FD1-A3DC-BBC3277A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EFE27-D34F-4C80-B022-23AABAFB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가맹점-001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FEC3F-CDC4-4CCF-9A54-9A268188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191F7-2EF9-436B-A919-C9F7C43E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C1822-B900-456D-818D-DC5FBD0C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DC3D6-73CB-42D3-B848-1AD10974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운영 담당자가 가맹점을 알아보기 쉽게 표시합니다.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1F63A-F691-4C81-AD48-43A3915A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0FEAF-9D73-4BA1-8C55-5D1648EB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결합 기준은 이름이 아니라 ID입니다.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109A7-E050-417C-B676-6D9E699C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D7593B-4882-4C4D-A973-C5EB0A8A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화면과 보고서 표시</a:t>
            </a:r>
          </a:p>
        </p:txBody>
      </p:sp>
    </p:spTree>
    <p:extLst>
      <p:ext uri="{BB962C8B-B14F-4D97-AF65-F5344CB8AC3E}">
        <p14:creationId xmlns:p14="http://schemas.microsoft.com/office/powerpoint/2010/main" val="11888461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65AC8-3A60-46A9-9B09-92F608CC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C1955-1C3C-4B2B-B076-3010D1F8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03/26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8A55B-751E-4A80-A5F7-72819A1F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industry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8BDC4-B40E-4E75-9936-44492CE8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418A1-8BF0-483F-8B80-734C733A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2B61D-5951-4E99-B44D-674F8551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DE1F6-497D-451A-815C-4F0EC192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94DD4-5990-44C1-92EC-E2660A84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업종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84909-BD10-4BFC-BFE2-DC13161F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industry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A4AE3-93A0-4D05-897B-1F9A5DD7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8B412-A033-4A4E-A6E7-AE5107E7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CBC6A-6EAE-465F-A1F7-757DBD32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여행 · 외식 · 쇼핑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22595-A7B4-4362-8B26-2D6AB4FC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55358-0C04-4BAE-B0E1-3FBED5AF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BE71E-72E9-431A-8E47-9A759B2C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CC735-0C8B-4436-86EE-A77087C7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업종별 거래 형태를 비교합니다.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AD7FD-8242-4B63-BE75-12D74CD0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7AD35-5DAC-4A88-B739-88AA0389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이번 전처리기의 범주형 입력입니다.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82FDE-66DE-4DFD-A01D-EBA480C6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D42AD0-35BA-4CBC-9E2C-6BDDA85B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OneHotEncoder</a:t>
            </a:r>
          </a:p>
        </p:txBody>
      </p:sp>
    </p:spTree>
    <p:extLst>
      <p:ext uri="{BB962C8B-B14F-4D97-AF65-F5344CB8AC3E}">
        <p14:creationId xmlns:p14="http://schemas.microsoft.com/office/powerpoint/2010/main" val="4065754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61BCA-7FA7-4F10-903D-13AAA1BC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3CAB1-DF46-41F0-80A9-9DF15059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04/26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BAE53-EA55-4586-AF8F-13C68A2F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region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B3DB9-95FB-4D5A-8D60-19BE5B40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CB91E-27FA-46BB-BF51-29D24993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B7E76-A4A1-4C17-84C6-8DBF48CC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CB886-810F-4E7A-8634-99D0FE64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6F50A-3961-429E-B259-F638C906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지역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A660F-CB93-4F62-BE3F-61A9A868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14064-8602-4A69-93D7-D9C444C8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7EDC7-7742-4096-B5EE-151AAFF9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5A15F-6376-4198-8FE6-E5687809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서울 · 경기 · 부산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66ADE-78DD-4DF2-8854-0CEE5D70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82074-68F3-42EC-8783-7212F7FE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정제 기준표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D9EF5-1506-4AA0-BCC6-B195B24D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25B3F-B3C1-41E3-903D-18F54772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지역별 거래와 검토 업무량을 비교합니다.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808C6-0E66-4ADF-ABAA-46A03278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769A4-0791-4474-9465-37144B88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1주차에서 표기를 정리한 값입니다.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952D5-CF1F-4C3B-B912-1362AC4C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6A5C05-638A-495C-8494-45D14464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범주형 입력</a:t>
            </a:r>
          </a:p>
        </p:txBody>
      </p:sp>
    </p:spTree>
    <p:extLst>
      <p:ext uri="{BB962C8B-B14F-4D97-AF65-F5344CB8AC3E}">
        <p14:creationId xmlns:p14="http://schemas.microsoft.com/office/powerpoint/2010/main" val="180125014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F51E45-9EAB-41CB-8A2F-2AD74198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86BFF-EE44-42BD-909E-F7EA4708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05/26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7CA53-6884-4C2B-AFFA-93777F54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account_open_date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B62C2-CBF3-4085-A106-DDE85313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D6FF7-93CE-4B79-B53D-E57C4F7F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6817F-40E7-40A1-9EE6-333BF1F5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68E95-9B60-411A-8737-152C5624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A6AD9-8869-4763-9D65-9FE80B74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계정 개설일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C3B19-16DF-4085-BCB5-4451771B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account_open_date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BA22F-FD38-4341-BD56-DF36383E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9ED1A-5E98-4156-9BE3-63AD6211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B3C5C-DFCA-4200-ACC0-2F0E5E45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2021-08-18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5493B-0457-4FE5-A98B-3C49EDED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CF52A-2B9F-49FC-8BD6-E81872AF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날짜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DBFE4-25F8-48D8-A1BF-8C4A6A56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F8068-5233-40C7-85B7-AEF1CE8F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운영기간을 계산할 수 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C8FFA-40C2-4FA1-9A1F-0672DC95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8BF6C-847E-4B50-9612-D4936B13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이번 필수 입력에는 포함하지 않습니다.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1C0EF-3E41-4ED2-B67A-AA17F67E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DBD81-63EC-4EC1-9F6F-F1F57996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운영기간 확장</a:t>
            </a:r>
          </a:p>
        </p:txBody>
      </p:sp>
    </p:spTree>
    <p:extLst>
      <p:ext uri="{BB962C8B-B14F-4D97-AF65-F5344CB8AC3E}">
        <p14:creationId xmlns:p14="http://schemas.microsoft.com/office/powerpoint/2010/main" val="23134162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ABD87E-F233-4ACF-A653-A250500A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27E55-4AE8-4DB7-A12F-336B0E9E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06/26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03B30-E9B4-4197-9F59-1B58370D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last_kyc_review_date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27A92-2BB6-42FA-B819-DBFB193F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5475D-6B90-47C9-8006-D7BBAF69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B0CA2-8F17-49F8-A58D-3880100B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11D44-E8A0-47EA-9B9E-6DB8DC01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C0171-D9EB-4B07-A26E-2530C964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최근 KYC 검토일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DF253-1F0F-434B-8C34-FDE7C434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last_kyc_review_date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59978-A406-4BEC-8708-87C0A6CF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DD1FA-7CD0-45C3-9773-38E82C93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77B51-D062-48CB-A1AE-796E1E9C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2026-02-19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91339-D91F-425F-892A-73ED5228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A621E-00A5-4420-9467-03FDDA96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날짜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694C8-F014-4FC2-88A3-546E6A4E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9A4CE-A6C8-496D-AD59-8530C1D8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고객확인 재검토 시점을 관리합니다.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26429-B09B-4ECF-AC18-ACF4A0EA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71A58-8886-4717-BD9A-19B1D9B1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최근 거래 시각과 다른 의미입니다.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C864B7-69C7-4B70-94FC-F19B28A9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A11AC-BC97-4DF4-8BDE-B5D631F1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검토 지연 분석</a:t>
            </a:r>
          </a:p>
        </p:txBody>
      </p:sp>
    </p:spTree>
    <p:extLst>
      <p:ext uri="{BB962C8B-B14F-4D97-AF65-F5344CB8AC3E}">
        <p14:creationId xmlns:p14="http://schemas.microsoft.com/office/powerpoint/2010/main" val="10896259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2A2BC5-9FA6-468A-84DD-89EBE105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3633C-3D80-4223-B59B-D3CCD94F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07/26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277B1-1AD3-49F6-9D4A-C56BA369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monthly_sales_10k_krw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3EC04-8724-4A2C-9982-AD021F93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DEE1A-A039-4A88-BA44-AB0A0B42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197E4-2E13-4D37-9608-7E52917E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FCD1F-A976-42D1-9F89-0336928E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1E4A1-9982-40B7-B266-15121F6E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월 매출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90B35-E397-4042-BFC9-88A981BA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monthly_sales_10k_krw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304A9-5A02-4B52-AF7C-D670EE7A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673CD-CDDF-4061-BBF7-191E8B85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DDC64-F48A-403F-98D5-32C57EB9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14,305만원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701CF-5183-43D0-89B3-A43BA082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10CB0-91B3-413E-AF14-AC43DC25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정제 기준표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D4E05-42F1-47FE-8C09-884D6D49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40534-C9F1-4492-AB9A-8249C211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가맹점의 월간 거래 규모를 보여 줍니다.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20462-3D60-47C9-B74E-3312EB13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425B4-CD8D-45BB-B7B4-9E0D2DBB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전처리기의 숫자형 입력입니다.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FB22C-D90C-4D74-8302-97BDC3B4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4BC58-58C3-4F76-8933-05C9FBF2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median · StandardScaler</a:t>
            </a:r>
          </a:p>
        </p:txBody>
      </p:sp>
    </p:spTree>
    <p:extLst>
      <p:ext uri="{BB962C8B-B14F-4D97-AF65-F5344CB8AC3E}">
        <p14:creationId xmlns:p14="http://schemas.microsoft.com/office/powerpoint/2010/main" val="19672213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C605EA-EA8C-49B5-BC26-FEC0CE71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CCA8C-1435-451A-98A8-7F41E3DB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08/26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B1273-3DE9-4D09-BC5B-CDFC6A0C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avg_ticket_krw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A49E6-59C0-4FA8-8373-927BAB24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196FD-B809-4B6F-B2E5-AEE894E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7B817-4DFF-4647-88E5-25D804E9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CCC3C-2CC1-4C23-8D2B-56C03E49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F9D95-7275-45DE-9F37-FDB3DB5A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평균 결제금액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62857-0363-480B-9A4F-DF486978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avg_ticket_krw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001D7-910F-46A0-B511-CE123939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624A2-7A31-45EC-89D7-B43A794F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D66F8-C0CA-4760-92D4-E7CF21AD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127,471원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6AF34-13DC-4EA3-AE5A-5713974B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65D3A-DB04-4858-9274-A94CB65A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9F808-397C-4290-9190-FD8C9228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C3A39-99AA-4AE3-BECC-629F3F5D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평소 거래 한 건의 평균 규모입니다.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41C00-2247-48DD-A2BA-F27152C8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FB3EE-CC2F-4F98-B937-0A2B213A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최근 로그 평균과 비교할 수 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FE7A5-4817-4A65-9158-84AB3762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81B85-3891-4748-80D2-0DC02B01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기준 대비 변화 확장</a:t>
            </a:r>
          </a:p>
        </p:txBody>
      </p:sp>
    </p:spTree>
    <p:extLst>
      <p:ext uri="{BB962C8B-B14F-4D97-AF65-F5344CB8AC3E}">
        <p14:creationId xmlns:p14="http://schemas.microsoft.com/office/powerpoint/2010/main" val="20516926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F5FC6-668A-4CAE-B590-8CAD8ED0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96184-2074-4F38-BCCA-D35D2AFC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09/26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9B830-74B4-4991-A863-B7F9ABFC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refund_rate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AEDA6-D5ED-435D-8EFC-6188F4A2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3A6DD-574C-4C58-A321-372C1E33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C814A-871A-4DA3-80FA-39DB6F80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FDDF0-8E76-4BB3-8014-B1ACF9F1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59258-F0F2-45BB-BE59-94555BA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기준 환불 비율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B0A5D-6B57-4946-AE53-D48332B7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refund_rate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2EF8B-7705-4374-BC49-913BEE42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9ACCA-763C-4B49-8559-0B43120B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E6C25-8A1D-4BDA-BDB6-87028B8F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0.0038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D54D9-BEB1-41AE-96AC-3A78F2E3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6486F-F357-4C09-8C44-9F9FEF69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정제 기준표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C9356-78B1-485B-9CE5-6D5165AA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4D0E4-8CA1-47AA-8909-84E8BDCC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가맹점의 평소 환불 수준을 나타냅니다.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60DB6-0757-4FAC-8441-B7D7FF77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9A0D3-F33A-4CA9-B499-F58C2453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최근 30일 환불률과 따로 관리합니다.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D60B7-E9DE-4DA4-A7D1-8F8D2369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B90E9-E9C6-488E-B7FD-D1736503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숫자형 입력</a:t>
            </a:r>
          </a:p>
        </p:txBody>
      </p:sp>
    </p:spTree>
    <p:extLst>
      <p:ext uri="{BB962C8B-B14F-4D97-AF65-F5344CB8AC3E}">
        <p14:creationId xmlns:p14="http://schemas.microsoft.com/office/powerpoint/2010/main" val="62544684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E689F-93D7-4931-960D-D5400A90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C1A8D-957B-4089-9898-41CE51B3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10/26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72CDD-07E7-42DE-9D88-82304909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chargeback_rate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ADF72-04F8-42B7-ACE2-49863B9A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4AA04-202E-45B5-ADFF-0E3571B9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FD110-1519-4B7D-8070-ABF62DD7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E802B-789E-4EFE-8C77-DA3BB966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89A70-521E-4AE3-8085-288CB93E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차지백 비율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B725A-C50F-4C0B-BD53-105C3E43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chargeback_rate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C4CCB-1314-4832-AE57-51540731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FFB4F-9ADB-4EDE-B672-8B93AFD5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7A933-45C8-48D7-BD7B-A7B22FC6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0.0049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0664C-1BCE-4E80-834B-B52A71DD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B193A-354B-466F-9E50-F71B2ED3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636B2-5814-4F0D-BFC2-D2912368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05D85-9479-4B28-8E8B-2828DBF6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고객 이의 제기로 거래가 취소된 비율입니다.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4EAEE-F725-4E32-A3A0-4A615084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5E467-5785-491A-97FF-C13F0F11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환불과 차지백은 같은 업무 용어가 아닙니다.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8CE69-66E6-4A1C-BFB5-87BA9D76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F111C-D52D-41D9-A509-9AFFEF90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숫자형 입력</a:t>
            </a:r>
          </a:p>
        </p:txBody>
      </p:sp>
    </p:spTree>
    <p:extLst>
      <p:ext uri="{BB962C8B-B14F-4D97-AF65-F5344CB8AC3E}">
        <p14:creationId xmlns:p14="http://schemas.microsoft.com/office/powerpoint/2010/main" val="94244073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B0128-E203-4614-BD4B-306E838F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BD47D-51E1-49A4-9D90-15A5CB56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11/26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A38A5-2A4E-45C7-A1E0-297AFF5F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kyc_status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1364B-FBFB-4FAB-80F4-EF2AB53C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7B2D4-AC4E-432C-999E-EF226E46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CFDF7-5418-4D4A-A06A-4DCBE60F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DB58E-BDD5-423A-B90B-15B204D3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AD681-9593-404A-835A-F2A5DDD6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고객확인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1E443-0922-4261-8A64-FECFC4A1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kyc_status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93326-AD2D-42FF-AE26-26D9CEAA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F4DF6-7428-4CA4-A688-25AF95D1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010AE-57AE-4528-854B-64E51351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완료 · 검토필요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F6652-8DD6-4B62-AF1A-6F8C771F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03E89-0D16-46D7-9F51-5C8DC2CA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61722-1F93-403F-BECE-566A330E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0DDE5-7AC2-4FC3-989B-EEFE581B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확인 절차의 현재 상태를 보여 줍니다.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441C5-EB46-4B63-9C17-51CE9839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8DFE8-A605-4CC4-8318-63125EBA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법적 판단이 아닌 교육용 합성 상태입니다.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CAA5D-F495-4278-A69A-39DA7ECC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659A1-404F-4802-8CDD-3FFF6314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범주형 입력</a:t>
            </a:r>
          </a:p>
        </p:txBody>
      </p:sp>
    </p:spTree>
    <p:extLst>
      <p:ext uri="{BB962C8B-B14F-4D97-AF65-F5344CB8AC3E}">
        <p14:creationId xmlns:p14="http://schemas.microsoft.com/office/powerpoint/2010/main" val="40738689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9B274-5848-4192-80AD-24919B2D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B5213-95D9-495E-AA54-0C36EED8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12/26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1C8B3-F5E9-4C15-8061-2023F0F9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risk_tier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E07EF-A514-47DD-916E-730662D8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85937-83F6-462B-A234-64BCB877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6CD41-DE7F-4C1A-A631-E185E794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4E880-6BF1-4F17-807C-14B86DE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61953-7CF6-40BD-B0B4-41B2D110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내부 위험 등급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0CC1D-F291-4AD9-8E94-9BBAB2FA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risk_tier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7803C-92A4-46EB-8C04-DBC1AEE8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9D90D-26D7-4843-AC30-5C0A5A52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3C949-FB91-4223-9ECC-58D1C041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낮음 · 보통 · 높음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B7C5D-6CCC-43C2-BF8F-3AAB0CE2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184B7-72BE-4963-AB46-A5F1250B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717D0-0C61-4E18-A8CB-715376DA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C04D6-D476-4F1A-8090-D46E9D79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내부 운영 기준에 따른 위험 구간입니다.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E29D9-4EB0-4E5D-9911-076B58E4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90E67-A9D2-4472-B869-FB0F12C3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이번 과제에서는 범주형 입력으로 처리합니다.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024DF-B991-4961-B472-9DE97D8E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7E2DE-6F62-4801-A016-AE089F01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OneHotEncoder</a:t>
            </a:r>
          </a:p>
        </p:txBody>
      </p:sp>
    </p:spTree>
    <p:extLst>
      <p:ext uri="{BB962C8B-B14F-4D97-AF65-F5344CB8AC3E}">
        <p14:creationId xmlns:p14="http://schemas.microsoft.com/office/powerpoint/2010/main" val="8111086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D779C-BB14-4F2E-886B-DAE843CE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0F745-20BB-4164-89D3-37347C54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13/26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0FA96-6EEC-4B80-A13E-DEFDFCFC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settlement_cycle_days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04CD7-A956-4812-8200-A2E10E11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BC16A-4C2B-4BF8-87C3-C16784D0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BA339-7325-4F57-933E-886B9343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1BA96-AF7B-42D3-ADEC-1A4BE7CC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A58B3-938D-4586-9AE4-4BED75FA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정산 주기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13979-16FA-4C54-B4A7-06951F50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settlement_cycle_days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A6F98-B92E-41D8-BC34-86D5B1BE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69083-5F62-435E-AB60-5879EB43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9F925-6D46-4049-84B5-5D4556E2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1일 · 3일 · 7일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EAA68-FB67-456E-97B0-5D269CD1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F2AF0-4CCF-461A-BC11-C1CF19B0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322F9-33B4-4E71-958B-62A08287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0C136-6721-42FA-BF7C-CBD441C3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거래대금을 며칠 단위로 정산하는지 나타냅니다.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1B354-B3C1-4DF2-8D86-EB1D725C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37D3E-AAB4-4C22-87F7-29202B76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이번 필수 입력에는 넣지 않지만 운영 조건으로 보존합니다.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9B55E-D797-4B3D-B9A1-59245E4C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A8E642-5721-44F1-9606-711D8738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운영 분석 확장</a:t>
            </a:r>
          </a:p>
        </p:txBody>
      </p:sp>
    </p:spTree>
    <p:extLst>
      <p:ext uri="{BB962C8B-B14F-4D97-AF65-F5344CB8AC3E}">
        <p14:creationId xmlns:p14="http://schemas.microsoft.com/office/powerpoint/2010/main" val="177289741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5A692B-4489-436D-A914-11ADD4C7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4E854-C2BF-412E-8189-5E580168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14/26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55B43-A5B3-44C1-BCFC-C97B35E2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support_tickets_90d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23B66-E21F-4B48-B3FF-02CB473C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EE046-39F3-4720-AA74-15444E17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80CB1-89BE-4B25-958D-CEA84B57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5D3F6-9867-4602-B9B2-D8088630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3D0AE-3BE2-4D69-A9A0-1F1F5365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최근 90일 문의 건수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3F93B-44B1-49BB-A74F-2DFFD6D9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support_tickets_90d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1C5E1-B32F-4CFD-81DC-D563A3F9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9F485-D13D-4ED7-BD9C-85336FFF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E7D86-6A61-482E-8911-9359A0C6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0 · 1 · 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87E66-FD13-4B22-A96D-8E612641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C544E-E245-4FF5-846B-E22042B4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AE8E8-412F-45D4-B157-F762544B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E9F5A-57E1-440E-8E21-CFF04C61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최근 운영 문의가 얼마나 있었는지 보여 줍니다.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42CAF-A2C0-40C3-822C-F927996B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67F75-EA8D-46BB-A744-2511ACA6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0은 문의 없음이라는 기록입니다.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8EB24-D98B-4582-B80B-DCD19C2A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095AF-F059-49DF-A58B-100292F6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운영 분석 확장</a:t>
            </a:r>
          </a:p>
        </p:txBody>
      </p:sp>
    </p:spTree>
    <p:extLst>
      <p:ext uri="{BB962C8B-B14F-4D97-AF65-F5344CB8AC3E}">
        <p14:creationId xmlns:p14="http://schemas.microsoft.com/office/powerpoint/2010/main" val="46794969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C65E4-29F9-4C63-8263-5838E742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131D8-F839-47E1-9D9A-916E0303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15/26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83AA0-03DA-4236-BBFA-6EE4BDE9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active_status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43F0C-8467-4D83-94C9-CADDB436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340BF-210A-4E8E-98CE-DFC93BD0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A510F-FC64-4556-9885-062EFB28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E30AE-1E79-499B-9944-920037E1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4BA56-E4F4-47BD-9F58-A6B8331D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운영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BC809-116F-4987-AD80-A0510D0A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active_status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E5238-FF28-4E99-9A48-D299D21E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3B773-A846-4485-AC24-A7A7ED2E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2CF67-1FCE-4289-94E2-0AA61836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운영 · 일시정지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8E60F-2852-4628-8C2A-3909C8D7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C4215-70C5-4DE7-8C74-867DDFAF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BBD6E7-4C3A-4B24-891D-337AEF90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5E4D4-C967-4505-ABD0-40AC1ACF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현재 거래 운영 여부를 보여 줍니다.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95A5F-6283-4A69-8FF4-FC0C227F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1AFF1F-D1CA-47AF-BC1B-D91D2026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수동 검토 필요 여부와 같은 뜻이 아닙니다.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B31EA1-4318-47D9-AEC0-05E8291A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3C620-1359-4081-85EE-FE9754BC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업무 확인용</a:t>
            </a:r>
          </a:p>
        </p:txBody>
      </p:sp>
    </p:spTree>
    <p:extLst>
      <p:ext uri="{BB962C8B-B14F-4D97-AF65-F5344CB8AC3E}">
        <p14:creationId xmlns:p14="http://schemas.microsoft.com/office/powerpoint/2010/main" val="180625310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11EF9-D319-4BD8-A79F-4CAAA00F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95BD0-E0EC-4FD2-9579-0CD40672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16/26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D8614-D806-4C15-B82F-C8396E85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manual_review_required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65AC9-9AAF-4982-9353-68C5C202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26048-62E6-40AC-A998-ED2F4B14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6020B-8818-486D-9F79-E88EA90F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AA83E-4952-4F0A-9EC0-BC99DA29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3E514-F8AA-457A-8EB6-9896C76F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수동 검토 필요 여부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522EF-BAEB-4780-A65A-80B6F89F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manual_review_required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27D43-B314-45A2-BADE-4AFB9BE4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234AF-9067-42CC-A152-62537EA2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B7EEE-C0D2-4005-8F62-D51D0043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False 163곳 · True 77곳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EA1C3-EF0A-4432-B2F0-0E7B2A4F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5AF32-D6F4-4674-9960-9B3D7D09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불리언 · bool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5DCFC-6820-475C-82F7-7423BF14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DF496C-5946-4D0D-BE13-512A4837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운영자가 추가로 확인할 필요가 있는지 나타냅니다.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9046E-5BD7-4C18-8031-8C5B30B7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D37D6-1D40-468F-9536-CDBAFA2C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이번 2주차는 예측보다 데이터 파이프라인 구축에 집중합니다.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D6F6E-5E10-4CF9-AE37-2B1771C2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6A0B7-C0E8-4A5A-9A4D-6961D1A5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결과표 보존</a:t>
            </a:r>
          </a:p>
        </p:txBody>
      </p:sp>
    </p:spTree>
    <p:extLst>
      <p:ext uri="{BB962C8B-B14F-4D97-AF65-F5344CB8AC3E}">
        <p14:creationId xmlns:p14="http://schemas.microsoft.com/office/powerpoint/2010/main" val="179402168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2AE8D-C456-4EBC-8B07-7558E366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429A8-171A-46B2-9F77-D4C0741D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17/26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52A46-ADD9-4FE0-8ECD-05B259D2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transaction_count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7F2AD-6915-4853-B9B7-F3D067A4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8F6BC-E5E5-43BE-9AF3-8C4DBA9C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8F2C4-795E-4E47-AFFD-2F4580AD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9646B-B742-43D7-861B-1BB1EF60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A42C3-9F72-42BD-81DB-C8BCBCD4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기록 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557C3-76A8-49C8-ABD8-ECF7A83A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transaction_count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165B1-22A7-4654-B783-A754AF01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B7BA0-BF33-473F-A800-88C854F5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F6093-5923-4A55-B6EF-70AA5344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모든 가맹점 30건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3E3AD-B980-408C-AE12-F2CDDE2D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E5713-1A9E-40AB-A7CB-DBEC15CB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7E70B-7E0B-4D5F-87DF-5890BDF9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74978-E1D3-470D-B23C-242E638E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가맹점별 거래 로그가 몇 건인지 확인합니다.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EC36E-32BB-4D1F-9A5D-92A10BD7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D8D31-E3DA-4627-BA15-2A9C0BDF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이번 데이터는 모두 30건이지만 실무에서는 누락 탐지에 씁니다.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42C75-E0CA-494D-939F-7A618B8C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C89C2-C40D-4A21-9D9E-106D8C6D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count</a:t>
            </a:r>
          </a:p>
        </p:txBody>
      </p:sp>
    </p:spTree>
    <p:extLst>
      <p:ext uri="{BB962C8B-B14F-4D97-AF65-F5344CB8AC3E}">
        <p14:creationId xmlns:p14="http://schemas.microsoft.com/office/powerpoint/2010/main" val="168121287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87C3C1-C643-4218-B3AE-D24E9CAE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FF485-D983-4AFB-8AF3-EEE8FD43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18/26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D0F76-1A82-4C64-BD46-EF92BC09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active_days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1AA62-ADCC-4893-8408-3C8FC373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F4634-1DCC-4CFB-B98E-0E51FD12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2B3FB-0A0F-4727-A769-AD872BA3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771A5-A6A8-4542-942E-09D88BA9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1AA56-315C-4ECC-85B5-838630D3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거래가 기록된 날짜 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A420C-7085-454D-93DE-E0DBFA99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active_days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C21FF-B75D-46A0-81E3-6DEDFEFA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74968-46E4-4742-8C8D-074EA3E2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13765-CDC3-47DA-A01A-0198D0DF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모든 가맹점 30일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95B20-7CAC-4D9D-BDF5-0F8F7142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DF425-E6EF-47EA-BB23-60C340B7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290D7-E4FD-4169-A964-C7470557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004FE-5DE9-403E-87C3-E19110F0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가맹점별로 며칠의 거래가 있는지 확인합니다.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39356-C8EC-4477-9C32-92964519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519812-534D-40A3-9C44-5988FE8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거래 건수와 날짜 수는 다른 개념입니다.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28CBA-42DE-41B2-80D6-D16C2D1B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79C25-5864-4C40-9FE8-38DF5A88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날짜 고유값 수</a:t>
            </a:r>
          </a:p>
        </p:txBody>
      </p:sp>
    </p:spTree>
    <p:extLst>
      <p:ext uri="{BB962C8B-B14F-4D97-AF65-F5344CB8AC3E}">
        <p14:creationId xmlns:p14="http://schemas.microsoft.com/office/powerpoint/2010/main" val="44433104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AB02AA-A41E-4E25-82DF-999F63B6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7427F-77B8-4E60-8A62-3DD04FE4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19/26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629E8-6839-44C6-BED3-1BB5BDCC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total_amount_krw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F9894-D5E5-4598-929E-7641898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31D7F-1A09-4E1B-A55B-DA6B9FB5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50FEA-D34C-44BF-8B36-8D06D124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A2E6E-04A7-4B49-A074-1F9903DF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F078C-8596-4CCB-ABD8-FC2CD4DD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30일 거래금액 합계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F69F5-F1C9-4367-8ED7-C75FD4BE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total_amount_krw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8EEAE-26F0-4757-90AD-0F8D082C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7B1FF-2CC7-4902-8A70-8A1E6D2D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D4B33-A361-4104-A3FE-7A5E707F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범위 716,870~8,821,672원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5C4F6-52FC-468D-A3D1-E12668EF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5CB69-2478-42CA-9C54-DA047845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AD141-73FB-409B-9DCA-6F48476A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13769-87EF-4EA2-A939-A8117F43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가맹점별 최근 거래 규모를 보여 줍니다.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F5167-41FE-43A6-A8B3-5042DAE6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90142-FEA0-4F23-8FB2-D15C6B8F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빈 거래금액 12개는 합계에서 제외됩니다.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3A91E-8E1B-4589-B365-07E30A03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DCEB5-B1FA-4EDB-B01E-72267C2C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sum</a:t>
            </a:r>
          </a:p>
        </p:txBody>
      </p:sp>
    </p:spTree>
    <p:extLst>
      <p:ext uri="{BB962C8B-B14F-4D97-AF65-F5344CB8AC3E}">
        <p14:creationId xmlns:p14="http://schemas.microsoft.com/office/powerpoint/2010/main" val="204480078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7DBA5-5AB3-4B50-BF7F-6CD09968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87DDF-2186-4DFC-B1CE-C01A450E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20/26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F8A0E-58F7-4797-A7D8-1E54D76B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avg_amount_krw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9D010-032C-4459-A551-A91B232C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EAF0C-CCC3-4C29-8098-AB416CF2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06F4F-0C1D-4CF6-B065-9308BD32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2719E-5583-4223-B7E7-818AB634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C75AE-149D-4FCA-8578-4A0D13E8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평균 거래금액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6A03C-3BE4-4D4A-A8C0-8B2F3820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avg_amount_krw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E7C22-21A1-45B3-BA6C-58462B85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B71D7-DA3C-48D9-9E5E-D8E78325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9A3B0-665B-462D-A165-D6A28AE3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범위 23,896~294,056원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350DB-FD62-4523-8235-2CA45B6F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1DAB7-4ECC-4CA0-A79F-2F1E08D5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4D30C-90DF-46BB-A18C-50501196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9D926-B3A7-4577-B24A-867B9652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한 건의 평균 규모를 보여 줍니다.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F7BCA3-224E-4314-9C3D-27796DEC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4A5C9C-86DC-4EB2-AE34-90152B51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기준표의 avg_ticket_krw와 비교할 수 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B429C-0280-4898-A3E5-BA3B1486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2ADFE-6D9C-4EE7-B1B7-523C78EB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mean</a:t>
            </a:r>
          </a:p>
        </p:txBody>
      </p:sp>
    </p:spTree>
    <p:extLst>
      <p:ext uri="{BB962C8B-B14F-4D97-AF65-F5344CB8AC3E}">
        <p14:creationId xmlns:p14="http://schemas.microsoft.com/office/powerpoint/2010/main" val="208374073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D66142-64AC-46D0-BEF0-975FB6F5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6DFF7-7BEB-4132-B97F-E61A0C0C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21/26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DC31F-B5E6-4EB2-BAF1-8CD6E646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approval_rate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CEE1A-ECD7-4152-96C5-C9DC2CC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25188-F269-4EE3-8B40-167DC4CB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BACE8-83AC-4623-9355-75C278AC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CAD66-104D-43FE-A1B4-E8DEE166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10BA7-52D0-40D3-A561-5EB30D0D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승인 비율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D7573-413D-4222-BF44-5116AA55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approval_rate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48AB6-9F5D-4987-9CBA-C685AC5B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FA640-C305-4395-8620-C7F27B97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18C44-19EE-4F6F-8051-349A8CD1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범위 0.80~1.00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7117A-7FD2-4CFD-9FE6-87B0E47A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0F4CF-4EFF-49A2-955E-71DBB79A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621C7-A744-4AF3-B5BF-0C6AE1F8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6AAFA-FD13-47D7-B3A5-48F52CFA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전체 거래 중 승인된 비율입니다.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C0CC5-8F97-497B-BD9D-C58D277F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2FC50-BB56-4BE3-B508-7853B8FC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0.97은 약 97%입니다.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BF28D-2CF5-4FEF-865D-CA1B0457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9DA477-2A9B-471D-8E15-2E61C66F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bool 평균</a:t>
            </a:r>
          </a:p>
        </p:txBody>
      </p:sp>
    </p:spTree>
    <p:extLst>
      <p:ext uri="{BB962C8B-B14F-4D97-AF65-F5344CB8AC3E}">
        <p14:creationId xmlns:p14="http://schemas.microsoft.com/office/powerpoint/2010/main" val="163637575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EC1E9-349C-46A1-94FC-2E65FF75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85EF7-1DC3-4762-BCBA-35C637E5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22/26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BBA66-E6CF-4F76-8055-002F8DC2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refund_rate_30d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2D906-7573-4F3C-A34B-95D65097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8F92C-EFE1-41D7-B37C-FA200398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D476B-F29B-4686-A604-EEAC24C0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F0A52-65BD-4F00-A1C5-78C19E55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A612E-BC4D-41B9-97A8-B4C47C79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최근 30일 환불 비율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70DF9-2933-4DE9-8FBB-BDD16F2A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refund_rate_30d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CAA1E-87E8-43CB-B54F-4F4A5BD0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FA1B5-3456-494A-8FB7-DC225932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FB7B8-6CC7-4FE5-82AA-777D512A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범위 0~0.1333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7E6C3-129E-466E-B29A-36756816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9E9A5-A46E-4865-9E89-352BA6B3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50D44-E734-4F38-AEA9-C85CE13F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CF4A7-565B-499E-BC7C-B5A58427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최근 거래 중 환불된 비율을 보여 줍니다.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FB89C-3AC9-47D0-8D02-4A050CFB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46776-3604-45C1-82AD-509DBD16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기준표의 refund_rate와 기간이 다릅니다.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76C7F-B579-4643-944C-7C199300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BD31E-E50A-4BFC-83CE-A956C810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bool 평균</a:t>
            </a:r>
          </a:p>
        </p:txBody>
      </p:sp>
    </p:spTree>
    <p:extLst>
      <p:ext uri="{BB962C8B-B14F-4D97-AF65-F5344CB8AC3E}">
        <p14:creationId xmlns:p14="http://schemas.microsoft.com/office/powerpoint/2010/main" val="211574650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864B3-1A57-4D6E-85DD-D1103E10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742AB-5384-40E3-A4FD-F540BB3E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23/26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BB890-6653-4BFD-8FC8-89549E44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avg_processing_ms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A92C2-DBBB-4BBB-9E88-6C72D9B7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E0DC3-D73C-4414-8BC7-F37833BB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3E128-E276-4CD8-BD4E-300D9F3E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C791D-3478-433A-9774-A38E3E13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98F6C-F69F-4F49-A8EC-158EF4B7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평균 처리 시간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75F56-D5D6-48EE-A807-DC79D78B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avg_processing_ms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91096-F319-41D3-8C9A-6F48D319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33C54-D0A7-4BD6-A135-C177CF11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A1614-25CE-444E-84B1-4B14E92C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범위 333.13~419.80ms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96CA3-A4FC-4A28-A45C-A3A9E691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4FCE8-AA34-4F11-A16D-4656416C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BB2DF-1533-4766-8BD7-AEC6ABEC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CCEB6D-9722-4E6C-A1EB-FB6B0E00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결제 시스템의 평균 응답 속도를 비교합니다.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FA82B-D900-4CCA-9AFC-30DC4E1D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0FA7C-C08F-4A2B-8E74-D1C24CD1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미측정 18개는 평균 계산에서 제외됩니다.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E51EC-7940-451E-8365-7D9522DB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B0813-180B-4D54-B36E-7EAD807A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mean</a:t>
            </a:r>
          </a:p>
        </p:txBody>
      </p:sp>
    </p:spTree>
    <p:extLst>
      <p:ext uri="{BB962C8B-B14F-4D97-AF65-F5344CB8AC3E}">
        <p14:creationId xmlns:p14="http://schemas.microsoft.com/office/powerpoint/2010/main" val="10314168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5FDF2-4545-4BE9-90C0-59B6C574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5B0A4-A6A5-45A2-B9BC-5350740E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24/26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E8C9E-CC13-48ED-B584-863C3C40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risk_signal_total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C7014-AC79-4E34-A715-0BDCC3DA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BB51D-D193-45E8-A573-BB18F16A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2FE2A-ACEB-4340-B5A1-DA73C93E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0D0C7-3698-452A-ABD2-4D657825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54DC5-73F7-4CC4-8E5C-85FEB6DB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위험 신호 합계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0DE11-A92D-4E95-8B37-D48D4C37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risk_signal_total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EB8D4-F2E6-46CB-950E-4CA527BF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9D507-562B-4AFC-B945-A5DC0D56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B16B7-47CE-433D-AB61-924F3257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범위 2~15개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A7C9B-6A3E-4485-A12B-59CBCFF7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B7717-C4C0-4D80-A939-721C2694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C406C-0094-41D7-9873-1A1E9129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F9868-33B4-4B0E-81D5-1569C4C0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30일 거래에서 감지된 위험 신호를 모두 합칩니다.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5365C-73D1-41FE-9B47-25B81545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1EBD2-1FF3-44B5-A166-0F1FBDFE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신호 종류와 심각도까지 반영한 값은 아닙니다.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5DCB3-59E2-490F-83CB-81A4B864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671ED-1F5A-42C9-B78F-E4A1C588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sum</a:t>
            </a:r>
          </a:p>
        </p:txBody>
      </p:sp>
    </p:spTree>
    <p:extLst>
      <p:ext uri="{BB962C8B-B14F-4D97-AF65-F5344CB8AC3E}">
        <p14:creationId xmlns:p14="http://schemas.microsoft.com/office/powerpoint/2010/main" val="108063832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F7B2A-58CD-4B8C-9AC1-E133DE14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E3743-A129-46AD-808B-4EECA690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25/26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ECA7C-B8FE-4F53-9D46-3A43AFF3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cross_border_count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3E9DC-CFCD-47DE-8131-DE4E5506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4004F-7A89-46AF-A6A0-BB863FA7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5F2C1-30BD-4E62-8A5B-35E6B24D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80CBF-0799-4D45-B01B-53352A13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4E60B-8A7A-4255-8B81-A8190977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해외 거래 건수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33312-CC6F-4FCE-99DC-79D02727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cross_border_count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F080F-7E44-4A37-AECD-B64FC07C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FA7C4-F22E-4BB4-BD9F-E1542E79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92011-C123-45FB-B679-2042E4E1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범위 0~8건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4D629-4B9C-4A24-96AA-79D85283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D7B0B-58C9-4F2C-B405-FB5CFA73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A82A4-BBEB-467C-BD66-D56F0A08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0473D-3F68-4CC7-A4F9-4F61290E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country_code가 KR이 아닌 거래 수를 셉니다.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5CDFD-9486-450E-97C9-B18213D9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0A0F7-9F44-434B-B17E-C5EFF595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국가별 위험도를 판단하는 실제 규칙은 아닙니다.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954B4-0CFA-4EC2-92CF-F7C0225D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3F51D-ECAD-4668-9703-EFFA2C2E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조건식과 sum</a:t>
            </a:r>
          </a:p>
        </p:txBody>
      </p:sp>
    </p:spTree>
    <p:extLst>
      <p:ext uri="{BB962C8B-B14F-4D97-AF65-F5344CB8AC3E}">
        <p14:creationId xmlns:p14="http://schemas.microsoft.com/office/powerpoint/2010/main" val="114861849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887AA-2178-4E59-9DE5-506C7FC2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0E16A-6BF7-4D5F-9F69-CBA7907C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26/26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16E27-E223-457A-BAE9-F6EF836F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latest_transaction_at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261B8-44B3-4615-B922-3770F44A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A5C14-7DC5-4B6E-BC5E-1092E3DD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1F452-9436-408E-8307-4F60B527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A8B8A-E6E9-4553-878C-623FFD87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08700-75ED-4A68-914B-983AE8E3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가장 최근 거래 시각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08A25-3415-4C07-AB39-F8DB9980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latest_transaction_at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1DCC9-F761-482F-9692-2A15E68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6B7AF-5AA0-4FA6-BC61-F8C26CB2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15F60-20AB-4FE6-B34F-7E78951C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2026-08-30 11:09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2BE53-F197-4324-BA1D-EBF78394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E332D-DB79-401F-80EB-E089F397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datetime64</a:t>
            </a:r>
          </a:p>
          <a:p xmlns:a="http://schemas.openxmlformats.org/drawingml/2006/main"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CF6DE-81C6-46B6-826E-E4200448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4A03C-1A08-4AA0-9260-6DEEC88A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마지막으로 거래가 들어온 시각을 보여 줍니다.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2BADD1-A5CD-4F13-B9D1-2A844410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B32F2-8C6E-4F1A-8160-FF5AC22D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최근 KYC 검토일과 다른 열입니다.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9DA06A-E028-4C38-A182-DA1BAEC5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81CD46-1C8E-4E21-9EC9-7B61D85F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max</a:t>
            </a:r>
          </a:p>
        </p:txBody>
      </p:sp>
    </p:spTree>
    <p:extLst>
      <p:ext uri="{BB962C8B-B14F-4D97-AF65-F5344CB8AC3E}">
        <p14:creationId xmlns:p14="http://schemas.microsoft.com/office/powerpoint/2010/main" val="200875799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3179B-03B6-4184-856E-C6A5231F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A7572-6FBC-483E-B34F-165348B6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저장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8971D-DC89-42C0-870D-94857B05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과제가 남기는 두 결과 파일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FDF8A-EFFE-47BA-941A-69B59469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4021C-13E7-4822-AC40-3192B0B7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6135F-D2AF-4A25-ADEB-4CB6397C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E5840-023F-4F9C-8D6D-42917392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2E481-FE47-4E32-9194-6DA903C6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finance_merchant_summary.csv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07EE3-27A3-4D98-A40D-9D1300DC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DataFrame 240행×26열을 CSV로 저장합니다. 3주차 API와 DB가 읽습니다.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5C6D6-381B-43C5-90F5-05367EAE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5473E-16FD-460A-BEA1-80E6970E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finance_preprocessor.joblib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85836-5C87-4095-93E2-907910ED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전처리기가 숫자 12열과 문자 4열의 결측 처리, 스케일링, 범주 열 구조를 기억합니다.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01FE3-AEB3-43A6-9555-BE5AC9B5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C4402-D151-4538-9697-8C355A08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JSON 미리보기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F1583-3B88-4347-9868-6D80EA5E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958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최종표 앞 3행을 list[dict] 모양으로 바꿔 API 응답 형태를 미리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79054802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31590-0B12-4C48-B170-E3F03248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7A1E2-0171-49B7-A30B-5ED774ED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FastAPI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E3344-5B54-4C16-9AD6-0693FA6A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선택 확장에서는 결과표를 API로 보여 줍니다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28366-72FC-4EBE-8CEB-9B4685A4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68644-813E-41A1-9A97-42D1F8EB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9A4F9-081B-4696-BC84-CFC0A07E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B9CAD-E427-4866-B4F7-07761A9F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8485F-2F39-4146-B82B-741A44AC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python -m uvicorn api_app_student:app --reload --host 127.0.0.1 --port 8010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A1CDA-3443-4197-8932-D09EC8A9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096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1600"/>
              </a:spcAft>
              <a:buChar char="•"/>
              <a:defRPr sz="165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/health에서 서버가 실행 중인지 확인합니다.</a:t>
            </a:r>
          </a:p>
          <a:p xmlns:a="http://schemas.openxmlformats.org/drawingml/2006/main">
            <a:pPr marL="266700" indent="-127000">
              <a:spcAft>
                <a:spcPts val="1600"/>
              </a:spcAft>
              <a:buChar char="•"/>
              <a:defRPr sz="165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/items?limit=3에서 결과표 앞 3행을 JSON으로 받습니다.</a:t>
            </a:r>
          </a:p>
          <a:p xmlns:a="http://schemas.openxmlformats.org/drawingml/2006/main">
            <a:pPr marL="266700" indent="-127000">
              <a:spcAft>
                <a:spcPts val="1600"/>
              </a:spcAft>
              <a:buChar char="•"/>
              <a:defRPr sz="165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/docs에서 FastAPI가 자동으로 만든 요청 문서를 확인합니다.</a:t>
            </a:r>
          </a:p>
          <a:p xmlns:a="http://schemas.openxmlformats.org/drawingml/2006/main">
            <a:pPr marL="266700" indent="-127000">
              <a:spcAft>
                <a:spcPts val="1600"/>
              </a:spcAft>
              <a:buChar char="•"/>
              <a:defRPr sz="165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3주차에는 같은 CSV를 SQLite와 Streamlit으로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145772597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0E4138-5751-43D5-9166-5C38038F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3DD45-7F03-4DD0-8C98-2F7968D8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과제 체크리스트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557DF-17A1-4242-AABE-766F6BE5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과제에서 데이터를 다루는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0CD44-9C54-4907-8454-DDF31497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4C33A-D8E6-46FD-B6F6-6B4F1819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1EB74-CC02-4BB1-9671-EA9F3CB8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22339-A088-4BB4-BB88-A64823EA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53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1AC73-7FDF-4841-9F4E-1384F1F8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B09EF-760F-4117-BDD7-A6E62F32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859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Q1에서 transaction_batch_*.csv 12개를 찾습니다.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0FE11-867B-492F-B5E6-B28E71F4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145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3A8BC-04FE-4800-BEB0-46DFEB7B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271C2-64A0-488D-B3DF-C00B3BB1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669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Q2에서 출처 열을 붙여 7,200행으로 합칩니다.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32FDAB-18C9-4B71-ABBD-D488F1D2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955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0A898-E280-4586-8014-F6B36C94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FCF55-A2A9-4584-A8D8-B1D85AF6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479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Q3에서 숫자와 날짜를 정리하고 작은 넓은 표를 만듭니다.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D15C2-7142-47B5-9A2B-E4FB5006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766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9CB68-1DF9-47E9-BCC9-6301AA0A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3B269-6B25-4B7A-976F-5BF8FF7F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290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30일 로그를 가맹점 240행으로 요약합니다.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9CCD3-3349-4B18-861F-46BB8466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576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1EB58A-E99B-463B-99B2-C200FE8B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6765E8-7903-40B5-AC87-6186ED8F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100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Q5에서 1주차 기준표와 ID로 연결합니다.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14B21-27F4-47E0-9A03-E69164D1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38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C6F11-C757-4719-865E-75DAFF6C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E6A1F-BCA2-4361-B5D3-62E3E4FB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910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Q6에서 전처리기를 학습해 joblib로 저장합니다.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805D1-9068-41AD-A7DC-87C8A3F1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196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3308B6-5947-4FE2-8719-A2CE7ADF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50F610-84CB-4EB9-83EB-40E1195E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720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Q7에서 3주차용 CSV와 JSON 미리보기를 만듭니다.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926FD1-E5DC-457A-A2D1-ECE7E867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572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59B6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B35477-1973-4ACD-95F4-0BD026C7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959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원천 7,200행은 보존하고, 분석과 서비스에 쓸 240행 요약표를 별도로 만듭니다.</a:t>
            </a:r>
          </a:p>
        </p:txBody>
      </p:sp>
    </p:spTree>
    <p:extLst>
      <p:ext uri="{BB962C8B-B14F-4D97-AF65-F5344CB8AC3E}">
        <p14:creationId xmlns:p14="http://schemas.microsoft.com/office/powerpoint/2010/main" val="755906473"/>
      </p:ext>
    </p:extLst>
  </p:cSld>
</p:sld>
</file>

<file path=ppt/theme/theme1.xml><?xml version="1.0" encoding="utf-8"?>
<a:theme xmlns:a="http://schemas.openxmlformats.org/drawingml/2006/main" name="ChatGPT">
  <a:themeElements>
    <a:clrScheme name="Python Data Guide">
      <a:dk1>
        <a:srgbClr val="000000"/>
      </a:dk1>
      <a:lt1>
        <a:srgbClr val="FFFFFF"/>
      </a:lt1>
      <a:dk2>
        <a:srgbClr val="123A63"/>
      </a:dk2>
      <a:lt2>
        <a:srgbClr val="DCE4EB"/>
      </a:lt2>
      <a:accent1>
        <a:srgbClr val="2F80ED"/>
      </a:accent1>
      <a:accent2>
        <a:srgbClr val="159B6A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F80ED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ython Data Gu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2026-10-07T23:43:04.3890000Z</dcterms:created>
  <dcterms:modified xsi:type="dcterms:W3CDTF">2026-10-07T23:43:04.3890000Z</dcterms:modified>
</coreProperties>
</file>