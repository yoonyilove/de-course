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7131"/>
  </p:normalViewPr>
  <p:slideViewPr>
    <p:cSldViewPr snapToGrid="0">
      <p:cViewPr varScale="1">
        <p:scale>
          <a:sx n="81" d="100"/>
          <a:sy n="81" d="100"/>
        </p:scale>
        <p:origin x="1944" y="192"/>
      </p:cViewPr>
      <p:guideLst/>
    </p:cSldViewPr>
  </p:slideViewPr>
  <p:notesTextViewPr>
    <p:cViewPr>
      <p:scale>
        <a:sx n="1" d="1"/>
        <a:sy n="1" d="1"/>
      </p:scale>
      <p:origin x="0" y="-44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자료의</a:t>
            </a:r>
            <a:r>
              <a:rPr dirty="0"/>
              <a:t> </a:t>
            </a:r>
            <a:r>
              <a:rPr dirty="0" err="1"/>
              <a:t>목적</a:t>
            </a:r>
            <a:r>
              <a:rPr dirty="0"/>
              <a:t>]</a:t>
            </a:r>
          </a:p>
          <a:p>
            <a:r>
              <a:rPr dirty="0" err="1"/>
              <a:t>제조</a:t>
            </a:r>
            <a:r>
              <a:rPr dirty="0"/>
              <a:t> </a:t>
            </a:r>
            <a:r>
              <a:rPr dirty="0" err="1"/>
              <a:t>선택과제의</a:t>
            </a:r>
            <a:r>
              <a:rPr dirty="0"/>
              <a:t> CSV </a:t>
            </a:r>
            <a:r>
              <a:rPr dirty="0" err="1"/>
              <a:t>열을</a:t>
            </a:r>
            <a:r>
              <a:rPr dirty="0"/>
              <a:t> </a:t>
            </a:r>
            <a:r>
              <a:rPr dirty="0" err="1"/>
              <a:t>처음</a:t>
            </a:r>
            <a:r>
              <a:rPr dirty="0"/>
              <a:t> </a:t>
            </a:r>
            <a:r>
              <a:rPr dirty="0" err="1"/>
              <a:t>보는</a:t>
            </a:r>
            <a:r>
              <a:rPr dirty="0"/>
              <a:t> </a:t>
            </a:r>
            <a:r>
              <a:rPr dirty="0" err="1"/>
              <a:t>학생이</a:t>
            </a:r>
            <a:r>
              <a:rPr dirty="0"/>
              <a:t> </a:t>
            </a:r>
            <a:r>
              <a:rPr dirty="0" err="1"/>
              <a:t>분야</a:t>
            </a:r>
            <a:r>
              <a:rPr dirty="0"/>
              <a:t> </a:t>
            </a:r>
            <a:r>
              <a:rPr dirty="0" err="1"/>
              <a:t>배경과</a:t>
            </a:r>
            <a:r>
              <a:rPr dirty="0"/>
              <a:t> </a:t>
            </a:r>
            <a:r>
              <a:rPr dirty="0" err="1"/>
              <a:t>데이터의</a:t>
            </a:r>
            <a:r>
              <a:rPr dirty="0"/>
              <a:t> </a:t>
            </a:r>
            <a:r>
              <a:rPr dirty="0" err="1"/>
              <a:t>뜻을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이해하도록</a:t>
            </a:r>
            <a:r>
              <a:rPr dirty="0"/>
              <a:t> </a:t>
            </a:r>
            <a:r>
              <a:rPr dirty="0" err="1"/>
              <a:t>돕습니다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강사가</a:t>
            </a:r>
            <a:r>
              <a:rPr dirty="0"/>
              <a:t> </a:t>
            </a:r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설명할</a:t>
            </a:r>
            <a:r>
              <a:rPr dirty="0"/>
              <a:t> </a:t>
            </a:r>
            <a:r>
              <a:rPr dirty="0" err="1"/>
              <a:t>내용</a:t>
            </a:r>
            <a:r>
              <a:rPr dirty="0"/>
              <a:t>]</a:t>
            </a:r>
          </a:p>
          <a:p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데이터는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회사</a:t>
            </a:r>
            <a:r>
              <a:rPr dirty="0"/>
              <a:t> </a:t>
            </a:r>
            <a:r>
              <a:rPr dirty="0" err="1"/>
              <a:t>자료가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1주차 </a:t>
            </a:r>
            <a:r>
              <a:rPr dirty="0" err="1"/>
              <a:t>처리</a:t>
            </a:r>
            <a:r>
              <a:rPr dirty="0"/>
              <a:t> </a:t>
            </a:r>
            <a:r>
              <a:rPr dirty="0" err="1"/>
              <a:t>원리를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분야에</a:t>
            </a:r>
            <a:r>
              <a:rPr dirty="0"/>
              <a:t> </a:t>
            </a:r>
            <a:r>
              <a:rPr dirty="0" err="1"/>
              <a:t>옮겨</a:t>
            </a:r>
            <a:r>
              <a:rPr dirty="0"/>
              <a:t> </a:t>
            </a:r>
            <a:r>
              <a:rPr dirty="0" err="1"/>
              <a:t>보기</a:t>
            </a:r>
            <a:r>
              <a:rPr dirty="0"/>
              <a:t> </a:t>
            </a:r>
            <a:r>
              <a:rPr dirty="0" err="1"/>
              <a:t>위해</a:t>
            </a:r>
            <a:r>
              <a:rPr dirty="0"/>
              <a:t> </a:t>
            </a:r>
            <a:r>
              <a:rPr dirty="0" err="1"/>
              <a:t>만든</a:t>
            </a:r>
            <a:r>
              <a:rPr dirty="0"/>
              <a:t> </a:t>
            </a:r>
            <a:r>
              <a:rPr dirty="0" err="1"/>
              <a:t>합성</a:t>
            </a:r>
            <a:r>
              <a:rPr dirty="0"/>
              <a:t> </a:t>
            </a:r>
            <a:r>
              <a:rPr dirty="0" err="1"/>
              <a:t>데이터입니다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자료</a:t>
            </a:r>
            <a:r>
              <a:rPr dirty="0"/>
              <a:t> </a:t>
            </a:r>
            <a:r>
              <a:rPr dirty="0" err="1"/>
              <a:t>사용</a:t>
            </a:r>
            <a:r>
              <a:rPr dirty="0"/>
              <a:t>]</a:t>
            </a:r>
          </a:p>
          <a:p>
            <a:r>
              <a:rPr dirty="0" err="1"/>
              <a:t>열</a:t>
            </a:r>
            <a:r>
              <a:rPr dirty="0"/>
              <a:t> </a:t>
            </a:r>
            <a:r>
              <a:rPr dirty="0" err="1"/>
              <a:t>이름을</a:t>
            </a:r>
            <a:r>
              <a:rPr dirty="0"/>
              <a:t> </a:t>
            </a:r>
            <a:r>
              <a:rPr dirty="0" err="1"/>
              <a:t>암기시키기보다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행의</a:t>
            </a:r>
            <a:r>
              <a:rPr dirty="0"/>
              <a:t> </a:t>
            </a:r>
            <a:r>
              <a:rPr dirty="0" err="1"/>
              <a:t>대상</a:t>
            </a:r>
            <a:r>
              <a:rPr dirty="0"/>
              <a:t>, </a:t>
            </a:r>
            <a:r>
              <a:rPr dirty="0" err="1"/>
              <a:t>값의</a:t>
            </a:r>
            <a:r>
              <a:rPr dirty="0"/>
              <a:t> </a:t>
            </a:r>
            <a:r>
              <a:rPr dirty="0" err="1"/>
              <a:t>단위</a:t>
            </a:r>
            <a:r>
              <a:rPr dirty="0"/>
              <a:t>, </a:t>
            </a:r>
            <a:r>
              <a:rPr dirty="0" err="1"/>
              <a:t>업무에서</a:t>
            </a:r>
            <a:r>
              <a:rPr dirty="0"/>
              <a:t> </a:t>
            </a:r>
            <a:r>
              <a:rPr dirty="0" err="1"/>
              <a:t>기록하는</a:t>
            </a:r>
            <a:r>
              <a:rPr dirty="0"/>
              <a:t> </a:t>
            </a:r>
            <a:r>
              <a:rPr dirty="0" err="1"/>
              <a:t>이유를</a:t>
            </a:r>
            <a:r>
              <a:rPr dirty="0"/>
              <a:t> </a:t>
            </a:r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설명합니다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근거</a:t>
            </a:r>
            <a:r>
              <a:rPr dirty="0"/>
              <a:t> </a:t>
            </a:r>
            <a:r>
              <a:rPr dirty="0" err="1"/>
              <a:t>자료</a:t>
            </a:r>
            <a:r>
              <a:rPr dirty="0"/>
              <a:t>] 1주차_제조_데이터사전.md, </a:t>
            </a:r>
            <a:r>
              <a:rPr dirty="0" err="1"/>
              <a:t>manufacturing_equipment.csv</a:t>
            </a:r>
            <a:r>
              <a:rPr dirty="0"/>
              <a:t>, </a:t>
            </a:r>
            <a:r>
              <a:rPr dirty="0" err="1"/>
              <a:t>manufacturing_specs.csv</a:t>
            </a:r>
            <a:r>
              <a:rPr dirty="0"/>
              <a:t>, </a:t>
            </a:r>
            <a:r>
              <a:rPr dirty="0" err="1"/>
              <a:t>제조</a:t>
            </a:r>
            <a:r>
              <a:rPr dirty="0"/>
              <a:t> </a:t>
            </a:r>
            <a:r>
              <a:rPr dirty="0" err="1"/>
              <a:t>선택과제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 </a:t>
            </a:r>
            <a:r>
              <a:rPr dirty="0" err="1"/>
              <a:t>노트북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장의</a:t>
            </a:r>
            <a:r>
              <a:rPr dirty="0"/>
              <a:t> </a:t>
            </a:r>
            <a:r>
              <a:rPr dirty="0" err="1"/>
              <a:t>목표</a:t>
            </a:r>
            <a:r>
              <a:rPr dirty="0"/>
              <a:t>]</a:t>
            </a:r>
          </a:p>
          <a:p>
            <a:r>
              <a:rPr dirty="0" err="1"/>
              <a:t>학생이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열을</a:t>
            </a:r>
            <a:r>
              <a:rPr dirty="0"/>
              <a:t> </a:t>
            </a:r>
            <a:r>
              <a:rPr dirty="0" err="1"/>
              <a:t>보기</a:t>
            </a:r>
            <a:r>
              <a:rPr dirty="0"/>
              <a:t> </a:t>
            </a:r>
            <a:r>
              <a:rPr dirty="0" err="1"/>
              <a:t>전에</a:t>
            </a:r>
            <a:r>
              <a:rPr dirty="0"/>
              <a:t>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표가</a:t>
            </a:r>
            <a:r>
              <a:rPr dirty="0"/>
              <a:t> 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업무에서</a:t>
            </a:r>
            <a:r>
              <a:rPr dirty="0"/>
              <a:t> </a:t>
            </a:r>
            <a:r>
              <a:rPr dirty="0" err="1"/>
              <a:t>생기는지</a:t>
            </a:r>
            <a:r>
              <a:rPr dirty="0"/>
              <a:t> </a:t>
            </a:r>
            <a:r>
              <a:rPr dirty="0" err="1"/>
              <a:t>이해합니다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쉽게</a:t>
            </a:r>
            <a:r>
              <a:rPr dirty="0"/>
              <a:t> </a:t>
            </a:r>
            <a:r>
              <a:rPr dirty="0" err="1"/>
              <a:t>설명할</a:t>
            </a:r>
            <a:r>
              <a:rPr dirty="0"/>
              <a:t> </a:t>
            </a:r>
            <a:r>
              <a:rPr dirty="0" err="1"/>
              <a:t>문장</a:t>
            </a:r>
            <a:r>
              <a:rPr dirty="0"/>
              <a:t>]</a:t>
            </a:r>
          </a:p>
          <a:p>
            <a:r>
              <a:rPr dirty="0" err="1"/>
              <a:t>생산라인에는</a:t>
            </a:r>
            <a:r>
              <a:rPr dirty="0"/>
              <a:t> </a:t>
            </a:r>
            <a:r>
              <a:rPr dirty="0" err="1"/>
              <a:t>사출기</a:t>
            </a:r>
            <a:r>
              <a:rPr dirty="0"/>
              <a:t>, </a:t>
            </a:r>
            <a:r>
              <a:rPr dirty="0" err="1"/>
              <a:t>프레스</a:t>
            </a:r>
            <a:r>
              <a:rPr dirty="0"/>
              <a:t>, </a:t>
            </a:r>
            <a:r>
              <a:rPr dirty="0" err="1"/>
              <a:t>포장기</a:t>
            </a:r>
            <a:r>
              <a:rPr dirty="0"/>
              <a:t>, </a:t>
            </a:r>
            <a:r>
              <a:rPr dirty="0" err="1"/>
              <a:t>검사기가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움직입니다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종류의</a:t>
            </a:r>
            <a:r>
              <a:rPr dirty="0"/>
              <a:t> </a:t>
            </a:r>
            <a:r>
              <a:rPr dirty="0" err="1"/>
              <a:t>설비도</a:t>
            </a:r>
            <a:r>
              <a:rPr dirty="0"/>
              <a:t> </a:t>
            </a:r>
            <a:r>
              <a:rPr dirty="0" err="1"/>
              <a:t>공장과</a:t>
            </a:r>
            <a:r>
              <a:rPr dirty="0"/>
              <a:t> </a:t>
            </a:r>
            <a:r>
              <a:rPr dirty="0" err="1"/>
              <a:t>라인</a:t>
            </a:r>
            <a:r>
              <a:rPr dirty="0"/>
              <a:t>, </a:t>
            </a:r>
            <a:r>
              <a:rPr dirty="0" err="1"/>
              <a:t>제조사</a:t>
            </a:r>
            <a:r>
              <a:rPr dirty="0"/>
              <a:t>, </a:t>
            </a:r>
            <a:r>
              <a:rPr dirty="0" err="1"/>
              <a:t>설치</a:t>
            </a:r>
            <a:r>
              <a:rPr dirty="0"/>
              <a:t> </a:t>
            </a:r>
            <a:r>
              <a:rPr dirty="0" err="1"/>
              <a:t>시점이</a:t>
            </a:r>
            <a:r>
              <a:rPr dirty="0"/>
              <a:t> </a:t>
            </a:r>
            <a:r>
              <a:rPr dirty="0" err="1"/>
              <a:t>다릅니다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정비</a:t>
            </a:r>
            <a:r>
              <a:rPr dirty="0"/>
              <a:t> </a:t>
            </a:r>
            <a:r>
              <a:rPr dirty="0" err="1"/>
              <a:t>담당자는</a:t>
            </a:r>
            <a:r>
              <a:rPr dirty="0"/>
              <a:t> </a:t>
            </a:r>
            <a:r>
              <a:rPr dirty="0" err="1"/>
              <a:t>최근</a:t>
            </a:r>
            <a:r>
              <a:rPr dirty="0"/>
              <a:t> </a:t>
            </a:r>
            <a:r>
              <a:rPr dirty="0" err="1"/>
              <a:t>고장</a:t>
            </a:r>
            <a:r>
              <a:rPr dirty="0"/>
              <a:t> </a:t>
            </a:r>
            <a:r>
              <a:rPr dirty="0" err="1"/>
              <a:t>횟수와</a:t>
            </a:r>
            <a:r>
              <a:rPr dirty="0"/>
              <a:t> </a:t>
            </a:r>
            <a:r>
              <a:rPr dirty="0" err="1"/>
              <a:t>운전시간</a:t>
            </a:r>
            <a:r>
              <a:rPr dirty="0"/>
              <a:t>, </a:t>
            </a:r>
            <a:r>
              <a:rPr dirty="0" err="1"/>
              <a:t>마지막</a:t>
            </a:r>
            <a:r>
              <a:rPr dirty="0"/>
              <a:t> </a:t>
            </a:r>
            <a:r>
              <a:rPr dirty="0" err="1"/>
              <a:t>점검일을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확인합니다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설비별</a:t>
            </a:r>
            <a:r>
              <a:rPr dirty="0"/>
              <a:t> </a:t>
            </a:r>
            <a:r>
              <a:rPr dirty="0" err="1"/>
              <a:t>허용</a:t>
            </a:r>
            <a:r>
              <a:rPr dirty="0"/>
              <a:t> </a:t>
            </a:r>
            <a:r>
              <a:rPr dirty="0" err="1"/>
              <a:t>온도와</a:t>
            </a:r>
            <a:r>
              <a:rPr dirty="0"/>
              <a:t> </a:t>
            </a:r>
            <a:r>
              <a:rPr dirty="0" err="1"/>
              <a:t>압력</a:t>
            </a:r>
            <a:r>
              <a:rPr dirty="0"/>
              <a:t>, </a:t>
            </a:r>
            <a:r>
              <a:rPr dirty="0" err="1"/>
              <a:t>진동</a:t>
            </a:r>
            <a:r>
              <a:rPr dirty="0"/>
              <a:t> </a:t>
            </a:r>
            <a:r>
              <a:rPr dirty="0" err="1"/>
              <a:t>한계는</a:t>
            </a:r>
            <a:r>
              <a:rPr dirty="0"/>
              <a:t> </a:t>
            </a:r>
            <a:r>
              <a:rPr dirty="0" err="1"/>
              <a:t>별도</a:t>
            </a:r>
            <a:r>
              <a:rPr dirty="0"/>
              <a:t> </a:t>
            </a:r>
            <a:r>
              <a:rPr dirty="0" err="1"/>
              <a:t>사양표에서</a:t>
            </a:r>
            <a:r>
              <a:rPr dirty="0"/>
              <a:t> </a:t>
            </a:r>
            <a:r>
              <a:rPr dirty="0" err="1"/>
              <a:t>관리합니다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학생에게</a:t>
            </a:r>
            <a:r>
              <a:rPr dirty="0"/>
              <a:t> </a:t>
            </a:r>
            <a:r>
              <a:rPr dirty="0" err="1"/>
              <a:t>물을</a:t>
            </a:r>
            <a:r>
              <a:rPr dirty="0"/>
              <a:t> </a:t>
            </a:r>
            <a:r>
              <a:rPr dirty="0" err="1"/>
              <a:t>질문</a:t>
            </a:r>
            <a:r>
              <a:rPr dirty="0"/>
              <a:t>]</a:t>
            </a:r>
          </a:p>
          <a:p>
            <a:r>
              <a:rPr dirty="0" err="1"/>
              <a:t>정비</a:t>
            </a:r>
            <a:r>
              <a:rPr dirty="0"/>
              <a:t> </a:t>
            </a:r>
            <a:r>
              <a:rPr dirty="0" err="1"/>
              <a:t>담당자가</a:t>
            </a:r>
            <a:r>
              <a:rPr dirty="0"/>
              <a:t> </a:t>
            </a:r>
            <a:r>
              <a:rPr dirty="0" err="1"/>
              <a:t>설비</a:t>
            </a:r>
            <a:r>
              <a:rPr dirty="0"/>
              <a:t> </a:t>
            </a:r>
            <a:r>
              <a:rPr dirty="0" err="1"/>
              <a:t>이름만</a:t>
            </a:r>
            <a:r>
              <a:rPr dirty="0"/>
              <a:t> </a:t>
            </a:r>
            <a:r>
              <a:rPr dirty="0" err="1"/>
              <a:t>보고</a:t>
            </a:r>
            <a:r>
              <a:rPr dirty="0"/>
              <a:t> </a:t>
            </a:r>
            <a:r>
              <a:rPr dirty="0" err="1"/>
              <a:t>점검</a:t>
            </a:r>
            <a:r>
              <a:rPr dirty="0"/>
              <a:t> </a:t>
            </a:r>
            <a:r>
              <a:rPr dirty="0" err="1"/>
              <a:t>순서를</a:t>
            </a:r>
            <a:r>
              <a:rPr dirty="0"/>
              <a:t> </a:t>
            </a:r>
            <a:r>
              <a:rPr dirty="0" err="1"/>
              <a:t>정할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있을까요</a:t>
            </a:r>
            <a:r>
              <a:rPr dirty="0"/>
              <a:t>?</a:t>
            </a:r>
          </a:p>
          <a:p>
            <a:r>
              <a:rPr dirty="0"/>
              <a:t>[</a:t>
            </a:r>
            <a:r>
              <a:rPr dirty="0" err="1"/>
              <a:t>기대</a:t>
            </a:r>
            <a:r>
              <a:rPr dirty="0"/>
              <a:t> </a:t>
            </a:r>
            <a:r>
              <a:rPr dirty="0" err="1"/>
              <a:t>답</a:t>
            </a:r>
            <a:r>
              <a:rPr dirty="0"/>
              <a:t>]</a:t>
            </a:r>
          </a:p>
          <a:p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가지</a:t>
            </a:r>
            <a:r>
              <a:rPr dirty="0"/>
              <a:t> </a:t>
            </a:r>
            <a:r>
              <a:rPr dirty="0" err="1"/>
              <a:t>값만으로</a:t>
            </a:r>
            <a:r>
              <a:rPr dirty="0"/>
              <a:t> </a:t>
            </a:r>
            <a:r>
              <a:rPr dirty="0" err="1"/>
              <a:t>판단하기</a:t>
            </a:r>
            <a:r>
              <a:rPr dirty="0"/>
              <a:t> </a:t>
            </a:r>
            <a:r>
              <a:rPr dirty="0" err="1"/>
              <a:t>어렵고</a:t>
            </a:r>
            <a:r>
              <a:rPr dirty="0"/>
              <a:t> </a:t>
            </a:r>
            <a:r>
              <a:rPr dirty="0" err="1"/>
              <a:t>여러</a:t>
            </a:r>
            <a:r>
              <a:rPr dirty="0"/>
              <a:t> </a:t>
            </a:r>
            <a:r>
              <a:rPr dirty="0" err="1"/>
              <a:t>기록과</a:t>
            </a:r>
            <a:r>
              <a:rPr dirty="0"/>
              <a:t> </a:t>
            </a:r>
            <a:r>
              <a:rPr dirty="0" err="1"/>
              <a:t>기준을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봐야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근거</a:t>
            </a:r>
            <a:r>
              <a:rPr dirty="0"/>
              <a:t> </a:t>
            </a:r>
            <a:r>
              <a:rPr dirty="0" err="1"/>
              <a:t>자료</a:t>
            </a:r>
            <a:r>
              <a:rPr dirty="0"/>
              <a:t>] 1주차_제조_데이터사전.md, </a:t>
            </a:r>
            <a:r>
              <a:rPr dirty="0" err="1"/>
              <a:t>manufacturing_equipment.csv</a:t>
            </a:r>
            <a:r>
              <a:rPr dirty="0"/>
              <a:t>, </a:t>
            </a:r>
            <a:r>
              <a:rPr dirty="0" err="1"/>
              <a:t>manufacturing_specs.csv</a:t>
            </a:r>
            <a:r>
              <a:rPr dirty="0"/>
              <a:t>, </a:t>
            </a:r>
            <a:r>
              <a:rPr dirty="0" err="1"/>
              <a:t>제조</a:t>
            </a:r>
            <a:r>
              <a:rPr dirty="0"/>
              <a:t> </a:t>
            </a:r>
            <a:r>
              <a:rPr dirty="0" err="1"/>
              <a:t>선택과제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 </a:t>
            </a:r>
            <a:r>
              <a:rPr dirty="0" err="1"/>
              <a:t>노트북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열 정리가 단순한 코딩 연습이 아니라 업무 판단의 기초라는 점을 설명합니다.</a:t>
            </a:r>
          </a:p>
          <a:p>
            <a:endParaRPr/>
          </a:p>
          <a:p>
            <a:r>
              <a:t>[각 항목을 설명하는 문장]</a:t>
            </a:r>
          </a:p>
          <a:p>
            <a:r>
              <a:t>- 생산 중단 예방: 정비 시점을 놓치면 한 설비의 문제가 생산라인 전체의 지연으로 이어질 수 있습니다.</a:t>
            </a:r>
          </a:p>
          <a:p>
            <a:r>
              <a:t>- 품질과 안전 확인: 온도와 압력, 진동 기준이 어긋나면 제품 품질과 작업 안전을 함께 점검해야 합니다.</a:t>
            </a:r>
          </a:p>
          <a:p>
            <a:r>
              <a:t>- 정비 인력의 우선순위: 모든 설비를 동시에 점검할 수 없으므로 기록을 바탕으로 먼저 볼 설비를 정합니다.</a:t>
            </a:r>
          </a:p>
          <a:p>
            <a:r>
              <a:t>- 판단 근거 보존: 왜 어떤 설비를 정비 대상으로 골랐는지 나중에 다시 설명할 수 있어야 합니다.</a:t>
            </a:r>
          </a:p>
          <a:p>
            <a:endParaRPr/>
          </a:p>
          <a:p>
            <a:r>
              <a:t>[주의]</a:t>
            </a:r>
          </a:p>
          <a:p>
            <a:r>
              <a:t>이 과제는 합성 데이터로 처리 원리를 연습합니다. 실제 안전 또는 금융 판단은 별도의 검증과 책임 체계가 필요합니다.</a:t>
            </a:r>
          </a:p>
          <a:p>
            <a:endParaRPr/>
          </a:p>
          <a:p>
            <a:r>
              <a:t>[근거 자료] 1주차_제조_데이터사전.md, manufacturing_equipment.csv, manufacturing_specs.csv,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학생이 새로운 분야의 단어를 1주차 결혼정보 데이터의 처리 역할과 연결합니다.</a:t>
            </a:r>
          </a:p>
          <a:p>
            <a:endParaRPr/>
          </a:p>
          <a:p>
            <a:r>
              <a:t>[핵심 설명]</a:t>
            </a:r>
          </a:p>
          <a:p>
            <a:r>
              <a:t>대상과 열 이름은 바뀌지만 ID 중복 제거, 문자 숫자 변환, 날짜 계산, 기준표 결합, X와 y 분리라는 처리 원리는 같습니다.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member_id와 같은 역할을 하는 제조 선택과제의 열은 무엇인가요?</a:t>
            </a:r>
          </a:p>
          <a:p>
            <a:r>
              <a:t>[기대 답]</a:t>
            </a:r>
          </a:p>
          <a:p>
            <a:r>
              <a:t>equipment_id입니다.</a:t>
            </a:r>
          </a:p>
          <a:p>
            <a:endParaRPr/>
          </a:p>
          <a:p>
            <a:r>
              <a:t>[근거 자료] 1주차_제조_데이터사전.md, manufacturing_equipment.csv, manufacturing_specs.csv,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장의</a:t>
            </a:r>
            <a:r>
              <a:rPr dirty="0"/>
              <a:t> </a:t>
            </a:r>
            <a:r>
              <a:rPr dirty="0" err="1"/>
              <a:t>목표</a:t>
            </a:r>
            <a:r>
              <a:rPr dirty="0"/>
              <a:t>]</a:t>
            </a:r>
          </a:p>
          <a:p>
            <a:r>
              <a:rPr dirty="0" err="1"/>
              <a:t>파일마다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행이</a:t>
            </a:r>
            <a:r>
              <a:rPr dirty="0"/>
              <a:t> </a:t>
            </a:r>
            <a:r>
              <a:rPr dirty="0" err="1"/>
              <a:t>무엇을</a:t>
            </a:r>
            <a:r>
              <a:rPr dirty="0"/>
              <a:t> </a:t>
            </a:r>
            <a:r>
              <a:rPr dirty="0" err="1"/>
              <a:t>뜻하고</a:t>
            </a:r>
            <a:r>
              <a:rPr dirty="0"/>
              <a:t> </a:t>
            </a:r>
            <a:r>
              <a:rPr dirty="0" err="1"/>
              <a:t>언제</a:t>
            </a:r>
            <a:r>
              <a:rPr dirty="0"/>
              <a:t> </a:t>
            </a:r>
            <a:r>
              <a:rPr dirty="0" err="1"/>
              <a:t>쓰는지</a:t>
            </a:r>
            <a:r>
              <a:rPr dirty="0"/>
              <a:t> </a:t>
            </a:r>
            <a:r>
              <a:rPr dirty="0" err="1"/>
              <a:t>구분합니다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manufacturing_equipment.csv</a:t>
            </a:r>
            <a:r>
              <a:rPr dirty="0"/>
              <a:t>]</a:t>
            </a:r>
          </a:p>
          <a:p>
            <a:r>
              <a:rPr dirty="0"/>
              <a:t>243행 × 16열. </a:t>
            </a:r>
            <a:r>
              <a:rPr dirty="0" err="1"/>
              <a:t>설비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대의</a:t>
            </a:r>
            <a:r>
              <a:rPr dirty="0"/>
              <a:t> </a:t>
            </a:r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정보와</a:t>
            </a:r>
            <a:r>
              <a:rPr dirty="0"/>
              <a:t> </a:t>
            </a:r>
            <a:r>
              <a:rPr dirty="0" err="1"/>
              <a:t>교육용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. </a:t>
            </a:r>
            <a:r>
              <a:rPr dirty="0" err="1"/>
              <a:t>고유</a:t>
            </a:r>
            <a:r>
              <a:rPr dirty="0"/>
              <a:t> </a:t>
            </a:r>
            <a:r>
              <a:rPr dirty="0" err="1"/>
              <a:t>설비</a:t>
            </a:r>
            <a:r>
              <a:rPr dirty="0"/>
              <a:t> 240대와 </a:t>
            </a:r>
            <a:r>
              <a:rPr dirty="0" err="1"/>
              <a:t>중복</a:t>
            </a:r>
            <a:r>
              <a:rPr dirty="0"/>
              <a:t> 3행이 </a:t>
            </a:r>
            <a:r>
              <a:rPr dirty="0" err="1"/>
              <a:t>들어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manufacturing_specs.csv</a:t>
            </a:r>
            <a:r>
              <a:rPr dirty="0"/>
              <a:t>]</a:t>
            </a:r>
          </a:p>
          <a:p>
            <a:r>
              <a:rPr dirty="0"/>
              <a:t>240행 × 6열. </a:t>
            </a:r>
            <a:r>
              <a:rPr dirty="0" err="1"/>
              <a:t>설비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대의</a:t>
            </a:r>
            <a:r>
              <a:rPr dirty="0"/>
              <a:t> </a:t>
            </a:r>
            <a:r>
              <a:rPr dirty="0" err="1"/>
              <a:t>센서</a:t>
            </a:r>
            <a:r>
              <a:rPr dirty="0"/>
              <a:t> </a:t>
            </a:r>
            <a:r>
              <a:rPr dirty="0" err="1"/>
              <a:t>모델과</a:t>
            </a:r>
            <a:r>
              <a:rPr dirty="0"/>
              <a:t> </a:t>
            </a:r>
            <a:r>
              <a:rPr dirty="0" err="1"/>
              <a:t>허용</a:t>
            </a:r>
            <a:r>
              <a:rPr dirty="0"/>
              <a:t> </a:t>
            </a:r>
            <a:r>
              <a:rPr dirty="0" err="1"/>
              <a:t>기준</a:t>
            </a:r>
            <a:r>
              <a:rPr dirty="0"/>
              <a:t>. </a:t>
            </a:r>
            <a:r>
              <a:rPr dirty="0" err="1"/>
              <a:t>equipment_id로</a:t>
            </a:r>
            <a:r>
              <a:rPr dirty="0"/>
              <a:t> </a:t>
            </a:r>
            <a:r>
              <a:rPr dirty="0" err="1"/>
              <a:t>기준표에</a:t>
            </a:r>
            <a:r>
              <a:rPr dirty="0"/>
              <a:t> </a:t>
            </a:r>
            <a:r>
              <a:rPr dirty="0" err="1"/>
              <a:t>붙입니다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manufacturing_equipment_new.csv</a:t>
            </a:r>
            <a:r>
              <a:rPr dirty="0"/>
              <a:t>]</a:t>
            </a:r>
          </a:p>
          <a:p>
            <a:r>
              <a:rPr dirty="0"/>
              <a:t>40행 × 15열. </a:t>
            </a:r>
            <a:r>
              <a:rPr dirty="0" err="1"/>
              <a:t>정답</a:t>
            </a:r>
            <a:r>
              <a:rPr dirty="0"/>
              <a:t> </a:t>
            </a:r>
            <a:r>
              <a:rPr dirty="0" err="1"/>
              <a:t>열이</a:t>
            </a:r>
            <a:r>
              <a:rPr dirty="0"/>
              <a:t> </a:t>
            </a:r>
            <a:r>
              <a:rPr dirty="0" err="1"/>
              <a:t>없는</a:t>
            </a:r>
            <a:r>
              <a:rPr dirty="0"/>
              <a:t> </a:t>
            </a:r>
            <a:r>
              <a:rPr dirty="0" err="1"/>
              <a:t>신규</a:t>
            </a:r>
            <a:r>
              <a:rPr dirty="0"/>
              <a:t> </a:t>
            </a:r>
            <a:r>
              <a:rPr dirty="0" err="1"/>
              <a:t>설비</a:t>
            </a:r>
            <a:r>
              <a:rPr dirty="0"/>
              <a:t>. </a:t>
            </a:r>
            <a:r>
              <a:rPr dirty="0" err="1"/>
              <a:t>train에서</a:t>
            </a:r>
            <a:r>
              <a:rPr dirty="0"/>
              <a:t> </a:t>
            </a:r>
            <a:r>
              <a:rPr dirty="0" err="1"/>
              <a:t>배운</a:t>
            </a:r>
            <a:r>
              <a:rPr dirty="0"/>
              <a:t> </a:t>
            </a:r>
            <a:r>
              <a:rPr dirty="0" err="1"/>
              <a:t>전처리</a:t>
            </a:r>
            <a:r>
              <a:rPr dirty="0"/>
              <a:t> </a:t>
            </a:r>
            <a:r>
              <a:rPr dirty="0" err="1"/>
              <a:t>기준만</a:t>
            </a:r>
            <a:r>
              <a:rPr dirty="0"/>
              <a:t> </a:t>
            </a:r>
            <a:r>
              <a:rPr dirty="0" err="1"/>
              <a:t>적용합니다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학생에게</a:t>
            </a:r>
            <a:r>
              <a:rPr dirty="0"/>
              <a:t> </a:t>
            </a:r>
            <a:r>
              <a:rPr dirty="0" err="1"/>
              <a:t>물을</a:t>
            </a:r>
            <a:r>
              <a:rPr dirty="0"/>
              <a:t> </a:t>
            </a:r>
            <a:r>
              <a:rPr dirty="0" err="1"/>
              <a:t>질문</a:t>
            </a:r>
            <a:r>
              <a:rPr dirty="0"/>
              <a:t>]</a:t>
            </a:r>
          </a:p>
          <a:p>
            <a:r>
              <a:rPr dirty="0" err="1"/>
              <a:t>정답</a:t>
            </a:r>
            <a:r>
              <a:rPr dirty="0"/>
              <a:t> </a:t>
            </a:r>
            <a:r>
              <a:rPr dirty="0" err="1"/>
              <a:t>열이</a:t>
            </a:r>
            <a:r>
              <a:rPr dirty="0"/>
              <a:t> </a:t>
            </a:r>
            <a:r>
              <a:rPr dirty="0" err="1"/>
              <a:t>들어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파일과</a:t>
            </a:r>
            <a:r>
              <a:rPr dirty="0"/>
              <a:t> </a:t>
            </a:r>
            <a:r>
              <a:rPr dirty="0" err="1"/>
              <a:t>처음</a:t>
            </a:r>
            <a:r>
              <a:rPr dirty="0"/>
              <a:t> </a:t>
            </a:r>
            <a:r>
              <a:rPr dirty="0" err="1"/>
              <a:t>보는</a:t>
            </a:r>
            <a:r>
              <a:rPr dirty="0"/>
              <a:t> </a:t>
            </a:r>
            <a:r>
              <a:rPr dirty="0" err="1"/>
              <a:t>새</a:t>
            </a:r>
            <a:r>
              <a:rPr dirty="0"/>
              <a:t> </a:t>
            </a:r>
            <a:r>
              <a:rPr dirty="0" err="1"/>
              <a:t>대상</a:t>
            </a:r>
            <a:r>
              <a:rPr dirty="0"/>
              <a:t> </a:t>
            </a:r>
            <a:r>
              <a:rPr dirty="0" err="1"/>
              <a:t>파일은</a:t>
            </a:r>
            <a:r>
              <a:rPr dirty="0"/>
              <a:t> </a:t>
            </a:r>
            <a:r>
              <a:rPr dirty="0" err="1"/>
              <a:t>무엇이</a:t>
            </a:r>
            <a:r>
              <a:rPr dirty="0"/>
              <a:t> </a:t>
            </a:r>
            <a:r>
              <a:rPr dirty="0" err="1"/>
              <a:t>다른가요</a:t>
            </a:r>
            <a:r>
              <a:rPr dirty="0"/>
              <a:t>?</a:t>
            </a:r>
          </a:p>
          <a:p>
            <a:r>
              <a:rPr dirty="0"/>
              <a:t>[</a:t>
            </a:r>
            <a:r>
              <a:rPr dirty="0" err="1"/>
              <a:t>기대</a:t>
            </a:r>
            <a:r>
              <a:rPr dirty="0"/>
              <a:t> </a:t>
            </a:r>
            <a:r>
              <a:rPr dirty="0" err="1"/>
              <a:t>답</a:t>
            </a:r>
            <a:r>
              <a:rPr dirty="0"/>
              <a:t>]</a:t>
            </a:r>
          </a:p>
          <a:p>
            <a:r>
              <a:rPr dirty="0" err="1"/>
              <a:t>신규</a:t>
            </a:r>
            <a:r>
              <a:rPr dirty="0"/>
              <a:t> </a:t>
            </a:r>
            <a:r>
              <a:rPr dirty="0" err="1"/>
              <a:t>파일에는</a:t>
            </a:r>
            <a:r>
              <a:rPr dirty="0"/>
              <a:t> </a:t>
            </a:r>
            <a:r>
              <a:rPr dirty="0" err="1"/>
              <a:t>아직</a:t>
            </a:r>
            <a:r>
              <a:rPr dirty="0"/>
              <a:t> </a:t>
            </a:r>
            <a:r>
              <a:rPr dirty="0" err="1"/>
              <a:t>판단</a:t>
            </a:r>
            <a:r>
              <a:rPr dirty="0"/>
              <a:t> </a:t>
            </a:r>
            <a:r>
              <a:rPr dirty="0" err="1"/>
              <a:t>결과인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 </a:t>
            </a:r>
            <a:r>
              <a:rPr dirty="0" err="1"/>
              <a:t>y가</a:t>
            </a:r>
            <a:r>
              <a:rPr dirty="0"/>
              <a:t> </a:t>
            </a:r>
            <a:r>
              <a:rPr dirty="0" err="1"/>
              <a:t>없습니다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근거</a:t>
            </a:r>
            <a:r>
              <a:rPr dirty="0"/>
              <a:t> </a:t>
            </a:r>
            <a:r>
              <a:rPr dirty="0" err="1"/>
              <a:t>자료</a:t>
            </a:r>
            <a:r>
              <a:rPr dirty="0"/>
              <a:t>] 1주차_제조_데이터사전.md, </a:t>
            </a:r>
            <a:r>
              <a:rPr dirty="0" err="1"/>
              <a:t>manufacturing_equipment.csv</a:t>
            </a:r>
            <a:r>
              <a:rPr dirty="0"/>
              <a:t>, </a:t>
            </a:r>
            <a:r>
              <a:rPr dirty="0" err="1"/>
              <a:t>manufacturing_specs.csv</a:t>
            </a:r>
            <a:r>
              <a:rPr dirty="0"/>
              <a:t>, </a:t>
            </a:r>
            <a:r>
              <a:rPr dirty="0" err="1"/>
              <a:t>제조</a:t>
            </a:r>
            <a:r>
              <a:rPr dirty="0"/>
              <a:t> </a:t>
            </a:r>
            <a:r>
              <a:rPr dirty="0" err="1"/>
              <a:t>선택과제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 </a:t>
            </a:r>
            <a:r>
              <a:rPr dirty="0" err="1"/>
              <a:t>노트북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장의</a:t>
            </a:r>
            <a:r>
              <a:rPr dirty="0"/>
              <a:t> </a:t>
            </a:r>
            <a:r>
              <a:rPr dirty="0" err="1"/>
              <a:t>목표</a:t>
            </a:r>
            <a:r>
              <a:rPr dirty="0"/>
              <a:t>]</a:t>
            </a:r>
          </a:p>
          <a:p>
            <a:r>
              <a:rPr dirty="0" err="1"/>
              <a:t>오류가</a:t>
            </a:r>
            <a:r>
              <a:rPr dirty="0"/>
              <a:t> </a:t>
            </a:r>
            <a:r>
              <a:rPr dirty="0" err="1"/>
              <a:t>우연히</a:t>
            </a:r>
            <a:r>
              <a:rPr dirty="0"/>
              <a:t> </a:t>
            </a:r>
            <a:r>
              <a:rPr dirty="0" err="1"/>
              <a:t>생긴</a:t>
            </a:r>
            <a:r>
              <a:rPr dirty="0"/>
              <a:t> </a:t>
            </a:r>
            <a:r>
              <a:rPr dirty="0" err="1"/>
              <a:t>것이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1주차 </a:t>
            </a:r>
            <a:r>
              <a:rPr dirty="0" err="1"/>
              <a:t>정제</a:t>
            </a:r>
            <a:r>
              <a:rPr dirty="0"/>
              <a:t> </a:t>
            </a:r>
            <a:r>
              <a:rPr dirty="0" err="1"/>
              <a:t>기술을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분야에서</a:t>
            </a:r>
            <a:r>
              <a:rPr dirty="0"/>
              <a:t> </a:t>
            </a:r>
            <a:r>
              <a:rPr dirty="0" err="1"/>
              <a:t>다시</a:t>
            </a:r>
            <a:r>
              <a:rPr dirty="0"/>
              <a:t> </a:t>
            </a:r>
            <a:r>
              <a:rPr dirty="0" err="1"/>
              <a:t>사용하도록</a:t>
            </a:r>
            <a:r>
              <a:rPr dirty="0"/>
              <a:t> </a:t>
            </a:r>
            <a:r>
              <a:rPr dirty="0" err="1"/>
              <a:t>설계되었음을</a:t>
            </a:r>
            <a:r>
              <a:rPr dirty="0"/>
              <a:t> </a:t>
            </a:r>
            <a:r>
              <a:rPr dirty="0" err="1"/>
              <a:t>설명합니다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의도적으로</a:t>
            </a:r>
            <a:r>
              <a:rPr dirty="0"/>
              <a:t> </a:t>
            </a:r>
            <a:r>
              <a:rPr dirty="0" err="1"/>
              <a:t>넣은</a:t>
            </a:r>
            <a:r>
              <a:rPr dirty="0"/>
              <a:t> </a:t>
            </a:r>
            <a:r>
              <a:rPr dirty="0" err="1"/>
              <a:t>문제</a:t>
            </a:r>
            <a:r>
              <a:rPr dirty="0"/>
              <a:t>]</a:t>
            </a:r>
          </a:p>
          <a:p>
            <a:r>
              <a:rPr dirty="0"/>
              <a:t>- </a:t>
            </a:r>
            <a:r>
              <a:rPr dirty="0" err="1"/>
              <a:t>중복</a:t>
            </a:r>
            <a:r>
              <a:rPr dirty="0"/>
              <a:t> </a:t>
            </a:r>
            <a:r>
              <a:rPr dirty="0" err="1"/>
              <a:t>equipment_id</a:t>
            </a:r>
            <a:r>
              <a:rPr dirty="0"/>
              <a:t> 3행을 </a:t>
            </a:r>
            <a:r>
              <a:rPr dirty="0" err="1"/>
              <a:t>제거해</a:t>
            </a:r>
            <a:r>
              <a:rPr dirty="0"/>
              <a:t> 240대로 </a:t>
            </a:r>
            <a:r>
              <a:rPr dirty="0" err="1"/>
              <a:t>정리합니다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공장명이</a:t>
            </a:r>
            <a:r>
              <a:rPr dirty="0"/>
              <a:t> Seoul Plant, </a:t>
            </a:r>
            <a:r>
              <a:rPr dirty="0" err="1"/>
              <a:t>seoul</a:t>
            </a:r>
            <a:r>
              <a:rPr dirty="0"/>
              <a:t> plant, </a:t>
            </a:r>
            <a:r>
              <a:rPr dirty="0" err="1"/>
              <a:t>공백</a:t>
            </a:r>
            <a:r>
              <a:rPr dirty="0"/>
              <a:t> </a:t>
            </a:r>
            <a:r>
              <a:rPr dirty="0" err="1"/>
              <a:t>포함</a:t>
            </a:r>
            <a:r>
              <a:rPr dirty="0"/>
              <a:t> </a:t>
            </a:r>
            <a:r>
              <a:rPr dirty="0" err="1"/>
              <a:t>값으로</a:t>
            </a:r>
            <a:r>
              <a:rPr dirty="0"/>
              <a:t> </a:t>
            </a:r>
            <a:r>
              <a:rPr dirty="0" err="1"/>
              <a:t>섞여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rated_cycle_sec의</a:t>
            </a:r>
            <a:r>
              <a:rPr dirty="0"/>
              <a:t> </a:t>
            </a:r>
            <a:r>
              <a:rPr dirty="0" err="1"/>
              <a:t>미측정</a:t>
            </a:r>
            <a:r>
              <a:rPr dirty="0"/>
              <a:t> 4개를 </a:t>
            </a:r>
            <a:r>
              <a:rPr dirty="0" err="1"/>
              <a:t>숫자</a:t>
            </a:r>
            <a:r>
              <a:rPr dirty="0"/>
              <a:t> </a:t>
            </a:r>
            <a:r>
              <a:rPr dirty="0" err="1"/>
              <a:t>변환</a:t>
            </a:r>
            <a:r>
              <a:rPr dirty="0"/>
              <a:t> </a:t>
            </a:r>
            <a:r>
              <a:rPr dirty="0" err="1"/>
              <a:t>뒤</a:t>
            </a:r>
            <a:r>
              <a:rPr dirty="0"/>
              <a:t> </a:t>
            </a:r>
            <a:r>
              <a:rPr dirty="0" err="1"/>
              <a:t>결측으로</a:t>
            </a:r>
            <a:r>
              <a:rPr dirty="0"/>
              <a:t> </a:t>
            </a:r>
            <a:r>
              <a:rPr dirty="0" err="1"/>
              <a:t>처리합니다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target_pressure_bar의</a:t>
            </a:r>
            <a:r>
              <a:rPr dirty="0"/>
              <a:t> </a:t>
            </a:r>
            <a:r>
              <a:rPr dirty="0" err="1"/>
              <a:t>빈칸</a:t>
            </a:r>
            <a:r>
              <a:rPr dirty="0"/>
              <a:t> 4개를 </a:t>
            </a:r>
            <a:r>
              <a:rPr dirty="0" err="1"/>
              <a:t>중앙값으로</a:t>
            </a:r>
            <a:r>
              <a:rPr dirty="0"/>
              <a:t> </a:t>
            </a:r>
            <a:r>
              <a:rPr dirty="0" err="1"/>
              <a:t>채웁니다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신규</a:t>
            </a:r>
            <a:r>
              <a:rPr dirty="0"/>
              <a:t> </a:t>
            </a:r>
            <a:r>
              <a:rPr dirty="0" err="1"/>
              <a:t>설비에는</a:t>
            </a:r>
            <a:r>
              <a:rPr dirty="0"/>
              <a:t> </a:t>
            </a:r>
            <a:r>
              <a:rPr dirty="0" err="1"/>
              <a:t>처음</a:t>
            </a:r>
            <a:r>
              <a:rPr dirty="0"/>
              <a:t> </a:t>
            </a:r>
            <a:r>
              <a:rPr dirty="0" err="1"/>
              <a:t>보는</a:t>
            </a:r>
            <a:r>
              <a:rPr dirty="0"/>
              <a:t> </a:t>
            </a:r>
            <a:r>
              <a:rPr dirty="0" err="1"/>
              <a:t>레이저검사기</a:t>
            </a:r>
            <a:r>
              <a:rPr dirty="0"/>
              <a:t> </a:t>
            </a:r>
            <a:r>
              <a:rPr dirty="0" err="1"/>
              <a:t>범주가</a:t>
            </a:r>
            <a:r>
              <a:rPr dirty="0"/>
              <a:t> </a:t>
            </a:r>
            <a:r>
              <a:rPr dirty="0" err="1"/>
              <a:t>들어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학생에게</a:t>
            </a:r>
            <a:r>
              <a:rPr dirty="0"/>
              <a:t> </a:t>
            </a:r>
            <a:r>
              <a:rPr dirty="0" err="1"/>
              <a:t>물을</a:t>
            </a:r>
            <a:r>
              <a:rPr dirty="0"/>
              <a:t> </a:t>
            </a:r>
            <a:r>
              <a:rPr dirty="0" err="1"/>
              <a:t>질문</a:t>
            </a:r>
            <a:r>
              <a:rPr dirty="0"/>
              <a:t>]</a:t>
            </a:r>
          </a:p>
          <a:p>
            <a:r>
              <a:rPr dirty="0" err="1"/>
              <a:t>코드가</a:t>
            </a:r>
            <a:r>
              <a:rPr dirty="0"/>
              <a:t> </a:t>
            </a:r>
            <a:r>
              <a:rPr dirty="0" err="1"/>
              <a:t>실행되기만</a:t>
            </a:r>
            <a:r>
              <a:rPr dirty="0"/>
              <a:t> </a:t>
            </a:r>
            <a:r>
              <a:rPr dirty="0" err="1"/>
              <a:t>하면</a:t>
            </a:r>
            <a:r>
              <a:rPr dirty="0"/>
              <a:t> </a:t>
            </a:r>
            <a:r>
              <a:rPr dirty="0" err="1"/>
              <a:t>데이터가</a:t>
            </a:r>
            <a:r>
              <a:rPr dirty="0"/>
              <a:t> </a:t>
            </a:r>
            <a:r>
              <a:rPr dirty="0" err="1"/>
              <a:t>올바르게</a:t>
            </a:r>
            <a:r>
              <a:rPr dirty="0"/>
              <a:t> </a:t>
            </a:r>
            <a:r>
              <a:rPr dirty="0" err="1"/>
              <a:t>정리되었다고</a:t>
            </a:r>
            <a:r>
              <a:rPr dirty="0"/>
              <a:t> </a:t>
            </a:r>
            <a:r>
              <a:rPr dirty="0" err="1"/>
              <a:t>믿어도</a:t>
            </a:r>
            <a:r>
              <a:rPr dirty="0"/>
              <a:t> </a:t>
            </a:r>
            <a:r>
              <a:rPr dirty="0" err="1"/>
              <a:t>될까요</a:t>
            </a:r>
            <a:r>
              <a:rPr dirty="0"/>
              <a:t>?</a:t>
            </a:r>
          </a:p>
          <a:p>
            <a:r>
              <a:rPr dirty="0"/>
              <a:t>[</a:t>
            </a:r>
            <a:r>
              <a:rPr dirty="0" err="1"/>
              <a:t>기대</a:t>
            </a:r>
            <a:r>
              <a:rPr dirty="0"/>
              <a:t> </a:t>
            </a:r>
            <a:r>
              <a:rPr dirty="0" err="1"/>
              <a:t>답</a:t>
            </a:r>
            <a:r>
              <a:rPr dirty="0"/>
              <a:t>]</a:t>
            </a:r>
          </a:p>
          <a:p>
            <a:r>
              <a:rPr dirty="0" err="1"/>
              <a:t>행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, </a:t>
            </a:r>
            <a:r>
              <a:rPr dirty="0" err="1"/>
              <a:t>중복</a:t>
            </a:r>
            <a:r>
              <a:rPr dirty="0"/>
              <a:t>, </a:t>
            </a:r>
            <a:r>
              <a:rPr dirty="0" err="1"/>
              <a:t>결측</a:t>
            </a:r>
            <a:r>
              <a:rPr dirty="0"/>
              <a:t>, </a:t>
            </a:r>
            <a:r>
              <a:rPr dirty="0" err="1"/>
              <a:t>자료형과</a:t>
            </a:r>
            <a:r>
              <a:rPr dirty="0"/>
              <a:t> </a:t>
            </a:r>
            <a:r>
              <a:rPr dirty="0" err="1"/>
              <a:t>범주를</a:t>
            </a:r>
            <a:r>
              <a:rPr dirty="0"/>
              <a:t> </a:t>
            </a:r>
            <a:r>
              <a:rPr dirty="0" err="1"/>
              <a:t>결과로</a:t>
            </a:r>
            <a:r>
              <a:rPr dirty="0"/>
              <a:t> </a:t>
            </a:r>
            <a:r>
              <a:rPr dirty="0" err="1"/>
              <a:t>다시</a:t>
            </a:r>
            <a:r>
              <a:rPr dirty="0"/>
              <a:t> </a:t>
            </a:r>
            <a:r>
              <a:rPr dirty="0" err="1"/>
              <a:t>확인해야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근거</a:t>
            </a:r>
            <a:r>
              <a:rPr dirty="0"/>
              <a:t> </a:t>
            </a:r>
            <a:r>
              <a:rPr dirty="0" err="1"/>
              <a:t>자료</a:t>
            </a:r>
            <a:r>
              <a:rPr dirty="0"/>
              <a:t>] 1주차_제조_데이터사전.md, </a:t>
            </a:r>
            <a:r>
              <a:rPr dirty="0" err="1"/>
              <a:t>manufacturing_equipment.csv</a:t>
            </a:r>
            <a:r>
              <a:rPr dirty="0"/>
              <a:t>, </a:t>
            </a:r>
            <a:r>
              <a:rPr dirty="0" err="1"/>
              <a:t>manufacturing_specs.csv</a:t>
            </a:r>
            <a:r>
              <a:rPr dirty="0"/>
              <a:t>, </a:t>
            </a:r>
            <a:r>
              <a:rPr dirty="0" err="1"/>
              <a:t>제조</a:t>
            </a:r>
            <a:r>
              <a:rPr dirty="0"/>
              <a:t> </a:t>
            </a:r>
            <a:r>
              <a:rPr dirty="0" err="1"/>
              <a:t>선택과제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 </a:t>
            </a:r>
            <a:r>
              <a:rPr dirty="0" err="1"/>
              <a:t>노트북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세 파일이 과제에서 어떤 순서로 사용되는지 한눈에 봅니다.</a:t>
            </a:r>
          </a:p>
          <a:p>
            <a:endParaRPr/>
          </a:p>
          <a:p>
            <a:r>
              <a:t>[설명 순서]</a:t>
            </a:r>
          </a:p>
          <a:p>
            <a:r>
              <a:t>기준표 확인, 잘못된 값 정리, 추가 기준표 결합, X와 y 분리, 신규 대상에 같은 전처리 적용 순서입니다.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신규 데이터에 fit_transform 대신 transform을 쓰는 이유는 무엇인가요?</a:t>
            </a:r>
          </a:p>
          <a:p>
            <a:r>
              <a:t>[기대 답]</a:t>
            </a:r>
          </a:p>
          <a:p>
            <a:r>
              <a:t>기존 train에서 배운 기준을 그대로 사용해야 같은 열 구조와 비교 기준을 유지할 수 있기 때문입니다.</a:t>
            </a:r>
          </a:p>
          <a:p>
            <a:endParaRPr/>
          </a:p>
          <a:p>
            <a:r>
              <a:t>[이미지 출처] 프로젝트 내 1주차_제조_선택과제_한눈에보기.png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manufacturing_equipment.csv의 열을 역할별로 먼저 묶어 본 뒤 다음 장부터 한 열씩 살펴봅니다.</a:t>
            </a:r>
          </a:p>
          <a:p>
            <a:endParaRPr/>
          </a:p>
          <a:p>
            <a:r>
              <a:t>[자료구조]</a:t>
            </a:r>
          </a:p>
          <a:p>
            <a:r>
              <a:t>CSV를 pd.read_csv로 읽으면 DataFrame이 되고, 한 열을 대괄호 한 겹으로 꺼내면 Series가 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표에서 한 행은 무엇을 뜻하나요?</a:t>
            </a:r>
          </a:p>
          <a:p>
            <a:r>
              <a:t>[기대 답]</a:t>
            </a:r>
          </a:p>
          <a:p>
            <a:r>
              <a:t>설비 한 대입니다.</a:t>
            </a:r>
          </a:p>
          <a:p>
            <a:endParaRPr/>
          </a:p>
          <a:p>
            <a:r>
              <a:t>[근거 자료] 1주차_제조_데이터사전.md, manufacturing_equipment.csv, manufacturing_specs.csv,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equipment_id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설비 기준표와 설비 사양표 DataFrame의 한 열입니다. 대괄호 한 겹으로 선택하면 Series가 됩니다. 읽은 직후 자료형은 문자열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설비 한 대를 다른 설비와 구분하고 두 표를 정확히 연결하는 기준입니다.</a:t>
            </a:r>
          </a:p>
          <a:p>
            <a:endParaRPr/>
          </a:p>
          <a:p>
            <a:r>
              <a:t>[주의할 점]</a:t>
            </a:r>
          </a:p>
          <a:p>
            <a:r>
              <a:t>원본 243행에는 같은 ID가 3번 더 들어 있습니다. 이름이나 행 번호로 결합하면 다른 설비가 연결될 수 있습니다.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설비 이름 대신 ID로 표를 연결하는 이유는 무엇일까요?</a:t>
            </a:r>
          </a:p>
          <a:p>
            <a:r>
              <a:t>[기대 답]</a:t>
            </a:r>
          </a:p>
          <a:p>
            <a:r>
              <a:t>이름은 바뀌거나 겹칠 수 있지만 고유 ID는 같은 설비를 안정적으로 가리키기 때문입니다.</a:t>
            </a:r>
          </a:p>
          <a:p>
            <a:endParaRPr/>
          </a:p>
          <a:p>
            <a:r>
              <a:t>[과제 연결]</a:t>
            </a:r>
          </a:p>
          <a:p>
            <a:r>
              <a:t>중복 제거 · is_unique 확인 · merge의 on 값</a:t>
            </a:r>
          </a:p>
          <a:p>
            <a:endParaRPr/>
          </a:p>
          <a:p>
            <a:r>
              <a:t>[근거 자료] 1주차_제조_데이터사전.md, manufacturing_equipment.csv, manufacturing_specs.csv,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equipment_name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설비 기준표 DataFrame의 한 열입니다. 대괄호 한 겹으로 선택하면 Series가 됩니다. 읽은 직후 자료형은 문자열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현장 작업자가 설비를 화면과 보고서에서 알아보기 쉽게 보여 주는 이름입니다.</a:t>
            </a:r>
          </a:p>
          <a:p>
            <a:endParaRPr/>
          </a:p>
          <a:p>
            <a:r>
              <a:t>[주의할 점]</a:t>
            </a:r>
          </a:p>
          <a:p>
            <a:r>
              <a:t>사람이 읽기에는 편하지만 고유하다고 보장할 수 없으므로 표 결합의 기준으로 쓰지 않습니다.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설비 이름만으로 같은 설비인지 판단하면 어떤 문제가 생길까요?</a:t>
            </a:r>
          </a:p>
          <a:p>
            <a:r>
              <a:t>[기대 답]</a:t>
            </a:r>
          </a:p>
          <a:p>
            <a:r>
              <a:t>이름이 중복되거나 바뀌면 다른 설비를 같은 대상으로 오해할 수 있습니다.</a:t>
            </a:r>
          </a:p>
          <a:p>
            <a:endParaRPr/>
          </a:p>
          <a:p>
            <a:r>
              <a:t>[과제 연결]</a:t>
            </a:r>
          </a:p>
          <a:p>
            <a:r>
              <a:t>결과표 표시용 · ID와 함께 확인</a:t>
            </a:r>
          </a:p>
          <a:p>
            <a:endParaRPr/>
          </a:p>
          <a:p>
            <a:r>
              <a:t>[근거 자료] 1주차_제조_데이터사전.md, manufacturing_equipment.csv, manufacturing_specs.csv,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plant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설비 기준표 DataFrame의 한 열입니다. 대괄호 한 겹으로 선택하면 Series가 됩니다. 읽은 직후 자료형은 문자열 범주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공장별 설비 수와 정비 수요를 비교하고 담당 조직을 정하는 데 사용합니다.</a:t>
            </a:r>
          </a:p>
          <a:p>
            <a:endParaRPr/>
          </a:p>
          <a:p>
            <a:r>
              <a:t>[주의할 점]</a:t>
            </a:r>
          </a:p>
          <a:p>
            <a:r>
              <a:t>서울공장이 Seoul Plant, seoul plant처럼 섞이고 일부 값에는 공백이 있습니다. 먼저 표기를 통일해야 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같은 서울공장이 세 가지 이름으로 남으면 집계 결과는 어떻게 될까요?</a:t>
            </a:r>
          </a:p>
          <a:p>
            <a:r>
              <a:t>[기대 답]</a:t>
            </a:r>
          </a:p>
          <a:p>
            <a:r>
              <a:t>서로 다른 공장처럼 나뉘어 설비 수와 정비 수요가 잘못 집계됩니다.</a:t>
            </a:r>
          </a:p>
          <a:p>
            <a:endParaRPr/>
          </a:p>
          <a:p>
            <a:r>
              <a:t>[과제 연결]</a:t>
            </a:r>
          </a:p>
          <a:p>
            <a:r>
              <a:t>str.strip · replace · 문자 전처리</a:t>
            </a:r>
          </a:p>
          <a:p>
            <a:endParaRPr/>
          </a:p>
          <a:p>
            <a:r>
              <a:t>[근거 자료] 1주차_제조_데이터사전.md, manufacturing_equipment.csv, manufacturing_specs.csv,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line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설비 기준표 DataFrame의 한 열입니다. 대괄호 한 겹으로 선택하면 Series가 됩니다. 읽은 직후 자료형은 문자열 범주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같은 공장 안에서도 어느 생산라인의 설비인지 구분합니다.</a:t>
            </a:r>
          </a:p>
          <a:p>
            <a:endParaRPr/>
          </a:p>
          <a:p>
            <a:r>
              <a:t>[주의할 점]</a:t>
            </a:r>
          </a:p>
          <a:p>
            <a:r>
              <a:t>숫자가 아니라 범주이므로 평균을 내기보다 라인별 개수나 비율을 비교합니다.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라인 이름에 평균을 계산하는 것이 의미가 있을까요?</a:t>
            </a:r>
          </a:p>
          <a:p>
            <a:r>
              <a:t>[기대 답]</a:t>
            </a:r>
          </a:p>
          <a:p>
            <a:r>
              <a:t>아니요. 라인은 계산값이 아니라 대상을 나누는 범주입니다.</a:t>
            </a:r>
          </a:p>
          <a:p>
            <a:endParaRPr/>
          </a:p>
          <a:p>
            <a:r>
              <a:t>[과제 연결]</a:t>
            </a:r>
          </a:p>
          <a:p>
            <a:r>
              <a:t>groupby 기준 · OneHotEncoder 대상</a:t>
            </a:r>
          </a:p>
          <a:p>
            <a:endParaRPr/>
          </a:p>
          <a:p>
            <a:r>
              <a:t>[근거 자료] 1주차_제조_데이터사전.md, manufacturing_equipment.csv, manufacturing_specs.csv,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장의</a:t>
            </a:r>
            <a:r>
              <a:rPr dirty="0"/>
              <a:t> </a:t>
            </a:r>
            <a:r>
              <a:rPr dirty="0" err="1"/>
              <a:t>목표</a:t>
            </a:r>
            <a:r>
              <a:rPr dirty="0"/>
              <a:t>]</a:t>
            </a:r>
          </a:p>
          <a:p>
            <a:r>
              <a:rPr dirty="0" err="1"/>
              <a:t>equipment_type</a:t>
            </a:r>
            <a:r>
              <a:rPr dirty="0"/>
              <a:t> </a:t>
            </a:r>
            <a:r>
              <a:rPr dirty="0" err="1"/>
              <a:t>열의</a:t>
            </a:r>
            <a:r>
              <a:rPr dirty="0"/>
              <a:t> </a:t>
            </a:r>
            <a:r>
              <a:rPr dirty="0" err="1"/>
              <a:t>업무</a:t>
            </a:r>
            <a:r>
              <a:rPr dirty="0"/>
              <a:t> </a:t>
            </a:r>
            <a:r>
              <a:rPr dirty="0" err="1"/>
              <a:t>의미와</a:t>
            </a:r>
            <a:r>
              <a:rPr dirty="0"/>
              <a:t> </a:t>
            </a:r>
            <a:r>
              <a:rPr dirty="0" err="1"/>
              <a:t>자료형</a:t>
            </a:r>
            <a:r>
              <a:rPr dirty="0"/>
              <a:t>, </a:t>
            </a:r>
            <a:r>
              <a:rPr dirty="0" err="1"/>
              <a:t>과제에서의</a:t>
            </a:r>
            <a:r>
              <a:rPr dirty="0"/>
              <a:t> </a:t>
            </a:r>
            <a:r>
              <a:rPr dirty="0" err="1"/>
              <a:t>사용</a:t>
            </a:r>
            <a:r>
              <a:rPr dirty="0"/>
              <a:t> </a:t>
            </a:r>
            <a:r>
              <a:rPr dirty="0" err="1"/>
              <a:t>방법을</a:t>
            </a:r>
            <a:r>
              <a:rPr dirty="0"/>
              <a:t> </a:t>
            </a:r>
            <a:r>
              <a:rPr dirty="0" err="1"/>
              <a:t>연결합니다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자료구조</a:t>
            </a:r>
            <a:r>
              <a:rPr dirty="0"/>
              <a:t>]</a:t>
            </a:r>
          </a:p>
          <a:p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열은</a:t>
            </a:r>
            <a:r>
              <a:rPr dirty="0"/>
              <a:t> </a:t>
            </a:r>
            <a:r>
              <a:rPr dirty="0" err="1"/>
              <a:t>설비</a:t>
            </a:r>
            <a:r>
              <a:rPr dirty="0"/>
              <a:t> </a:t>
            </a:r>
            <a:r>
              <a:rPr dirty="0" err="1"/>
              <a:t>기준표</a:t>
            </a:r>
            <a:r>
              <a:rPr dirty="0"/>
              <a:t> </a:t>
            </a:r>
            <a:r>
              <a:rPr dirty="0" err="1"/>
              <a:t>DataFrame의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열입니다</a:t>
            </a:r>
            <a:r>
              <a:rPr dirty="0"/>
              <a:t>. </a:t>
            </a:r>
            <a:r>
              <a:rPr dirty="0" err="1"/>
              <a:t>대괄호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겹으로</a:t>
            </a:r>
            <a:r>
              <a:rPr dirty="0"/>
              <a:t> </a:t>
            </a:r>
            <a:r>
              <a:rPr dirty="0" err="1"/>
              <a:t>선택하면</a:t>
            </a:r>
            <a:r>
              <a:rPr dirty="0"/>
              <a:t> </a:t>
            </a:r>
            <a:r>
              <a:rPr dirty="0" err="1"/>
              <a:t>Series가</a:t>
            </a:r>
            <a:r>
              <a:rPr dirty="0"/>
              <a:t> </a:t>
            </a:r>
            <a:r>
              <a:rPr dirty="0" err="1"/>
              <a:t>됩니다</a:t>
            </a:r>
            <a:r>
              <a:rPr dirty="0"/>
              <a:t>. </a:t>
            </a:r>
            <a:r>
              <a:rPr dirty="0" err="1"/>
              <a:t>읽은</a:t>
            </a:r>
            <a:r>
              <a:rPr dirty="0"/>
              <a:t> </a:t>
            </a:r>
            <a:r>
              <a:rPr dirty="0" err="1"/>
              <a:t>직후</a:t>
            </a:r>
            <a:r>
              <a:rPr dirty="0"/>
              <a:t> </a:t>
            </a:r>
            <a:r>
              <a:rPr dirty="0" err="1"/>
              <a:t>자료형은</a:t>
            </a:r>
            <a:r>
              <a:rPr dirty="0"/>
              <a:t> </a:t>
            </a:r>
            <a:r>
              <a:rPr dirty="0" err="1"/>
              <a:t>문자열</a:t>
            </a:r>
            <a:r>
              <a:rPr dirty="0"/>
              <a:t> </a:t>
            </a:r>
            <a:r>
              <a:rPr dirty="0" err="1"/>
              <a:t>범주</a:t>
            </a:r>
            <a:r>
              <a:rPr dirty="0"/>
              <a:t> · </a:t>
            </a:r>
            <a:r>
              <a:rPr dirty="0" err="1"/>
              <a:t>object입니다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업무</a:t>
            </a:r>
            <a:r>
              <a:rPr dirty="0"/>
              <a:t> </a:t>
            </a:r>
            <a:r>
              <a:rPr dirty="0" err="1"/>
              <a:t>배경</a:t>
            </a:r>
            <a:r>
              <a:rPr dirty="0"/>
              <a:t>]</a:t>
            </a:r>
          </a:p>
          <a:p>
            <a:r>
              <a:rPr dirty="0" err="1"/>
              <a:t>설비</a:t>
            </a:r>
            <a:r>
              <a:rPr dirty="0"/>
              <a:t> </a:t>
            </a:r>
            <a:r>
              <a:rPr dirty="0" err="1"/>
              <a:t>종류에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정상</a:t>
            </a:r>
            <a:r>
              <a:rPr dirty="0"/>
              <a:t> </a:t>
            </a:r>
            <a:r>
              <a:rPr dirty="0" err="1"/>
              <a:t>운전</a:t>
            </a:r>
            <a:r>
              <a:rPr dirty="0"/>
              <a:t> </a:t>
            </a:r>
            <a:r>
              <a:rPr dirty="0" err="1"/>
              <a:t>범위와</a:t>
            </a:r>
            <a:r>
              <a:rPr dirty="0"/>
              <a:t> </a:t>
            </a:r>
            <a:r>
              <a:rPr dirty="0" err="1"/>
              <a:t>정비</a:t>
            </a:r>
            <a:r>
              <a:rPr dirty="0"/>
              <a:t> </a:t>
            </a:r>
            <a:r>
              <a:rPr dirty="0" err="1"/>
              <a:t>방식이</a:t>
            </a:r>
            <a:r>
              <a:rPr dirty="0"/>
              <a:t> </a:t>
            </a:r>
            <a:r>
              <a:rPr dirty="0" err="1"/>
              <a:t>달라질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있어</a:t>
            </a:r>
            <a:r>
              <a:rPr dirty="0"/>
              <a:t> </a:t>
            </a:r>
            <a:r>
              <a:rPr dirty="0" err="1"/>
              <a:t>비교</a:t>
            </a:r>
            <a:r>
              <a:rPr dirty="0"/>
              <a:t> </a:t>
            </a:r>
            <a:r>
              <a:rPr dirty="0" err="1"/>
              <a:t>기준이</a:t>
            </a:r>
            <a:r>
              <a:rPr dirty="0"/>
              <a:t> </a:t>
            </a:r>
            <a:r>
              <a:rPr dirty="0" err="1"/>
              <a:t>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주의할</a:t>
            </a:r>
            <a:r>
              <a:rPr dirty="0"/>
              <a:t> </a:t>
            </a:r>
            <a:r>
              <a:rPr dirty="0" err="1"/>
              <a:t>점</a:t>
            </a:r>
            <a:r>
              <a:rPr dirty="0"/>
              <a:t>]</a:t>
            </a:r>
          </a:p>
          <a:p>
            <a:r>
              <a:rPr dirty="0" err="1"/>
              <a:t>신규</a:t>
            </a:r>
            <a:r>
              <a:rPr dirty="0"/>
              <a:t> </a:t>
            </a:r>
            <a:r>
              <a:rPr dirty="0" err="1"/>
              <a:t>데이터에는</a:t>
            </a:r>
            <a:r>
              <a:rPr dirty="0"/>
              <a:t> </a:t>
            </a: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학습표에</a:t>
            </a:r>
            <a:r>
              <a:rPr dirty="0"/>
              <a:t> </a:t>
            </a:r>
            <a:r>
              <a:rPr dirty="0" err="1"/>
              <a:t>없던</a:t>
            </a:r>
            <a:r>
              <a:rPr dirty="0"/>
              <a:t> </a:t>
            </a:r>
            <a:r>
              <a:rPr dirty="0" err="1"/>
              <a:t>레이저검사기가</a:t>
            </a:r>
            <a:r>
              <a:rPr dirty="0"/>
              <a:t> </a:t>
            </a:r>
            <a:r>
              <a:rPr dirty="0" err="1"/>
              <a:t>등장합니다</a:t>
            </a:r>
            <a:r>
              <a:rPr dirty="0"/>
              <a:t>. </a:t>
            </a:r>
            <a:r>
              <a:rPr dirty="0" err="1"/>
              <a:t>새</a:t>
            </a:r>
            <a:r>
              <a:rPr dirty="0"/>
              <a:t> </a:t>
            </a:r>
            <a:r>
              <a:rPr dirty="0" err="1"/>
              <a:t>범주가</a:t>
            </a:r>
            <a:r>
              <a:rPr dirty="0"/>
              <a:t> </a:t>
            </a:r>
            <a:r>
              <a:rPr dirty="0" err="1"/>
              <a:t>들어와도</a:t>
            </a:r>
            <a:r>
              <a:rPr dirty="0"/>
              <a:t> </a:t>
            </a:r>
            <a:r>
              <a:rPr dirty="0" err="1"/>
              <a:t>오류가</a:t>
            </a:r>
            <a:r>
              <a:rPr dirty="0"/>
              <a:t> </a:t>
            </a:r>
            <a:r>
              <a:rPr dirty="0" err="1"/>
              <a:t>나지</a:t>
            </a:r>
            <a:r>
              <a:rPr dirty="0"/>
              <a:t> </a:t>
            </a:r>
            <a:r>
              <a:rPr dirty="0" err="1"/>
              <a:t>않게</a:t>
            </a:r>
            <a:r>
              <a:rPr dirty="0"/>
              <a:t> </a:t>
            </a:r>
            <a:r>
              <a:rPr dirty="0" err="1"/>
              <a:t>준비해야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학생에게</a:t>
            </a:r>
            <a:r>
              <a:rPr dirty="0"/>
              <a:t> </a:t>
            </a:r>
            <a:r>
              <a:rPr dirty="0" err="1"/>
              <a:t>물을</a:t>
            </a:r>
            <a:r>
              <a:rPr dirty="0"/>
              <a:t> </a:t>
            </a:r>
            <a:r>
              <a:rPr dirty="0" err="1"/>
              <a:t>질문</a:t>
            </a:r>
            <a:r>
              <a:rPr dirty="0"/>
              <a:t>]</a:t>
            </a:r>
          </a:p>
          <a:p>
            <a:r>
              <a:rPr dirty="0" err="1"/>
              <a:t>새</a:t>
            </a:r>
            <a:r>
              <a:rPr dirty="0"/>
              <a:t> </a:t>
            </a:r>
            <a:r>
              <a:rPr dirty="0" err="1"/>
              <a:t>설비</a:t>
            </a:r>
            <a:r>
              <a:rPr dirty="0"/>
              <a:t> </a:t>
            </a:r>
            <a:r>
              <a:rPr dirty="0" err="1"/>
              <a:t>종류가</a:t>
            </a:r>
            <a:r>
              <a:rPr dirty="0"/>
              <a:t> </a:t>
            </a:r>
            <a:r>
              <a:rPr dirty="0" err="1"/>
              <a:t>들어오면</a:t>
            </a:r>
            <a:r>
              <a:rPr dirty="0"/>
              <a:t> </a:t>
            </a: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숫자</a:t>
            </a:r>
            <a:r>
              <a:rPr dirty="0"/>
              <a:t> </a:t>
            </a:r>
            <a:r>
              <a:rPr dirty="0" err="1"/>
              <a:t>열</a:t>
            </a:r>
            <a:r>
              <a:rPr dirty="0"/>
              <a:t> </a:t>
            </a:r>
            <a:r>
              <a:rPr dirty="0" err="1"/>
              <a:t>구조를</a:t>
            </a:r>
            <a:r>
              <a:rPr dirty="0"/>
              <a:t> </a:t>
            </a:r>
            <a:r>
              <a:rPr dirty="0" err="1"/>
              <a:t>왜</a:t>
            </a:r>
            <a:r>
              <a:rPr dirty="0"/>
              <a:t> </a:t>
            </a:r>
            <a:r>
              <a:rPr dirty="0" err="1"/>
              <a:t>유지해야</a:t>
            </a:r>
            <a:r>
              <a:rPr dirty="0"/>
              <a:t> </a:t>
            </a:r>
            <a:r>
              <a:rPr dirty="0" err="1"/>
              <a:t>할까요</a:t>
            </a:r>
            <a:r>
              <a:rPr dirty="0"/>
              <a:t>?</a:t>
            </a:r>
          </a:p>
          <a:p>
            <a:r>
              <a:rPr dirty="0"/>
              <a:t>[</a:t>
            </a:r>
            <a:r>
              <a:rPr dirty="0" err="1"/>
              <a:t>기대</a:t>
            </a:r>
            <a:r>
              <a:rPr dirty="0"/>
              <a:t> </a:t>
            </a:r>
            <a:r>
              <a:rPr dirty="0" err="1"/>
              <a:t>답</a:t>
            </a:r>
            <a:r>
              <a:rPr dirty="0"/>
              <a:t>]</a:t>
            </a:r>
          </a:p>
          <a:p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전처리기와</a:t>
            </a:r>
            <a:r>
              <a:rPr dirty="0"/>
              <a:t> </a:t>
            </a:r>
            <a:r>
              <a:rPr dirty="0" err="1"/>
              <a:t>이후</a:t>
            </a:r>
            <a:r>
              <a:rPr dirty="0"/>
              <a:t> </a:t>
            </a:r>
            <a:r>
              <a:rPr dirty="0" err="1"/>
              <a:t>모델이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열</a:t>
            </a:r>
            <a:r>
              <a:rPr dirty="0"/>
              <a:t> </a:t>
            </a:r>
            <a:r>
              <a:rPr dirty="0" err="1"/>
              <a:t>구조를</a:t>
            </a:r>
            <a:r>
              <a:rPr dirty="0"/>
              <a:t> </a:t>
            </a:r>
            <a:r>
              <a:rPr dirty="0" err="1"/>
              <a:t>기대하기</a:t>
            </a:r>
            <a:r>
              <a:rPr dirty="0"/>
              <a:t> </a:t>
            </a:r>
            <a:r>
              <a:rPr dirty="0" err="1"/>
              <a:t>때문입니다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과제</a:t>
            </a:r>
            <a:r>
              <a:rPr dirty="0"/>
              <a:t> </a:t>
            </a:r>
            <a:r>
              <a:rPr dirty="0" err="1"/>
              <a:t>연결</a:t>
            </a:r>
            <a:r>
              <a:rPr dirty="0"/>
              <a:t>]</a:t>
            </a:r>
          </a:p>
          <a:p>
            <a:r>
              <a:rPr dirty="0" err="1"/>
              <a:t>범주형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· </a:t>
            </a:r>
            <a:r>
              <a:rPr dirty="0" err="1"/>
              <a:t>handle_unknown</a:t>
            </a:r>
            <a:r>
              <a:rPr dirty="0"/>
              <a:t>='ignore'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근거</a:t>
            </a:r>
            <a:r>
              <a:rPr dirty="0"/>
              <a:t> </a:t>
            </a:r>
            <a:r>
              <a:rPr dirty="0" err="1"/>
              <a:t>자료</a:t>
            </a:r>
            <a:r>
              <a:rPr dirty="0"/>
              <a:t>] 1주차_제조_데이터사전.md, </a:t>
            </a:r>
            <a:r>
              <a:rPr dirty="0" err="1"/>
              <a:t>manufacturing_equipment.csv</a:t>
            </a:r>
            <a:r>
              <a:rPr dirty="0"/>
              <a:t>, </a:t>
            </a:r>
            <a:r>
              <a:rPr dirty="0" err="1"/>
              <a:t>manufacturing_specs.csv</a:t>
            </a:r>
            <a:r>
              <a:rPr dirty="0"/>
              <a:t>, </a:t>
            </a:r>
            <a:r>
              <a:rPr dirty="0" err="1"/>
              <a:t>제조</a:t>
            </a:r>
            <a:r>
              <a:rPr dirty="0"/>
              <a:t> </a:t>
            </a:r>
            <a:r>
              <a:rPr dirty="0" err="1"/>
              <a:t>선택과제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 </a:t>
            </a:r>
            <a:r>
              <a:rPr dirty="0" err="1"/>
              <a:t>노트북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장의</a:t>
            </a:r>
            <a:r>
              <a:rPr dirty="0"/>
              <a:t> </a:t>
            </a:r>
            <a:r>
              <a:rPr dirty="0" err="1"/>
              <a:t>목표</a:t>
            </a:r>
            <a:r>
              <a:rPr dirty="0"/>
              <a:t>]</a:t>
            </a:r>
          </a:p>
          <a:p>
            <a:r>
              <a:rPr dirty="0"/>
              <a:t>manufacturer </a:t>
            </a:r>
            <a:r>
              <a:rPr dirty="0" err="1"/>
              <a:t>열의</a:t>
            </a:r>
            <a:r>
              <a:rPr dirty="0"/>
              <a:t> </a:t>
            </a:r>
            <a:r>
              <a:rPr dirty="0" err="1"/>
              <a:t>업무</a:t>
            </a:r>
            <a:r>
              <a:rPr dirty="0"/>
              <a:t> </a:t>
            </a:r>
            <a:r>
              <a:rPr dirty="0" err="1"/>
              <a:t>의미와</a:t>
            </a:r>
            <a:r>
              <a:rPr dirty="0"/>
              <a:t> </a:t>
            </a:r>
            <a:r>
              <a:rPr dirty="0" err="1"/>
              <a:t>자료형</a:t>
            </a:r>
            <a:r>
              <a:rPr dirty="0"/>
              <a:t>, </a:t>
            </a:r>
            <a:r>
              <a:rPr dirty="0" err="1"/>
              <a:t>과제에서의</a:t>
            </a:r>
            <a:r>
              <a:rPr dirty="0"/>
              <a:t> </a:t>
            </a:r>
            <a:r>
              <a:rPr dirty="0" err="1"/>
              <a:t>사용</a:t>
            </a:r>
            <a:r>
              <a:rPr dirty="0"/>
              <a:t> </a:t>
            </a:r>
            <a:r>
              <a:rPr dirty="0" err="1"/>
              <a:t>방법을</a:t>
            </a:r>
            <a:r>
              <a:rPr dirty="0"/>
              <a:t> </a:t>
            </a:r>
            <a:r>
              <a:rPr dirty="0" err="1"/>
              <a:t>연결합니다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자료구조</a:t>
            </a:r>
            <a:r>
              <a:rPr dirty="0"/>
              <a:t>]</a:t>
            </a:r>
          </a:p>
          <a:p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열은</a:t>
            </a:r>
            <a:r>
              <a:rPr dirty="0"/>
              <a:t> </a:t>
            </a:r>
            <a:r>
              <a:rPr dirty="0" err="1"/>
              <a:t>설비</a:t>
            </a:r>
            <a:r>
              <a:rPr dirty="0"/>
              <a:t> </a:t>
            </a:r>
            <a:r>
              <a:rPr dirty="0" err="1"/>
              <a:t>기준표</a:t>
            </a:r>
            <a:r>
              <a:rPr dirty="0"/>
              <a:t> </a:t>
            </a:r>
            <a:r>
              <a:rPr dirty="0" err="1"/>
              <a:t>DataFrame의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열입니다</a:t>
            </a:r>
            <a:r>
              <a:rPr dirty="0"/>
              <a:t>. </a:t>
            </a:r>
            <a:r>
              <a:rPr dirty="0" err="1"/>
              <a:t>대괄호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겹으로</a:t>
            </a:r>
            <a:r>
              <a:rPr dirty="0"/>
              <a:t> </a:t>
            </a:r>
            <a:r>
              <a:rPr dirty="0" err="1"/>
              <a:t>선택하면</a:t>
            </a:r>
            <a:r>
              <a:rPr dirty="0"/>
              <a:t> </a:t>
            </a:r>
            <a:r>
              <a:rPr dirty="0" err="1"/>
              <a:t>Series가</a:t>
            </a:r>
            <a:r>
              <a:rPr dirty="0"/>
              <a:t> </a:t>
            </a:r>
            <a:r>
              <a:rPr dirty="0" err="1"/>
              <a:t>됩니다</a:t>
            </a:r>
            <a:r>
              <a:rPr dirty="0"/>
              <a:t>. </a:t>
            </a:r>
            <a:r>
              <a:rPr dirty="0" err="1"/>
              <a:t>읽은</a:t>
            </a:r>
            <a:r>
              <a:rPr dirty="0"/>
              <a:t> </a:t>
            </a:r>
            <a:r>
              <a:rPr dirty="0" err="1"/>
              <a:t>직후</a:t>
            </a:r>
            <a:r>
              <a:rPr dirty="0"/>
              <a:t> </a:t>
            </a:r>
            <a:r>
              <a:rPr dirty="0" err="1"/>
              <a:t>자료형은</a:t>
            </a:r>
            <a:r>
              <a:rPr dirty="0"/>
              <a:t> </a:t>
            </a:r>
            <a:r>
              <a:rPr dirty="0" err="1"/>
              <a:t>문자열</a:t>
            </a:r>
            <a:r>
              <a:rPr dirty="0"/>
              <a:t> </a:t>
            </a:r>
            <a:r>
              <a:rPr dirty="0" err="1"/>
              <a:t>범주</a:t>
            </a:r>
            <a:r>
              <a:rPr dirty="0"/>
              <a:t> · </a:t>
            </a:r>
            <a:r>
              <a:rPr dirty="0" err="1"/>
              <a:t>object입니다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업무</a:t>
            </a:r>
            <a:r>
              <a:rPr dirty="0"/>
              <a:t> </a:t>
            </a:r>
            <a:r>
              <a:rPr dirty="0" err="1"/>
              <a:t>배경</a:t>
            </a:r>
            <a:r>
              <a:rPr dirty="0"/>
              <a:t>]</a:t>
            </a:r>
          </a:p>
          <a:p>
            <a:r>
              <a:rPr dirty="0" err="1"/>
              <a:t>부품</a:t>
            </a:r>
            <a:r>
              <a:rPr dirty="0"/>
              <a:t> </a:t>
            </a:r>
            <a:r>
              <a:rPr dirty="0" err="1"/>
              <a:t>조달과</a:t>
            </a:r>
            <a:r>
              <a:rPr dirty="0"/>
              <a:t> </a:t>
            </a:r>
            <a:r>
              <a:rPr dirty="0" err="1"/>
              <a:t>정비</a:t>
            </a:r>
            <a:r>
              <a:rPr dirty="0"/>
              <a:t> </a:t>
            </a:r>
            <a:r>
              <a:rPr dirty="0" err="1"/>
              <a:t>문의</a:t>
            </a:r>
            <a:r>
              <a:rPr dirty="0"/>
              <a:t>, </a:t>
            </a:r>
            <a:r>
              <a:rPr dirty="0" err="1"/>
              <a:t>제조사별</a:t>
            </a:r>
            <a:r>
              <a:rPr dirty="0"/>
              <a:t> </a:t>
            </a:r>
            <a:r>
              <a:rPr dirty="0" err="1"/>
              <a:t>고장</a:t>
            </a:r>
            <a:r>
              <a:rPr dirty="0"/>
              <a:t> </a:t>
            </a:r>
            <a:r>
              <a:rPr dirty="0" err="1"/>
              <a:t>경향을</a:t>
            </a:r>
            <a:r>
              <a:rPr dirty="0"/>
              <a:t> </a:t>
            </a:r>
            <a:r>
              <a:rPr dirty="0" err="1"/>
              <a:t>확인할</a:t>
            </a:r>
            <a:r>
              <a:rPr dirty="0"/>
              <a:t> </a:t>
            </a:r>
            <a:r>
              <a:rPr dirty="0" err="1"/>
              <a:t>때</a:t>
            </a:r>
            <a:r>
              <a:rPr dirty="0"/>
              <a:t> </a:t>
            </a:r>
            <a:r>
              <a:rPr dirty="0" err="1"/>
              <a:t>필요합니다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주의할</a:t>
            </a:r>
            <a:r>
              <a:rPr dirty="0"/>
              <a:t> </a:t>
            </a:r>
            <a:r>
              <a:rPr dirty="0" err="1"/>
              <a:t>점</a:t>
            </a:r>
            <a:r>
              <a:rPr dirty="0"/>
              <a:t>]</a:t>
            </a:r>
          </a:p>
          <a:p>
            <a:r>
              <a:rPr dirty="0" err="1"/>
              <a:t>이번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X에는</a:t>
            </a:r>
            <a:r>
              <a:rPr dirty="0"/>
              <a:t> </a:t>
            </a:r>
            <a:r>
              <a:rPr dirty="0" err="1"/>
              <a:t>넣지</a:t>
            </a:r>
            <a:r>
              <a:rPr dirty="0"/>
              <a:t> </a:t>
            </a:r>
            <a:r>
              <a:rPr dirty="0" err="1"/>
              <a:t>않지만</a:t>
            </a:r>
            <a:r>
              <a:rPr dirty="0"/>
              <a:t> </a:t>
            </a:r>
            <a:r>
              <a:rPr dirty="0" err="1"/>
              <a:t>원본</a:t>
            </a:r>
            <a:r>
              <a:rPr dirty="0"/>
              <a:t> </a:t>
            </a:r>
            <a:r>
              <a:rPr dirty="0" err="1"/>
              <a:t>업무</a:t>
            </a:r>
            <a:r>
              <a:rPr dirty="0"/>
              <a:t> </a:t>
            </a:r>
            <a:r>
              <a:rPr dirty="0" err="1"/>
              <a:t>정보로</a:t>
            </a:r>
            <a:r>
              <a:rPr dirty="0"/>
              <a:t> </a:t>
            </a:r>
            <a:r>
              <a:rPr dirty="0" err="1"/>
              <a:t>보존합니다</a:t>
            </a:r>
            <a:r>
              <a:rPr dirty="0"/>
              <a:t>. </a:t>
            </a:r>
            <a:r>
              <a:rPr dirty="0" err="1"/>
              <a:t>사용하지</a:t>
            </a:r>
            <a:r>
              <a:rPr dirty="0"/>
              <a:t> </a:t>
            </a:r>
            <a:r>
              <a:rPr dirty="0" err="1"/>
              <a:t>않는</a:t>
            </a:r>
            <a:r>
              <a:rPr dirty="0"/>
              <a:t> </a:t>
            </a:r>
            <a:r>
              <a:rPr dirty="0" err="1"/>
              <a:t>열도</a:t>
            </a:r>
            <a:r>
              <a:rPr dirty="0"/>
              <a:t> </a:t>
            </a:r>
            <a:r>
              <a:rPr dirty="0" err="1"/>
              <a:t>함부로</a:t>
            </a:r>
            <a:r>
              <a:rPr dirty="0"/>
              <a:t> </a:t>
            </a:r>
            <a:r>
              <a:rPr dirty="0" err="1"/>
              <a:t>지우지</a:t>
            </a:r>
            <a:r>
              <a:rPr dirty="0"/>
              <a:t> </a:t>
            </a:r>
            <a:r>
              <a:rPr dirty="0" err="1"/>
              <a:t>않습니다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학생에게</a:t>
            </a:r>
            <a:r>
              <a:rPr dirty="0"/>
              <a:t> </a:t>
            </a:r>
            <a:r>
              <a:rPr dirty="0" err="1"/>
              <a:t>물을</a:t>
            </a:r>
            <a:r>
              <a:rPr dirty="0"/>
              <a:t> </a:t>
            </a:r>
            <a:r>
              <a:rPr dirty="0" err="1"/>
              <a:t>질문</a:t>
            </a:r>
            <a:r>
              <a:rPr dirty="0"/>
              <a:t>]</a:t>
            </a:r>
          </a:p>
          <a:p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입력에</a:t>
            </a:r>
            <a:r>
              <a:rPr dirty="0"/>
              <a:t> </a:t>
            </a:r>
            <a:r>
              <a:rPr dirty="0" err="1"/>
              <a:t>쓰지</a:t>
            </a:r>
            <a:r>
              <a:rPr dirty="0"/>
              <a:t> </a:t>
            </a:r>
            <a:r>
              <a:rPr dirty="0" err="1"/>
              <a:t>않는</a:t>
            </a:r>
            <a:r>
              <a:rPr dirty="0"/>
              <a:t> </a:t>
            </a:r>
            <a:r>
              <a:rPr dirty="0" err="1"/>
              <a:t>열도</a:t>
            </a:r>
            <a:r>
              <a:rPr dirty="0"/>
              <a:t> </a:t>
            </a:r>
            <a:r>
              <a:rPr dirty="0" err="1"/>
              <a:t>원본표에</a:t>
            </a:r>
            <a:r>
              <a:rPr dirty="0"/>
              <a:t> </a:t>
            </a:r>
            <a:r>
              <a:rPr dirty="0" err="1"/>
              <a:t>남길</a:t>
            </a:r>
            <a:r>
              <a:rPr dirty="0"/>
              <a:t> </a:t>
            </a:r>
            <a:r>
              <a:rPr dirty="0" err="1"/>
              <a:t>이유는</a:t>
            </a:r>
            <a:r>
              <a:rPr dirty="0"/>
              <a:t> </a:t>
            </a:r>
            <a:r>
              <a:rPr dirty="0" err="1"/>
              <a:t>무엇일까요</a:t>
            </a:r>
            <a:r>
              <a:rPr dirty="0"/>
              <a:t>?</a:t>
            </a:r>
          </a:p>
          <a:p>
            <a:r>
              <a:rPr dirty="0"/>
              <a:t>[</a:t>
            </a:r>
            <a:r>
              <a:rPr dirty="0" err="1"/>
              <a:t>기대</a:t>
            </a:r>
            <a:r>
              <a:rPr dirty="0"/>
              <a:t> </a:t>
            </a:r>
            <a:r>
              <a:rPr dirty="0" err="1"/>
              <a:t>답</a:t>
            </a:r>
            <a:r>
              <a:rPr dirty="0"/>
              <a:t>]</a:t>
            </a:r>
          </a:p>
          <a:p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확인과</a:t>
            </a:r>
            <a:r>
              <a:rPr dirty="0"/>
              <a:t> </a:t>
            </a:r>
            <a:r>
              <a:rPr dirty="0" err="1"/>
              <a:t>원인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, </a:t>
            </a:r>
            <a:r>
              <a:rPr dirty="0" err="1"/>
              <a:t>이후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업무에서</a:t>
            </a:r>
            <a:r>
              <a:rPr dirty="0"/>
              <a:t> </a:t>
            </a:r>
            <a:r>
              <a:rPr dirty="0" err="1"/>
              <a:t>다시</a:t>
            </a:r>
            <a:r>
              <a:rPr dirty="0"/>
              <a:t> </a:t>
            </a:r>
            <a:r>
              <a:rPr dirty="0" err="1"/>
              <a:t>사용할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있기</a:t>
            </a:r>
            <a:r>
              <a:rPr dirty="0"/>
              <a:t> </a:t>
            </a:r>
            <a:r>
              <a:rPr dirty="0" err="1"/>
              <a:t>때문입니다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과제</a:t>
            </a:r>
            <a:r>
              <a:rPr dirty="0"/>
              <a:t> </a:t>
            </a:r>
            <a:r>
              <a:rPr dirty="0" err="1"/>
              <a:t>연결</a:t>
            </a:r>
            <a:r>
              <a:rPr dirty="0"/>
              <a:t>]</a:t>
            </a:r>
          </a:p>
          <a:p>
            <a:r>
              <a:rPr dirty="0" err="1"/>
              <a:t>원본</a:t>
            </a:r>
            <a:r>
              <a:rPr dirty="0"/>
              <a:t> </a:t>
            </a:r>
            <a:r>
              <a:rPr dirty="0" err="1"/>
              <a:t>보존</a:t>
            </a:r>
            <a:r>
              <a:rPr dirty="0"/>
              <a:t> · </a:t>
            </a:r>
            <a:r>
              <a:rPr dirty="0" err="1"/>
              <a:t>필요</a:t>
            </a:r>
            <a:r>
              <a:rPr dirty="0"/>
              <a:t> </a:t>
            </a:r>
            <a:r>
              <a:rPr dirty="0" err="1"/>
              <a:t>시</a:t>
            </a:r>
            <a:r>
              <a:rPr dirty="0"/>
              <a:t> </a:t>
            </a:r>
            <a:r>
              <a:rPr dirty="0" err="1"/>
              <a:t>집계</a:t>
            </a:r>
            <a:r>
              <a:rPr dirty="0"/>
              <a:t> </a:t>
            </a:r>
            <a:r>
              <a:rPr dirty="0" err="1"/>
              <a:t>기준</a:t>
            </a:r>
            <a:endParaRPr dirty="0"/>
          </a:p>
          <a:p>
            <a:endParaRPr dirty="0"/>
          </a:p>
          <a:p>
            <a:r>
              <a:rPr dirty="0"/>
              <a:t>[</a:t>
            </a:r>
            <a:r>
              <a:rPr dirty="0" err="1"/>
              <a:t>근거</a:t>
            </a:r>
            <a:r>
              <a:rPr dirty="0"/>
              <a:t> </a:t>
            </a:r>
            <a:r>
              <a:rPr dirty="0" err="1"/>
              <a:t>자료</a:t>
            </a:r>
            <a:r>
              <a:rPr dirty="0"/>
              <a:t>] 1주차_제조_데이터사전.md, </a:t>
            </a:r>
            <a:r>
              <a:rPr dirty="0" err="1"/>
              <a:t>manufacturing_equipment.csv</a:t>
            </a:r>
            <a:r>
              <a:rPr dirty="0"/>
              <a:t>, </a:t>
            </a:r>
            <a:r>
              <a:rPr dirty="0" err="1"/>
              <a:t>manufacturing_specs.csv</a:t>
            </a:r>
            <a:r>
              <a:rPr dirty="0"/>
              <a:t>, </a:t>
            </a:r>
            <a:r>
              <a:rPr dirty="0" err="1"/>
              <a:t>제조</a:t>
            </a:r>
            <a:r>
              <a:rPr dirty="0"/>
              <a:t> </a:t>
            </a:r>
            <a:r>
              <a:rPr dirty="0" err="1"/>
              <a:t>선택과제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 </a:t>
            </a:r>
            <a:r>
              <a:rPr dirty="0" err="1"/>
              <a:t>노트북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install_date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설비 기준표 DataFrame의 한 열입니다. 대괄호 한 겹으로 선택하면 Series가 됩니다. 읽은 직후 자료형은 읽은 직후 문자열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설비가 얼마나 오래 사용되었는지 계산할 출발 날짜입니다.</a:t>
            </a:r>
          </a:p>
          <a:p>
            <a:endParaRPr/>
          </a:p>
          <a:p>
            <a:r>
              <a:t>[주의할 점]</a:t>
            </a:r>
          </a:p>
          <a:p>
            <a:r>
              <a:t>CSV에서는 날짜처럼 보여도 처음에는 문자열입니다. 날짜 차이를 계산하려면 datetime으로 바꿔야 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문자열 날짜끼리 빼면 사용기간이 계산될까요?</a:t>
            </a:r>
          </a:p>
          <a:p>
            <a:r>
              <a:t>[기대 답]</a:t>
            </a:r>
          </a:p>
          <a:p>
            <a:r>
              <a:t>계산되지 않습니다. 먼저 datetime 자료형으로 바꿔야 합니다.</a:t>
            </a:r>
          </a:p>
          <a:p>
            <a:endParaRPr/>
          </a:p>
          <a:p>
            <a:r>
              <a:t>[과제 연결]</a:t>
            </a:r>
          </a:p>
          <a:p>
            <a:r>
              <a:t>pd.to_datetime · 설비 사용기간 확장 가능</a:t>
            </a:r>
          </a:p>
          <a:p>
            <a:endParaRPr/>
          </a:p>
          <a:p>
            <a:r>
              <a:t>[근거 자료] 1주차_제조_데이터사전.md, manufacturing_equipment.csv, manufacturing_specs.csv,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last_inspection_date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설비 기준표 DataFrame의 한 열입니다. 대괄호 한 겹으로 선택하면 Series가 됩니다. 읽은 직후 자료형은 읽은 직후 문자열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마지막 점검 후 며칠이 지났는지 계산해 점검 지연 여부를 판단합니다.</a:t>
            </a:r>
          </a:p>
          <a:p>
            <a:endParaRPr/>
          </a:p>
          <a:p>
            <a:r>
              <a:t>[주의할 점]</a:t>
            </a:r>
          </a:p>
          <a:p>
            <a:r>
              <a:t>기준일 2026-09-01에서 이 날짜를 빼 days_since_inspection을 만듭니다.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최근 점검일보다 경과일이 분석에 더 편한 이유는 무엇일까요?</a:t>
            </a:r>
          </a:p>
          <a:p>
            <a:r>
              <a:t>[기대 답]</a:t>
            </a:r>
          </a:p>
          <a:p>
            <a:r>
              <a:t>날짜 자체보다 점검 후 얼마나 지났는지를 바로 비교할 수 있기 때문입니다.</a:t>
            </a:r>
          </a:p>
          <a:p>
            <a:endParaRPr/>
          </a:p>
          <a:p>
            <a:r>
              <a:t>[과제 연결]</a:t>
            </a:r>
          </a:p>
          <a:p>
            <a:r>
              <a:t>datetime 변환 · 경과일 파생열</a:t>
            </a:r>
          </a:p>
          <a:p>
            <a:endParaRPr/>
          </a:p>
          <a:p>
            <a:r>
              <a:t>[근거 자료] 1주차_제조_데이터사전.md, manufacturing_equipment.csv, manufacturing_specs.csv,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rated_cycle_sec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설비 기준표 DataFrame의 한 열입니다. 대괄호 한 겹으로 선택하면 Series가 됩니다. 읽은 직후 자료형은 문자열 혼합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제품 한 개를 처리하는 기준 시간을 나타내며 설비 속도를 비교하는 숫자입니다.</a:t>
            </a:r>
          </a:p>
          <a:p>
            <a:endParaRPr/>
          </a:p>
          <a:p>
            <a:r>
              <a:t>[주의할 점]</a:t>
            </a:r>
          </a:p>
          <a:p>
            <a:r>
              <a:t>미측정 4개가 섞여 있어 바로 평균을 낼 수 없습니다. 숫자 변환 뒤 결측을 중앙값 42.1초로 채웁니다.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미측정을 바로 중앙값으로 바꾸기 전에 NaN으로 통일하는 이유는 무엇일까요?</a:t>
            </a:r>
          </a:p>
          <a:p>
            <a:r>
              <a:t>[기대 답]</a:t>
            </a:r>
          </a:p>
          <a:p>
            <a:r>
              <a:t>다른 이상한 문자값도 같은 규칙으로 발견하고 처리할 수 있기 때문입니다.</a:t>
            </a:r>
          </a:p>
          <a:p>
            <a:endParaRPr/>
          </a:p>
          <a:p>
            <a:r>
              <a:t>[과제 연결]</a:t>
            </a:r>
          </a:p>
          <a:p>
            <a:r>
              <a:t>pd.to_numeric(errors='coerce') · median · fillna</a:t>
            </a:r>
          </a:p>
          <a:p>
            <a:endParaRPr/>
          </a:p>
          <a:p>
            <a:r>
              <a:t>[근거 자료] 1주차_제조_데이터사전.md, manufacturing_equipment.csv, manufacturing_specs.csv,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target_temperature_c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설비 기준표 DataFrame의 한 열입니다. 대괄호 한 겹으로 선택하면 Series가 됩니다. 읽은 직후 자료형은 실수 · float64입니다.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설비가 작업 중 유지하려는 온도 설정값입니다.</a:t>
            </a:r>
          </a:p>
          <a:p>
            <a:endParaRPr/>
          </a:p>
          <a:p>
            <a:r>
              <a:t>[주의할 점]</a:t>
            </a:r>
          </a:p>
          <a:p>
            <a:r>
              <a:t>실제 센서 측정 온도가 아니라 운전 목표값입니다. 값의 의미를 구분해야 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목표 온도와 실제 측정 온도는 같은 열로 관리해도 될까요?</a:t>
            </a:r>
          </a:p>
          <a:p>
            <a:r>
              <a:t>[기대 답]</a:t>
            </a:r>
          </a:p>
          <a:p>
            <a:r>
              <a:t>아니요. 설정값과 측정값은 의미가 달라 별도 열로 관리해야 합니다.</a:t>
            </a:r>
          </a:p>
          <a:p>
            <a:endParaRPr/>
          </a:p>
          <a:p>
            <a:r>
              <a:t>[과제 연결]</a:t>
            </a:r>
          </a:p>
          <a:p>
            <a:r>
              <a:t>숫자형 입력 X · 스케일링</a:t>
            </a:r>
          </a:p>
          <a:p>
            <a:endParaRPr/>
          </a:p>
          <a:p>
            <a:r>
              <a:t>[근거 자료] 1주차_제조_데이터사전.md, manufacturing_equipment.csv, manufacturing_specs.csv,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target_pressure_bar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설비 기준표 DataFrame의 한 열입니다. 대괄호 한 겹으로 선택하면 Series가 됩니다. 읽은 직후 자료형은 실수 · float64입니다.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설비가 정상 작업에서 맞추려는 압력 설정값입니다.</a:t>
            </a:r>
          </a:p>
          <a:p>
            <a:endParaRPr/>
          </a:p>
          <a:p>
            <a:r>
              <a:t>[주의할 점]</a:t>
            </a:r>
          </a:p>
          <a:p>
            <a:r>
              <a:t>원본에 빈칸 4개가 있습니다. 숫자 열의 중앙값으로 채운 뒤 계산에 사용합니다.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압력 빈칸을 0으로 채우면 어떤 오해가 생길까요?</a:t>
            </a:r>
          </a:p>
          <a:p>
            <a:r>
              <a:t>[기대 답]</a:t>
            </a:r>
          </a:p>
          <a:p>
            <a:r>
              <a:t>실제 목표 압력이 0bar인 것처럼 해석되어 설비 상태가 크게 왜곡됩니다.</a:t>
            </a:r>
          </a:p>
          <a:p>
            <a:endParaRPr/>
          </a:p>
          <a:p>
            <a:r>
              <a:t>[과제 연결]</a:t>
            </a:r>
          </a:p>
          <a:p>
            <a:r>
              <a:t>isna 점검 · median · fillna</a:t>
            </a:r>
          </a:p>
          <a:p>
            <a:endParaRPr/>
          </a:p>
          <a:p>
            <a:r>
              <a:t>[근거 자료] 1주차_제조_데이터사전.md, manufacturing_equipment.csv, manufacturing_specs.csv,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maintenance_grade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설비 기준표 DataFrame의 한 열입니다. 대괄호 한 겹으로 선택하면 Series가 됩니다. 읽은 직후 자료형은 문자열 범주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회사에서 정한 정비 중요도나 관리 수준을 구분하는 교육용 등급입니다.</a:t>
            </a:r>
          </a:p>
          <a:p>
            <a:endParaRPr/>
          </a:p>
          <a:p>
            <a:r>
              <a:t>[주의할 점]</a:t>
            </a:r>
          </a:p>
          <a:p>
            <a:r>
              <a:t>A, B, C는 단순한 글자지만 순서로 볼지 범주로 볼지는 업무 정의에 따라 결정해야 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A, B, C를 무조건 1, 2, 3으로 바꾸면 될까요?</a:t>
            </a:r>
          </a:p>
          <a:p>
            <a:r>
              <a:t>[기대 답]</a:t>
            </a:r>
          </a:p>
          <a:p>
            <a:r>
              <a:t>아니요. 숫자 간격에 업무 의미가 있는지 먼저 확인해야 합니다.</a:t>
            </a:r>
          </a:p>
          <a:p>
            <a:endParaRPr/>
          </a:p>
          <a:p>
            <a:r>
              <a:t>[과제 연결]</a:t>
            </a:r>
          </a:p>
          <a:p>
            <a:r>
              <a:t>이번 과제에서는 범주형 입력 X</a:t>
            </a:r>
          </a:p>
          <a:p>
            <a:endParaRPr/>
          </a:p>
          <a:p>
            <a:r>
              <a:t>[근거 자료] 1주차_제조_데이터사전.md, manufacturing_equipment.csv, manufacturing_specs.csv,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operation_status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설비 기준표 DataFrame의 한 열입니다. 대괄호 한 겹으로 선택하면 Series가 됩니다. 읽은 직후 자료형은 문자열 범주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설비가 지금 생산 중인지, 기다리는 중인지, 점검 중인지 알려 줍니다.</a:t>
            </a:r>
          </a:p>
          <a:p>
            <a:endParaRPr/>
          </a:p>
          <a:p>
            <a:r>
              <a:t>[주의할 점]</a:t>
            </a:r>
          </a:p>
          <a:p>
            <a:r>
              <a:t>정비 필요 여부와 현재 상태는 다른 개념입니다. 점검 중이라고 모두 고장 난 설비는 아닙니다.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점검 상태와 maintenance_required=True는 같은 뜻일까요?</a:t>
            </a:r>
          </a:p>
          <a:p>
            <a:r>
              <a:t>[기대 답]</a:t>
            </a:r>
          </a:p>
          <a:p>
            <a:r>
              <a:t>같지 않습니다. 하나는 현재 운영 상태이고 다른 하나는 정비 필요 판단입니다.</a:t>
            </a:r>
          </a:p>
          <a:p>
            <a:endParaRPr/>
          </a:p>
          <a:p>
            <a:r>
              <a:t>[과제 연결]</a:t>
            </a:r>
          </a:p>
          <a:p>
            <a:r>
              <a:t>업무 확인용 · 필요 시 범주형 입력</a:t>
            </a:r>
          </a:p>
          <a:p>
            <a:endParaRPr/>
          </a:p>
          <a:p>
            <a:r>
              <a:t>[근거 자료] 1주차_제조_데이터사전.md, manufacturing_equipment.csv, manufacturing_specs.csv,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monthly_runtime_hours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설비 기준표 DataFrame의 한 열입니다. 대괄호 한 겹으로 선택하면 Series가 됩니다. 읽은 직후 자료형은 실수 · float64입니다.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한 달 동안 설비를 얼마나 많이 사용했는지 보여 줍니다.</a:t>
            </a:r>
          </a:p>
          <a:p>
            <a:endParaRPr/>
          </a:p>
          <a:p>
            <a:r>
              <a:t>[주의할 점]</a:t>
            </a:r>
          </a:p>
          <a:p>
            <a:r>
              <a:t>값의 크기가 다른 숫자 열과 함께 쓰므로 전처리 단계에서 StandardScaler를 적용합니다.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운전시간이 큰 설비가 항상 고장 위험도 높다고 단정할 수 있을까요?</a:t>
            </a:r>
          </a:p>
          <a:p>
            <a:r>
              <a:t>[기대 답]</a:t>
            </a:r>
          </a:p>
          <a:p>
            <a:r>
              <a:t>단정할 수 없습니다. 다른 설비 조건과 함께 살펴봐야 합니다.</a:t>
            </a:r>
          </a:p>
          <a:p>
            <a:endParaRPr/>
          </a:p>
          <a:p>
            <a:r>
              <a:t>[과제 연결]</a:t>
            </a:r>
          </a:p>
          <a:p>
            <a:r>
              <a:t>숫자형 입력 X · StandardScaler</a:t>
            </a:r>
          </a:p>
          <a:p>
            <a:endParaRPr/>
          </a:p>
          <a:p>
            <a:r>
              <a:t>[근거 자료] 1주차_제조_데이터사전.md, manufacturing_equipment.csv, manufacturing_specs.csv,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failure_count_90d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설비 기준표 DataFrame의 한 열입니다. 대괄호 한 겹으로 선택하면 Series가 됩니다. 읽은 직후 자료형은 정수 · int64입니다.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최근 반복 고장이 있었는지 보여 주는 운영 이력입니다.</a:t>
            </a:r>
          </a:p>
          <a:p>
            <a:endParaRPr/>
          </a:p>
          <a:p>
            <a:r>
              <a:t>[주의할 점]</a:t>
            </a:r>
          </a:p>
          <a:p>
            <a:r>
              <a:t>횟수는 0도 의미 있는 값입니다. 0을 결측값으로 취급하면 안 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0회와 빈칸은 왜 구분해야 할까요?</a:t>
            </a:r>
          </a:p>
          <a:p>
            <a:r>
              <a:t>[기대 답]</a:t>
            </a:r>
          </a:p>
          <a:p>
            <a:r>
              <a:t>0회는 고장이 없었다는 기록이고 빈칸은 기록을 모른다는 뜻이기 때문입니다.</a:t>
            </a:r>
          </a:p>
          <a:p>
            <a:endParaRPr/>
          </a:p>
          <a:p>
            <a:r>
              <a:t>[과제 연결]</a:t>
            </a:r>
          </a:p>
          <a:p>
            <a:r>
              <a:t>숫자형 입력 X · 최근 이력 해석</a:t>
            </a:r>
          </a:p>
          <a:p>
            <a:endParaRPr/>
          </a:p>
          <a:p>
            <a:r>
              <a:t>[근거 자료] 1주차_제조_데이터사전.md, manufacturing_equipment.csv, manufacturing_specs.csv,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maintenance_required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설비 기준표 DataFrame의 한 열입니다. 대괄호 한 겹으로 선택하면 Series가 됩니다. 읽은 직후 자료형은 불리언 · bool입니다.</a:t>
            </a:r>
          </a:p>
          <a:p>
            <a:endParaRPr/>
          </a:p>
          <a:p>
            <a:r>
              <a:t>[업무 배경]</a:t>
            </a:r>
          </a:p>
          <a:p>
            <a:r>
              <a:t>설비 정보를 보고 맞히려는 교육용 정답 y입니다. True는 정비가 필요하다고 표시된 설비입니다.</a:t>
            </a:r>
          </a:p>
          <a:p>
            <a:endParaRPr/>
          </a:p>
          <a:p>
            <a:r>
              <a:t>[주의할 점]</a:t>
            </a:r>
          </a:p>
          <a:p>
            <a:r>
              <a:t>실제 고장 확정이나 안전 판정을 뜻하지 않습니다. 수업용 합성 데이터의 정답 열입니다.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열을 X에 그대로 남기면 왜 답안 유출이 될까요?</a:t>
            </a:r>
          </a:p>
          <a:p>
            <a:r>
              <a:t>[기대 답]</a:t>
            </a:r>
          </a:p>
          <a:p>
            <a:r>
              <a:t>모델이 맞혀야 할 정답을 입력에서 미리 볼 수 있기 때문입니다.</a:t>
            </a:r>
          </a:p>
          <a:p>
            <a:endParaRPr/>
          </a:p>
          <a:p>
            <a:r>
              <a:t>[과제 연결]</a:t>
            </a:r>
          </a:p>
          <a:p>
            <a:r>
              <a:t>y로 분리 · X에서 제거 · stratify 기준</a:t>
            </a:r>
          </a:p>
          <a:p>
            <a:endParaRPr/>
          </a:p>
          <a:p>
            <a:r>
              <a:t>[근거 자료] 1주차_제조_데이터사전.md, manufacturing_equipment.csv, manufacturing_specs.csv,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결혼정보 데이터로 비유하면:</a:t>
            </a:r>
          </a:p>
          <a:p>
            <a:pPr lvl="0"/>
            <a:r>
              <a:rPr lang="ko-KR" altLang="ko-KR" sz="1200" kern="1200" dirty="0" err="1"/>
              <a:t>members</a:t>
            </a:r>
            <a:r>
              <a:rPr lang="ko-KR" altLang="ko-KR" dirty="0"/>
              <a:t>: 회원의 기본정보</a:t>
            </a:r>
          </a:p>
          <a:p>
            <a:pPr lvl="0"/>
            <a:r>
              <a:rPr lang="ko-KR" altLang="ko-KR" sz="1200" kern="1200" dirty="0" err="1"/>
              <a:t>preferences</a:t>
            </a:r>
            <a:r>
              <a:rPr lang="ko-KR" altLang="ko-KR" dirty="0"/>
              <a:t>: 회원이 원하는 조건</a:t>
            </a:r>
          </a:p>
          <a:p>
            <a:r>
              <a:rPr lang="ko-KR" altLang="ko-KR" dirty="0" err="1"/>
              <a:t>제조·금융</a:t>
            </a:r>
            <a:r>
              <a:rPr lang="ko-KR" altLang="ko-KR" dirty="0"/>
              <a:t> 과제에서는:</a:t>
            </a:r>
          </a:p>
          <a:p>
            <a:pPr lvl="0"/>
            <a:r>
              <a:rPr lang="ko-KR" altLang="ko-KR" dirty="0"/>
              <a:t>제조 </a:t>
            </a:r>
            <a:r>
              <a:rPr lang="ko-KR" altLang="ko-KR" sz="1200" kern="1200" dirty="0" err="1"/>
              <a:t>manufacturing_equipment.csv</a:t>
            </a:r>
            <a:r>
              <a:rPr lang="ko-KR" altLang="ko-KR" dirty="0"/>
              <a:t>: 설비의 기본정보와 현재 상태</a:t>
            </a:r>
          </a:p>
          <a:p>
            <a:pPr lvl="0"/>
            <a:r>
              <a:rPr lang="ko-KR" altLang="ko-KR" dirty="0"/>
              <a:t>제조 </a:t>
            </a:r>
            <a:r>
              <a:rPr lang="ko-KR" altLang="ko-KR" sz="1200" kern="1200" dirty="0" err="1"/>
              <a:t>manufacturing_specs.csv</a:t>
            </a:r>
            <a:r>
              <a:rPr lang="ko-KR" altLang="ko-KR" dirty="0"/>
              <a:t>: 설비별 </a:t>
            </a:r>
            <a:r>
              <a:rPr lang="ko-KR" altLang="ko-KR" dirty="0" err="1"/>
              <a:t>온도·압력·진동</a:t>
            </a:r>
            <a:r>
              <a:rPr lang="ko-KR" altLang="ko-KR" dirty="0"/>
              <a:t> 허용 기준</a:t>
            </a:r>
          </a:p>
          <a:p>
            <a:pPr lvl="0"/>
            <a:r>
              <a:rPr lang="ko-KR" altLang="ko-KR" dirty="0"/>
              <a:t>금융 </a:t>
            </a:r>
            <a:r>
              <a:rPr lang="ko-KR" altLang="ko-KR" sz="1200" kern="1200" dirty="0" err="1"/>
              <a:t>finance_merchants.csv</a:t>
            </a:r>
            <a:r>
              <a:rPr lang="ko-KR" altLang="ko-KR" dirty="0"/>
              <a:t>: 가맹점의 기본정보와 현재 상태</a:t>
            </a:r>
          </a:p>
          <a:p>
            <a:pPr lvl="0"/>
            <a:r>
              <a:rPr lang="ko-KR" altLang="ko-KR" dirty="0"/>
              <a:t>금융 </a:t>
            </a:r>
            <a:r>
              <a:rPr lang="ko-KR" altLang="ko-KR" sz="1200" kern="1200" dirty="0" err="1"/>
              <a:t>finance_risk_rules.csv</a:t>
            </a:r>
            <a:r>
              <a:rPr lang="ko-KR" altLang="ko-KR" dirty="0"/>
              <a:t>: 가맹점별 </a:t>
            </a:r>
            <a:r>
              <a:rPr lang="ko-KR" altLang="ko-KR" dirty="0" err="1"/>
              <a:t>거래한도·위험</a:t>
            </a:r>
            <a:r>
              <a:rPr lang="ko-KR" altLang="ko-KR" dirty="0"/>
              <a:t> 경보 기준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추가 기준표를 따로 만든 이유는 세 가지입니다.</a:t>
            </a:r>
          </a:p>
          <a:p>
            <a:pPr lvl="0"/>
            <a:r>
              <a:rPr lang="ko-KR" altLang="ko-KR" b="1" dirty="0"/>
              <a:t>기본정보와 업무 규칙을 분리하기 위해서입니다.</a:t>
            </a:r>
            <a:br>
              <a:rPr lang="ko-KR" altLang="ko-KR" dirty="0"/>
            </a:br>
            <a:r>
              <a:rPr lang="ko-KR" altLang="ko-KR" dirty="0"/>
              <a:t>설비 이름이나 설치일이 바뀌는 것과, 허용 온도 기준이 바뀌는 것은 서로 다른 업무입니다.</a:t>
            </a:r>
          </a:p>
          <a:p>
            <a:pPr lvl="0"/>
            <a:r>
              <a:rPr lang="ko-KR" altLang="ko-KR" b="1" dirty="0" err="1"/>
              <a:t>기준값을</a:t>
            </a:r>
            <a:r>
              <a:rPr lang="ko-KR" altLang="ko-KR" b="1" dirty="0"/>
              <a:t> 코드에 직접 적지 않기 위해서입니다.</a:t>
            </a:r>
            <a:br>
              <a:rPr lang="ko-KR" altLang="ko-KR" dirty="0"/>
            </a:br>
            <a:r>
              <a:rPr lang="ko-KR" altLang="ko-KR" sz="1200" kern="1200" dirty="0" err="1"/>
              <a:t>if</a:t>
            </a:r>
            <a:r>
              <a:rPr lang="ko-KR" altLang="ko-KR" sz="1200" kern="1200" dirty="0"/>
              <a:t> </a:t>
            </a:r>
            <a:r>
              <a:rPr lang="ko-KR" altLang="ko-KR" sz="1200" kern="1200" dirty="0" err="1"/>
              <a:t>pressure</a:t>
            </a:r>
            <a:r>
              <a:rPr lang="ko-KR" altLang="ko-KR" sz="1200" kern="1200" dirty="0"/>
              <a:t> &gt; 6.09</a:t>
            </a:r>
            <a:r>
              <a:rPr lang="ko-KR" altLang="ko-KR" dirty="0"/>
              <a:t>처럼 코딩해 버리면 기준이 바뀔 때 프로그램을 고쳐야 합니다. 표로 분리하면 기준표만 교체하거나 갱신할 수 있습니다.</a:t>
            </a:r>
          </a:p>
          <a:p>
            <a:pPr lvl="0"/>
            <a:r>
              <a:rPr lang="ko-KR" altLang="ko-KR" b="1" dirty="0"/>
              <a:t>실무적인 여러 표 결합을 연습하기 위해서입니다.</a:t>
            </a:r>
            <a:br>
              <a:rPr lang="ko-KR" altLang="ko-KR" dirty="0"/>
            </a:br>
            <a:r>
              <a:rPr lang="ko-KR" altLang="ko-KR" dirty="0"/>
              <a:t>실제 회사 데이터도 기본정보, 운영 규칙, </a:t>
            </a:r>
            <a:r>
              <a:rPr lang="ko-KR" altLang="ko-KR" dirty="0" err="1"/>
              <a:t>사양표</a:t>
            </a:r>
            <a:r>
              <a:rPr lang="ko-KR" altLang="ko-KR" dirty="0"/>
              <a:t>, 위험 기준표가 각각 다른 파일이나 테이블에 저장되는 경우가 많습니다.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sensor_model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설비 사양표 DataFrame의 한 열입니다. 대괄호 한 겹으로 선택하면 Series가 됩니다. 읽은 직후 자료형은 문자열 범주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어떤 센서가 측정값을 만드는지 기록해 장비 호환성과 교체 이력을 확인합니다.</a:t>
            </a:r>
          </a:p>
          <a:p>
            <a:endParaRPr/>
          </a:p>
          <a:p>
            <a:r>
              <a:t>[주의할 점]</a:t>
            </a:r>
          </a:p>
          <a:p>
            <a:r>
              <a:t>이번 X에는 넣지 않지만 측정 오차나 센서 교체 문제를 분석할 때 중요한 기준이 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센서 모델을 설비 이름 대신 결합 기준으로 써도 될까요?</a:t>
            </a:r>
          </a:p>
          <a:p>
            <a:r>
              <a:t>[기대 답]</a:t>
            </a:r>
          </a:p>
          <a:p>
            <a:r>
              <a:t>안 됩니다. 같은 센서 모델을 여러 설비가 사용할 수 있기 때문입니다.</a:t>
            </a:r>
          </a:p>
          <a:p>
            <a:endParaRPr/>
          </a:p>
          <a:p>
            <a:r>
              <a:t>[과제 연결]</a:t>
            </a:r>
          </a:p>
          <a:p>
            <a:r>
              <a:t>equipment_id로 결합 · 원본 보존</a:t>
            </a:r>
          </a:p>
          <a:p>
            <a:endParaRPr/>
          </a:p>
          <a:p>
            <a:r>
              <a:t>[근거 자료] 1주차_제조_데이터사전.md, manufacturing_equipment.csv, manufacturing_specs.csv,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temperature_upper_c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설비 사양표 DataFrame의 한 열입니다. 대괄호 한 겹으로 선택하면 Series가 됩니다. 읽은 직후 자료형은 실수 · float64입니다.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설비 사양상 넘지 않아야 하는 온도 기준입니다.</a:t>
            </a:r>
          </a:p>
          <a:p>
            <a:endParaRPr/>
          </a:p>
          <a:p>
            <a:r>
              <a:t>[주의할 점]</a:t>
            </a:r>
          </a:p>
          <a:p>
            <a:r>
              <a:t>목표 온도와 상한 온도는 다릅니다. 상한은 경고 기준이고 목표는 평소 맞추려는 값입니다.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목표 온도와 상한 온도를 비교하면 무엇을 알 수 있을까요?</a:t>
            </a:r>
          </a:p>
          <a:p>
            <a:r>
              <a:t>[기대 답]</a:t>
            </a:r>
          </a:p>
          <a:p>
            <a:r>
              <a:t>평소 설정값이 허용 한도에 얼마나 가까운지 확인할 수 있습니다.</a:t>
            </a:r>
          </a:p>
          <a:p>
            <a:endParaRPr/>
          </a:p>
          <a:p>
            <a:r>
              <a:t>[과제 연결]</a:t>
            </a:r>
          </a:p>
          <a:p>
            <a:r>
              <a:t>숫자형 입력 X · 기준표 결합</a:t>
            </a:r>
          </a:p>
          <a:p>
            <a:endParaRPr/>
          </a:p>
          <a:p>
            <a:r>
              <a:t>[근거 자료] 1주차_제조_데이터사전.md, manufacturing_equipment.csv, manufacturing_specs.csv,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pressure_upper_bar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설비 사양표 DataFrame의 한 열입니다. 대괄호 한 겹으로 선택하면 Series가 됩니다. 읽은 직후 자료형은 실수 · float64입니다.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설비 사양에서 정한 최대 허용 압력입니다.</a:t>
            </a:r>
          </a:p>
          <a:p>
            <a:endParaRPr/>
          </a:p>
          <a:p>
            <a:r>
              <a:t>[주의할 점]</a:t>
            </a:r>
          </a:p>
          <a:p>
            <a:r>
              <a:t>현재 과제의 X에는 넣지 않지만 목표 압력과 비교해 안전 여유를 계산하는 확장 과제에 쓸 수 있습니다.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목표 압력이 상한에 가까우면 어떤 추가 확인이 필요할까요?</a:t>
            </a:r>
          </a:p>
          <a:p>
            <a:r>
              <a:t>[기대 답]</a:t>
            </a:r>
          </a:p>
          <a:p>
            <a:r>
              <a:t>실제 측정값과 센서 상태, 작업 조건을 함께 확인해야 합니다.</a:t>
            </a:r>
          </a:p>
          <a:p>
            <a:endParaRPr/>
          </a:p>
          <a:p>
            <a:r>
              <a:t>[과제 연결]</a:t>
            </a:r>
          </a:p>
          <a:p>
            <a:r>
              <a:t>결합 결과 확인 · 선택 확장</a:t>
            </a:r>
          </a:p>
          <a:p>
            <a:endParaRPr/>
          </a:p>
          <a:p>
            <a:r>
              <a:t>[근거 자료] 1주차_제조_데이터사전.md, manufacturing_equipment.csv, manufacturing_specs.csv,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vibration_limit_mm_s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설비 사양표 DataFrame의 한 열입니다. 대괄호 한 겹으로 선택하면 Series가 됩니다. 읽은 직후 자료형은 실수 · float64입니다.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설비 진동이 어느 수준까지 허용되는지 나타내는 기준값입니다.</a:t>
            </a:r>
          </a:p>
          <a:p>
            <a:endParaRPr/>
          </a:p>
          <a:p>
            <a:r>
              <a:t>[주의할 점]</a:t>
            </a:r>
          </a:p>
          <a:p>
            <a:r>
              <a:t>단위 mm/s를 빼고 숫자만 비교하면 다른 단위의 데이터와 혼동할 수 있습니다.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숫자가 같아도 단위가 다르면 같은 값이라고 볼 수 있을까요?</a:t>
            </a:r>
          </a:p>
          <a:p>
            <a:r>
              <a:t>[기대 답]</a:t>
            </a:r>
          </a:p>
          <a:p>
            <a:r>
              <a:t>볼 수 없습니다. 숫자와 단위를 함께 확인해야 합니다.</a:t>
            </a:r>
          </a:p>
          <a:p>
            <a:endParaRPr/>
          </a:p>
          <a:p>
            <a:r>
              <a:t>[과제 연결]</a:t>
            </a:r>
          </a:p>
          <a:p>
            <a:r>
              <a:t>숫자형 입력 X · 단위 확인</a:t>
            </a:r>
          </a:p>
          <a:p>
            <a:endParaRPr/>
          </a:p>
          <a:p>
            <a:r>
              <a:t>[근거 자료] 1주차_제조_데이터사전.md, manufacturing_equipment.csv, manufacturing_specs.csv,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inspection_cycle_days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설비 사양표 DataFrame의 한 열입니다. 대괄호 한 겹으로 선택하면 Series가 됩니다. 읽은 직후 자료형은 정수 · int64입니다.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설비를 몇 일마다 점검하도록 정했는지 보여 주는 관리 기준입니다.</a:t>
            </a:r>
          </a:p>
          <a:p>
            <a:endParaRPr/>
          </a:p>
          <a:p>
            <a:r>
              <a:t>[주의할 점]</a:t>
            </a:r>
          </a:p>
          <a:p>
            <a:r>
              <a:t>days_since_inspection과 비교하면 점검 기한이 지났는지 판단할 수 있습니다.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경과일이 점검 주기보다 크면 어떤 상태로 볼 수 있을까요?</a:t>
            </a:r>
          </a:p>
          <a:p>
            <a:r>
              <a:t>[기대 답]</a:t>
            </a:r>
          </a:p>
          <a:p>
            <a:r>
              <a:t>권장 점검 시점을 넘긴 설비로 볼 수 있습니다.</a:t>
            </a:r>
          </a:p>
          <a:p>
            <a:endParaRPr/>
          </a:p>
          <a:p>
            <a:r>
              <a:t>[과제 연결]</a:t>
            </a:r>
          </a:p>
          <a:p>
            <a:r>
              <a:t>선택 확장 · 점검 지연 플래그</a:t>
            </a:r>
          </a:p>
          <a:p>
            <a:endParaRPr/>
          </a:p>
          <a:p>
            <a:r>
              <a:t>[근거 자료] 1주차_제조_데이터사전.md, manufacturing_equipment.csv, manufacturing_specs.csv,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학습에 사용한 기준표와 처음 보는 신규 데이터의 차이를 이해합니다.</a:t>
            </a:r>
          </a:p>
          <a:p>
            <a:endParaRPr/>
          </a:p>
          <a:p>
            <a:r>
              <a:t>[핵심 설명]</a:t>
            </a:r>
          </a:p>
          <a:p>
            <a:r>
              <a:t>- 기준표와 같은 15개 입력 열을 가지지만 maintenance_required는 없습니다.</a:t>
            </a:r>
          </a:p>
          <a:p>
            <a:r>
              <a:t>- 기존 240대에서 배운 중앙값과 범주 열 구조를 그대로 적용합니다.</a:t>
            </a:r>
          </a:p>
          <a:p>
            <a:r>
              <a:t>- 새 범주 레이저검사기가 있어도 handle_unknown='ignore'가 열 구조를 유지합니다.</a:t>
            </a:r>
          </a:p>
          <a:p>
            <a:r>
              <a:t>- 신규 설비에서 다시 fit하면 기존 설비와 비교 기준이 달라집니다.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신규 데이터에서 다시 fit하면 왜 안 될까요?</a:t>
            </a:r>
          </a:p>
          <a:p>
            <a:r>
              <a:t>[기대 답]</a:t>
            </a:r>
          </a:p>
          <a:p>
            <a:r>
              <a:t>신규 데이터의 정보를 기준에 섞으면 기존 train과 다른 비교 기준과 열 구조가 생길 수 있기 때문입니다.</a:t>
            </a:r>
          </a:p>
          <a:p>
            <a:endParaRPr/>
          </a:p>
          <a:p>
            <a:r>
              <a:t>[근거 자료] 1주차_제조_데이터사전.md, manufacturing_equipment.csv, manufacturing_specs.csv,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학생이 열 설명을 실제 노트북 Q1부터 Q7까지 연결합니다.</a:t>
            </a:r>
          </a:p>
          <a:p>
            <a:endParaRPr/>
          </a:p>
          <a:p>
            <a:r>
              <a:t>[진행 순서]</a:t>
            </a:r>
          </a:p>
          <a:p>
            <a:r>
              <a:t>- Q1에서 세 CSV의 위치와 243행, 240행을 확인합니다.</a:t>
            </a:r>
          </a:p>
          <a:p>
            <a:r>
              <a:t>- Q2에서 중복, 공장 표기, 문자 숫자, 결측값을 정리합니다.</a:t>
            </a:r>
          </a:p>
          <a:p>
            <a:r>
              <a:t>- Q3과 Q4에서 설비 사양표를 붙이고 점검 경과일을 만듭니다.</a:t>
            </a:r>
          </a:p>
          <a:p>
            <a:r>
              <a:t>- Q5와 Q6에서 X와 y를 나누고 전처리 기준을 train에서 배웁니다.</a:t>
            </a:r>
          </a:p>
          <a:p>
            <a:r>
              <a:t>- Q7에서 신규 설비 40대에 같은 기준을 적용하고 결과를 저장합니다.</a:t>
            </a:r>
          </a:p>
          <a:p>
            <a:endParaRPr/>
          </a:p>
          <a:p>
            <a:r>
              <a:t>[마무리 질문]</a:t>
            </a:r>
          </a:p>
          <a:p>
            <a:r>
              <a:t>결혼정보회사 데이터와 분야는 달라졌지만 다시 사용할 수 있었던 처리 원리는 무엇인가요?</a:t>
            </a:r>
          </a:p>
          <a:p>
            <a:r>
              <a:t>[기대 답]</a:t>
            </a:r>
          </a:p>
          <a:p>
            <a:r>
              <a:t>파일 확인, 중복 제거, 문자 숫자 변환, 날짜 계산, ID 결합, X와 y 분리, train 기준 전처리입니다.</a:t>
            </a:r>
          </a:p>
          <a:p>
            <a:endParaRPr/>
          </a:p>
          <a:p>
            <a:r>
              <a:t>[근거 자료] 1주차_제조_데이터사전.md, manufacturing_equipment.csv, manufacturing_specs.csv, 제조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E18B088D-DD4A-4AAA-85B6-8052D0CF9A2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0AADECB-1A2E-4856-8A79-1323C4EF4393}"/>
              </a:ext>
            </a:extLst>
          </p:cNvPr>
          <p:cNvSpPr>
            <a:spLocks noGrp="1"/>
          </p:cNvSpPr>
          <p:nvPr/>
        </p:nvSpPr>
        <p:spPr>
          <a:xfrm>
            <a:off x="495300" y="1314450"/>
            <a:ext cx="714375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9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제조 선택과제</a:t>
            </a:r>
          </a:p>
          <a:p>
            <a:pPr>
              <a:defRPr sz="39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데이터 열 이름과 뜻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E9AA413-A304-4C24-B141-7CF2FAEB748B}"/>
              </a:ext>
            </a:extLst>
          </p:cNvPr>
          <p:cNvSpPr>
            <a:spLocks noGrp="1"/>
          </p:cNvSpPr>
          <p:nvPr/>
        </p:nvSpPr>
        <p:spPr>
          <a:xfrm>
            <a:off x="495300" y="3009900"/>
            <a:ext cx="10001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공장 설비 기준표를 정리하고 정비 필요 여부를 판단할 입력표를 준비합니다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F1C7AB7-8D03-4A30-B362-05999CD13179}"/>
              </a:ext>
            </a:extLst>
          </p:cNvPr>
          <p:cNvSpPr>
            <a:spLocks noGrp="1"/>
          </p:cNvSpPr>
          <p:nvPr/>
        </p:nvSpPr>
        <p:spPr>
          <a:xfrm>
            <a:off x="495300" y="5143500"/>
            <a:ext cx="4000500" cy="114300"/>
          </a:xfrm>
          <a:prstGeom prst="rect">
            <a:avLst/>
          </a:prstGeom>
          <a:solidFill>
            <a:srgbClr val="2F80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B4005DF-CDE8-429D-BB10-69829FB7231B}"/>
              </a:ext>
            </a:extLst>
          </p:cNvPr>
          <p:cNvSpPr>
            <a:spLocks noGrp="1"/>
          </p:cNvSpPr>
          <p:nvPr/>
        </p:nvSpPr>
        <p:spPr>
          <a:xfrm>
            <a:off x="495300" y="5514975"/>
            <a:ext cx="7239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도메인 배경 · 파일 관계 · 열별 의미 · 과제 사용법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5A8AE06-562F-472C-84FC-9685D3F1EE1D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FC3CB15-EB3E-44E6-A87F-829648EF4960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715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수업용 합성 데이터이며 실제 회사의 안전·신용·법적 판단을 대신하지 않습니다.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6179BBE-B83E-4E8A-AD79-93D2978C1CF4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21851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149A100F-7CC1-4AB4-A113-C5FF7826ECC6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BE17350-7CE9-433D-81C7-6ABE276C8B4D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도메인 배경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1EB60FC-17F7-4E96-A9C7-C700C276B1EC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공장의 설비 데이터를 왜 관리할까요?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C1197E7-F2B2-42CC-84A0-0FA52C070335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E404171-4303-4B9B-B3C9-99CA92F3BF1C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671B109-11AB-45EF-99F3-27C822EB0293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10C0633-9D72-4AD0-9131-9A3B70BAB6CB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2D75A17-5100-43AC-B0DC-A8BE34FD72B7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생산라인에는 사출기, 프레스, 포장기, 검사기가 함께 움직입니다.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3D7DD41-A413-4204-927B-62304670CBEB}"/>
              </a:ext>
            </a:extLst>
          </p:cNvPr>
          <p:cNvSpPr>
            <a:spLocks noGrp="1"/>
          </p:cNvSpPr>
          <p:nvPr/>
        </p:nvSpPr>
        <p:spPr>
          <a:xfrm>
            <a:off x="647700" y="2647950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AF8E4C5-C385-45DC-8B12-5739EBB978D7}"/>
              </a:ext>
            </a:extLst>
          </p:cNvPr>
          <p:cNvSpPr>
            <a:spLocks noGrp="1"/>
          </p:cNvSpPr>
          <p:nvPr/>
        </p:nvSpPr>
        <p:spPr>
          <a:xfrm>
            <a:off x="1381125" y="2609850"/>
            <a:ext cx="9620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같은 종류의 설비도 공장과 라인, 제조사, 설치 시점이 다릅니다.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5B76508-096F-432B-9851-36BB1EACBD8C}"/>
              </a:ext>
            </a:extLst>
          </p:cNvPr>
          <p:cNvSpPr>
            <a:spLocks noGrp="1"/>
          </p:cNvSpPr>
          <p:nvPr/>
        </p:nvSpPr>
        <p:spPr>
          <a:xfrm>
            <a:off x="1381125" y="3219450"/>
            <a:ext cx="9525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7E6471-A332-422F-9F06-42E787FC7D96}"/>
              </a:ext>
            </a:extLst>
          </p:cNvPr>
          <p:cNvSpPr>
            <a:spLocks noGrp="1"/>
          </p:cNvSpPr>
          <p:nvPr/>
        </p:nvSpPr>
        <p:spPr>
          <a:xfrm>
            <a:off x="647700" y="3467100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3126857-1F0F-4F21-8453-8DB8292876C6}"/>
              </a:ext>
            </a:extLst>
          </p:cNvPr>
          <p:cNvSpPr>
            <a:spLocks noGrp="1"/>
          </p:cNvSpPr>
          <p:nvPr/>
        </p:nvSpPr>
        <p:spPr>
          <a:xfrm>
            <a:off x="1381125" y="3429000"/>
            <a:ext cx="9620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정비 담당자는 최근 고장 횟수와 운전시간, 마지막 점검일을 함께 확인합니다.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9974C5-45FB-4653-B076-141F36D612E9}"/>
              </a:ext>
            </a:extLst>
          </p:cNvPr>
          <p:cNvSpPr>
            <a:spLocks noGrp="1"/>
          </p:cNvSpPr>
          <p:nvPr/>
        </p:nvSpPr>
        <p:spPr>
          <a:xfrm>
            <a:off x="1381125" y="4038600"/>
            <a:ext cx="9525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DDCF8B7-8191-4A3F-9C0B-92A082A7CA1D}"/>
              </a:ext>
            </a:extLst>
          </p:cNvPr>
          <p:cNvSpPr>
            <a:spLocks noGrp="1"/>
          </p:cNvSpPr>
          <p:nvPr/>
        </p:nvSpPr>
        <p:spPr>
          <a:xfrm>
            <a:off x="647700" y="4286250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A38E6BA-F9E4-4172-8EAA-2083C166C1BB}"/>
              </a:ext>
            </a:extLst>
          </p:cNvPr>
          <p:cNvSpPr>
            <a:spLocks noGrp="1"/>
          </p:cNvSpPr>
          <p:nvPr/>
        </p:nvSpPr>
        <p:spPr>
          <a:xfrm>
            <a:off x="1381125" y="4248150"/>
            <a:ext cx="9620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설비별 허용 온도와 압력, 진동 한계는 별도 사양표에서 관리합니다.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9BCA8274-9678-4A34-A5CE-49E195D6E698}"/>
              </a:ext>
            </a:extLst>
          </p:cNvPr>
          <p:cNvSpPr>
            <a:spLocks noGrp="1"/>
          </p:cNvSpPr>
          <p:nvPr/>
        </p:nvSpPr>
        <p:spPr>
          <a:xfrm>
            <a:off x="571500" y="5334000"/>
            <a:ext cx="11049000" cy="571500"/>
          </a:xfrm>
          <a:prstGeom prst="roundRect">
            <a:avLst>
              <a:gd name="adj" fmla="val 13333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9BE761D-8426-430A-B78E-E2F9E2327B53}"/>
              </a:ext>
            </a:extLst>
          </p:cNvPr>
          <p:cNvSpPr>
            <a:spLocks noGrp="1"/>
          </p:cNvSpPr>
          <p:nvPr/>
        </p:nvSpPr>
        <p:spPr>
          <a:xfrm>
            <a:off x="781050" y="5476875"/>
            <a:ext cx="10382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핵심 질문: 어떤 설비를 먼저 점검해야 할까요?</a:t>
            </a:r>
          </a:p>
        </p:txBody>
      </p:sp>
    </p:spTree>
    <p:extLst>
      <p:ext uri="{BB962C8B-B14F-4D97-AF65-F5344CB8AC3E}">
        <p14:creationId xmlns:p14="http://schemas.microsoft.com/office/powerpoint/2010/main" val="972910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B2107114-B37A-4EA9-B4E7-69606FB1373F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18BE20-B702-49A3-AE06-9715888F64AC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업무 중요성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4406124-D434-449C-ACA3-E41BA6EC0CD5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이 데이터를 관리하는 이유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AEE10DA-5C6A-4613-ACE4-D4A86C8D3250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3AF259F-2D6D-4C04-9F15-3656828D1ED0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8C79085-D5E7-4F39-8CB8-9222B813846E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706D922-9C39-411B-9FBB-7205894203A6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45663DB-AA62-426C-B5E5-CC3B2C1EEE82}"/>
              </a:ext>
            </a:extLst>
          </p:cNvPr>
          <p:cNvSpPr>
            <a:spLocks noGrp="1"/>
          </p:cNvSpPr>
          <p:nvPr/>
        </p:nvSpPr>
        <p:spPr>
          <a:xfrm>
            <a:off x="647700" y="1790700"/>
            <a:ext cx="571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23F66CD-4AC3-46A4-9E13-24585F583D8B}"/>
              </a:ext>
            </a:extLst>
          </p:cNvPr>
          <p:cNvSpPr>
            <a:spLocks noGrp="1"/>
          </p:cNvSpPr>
          <p:nvPr/>
        </p:nvSpPr>
        <p:spPr>
          <a:xfrm>
            <a:off x="1381125" y="177165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생산 중단 예방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DD99BF0-9844-49A3-9390-890BB0564502}"/>
              </a:ext>
            </a:extLst>
          </p:cNvPr>
          <p:cNvSpPr>
            <a:spLocks noGrp="1"/>
          </p:cNvSpPr>
          <p:nvPr/>
        </p:nvSpPr>
        <p:spPr>
          <a:xfrm>
            <a:off x="4238625" y="1771650"/>
            <a:ext cx="7000875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정비 시점을 놓치면 한 설비의 문제가 생산라인 전체의 지연으로 이어질 수 있습니다.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272E32-82CC-4D41-B5A5-72E574E2778C}"/>
              </a:ext>
            </a:extLst>
          </p:cNvPr>
          <p:cNvSpPr>
            <a:spLocks noGrp="1"/>
          </p:cNvSpPr>
          <p:nvPr/>
        </p:nvSpPr>
        <p:spPr>
          <a:xfrm>
            <a:off x="1381125" y="2476500"/>
            <a:ext cx="981075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0D738F6-12FC-4BCD-AC58-C913B9EE746F}"/>
              </a:ext>
            </a:extLst>
          </p:cNvPr>
          <p:cNvSpPr>
            <a:spLocks noGrp="1"/>
          </p:cNvSpPr>
          <p:nvPr/>
        </p:nvSpPr>
        <p:spPr>
          <a:xfrm>
            <a:off x="647700" y="2743200"/>
            <a:ext cx="571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3EC8116-C165-412C-BC7C-1FC589772A1C}"/>
              </a:ext>
            </a:extLst>
          </p:cNvPr>
          <p:cNvSpPr>
            <a:spLocks noGrp="1"/>
          </p:cNvSpPr>
          <p:nvPr/>
        </p:nvSpPr>
        <p:spPr>
          <a:xfrm>
            <a:off x="1381125" y="272415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품질과 안전 확인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D0079A7-841A-480B-8EA1-480578A973D9}"/>
              </a:ext>
            </a:extLst>
          </p:cNvPr>
          <p:cNvSpPr>
            <a:spLocks noGrp="1"/>
          </p:cNvSpPr>
          <p:nvPr/>
        </p:nvSpPr>
        <p:spPr>
          <a:xfrm>
            <a:off x="4238625" y="2724150"/>
            <a:ext cx="7000875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온도와 압력, 진동 기준이 어긋나면 제품 품질과 작업 안전을 함께 점검해야 합니다.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C4FF6B2-7207-4D7E-A417-9201E9C4C3D6}"/>
              </a:ext>
            </a:extLst>
          </p:cNvPr>
          <p:cNvSpPr>
            <a:spLocks noGrp="1"/>
          </p:cNvSpPr>
          <p:nvPr/>
        </p:nvSpPr>
        <p:spPr>
          <a:xfrm>
            <a:off x="1381125" y="3429000"/>
            <a:ext cx="981075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A56A01F-D219-457F-9CE3-2815F91D3DEC}"/>
              </a:ext>
            </a:extLst>
          </p:cNvPr>
          <p:cNvSpPr>
            <a:spLocks noGrp="1"/>
          </p:cNvSpPr>
          <p:nvPr/>
        </p:nvSpPr>
        <p:spPr>
          <a:xfrm>
            <a:off x="647700" y="3695700"/>
            <a:ext cx="571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BB50FB5-3B14-4AB2-9CBA-5904FFEB06EC}"/>
              </a:ext>
            </a:extLst>
          </p:cNvPr>
          <p:cNvSpPr>
            <a:spLocks noGrp="1"/>
          </p:cNvSpPr>
          <p:nvPr/>
        </p:nvSpPr>
        <p:spPr>
          <a:xfrm>
            <a:off x="1381125" y="367665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정비 인력의 우선순위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E02A304-7683-4D35-A087-EFA5A1E20D36}"/>
              </a:ext>
            </a:extLst>
          </p:cNvPr>
          <p:cNvSpPr>
            <a:spLocks noGrp="1"/>
          </p:cNvSpPr>
          <p:nvPr/>
        </p:nvSpPr>
        <p:spPr>
          <a:xfrm>
            <a:off x="4238625" y="3676650"/>
            <a:ext cx="7000875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모든 설비를 동시에 점검할 수 없으므로 기록을 바탕으로 먼저 볼 설비를 정합니다.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776B882-7736-4C41-A6B9-A501F2899230}"/>
              </a:ext>
            </a:extLst>
          </p:cNvPr>
          <p:cNvSpPr>
            <a:spLocks noGrp="1"/>
          </p:cNvSpPr>
          <p:nvPr/>
        </p:nvSpPr>
        <p:spPr>
          <a:xfrm>
            <a:off x="1381125" y="4381500"/>
            <a:ext cx="981075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5275792-5F92-4AF5-AE36-595311BD2C48}"/>
              </a:ext>
            </a:extLst>
          </p:cNvPr>
          <p:cNvSpPr>
            <a:spLocks noGrp="1"/>
          </p:cNvSpPr>
          <p:nvPr/>
        </p:nvSpPr>
        <p:spPr>
          <a:xfrm>
            <a:off x="647700" y="4648200"/>
            <a:ext cx="571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F2BB11A-3224-41B4-AAB5-4A85DDE800CF}"/>
              </a:ext>
            </a:extLst>
          </p:cNvPr>
          <p:cNvSpPr>
            <a:spLocks noGrp="1"/>
          </p:cNvSpPr>
          <p:nvPr/>
        </p:nvSpPr>
        <p:spPr>
          <a:xfrm>
            <a:off x="1381125" y="462915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판단 근거 보존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E28C6FB-7B93-404B-BDF3-643C9287F2BB}"/>
              </a:ext>
            </a:extLst>
          </p:cNvPr>
          <p:cNvSpPr>
            <a:spLocks noGrp="1"/>
          </p:cNvSpPr>
          <p:nvPr/>
        </p:nvSpPr>
        <p:spPr>
          <a:xfrm>
            <a:off x="4238625" y="4629150"/>
            <a:ext cx="7000875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왜 어떤 설비를 정비 대상으로 골랐는지 나중에 다시 설명할 수 있어야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533336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7405D6A3-EFAE-48F1-BDE4-22D4206FDDC6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359805-4C89-4175-B911-7241A23EAE7A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수업 연결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28B272-4604-437C-8DAA-E923D30342D5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결혼정보 데이터에서 무엇을 바꿔 생각할까요?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17BABCA-825A-49B9-9CD5-1FBACB1FBEE0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5DC3FF-BED7-482B-A074-7F8B6E35B22A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87CC1E8-4519-4389-B6D0-47606B6AF79F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AE4331-AD4A-4AAD-930B-11F1ADCE4E27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graphicFrame>
        <p:nvGraphicFramePr>
          <p:cNvPr id="16" name="표 15"/>
          <p:cNvGraphicFramePr/>
          <p:nvPr/>
        </p:nvGraphicFramePr>
        <p:xfrm>
          <a:off x="571500" y="1762125"/>
          <a:ext cx="11049000" cy="3905253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391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처리 역할</a:t>
                      </a:r>
                    </a:p>
                  </a:txBody>
                  <a:tcPr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enlo"/>
                          <a:ea typeface="Menlo"/>
                          <a:cs typeface="Menlo"/>
                        </a:rPr>
                        <a:t>결혼정보회사 수업</a:t>
                      </a:r>
                    </a:p>
                  </a:txBody>
                  <a:tcPr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enlo"/>
                          <a:ea typeface="Menlo"/>
                          <a:cs typeface="Menlo"/>
                        </a:rPr>
                        <a:t>제조 선택과제</a:t>
                      </a:r>
                    </a:p>
                  </a:txBody>
                  <a:tcPr>
                    <a:solidFill>
                      <a:srgbClr val="12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91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대상을 구분하는 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member_id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equipment_id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91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사람이 읽는 이름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equipment_name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91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지역과 위치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residence_region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plant · 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91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시작 날짜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signup_datetime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install_date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91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문자가 섞인 숫자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annual_income_10k_krw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rated_cycle_sec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391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추가 기준표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선호조건표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설비 사양표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391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정답 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meeting_scheduled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maintenance_required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391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처음 보는 새 대상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신규 회원 100명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신규 설비 40대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737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927BBA32-BB5A-4538-ABA4-E9ECE8A54F23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22DB23F-ABED-482D-9E42-5B23BEFDF18F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파일 구조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57A4ABD-597A-4420-B765-51D6E53CCACB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세 CSV는 서로 다른 역할을 맡습니다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FDEEEF-3169-4E8F-A8A2-F9ED671C286E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783022A-CB64-4C08-A606-D31282151B1C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38AC9B-1D49-4FDC-9916-2ED40950623B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E32553A-28E8-4CA6-B193-FFBFC3AA0542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7E067FD-5D52-4955-9A4F-25BAE5157F86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4000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manufacturing_equipment.csv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9C95856-B64E-47C6-87F7-345EC1C4F221}"/>
              </a:ext>
            </a:extLst>
          </p:cNvPr>
          <p:cNvSpPr>
            <a:spLocks noGrp="1"/>
          </p:cNvSpPr>
          <p:nvPr/>
        </p:nvSpPr>
        <p:spPr>
          <a:xfrm>
            <a:off x="4953000" y="180975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243행 × 16열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D296626-AB92-4975-8EB7-321D54ADC83A}"/>
              </a:ext>
            </a:extLst>
          </p:cNvPr>
          <p:cNvSpPr>
            <a:spLocks noGrp="1"/>
          </p:cNvSpPr>
          <p:nvPr/>
        </p:nvSpPr>
        <p:spPr>
          <a:xfrm>
            <a:off x="666750" y="226695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설비 한 대의 기본 정보와 교육용 정답. 고유 설비 240대와 중복 3행이 들어 있습니다.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0A2E027-F8FE-4718-919E-46529176BE06}"/>
              </a:ext>
            </a:extLst>
          </p:cNvPr>
          <p:cNvSpPr>
            <a:spLocks noGrp="1"/>
          </p:cNvSpPr>
          <p:nvPr/>
        </p:nvSpPr>
        <p:spPr>
          <a:xfrm>
            <a:off x="666750" y="2876550"/>
            <a:ext cx="104775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D0C5ACA-FE18-4F97-85B1-173A2525FEAA}"/>
              </a:ext>
            </a:extLst>
          </p:cNvPr>
          <p:cNvSpPr>
            <a:spLocks noGrp="1"/>
          </p:cNvSpPr>
          <p:nvPr/>
        </p:nvSpPr>
        <p:spPr>
          <a:xfrm>
            <a:off x="666750" y="3067050"/>
            <a:ext cx="4000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manufacturing_specs.csv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9734ABD-E901-4A16-A22D-FA19E5765FF9}"/>
              </a:ext>
            </a:extLst>
          </p:cNvPr>
          <p:cNvSpPr>
            <a:spLocks noGrp="1"/>
          </p:cNvSpPr>
          <p:nvPr/>
        </p:nvSpPr>
        <p:spPr>
          <a:xfrm>
            <a:off x="4953000" y="306705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240행 × 6열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6FFA1BF-6D38-4F03-BA5B-94501966580D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설비 한 대의 센서 모델과 허용 기준. equipment_id로 기준표에 붙입니다.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5ECEAF2-E28D-4E69-9B02-16DA651C534E}"/>
              </a:ext>
            </a:extLst>
          </p:cNvPr>
          <p:cNvSpPr>
            <a:spLocks noGrp="1"/>
          </p:cNvSpPr>
          <p:nvPr/>
        </p:nvSpPr>
        <p:spPr>
          <a:xfrm>
            <a:off x="666750" y="4133850"/>
            <a:ext cx="104775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73AADD9-3108-42E9-ACFD-6A7E0BFB61A3}"/>
              </a:ext>
            </a:extLst>
          </p:cNvPr>
          <p:cNvSpPr>
            <a:spLocks noGrp="1"/>
          </p:cNvSpPr>
          <p:nvPr/>
        </p:nvSpPr>
        <p:spPr>
          <a:xfrm>
            <a:off x="666750" y="4324350"/>
            <a:ext cx="4000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manufacturing_equipment_new.csv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FFFBB21-ACBE-40B8-9042-B48752F1DDE4}"/>
              </a:ext>
            </a:extLst>
          </p:cNvPr>
          <p:cNvSpPr>
            <a:spLocks noGrp="1"/>
          </p:cNvSpPr>
          <p:nvPr/>
        </p:nvSpPr>
        <p:spPr>
          <a:xfrm>
            <a:off x="4953000" y="432435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40행 × 15열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8E8BBB1-B1C0-429E-8C60-8B91C26FD4A2}"/>
              </a:ext>
            </a:extLst>
          </p:cNvPr>
          <p:cNvSpPr>
            <a:spLocks noGrp="1"/>
          </p:cNvSpPr>
          <p:nvPr/>
        </p:nvSpPr>
        <p:spPr>
          <a:xfrm>
            <a:off x="666750" y="478155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정답 열이 없는 신규 설비. train에서 배운 전처리 기준만 적용합니다.</a:t>
            </a:r>
          </a:p>
        </p:txBody>
      </p:sp>
    </p:spTree>
    <p:extLst>
      <p:ext uri="{BB962C8B-B14F-4D97-AF65-F5344CB8AC3E}">
        <p14:creationId xmlns:p14="http://schemas.microsoft.com/office/powerpoint/2010/main" val="1050999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39D1EA8F-B710-4C26-9BB8-07B47D388060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5C2C85-D4F0-4195-BABF-2374F8ACAFD3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데이터 품질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29EEACD-4F00-419A-9715-54FDF68CEDC4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처리 연습을 위해 일부러 넣은 문제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ECBC825-CFA6-4D49-8F74-640EE715B2DD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B90072B-6883-433B-B5B2-803DC78EBA76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8EF9C89-4721-45A1-9DF0-69CE6C0D505F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13DDD09-008D-4D48-94FB-FF5731758A41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58D071-F2B8-4C43-99B4-3D23A368EABE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10572750" cy="3238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28600" indent="-114300">
              <a:spcAft>
                <a:spcPts val="1800"/>
              </a:spcAft>
              <a:buChar char="•"/>
              <a:def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중복 equipment_id 3행을 제거해 240대로 정리합니다.</a:t>
            </a:r>
          </a:p>
          <a:p>
            <a:pPr marL="228600" indent="-114300">
              <a:spcAft>
                <a:spcPts val="1800"/>
              </a:spcAft>
              <a:buChar char="•"/>
              <a:def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공장명이 Seoul Plant, seoul plant, 공백 포함 값으로 섞여 있습니다.</a:t>
            </a:r>
          </a:p>
          <a:p>
            <a:pPr marL="228600" indent="-114300">
              <a:spcAft>
                <a:spcPts val="1800"/>
              </a:spcAft>
              <a:buChar char="•"/>
              <a:def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rated_cycle_sec의 미측정 4개를 숫자 변환 뒤 결측으로 처리합니다.</a:t>
            </a:r>
          </a:p>
          <a:p>
            <a:pPr marL="228600" indent="-114300">
              <a:spcAft>
                <a:spcPts val="1800"/>
              </a:spcAft>
              <a:buChar char="•"/>
              <a:def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target_pressure_bar의 빈칸 4개를 중앙값으로 채웁니다.</a:t>
            </a:r>
          </a:p>
          <a:p>
            <a:pPr marL="228600" indent="-114300">
              <a:spcAft>
                <a:spcPts val="1800"/>
              </a:spcAft>
              <a:buChar char="•"/>
              <a:def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신규 설비에는 처음 보는 레이저검사기 범주가 들어 있습니다.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C552F219-4B7A-4A80-B5FD-1785AC5FEC95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10572750" cy="571500"/>
          </a:xfrm>
          <a:prstGeom prst="roundRect">
            <a:avLst>
              <a:gd name="adj" fmla="val 13333"/>
            </a:avLst>
          </a:prstGeom>
          <a:solidFill>
            <a:srgbClr val="FFF3E8"/>
          </a:solidFill>
          <a:ln w="9525">
            <a:solidFill>
              <a:srgbClr val="F0B4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147F2A-D878-4543-A9DA-222E861F26B8}"/>
              </a:ext>
            </a:extLst>
          </p:cNvPr>
          <p:cNvSpPr>
            <a:spLocks noGrp="1"/>
          </p:cNvSpPr>
          <p:nvPr/>
        </p:nvSpPr>
        <p:spPr>
          <a:xfrm>
            <a:off x="895350" y="548640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이 오류들은 실제 업무에서 자주 만나는 유형을 안전하게 연습하도록 만든 교육 장치입니다.</a:t>
            </a:r>
          </a:p>
        </p:txBody>
      </p:sp>
    </p:spTree>
    <p:extLst>
      <p:ext uri="{BB962C8B-B14F-4D97-AF65-F5344CB8AC3E}">
        <p14:creationId xmlns:p14="http://schemas.microsoft.com/office/powerpoint/2010/main" val="875827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7677EB30-3148-455F-98B5-3F8370B49629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3437017-6BF2-467F-AA83-AD614E78535C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과제 흐름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FC67B4A-E949-4BF3-B907-E4FE35BB1D0B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과제 데이터가 이동하는 전체 과정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77F6A81-F6DA-45A4-B1BE-7BCA7CE901D8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C3620A8-0B7B-47C7-873B-09A7B570A026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8956604-CDE4-47D4-9639-2A6340DD51BA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CE5E2AC-EAF8-4F52-A5D0-16D7A0F67129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40951" y="1619250"/>
            <a:ext cx="7700573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445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58CA1886-8302-486B-B283-D445226425B1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C5D11B1-48C0-4073-9A3B-F650CFAD76AD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B9B09CB-0E9A-4926-9949-7F0D9489C702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기준표 16열의 역할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0E29E98-3726-4D31-934B-F2AABA46D3A0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C00FFE-2B08-4437-ADF2-59099C34666C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61ABDF2-1DA7-4AB9-8740-C6C132442511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DEF482D-FCB3-467F-913E-9B585CCE9BFD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DDFB1C-0E11-485C-8DB7-757F201B4E99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6667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manufacturing_equipment.csv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5169241-249C-4B84-927A-C1410B438ED3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식별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B2AF85-3A21-4BDB-8C4C-AD6F987E7B8E}"/>
              </a:ext>
            </a:extLst>
          </p:cNvPr>
          <p:cNvSpPr>
            <a:spLocks noGrp="1"/>
          </p:cNvSpPr>
          <p:nvPr/>
        </p:nvSpPr>
        <p:spPr>
          <a:xfrm>
            <a:off x="2857500" y="2381250"/>
            <a:ext cx="8191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equipment_id · equipment_name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6CAB6CE-E703-4AE4-B883-DCAAECD08750}"/>
              </a:ext>
            </a:extLst>
          </p:cNvPr>
          <p:cNvSpPr>
            <a:spLocks noGrp="1"/>
          </p:cNvSpPr>
          <p:nvPr/>
        </p:nvSpPr>
        <p:spPr>
          <a:xfrm>
            <a:off x="2857500" y="2838450"/>
            <a:ext cx="81915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DE48935-6704-4DA2-B287-F48C21E96B27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위치와 종류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F849286-4213-4A61-A4AB-F89D5B250143}"/>
              </a:ext>
            </a:extLst>
          </p:cNvPr>
          <p:cNvSpPr>
            <a:spLocks noGrp="1"/>
          </p:cNvSpPr>
          <p:nvPr/>
        </p:nvSpPr>
        <p:spPr>
          <a:xfrm>
            <a:off x="2857500" y="3048000"/>
            <a:ext cx="8191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plant · line · equipment_type · manufacturer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372799-DAF3-4487-A58B-932DA3F09A17}"/>
              </a:ext>
            </a:extLst>
          </p:cNvPr>
          <p:cNvSpPr>
            <a:spLocks noGrp="1"/>
          </p:cNvSpPr>
          <p:nvPr/>
        </p:nvSpPr>
        <p:spPr>
          <a:xfrm>
            <a:off x="2857500" y="3505200"/>
            <a:ext cx="81915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965A356-AE20-4A8D-9EAF-619A7D4D42C1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날짜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2DBE92E-7647-4C50-9A98-8214023B5369}"/>
              </a:ext>
            </a:extLst>
          </p:cNvPr>
          <p:cNvSpPr>
            <a:spLocks noGrp="1"/>
          </p:cNvSpPr>
          <p:nvPr/>
        </p:nvSpPr>
        <p:spPr>
          <a:xfrm>
            <a:off x="2857500" y="3714750"/>
            <a:ext cx="8191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install_date · last_inspection_date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A655062-76BD-4895-B481-04E40C914E43}"/>
              </a:ext>
            </a:extLst>
          </p:cNvPr>
          <p:cNvSpPr>
            <a:spLocks noGrp="1"/>
          </p:cNvSpPr>
          <p:nvPr/>
        </p:nvSpPr>
        <p:spPr>
          <a:xfrm>
            <a:off x="2857500" y="4171950"/>
            <a:ext cx="81915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315EC5-86D6-4A66-BDA8-65E909A02DF8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운전 기준과 이력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C833BB8-F844-4855-886F-6804DCF999D6}"/>
              </a:ext>
            </a:extLst>
          </p:cNvPr>
          <p:cNvSpPr>
            <a:spLocks noGrp="1"/>
          </p:cNvSpPr>
          <p:nvPr/>
        </p:nvSpPr>
        <p:spPr>
          <a:xfrm>
            <a:off x="2857500" y="4381500"/>
            <a:ext cx="8191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rated_cycle_sec · target_temperature_c · target_pressure_bar · monthly_runtime_hours · failure_count_90d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CF219E6-104A-4FA4-ADDB-62A15E13A813}"/>
              </a:ext>
            </a:extLst>
          </p:cNvPr>
          <p:cNvSpPr>
            <a:spLocks noGrp="1"/>
          </p:cNvSpPr>
          <p:nvPr/>
        </p:nvSpPr>
        <p:spPr>
          <a:xfrm>
            <a:off x="2857500" y="4838700"/>
            <a:ext cx="81915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1BBD384-AE8A-4CA3-A4E3-5D2C66763DF1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상태와 정답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31E8A79-70DC-40FD-A594-2FE7D2BEE19B}"/>
              </a:ext>
            </a:extLst>
          </p:cNvPr>
          <p:cNvSpPr>
            <a:spLocks noGrp="1"/>
          </p:cNvSpPr>
          <p:nvPr/>
        </p:nvSpPr>
        <p:spPr>
          <a:xfrm>
            <a:off x="2857500" y="5048250"/>
            <a:ext cx="8191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maintenance_grade · operation_status · maintenance_required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D38DB454-860F-40E1-8F2D-5230C80C1A74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10477500" cy="400050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685A758-ED50-4EA1-928F-67BDF8ACEF00}"/>
              </a:ext>
            </a:extLst>
          </p:cNvPr>
          <p:cNvSpPr>
            <a:spLocks noGrp="1"/>
          </p:cNvSpPr>
          <p:nvPr/>
        </p:nvSpPr>
        <p:spPr>
          <a:xfrm>
            <a:off x="876300" y="5705475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한 행은 대상 한 개입니다.</a:t>
            </a:r>
          </a:p>
        </p:txBody>
      </p:sp>
    </p:spTree>
    <p:extLst>
      <p:ext uri="{BB962C8B-B14F-4D97-AF65-F5344CB8AC3E}">
        <p14:creationId xmlns:p14="http://schemas.microsoft.com/office/powerpoint/2010/main" val="450537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03EF35E4-0E92-418A-BB76-F847BD0F7CA2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50A90ED-AB99-4FC8-9702-5A6D560ACA87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01/21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AF47273-C1C2-48E1-A36A-B4DA590BFA48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equipment_id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ECFF325-4C23-4F8E-A9D7-B486693DA24E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4A985EC-4674-491F-88F6-A88BC0A13B0A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623339C-2A11-4D85-B0A8-646DE37FD73B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CBDBF3E-11E5-4D04-921F-48D413DF0DF8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72AF49A-ABCF-41D0-B7D7-170E006EF6AF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ID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31F2201-428D-4E0F-9FA9-CE6DA4485DF6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equipment_id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67CC0BA-6BED-4CE8-8309-45D91869F3E5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7546EC2-35C8-4BB0-BDAB-8A2BC3BC4BD8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2CE4A03-54EB-448F-B1A5-DB71B6825163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EQ0001 · EQ0002 · EQ0003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6EC8603-5928-488F-8706-7198436FB3ED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559960E-FB24-4753-A92B-60031AA6D3F6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기준표와 설비 사양표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28E4910-4F83-4C88-BD30-0C00AAB4A980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F6D4391-6A82-4E41-B0E8-F997FA5687AC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한 대를 다른 설비와 구분하고 두 표를 정확히 연결하는 기준입니다.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C398E44-A91A-4F3A-AC76-834F555F5C74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4FE1AB1-C551-441A-B4AF-6DF676426E70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원본 243행에는 같은 ID가 3번 더 들어 있습니다. 이름이나 행 번호로 결합하면 다른 설비가 연결될 수 있습니다.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FFC54A4F-8C6D-499D-9771-D4ECEE4FB9FA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8431CF5-F0DF-4101-B5A3-74EC143D670D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중복 제거 · is_unique 확인 · merge의 on 값</a:t>
            </a:r>
          </a:p>
        </p:txBody>
      </p:sp>
    </p:spTree>
    <p:extLst>
      <p:ext uri="{BB962C8B-B14F-4D97-AF65-F5344CB8AC3E}">
        <p14:creationId xmlns:p14="http://schemas.microsoft.com/office/powerpoint/2010/main" val="278250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019DCD19-9A29-46B9-B62A-A9326E76BCE8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665E520-A69C-49F7-98BE-79BFE2B7066C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02/21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61AC877-69D8-4C94-9376-37B706E11CA9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equipment_name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15273C4-C1C3-4BB4-96C2-2557AC5A9771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A6E1819-208F-4D8D-8356-9C13CE771795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D8C87C3-1BC4-4FF8-BA1F-291ABB0259D6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C8BDB9A-9867-41AE-9BEE-634D5F25399B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CA599C5-E8EC-446A-8705-1D7CD449F9E1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이름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1D46452-DDCE-405C-9879-48DDCC2E7EAA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equipment_name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0A502F7-CEC7-47C9-BC35-95B9D4A300D7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9DAFC3F-5800-4F6C-B347-F348E793D3D9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2B178A7-504F-4E76-8965-C55688903AB7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설비-001 · 설비-002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94EE3D5-1CE3-4DC7-AFC7-376DCE486E26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2538A28-FEED-490D-94C6-1C3FD186C7F8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EF4B0E6-E0D5-444C-B04B-371D91949856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0D67BE9-C848-44FE-A910-52A1C5E52058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현장 작업자가 설비를 화면과 보고서에서 알아보기 쉽게 보여 주는 이름입니다.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F330395-121F-46B0-BDC5-9FA0FB2AA4BC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DC0C795-C194-4F2D-9D3A-18FEE7495580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사람이 읽기에는 편하지만 고유하다고 보장할 수 없으므로 표 결합의 기준으로 쓰지 않습니다.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AA0BEA4C-CACA-467F-B30F-C8575018E3DD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3BF73B7-9971-4F39-843D-2671E5A539DC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결과표 표시용 · ID와 함께 확인</a:t>
            </a:r>
          </a:p>
        </p:txBody>
      </p:sp>
    </p:spTree>
    <p:extLst>
      <p:ext uri="{BB962C8B-B14F-4D97-AF65-F5344CB8AC3E}">
        <p14:creationId xmlns:p14="http://schemas.microsoft.com/office/powerpoint/2010/main" val="543722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14E23697-9DDF-423C-8634-EB4CC37FC67E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B5B560E-7F88-4BCE-A2FD-718CD378A569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03/21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FE356A0-F84D-4BA0-A188-4C09B5FCFBE4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plant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B09047-18C3-49D3-AC55-0CFB222DA03B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6426BD-33CD-435E-AD59-707D48D7B7B2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E979542-D706-45D7-A16F-558F71DC6C68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2EC7385-76EC-452B-8A1E-68EC1841DB3E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B5106D0-962C-4FBC-B47E-BDA2E18D7ABC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설비가 있는 공장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46FFE1-A3DF-4CD6-8854-D512B62866E6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plant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1EF4113-053A-485C-9838-9F66392284F4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3FA53E5-B714-4999-8EEB-365FD5033DC2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A7629D4-C349-4BA4-8F06-5037829D7DB4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경기공장 · 서울공장 · 충남공장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60A185E-BEAB-48FE-8881-E0C8DD441D7F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FF88CA6-E499-4D5F-A072-CBED227F64A2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범주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D57263B-6E89-44E0-B6A3-C301E9B6BAFB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6BC5C9B-A4B7-40B8-943C-29E82D941495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공장별 설비 수와 정비 수요를 비교하고 담당 조직을 정하는 데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D6A66FD-AD44-43B4-BDC6-B48B1A882923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89B878B-F54E-4FF4-9D29-698CD5350553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서울공장이 Seoul Plant, seoul plant처럼 섞이고 일부 값에는 공백이 있습니다. 먼저 표기를 통일해야 합니다.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6F5EB9FE-6689-41DF-BF87-A65044F912E4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D8A37E7-59F2-43E0-8F5E-C44765417618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str.strip · replace · 문자 전처리</a:t>
            </a:r>
          </a:p>
        </p:txBody>
      </p:sp>
    </p:spTree>
    <p:extLst>
      <p:ext uri="{BB962C8B-B14F-4D97-AF65-F5344CB8AC3E}">
        <p14:creationId xmlns:p14="http://schemas.microsoft.com/office/powerpoint/2010/main" val="1182355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4AAF1039-E7CB-4393-9D04-C87EB9731164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5898EE5-64A6-49A4-B09B-923A77554BC6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04/21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076A0F2-C987-4025-8BB7-32A4019DE955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line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46021EC-32C4-495D-B7BB-BF3DA3200BD2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B39E92D-E517-43C0-A0FA-1DEF222A54A9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327E7C0-8787-4F7B-A3AE-459FD21D2DF0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0D9C032-10B4-44B4-96B9-914F6CCD3EA2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CD938BF-7B7D-4751-A822-0B99FFB40405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생산라인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13BE1F2-1B40-46F4-A776-210E80328452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line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D8A8BD3-355D-4C13-A79C-98AD78F6A863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FED92DE-27A9-4772-90B5-D00AF8337EAC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5712188-D88E-4369-AED7-4ADC5CF1990C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A라인 · B라인 · C라인 · D라인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CA37622-65CA-4A12-B3BE-24528CD0E32D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88065B0-8791-44EF-88BE-526B59B586B7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범주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B261381-F735-4031-AB5A-86DB668CC0A7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725F1D0-9CA5-4B22-BA24-3F6198AE5F15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같은 공장 안에서도 어느 생산라인의 설비인지 구분합니다.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E7B064E-003A-49D1-AEF7-1BAA3DA5F92F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82CAAED-EA00-4108-8BCA-B64B8C1E0CD2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숫자가 아니라 범주이므로 평균을 내기보다 라인별 개수나 비율을 비교합니다.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E866B605-330D-48D8-B182-2056779908F6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DD54B9A-FD59-455C-AA49-654545A638E4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groupby 기준 · OneHotEncoder 대상</a:t>
            </a:r>
          </a:p>
        </p:txBody>
      </p:sp>
    </p:spTree>
    <p:extLst>
      <p:ext uri="{BB962C8B-B14F-4D97-AF65-F5344CB8AC3E}">
        <p14:creationId xmlns:p14="http://schemas.microsoft.com/office/powerpoint/2010/main" val="469282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62E078C6-F3E1-47E3-9ED1-DF8282DF8C3B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E7AF3BF-D180-4A8C-967E-D2F4F51A96D6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05/21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156596D-293B-45F7-BA3D-74BEA6C9E236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equipment_type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1E7CCD2-9E0E-4DC9-96BD-E62337C72B49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01F0B10-9833-4B82-996D-55A68F041481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CDEE0F2-0517-4363-8FB9-A5A24445FACC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436D6D0-B638-46D8-B98C-23757334D470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05CB25D-72B2-469B-8582-22A975E56494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종류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E06D2C6-725E-455B-9742-65984D74284D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equipment_type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B0EA083-98E7-4D64-89AB-3D2E78AD6077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104119A-351F-4956-882A-087A8B17CA08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9149A4A-0A55-4132-85DF-83F4AA88DE25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사출기 · 프레스 · 포장기 · 검사기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9DF9C37-A3A0-4FC6-B0C5-CCEDE7835A84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DEEAF2C-B11E-4751-A3A2-2BAE54022D87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범주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7BCF4C8-27DF-469B-889E-CC15548D0FE4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CA42588-593E-43C1-B1B1-5346437C63FC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종류에 따라 정상 운전 범위와 정비 방식이 달라질 수 있어 비교 기준이 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2E5E85B-0C53-45DE-939F-4620C93E1CC0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6C65F2E-2C72-4BCC-8C09-61213E6924C9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신규 데이터에는 기존 학습표에 없던 레이저검사기가 등장합니다. 새 범주가 들어와도 오류가 나지 않게 준비해야 합니다.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3F8826C5-41B3-40B5-8937-8F9FE7287405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70802E9-5997-48B7-BDBF-FF4694F4F4F0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범주형 입력 · handle_unknown='ignore'</a:t>
            </a:r>
          </a:p>
        </p:txBody>
      </p:sp>
    </p:spTree>
    <p:extLst>
      <p:ext uri="{BB962C8B-B14F-4D97-AF65-F5344CB8AC3E}">
        <p14:creationId xmlns:p14="http://schemas.microsoft.com/office/powerpoint/2010/main" val="1475688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12652A4F-8244-4527-A3F9-D321B9D4A2D4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AF09668-E813-4E77-98FC-F1118FCE9E39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06/21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2AAED9-959F-4DA0-87FB-5A9BD4C112AD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manufacturer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0C1060A-B20E-4775-92CA-E2CAEEF6B4AB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F87AD63-9C42-4E4F-9DE2-C50A6DE2C809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B77AA08-EF52-41A1-9113-C7C94B31B7AF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281E7C3-8FE8-4CA2-BE49-005556C43AC5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3D5B01A-687D-4110-9FC3-EA7F81BBBC19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제조사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D12639C-EA93-4F2F-A474-7972EC7BED9E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manufacturer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605BE93-4EA0-4CB1-806D-F488F3E11237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E067D8E-DB9F-4C09-A547-5208E4C34C5E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C31CD26-7745-473A-928B-CD011C54CDA4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대한정밀 · 한빛기계 · 미래자동화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FADC3EB-848D-402E-ABE6-F8B51FAE9457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8A33864-0B8F-413B-8E83-64B5FEE6294A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범주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F5EB3FB-1D1A-4FF2-B0D8-E395C1A5E6B0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16879FC-F0B8-4170-8EED-C29F9B2F73CA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부품 조달과 정비 문의, 제조사별 고장 경향을 확인할 때 필요합니다.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BA557A5-A537-4EEC-94EB-C201688E3D38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38F31CE-29A1-4740-B859-B13D2476CC2D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이번 입력 X에는 넣지 않지만 원본 업무 정보로 보존합니다. 사용하지 않는 열도 함부로 지우지 않습니다.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A7094333-ABD5-4D74-B4CF-D5DA1A8944C3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6DA46A6-4DBF-4811-9F19-F8E27C8854C5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원본 보존 · 필요 시 집계 기준</a:t>
            </a:r>
          </a:p>
        </p:txBody>
      </p:sp>
    </p:spTree>
    <p:extLst>
      <p:ext uri="{BB962C8B-B14F-4D97-AF65-F5344CB8AC3E}">
        <p14:creationId xmlns:p14="http://schemas.microsoft.com/office/powerpoint/2010/main" val="261940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CA5BB3D7-8A2A-4487-9EB9-7E6E2236BC72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AF300DC-180C-478F-A707-DD73A3249507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07/21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119AA4D-9A61-4BB0-B38D-21847CE2DC24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install_date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7E779D-E4DD-4A4D-AEEB-D6F089F6BBA0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331120-6D80-407F-BDDC-2AC495F16B89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C88FAE5-FD62-456E-BCE9-566DC5DA9172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F219766-AA7A-4446-9487-84288125711B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A1D527D-780D-447C-BF49-66A175417550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설치일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B6257F-B4B5-487F-A35B-C126D04E2950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install_date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218C0A6-1D30-4F42-81A6-B20FB6D4DB11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6D8565F-BF39-4139-B450-B0B10CAB9972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F744EFE-7E41-4635-B286-F9D30F3DF610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2022-08-22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ADCD6F3-8610-4615-9173-12828910104C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53FA5D9-6478-4D2E-BFA0-5A3ED75AF42A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읽은 직후 문자열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992E30A-5FD0-4C96-94BC-BCB186FFFFC1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4C7B059-EF3B-4D5E-AA94-2E9852133141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설비가 얼마나 오래 사용되었는지 계산할 출발 날짜입니다.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8ED6C89-6F1D-4C8C-B7A5-D458F8E9ABA0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0A5CE5-2504-4ECE-ABA0-97C44569ED7D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CSV에서는 날짜처럼 보여도 처음에는 문자열입니다. 날짜 차이를 계산하려면 datetime으로 바꿔야 합니다.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0FF1EEC5-083B-402C-9A6F-7513EE0D88F1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81990E5-4297-4972-98DE-B090D934B5EA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pd.to_datetime · 설비 사용기간 확장 가능</a:t>
            </a:r>
          </a:p>
        </p:txBody>
      </p:sp>
    </p:spTree>
    <p:extLst>
      <p:ext uri="{BB962C8B-B14F-4D97-AF65-F5344CB8AC3E}">
        <p14:creationId xmlns:p14="http://schemas.microsoft.com/office/powerpoint/2010/main" val="665810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19F59DC0-4D35-4F0F-B270-8BC58F5AFEC7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93F2F7F-6217-4058-BBAC-55B560C87E24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08/21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B88D0F9-D589-415B-9204-38F377BBD441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last_inspection_date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697D0AB-0760-41CD-A0DE-4E7DFACBD7F4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C0E2B74-9CF7-4C72-8C86-C25F70B4A29C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98DABC1-1B49-46E3-AC98-7BFF0B068F35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5102FED-FEA0-4F14-A744-D8D440EB7345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9CE5363-3CD6-4DC2-8FD2-F2451E7480E8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최근 점검일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C75B5DC-E450-4CDB-ADDB-7C87C3FF164F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last_inspection_date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545154E-6692-4345-8025-514A24317E2B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0353C95-D6C6-4330-945C-3F5F08286BB9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7038C1E-2ED5-4E7C-9EEC-904A1B90FAF4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2026-07-23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0EEC964-63E7-4B57-A287-B15CBA305293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C8FF89E-72E3-465B-BADE-9E2E1D16ADD8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읽은 직후 문자열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63BA9D8-FD69-4409-B900-35B283614DCD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9AC960D-56AF-42CF-B397-FE796E764976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마지막 점검 후 며칠이 지났는지 계산해 점검 지연 여부를 판단합니다.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D7A2297-4090-4AF7-B430-6813A07DC5CA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5B75458-D94D-433E-85C5-AF005838E7C8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기준일 2026-09-01에서 이 날짜를 빼 days_since_inspection을 만듭니다.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AA38FF68-5447-4E66-9461-424CE19938A4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3064D96-8F32-4433-8935-96ADD66A500D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datetime 변환 · 경과일 파생열</a:t>
            </a:r>
          </a:p>
        </p:txBody>
      </p:sp>
    </p:spTree>
    <p:extLst>
      <p:ext uri="{BB962C8B-B14F-4D97-AF65-F5344CB8AC3E}">
        <p14:creationId xmlns:p14="http://schemas.microsoft.com/office/powerpoint/2010/main" val="1069659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7EF1F3C8-08E2-4108-90E7-320C536D420A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67375FA-9701-4DF4-BC6B-270D052037D3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09/21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F399FFA-B714-4F3E-8B0A-6CB9CF25DC5E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rated_cycle_sec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AE6122-9B0A-4A80-94D1-A919C332EE0C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2845800-8851-474E-A8EB-7C2DFC55CB26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B1F5DDA-AF69-452F-91AB-EABD6F2B5DF1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2018087-1362-4734-BFE3-EBA88F5A1155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5BC94EE-5A75-4FE5-BB56-C08F5971EFE3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설비의 기준 사이클 시간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50CB800-8BDA-43DF-A187-CF32178F30D4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rated_cycle_sec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27698CD-4ABD-40F3-8A35-3C611106DF38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40BE01F-6F01-4A5B-AD1B-56A5EE668D4D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5635FE-6946-4373-8324-8F0B01914F35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41.2초 · 23.4초 · 미측정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BB12068-0745-41AA-B155-BD3774989036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B8CB061-F04B-4CE7-8113-846D9EA43043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혼합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2ED0DBD-9665-4686-8D38-E39F41AC9CED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849B31A-8CF1-4E94-8CA5-E2B5F887664D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제품 한 개를 처리하는 기준 시간을 나타내며 설비 속도를 비교하는 숫자입니다.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A88C61D-4D3B-497A-8865-D4223EFD6F2B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F8D53FA-16BF-4773-9C91-9C1B2722113B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미측정 4개가 섞여 있어 바로 평균을 낼 수 없습니다. 숫자 변환 뒤 결측을 중앙값 42.1초로 채웁니다.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C34B872A-5808-4C18-97B3-EC0376C713C0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942EA2D-33C0-43D0-B135-67453993C44C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pd.to_numeric(errors='coerce') · median · fillna</a:t>
            </a:r>
          </a:p>
        </p:txBody>
      </p:sp>
    </p:spTree>
    <p:extLst>
      <p:ext uri="{BB962C8B-B14F-4D97-AF65-F5344CB8AC3E}">
        <p14:creationId xmlns:p14="http://schemas.microsoft.com/office/powerpoint/2010/main" val="1870715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4CD8C5DA-1605-448D-B821-2C5B26116D0F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6DAEA41-1DAE-4617-AC47-467C3F48C412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10/21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9E81AEE-5443-4DCB-B7B5-4CF3AA262151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target_temperature_c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B06927F-E6EB-4708-AFC2-17DBA5852EFC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6E6E1CC-CF50-4CE6-AFD7-92B8D9211417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EA33A1E-0D8F-434A-869E-A0A4823C7FBE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7A95AE9-2248-4568-93EB-BDB01C676DD6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1FD88B3-6E0B-45FF-A330-6851836BADB4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목표 온도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39F00A9-A5C0-43A8-86B9-E80A48488C87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target_temperature_c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F6402AF-F0EA-4EE4-96B8-7B96D6B9AC4D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7628402-CE6E-400E-99FD-42D7ABE93418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C899F56-01F7-46E0-A0E5-70F8DEB2873F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207.1°C · 191.9°C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2A7A8DF-0949-4C70-8C3C-9C852B750214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61C95D9-96A3-4A9C-9C21-7D0500AF5B54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· float64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8467BC9-F603-48E4-8BC9-A7DEB2A8F293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F8F66B3-C6CB-4150-9910-D69B9578EC95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설비가 작업 중 유지하려는 온도 설정값입니다.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4D00908-3FEB-488B-8F8D-8650F28B9B93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6EEEE5-31D5-453C-AE30-57E429E01BAD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실제 센서 측정 온도가 아니라 운전 목표값입니다. 값의 의미를 구분해야 합니다.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BFA7B05D-999F-4B0B-88F4-5B0E47141ACC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0CD7241-5332-47BB-952C-E8831F0A7C92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숫자형 입력 X · 스케일링</a:t>
            </a:r>
          </a:p>
        </p:txBody>
      </p:sp>
    </p:spTree>
    <p:extLst>
      <p:ext uri="{BB962C8B-B14F-4D97-AF65-F5344CB8AC3E}">
        <p14:creationId xmlns:p14="http://schemas.microsoft.com/office/powerpoint/2010/main" val="393065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1E68267D-E0D9-4D76-BE2C-001AA2406877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3BFEFBB-E86F-4244-98BB-CF3A389C0B60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11/21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8044D39-DED9-4DA2-B8CB-429756F52A2A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target_pressure_bar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E9E6E62-FEF4-456A-8E9C-2AA2E51A8B3E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5218FF9-4E41-4304-A2A2-34975E0BC7B9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E97B94C-F2EF-48B7-957C-0E6FF96A0915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36AF62F-561C-4553-8616-05CA8FCFF353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B1257BB-8B31-4BD3-B834-1AAB373808C1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목표 압력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BE4A6F0-1DBE-4DB3-A3AE-215971C3CAB3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target_pressure_bar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DE0FE39-2B6E-449B-9026-8C6B71B5EE63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D5469C3-806B-4DC8-9D6F-995DA2902FA7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3304F71-D170-426D-AC9F-D208CA92E5CC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4.83bar · 4.93bar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87E7D54-76B7-4F29-B969-186703DD4DE3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F0B14F6-94C6-41EE-85B6-CBD62A576D59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· float64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FF2CCA5-D7E7-4F03-AE0F-FC4F3A98BD07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9CB0DCA-478D-41F1-9486-D99CA6E7DFAF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설비가 정상 작업에서 맞추려는 압력 설정값입니다.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0EB7099-AF8D-4290-8620-37D26330B293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DB97BDD-942D-4E83-A680-FE823EDA1A12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원본에 빈칸 4개가 있습니다. 숫자 열의 중앙값으로 채운 뒤 계산에 사용합니다.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A4112E45-D11F-48BA-9C20-B7FBB0819334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4A007C0-F671-483B-9980-6D66A3D625C3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isna 점검 · median · fillna</a:t>
            </a:r>
          </a:p>
        </p:txBody>
      </p:sp>
    </p:spTree>
    <p:extLst>
      <p:ext uri="{BB962C8B-B14F-4D97-AF65-F5344CB8AC3E}">
        <p14:creationId xmlns:p14="http://schemas.microsoft.com/office/powerpoint/2010/main" val="753221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07B926E1-28F5-4B5C-A690-3EE437525F5F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2E57C9A-6AC4-45CF-8979-9E3379BD2753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12/21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134F955-06D5-4343-8A6C-869AB607BEDA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maintenance_grade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EFFC60D-BE6C-4BBD-945F-8F3AE1B1AF17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382D93-9953-4581-805F-5514A1F4F396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8D46042-A4BB-445E-B678-06EE0A4957E6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3645E84-7816-48BE-AE4E-4D42BC7D25DA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996867-6476-4DF2-B239-3593C300DFAD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정비 등급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0763F7-2453-47D1-B006-7E64D7475517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maintenance_grade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9C463DE-F5AD-46BB-A114-AC9F60843840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BC407AA-7DE1-4CA3-A96B-007D12404E79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4A27BFD-094A-40F2-BE9B-AC85BD00074B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A · B · C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FDB12A9-6FF8-41A8-9A11-21D62204A2D7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AAF202-FAD5-49C1-9C7C-2D5031AD8372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범주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04666A-1A2B-478C-B7A7-9C31F6F79D73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0B9B249-B344-4E3E-BF50-63239D0A4711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회사에서 정한 정비 중요도나 관리 수준을 구분하는 교육용 등급입니다.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488A480-638A-4176-8D6B-D5B61B4237C7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98E4611-89CA-40DA-9B6E-A7119039C8BA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A, B, C는 단순한 글자지만 순서로 볼지 범주로 볼지는 업무 정의에 따라 결정해야 합니다.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96EFF326-2600-4AB4-9E97-698F2A8CA14F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823752D-6D7E-4E61-83E1-BCFB2AE02B71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이번 과제에서는 범주형 입력 X</a:t>
            </a:r>
          </a:p>
        </p:txBody>
      </p:sp>
    </p:spTree>
    <p:extLst>
      <p:ext uri="{BB962C8B-B14F-4D97-AF65-F5344CB8AC3E}">
        <p14:creationId xmlns:p14="http://schemas.microsoft.com/office/powerpoint/2010/main" val="1634765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15422182-5A49-4786-96A0-A08AADC1B92D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BD305E7-8536-4111-9580-5FF4FA73BD80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13/21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461BFD2-E5A3-4C14-BF79-3B63960E633B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operation_status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30EC70-216D-40C6-AFF7-B540F192B39C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D8B6F3A-9DA6-4A12-921F-37036EBF3FD3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D054B3F-F7A7-4485-B2C3-E6444A114214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BD4A126-1C88-4450-8C07-A116E4D6DEC1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3294F9D-ED43-41E6-830F-F4A6F123DA41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현재 운전 상태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B5F159B-6011-4952-B18E-6ACC89DD6AB8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operation_status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034BCD8-206C-451E-B787-61863778C0FE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D7F6245-9DB9-4EE5-B1D5-64E01E37093B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6A9BDF9-7B65-41F2-8F68-78F89B3EEF8F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가동 · 대기 · 점검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AEEB532-B709-46DC-8120-0C44016709B8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2B5FF4B-A9F9-40DD-BB87-24FF69436DF8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범주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A71A88-5B66-4702-9BB9-BF41743B55EB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86F02AA-55B8-46A4-98E3-FC77F6458F54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설비가 지금 생산 중인지, 기다리는 중인지, 점검 중인지 알려 줍니다.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9BEBB52-F004-49FF-B45F-9CA7715919EB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A3AB050-0095-41C2-BFAA-46ECC63EEC24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정비 필요 여부와 현재 상태는 다른 개념입니다. 점검 중이라고 모두 고장 난 설비는 아닙니다.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B280DF18-D59D-45F3-8887-42D50470FFD3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914361A-7DA7-442A-8B34-8502EFEDA50B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업무 확인용 · 필요 시 범주형 입력</a:t>
            </a:r>
          </a:p>
        </p:txBody>
      </p:sp>
    </p:spTree>
    <p:extLst>
      <p:ext uri="{BB962C8B-B14F-4D97-AF65-F5344CB8AC3E}">
        <p14:creationId xmlns:p14="http://schemas.microsoft.com/office/powerpoint/2010/main" val="788939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DCE60C5D-07B3-4263-9B8A-FD904157F9A3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FC9BCEA-3235-4AA3-B7A7-1E0616DBA443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14/21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07A6BE-CA23-4D0F-AEDC-198CDACB5716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monthly_runtime_hours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A1402A3-A14D-45A6-8CA4-CE444A211AE1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ACB2D35-3E26-4442-9EC2-0898D92C91BB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62AB2F4-2328-4E37-8F16-D3F899CA62CE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DD3C528-F873-4E3E-9B27-E48F966CF57D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896A791-B5CD-4A99-B077-1FE090C1850A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월간 운전시간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4B07E5-1167-4163-96D7-63CD2C2AEF6F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monthly_runtime_hours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E78D248-FC2C-4ED9-8293-E12924C0D2BB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627B5BF-88DE-4306-A99D-A905ACE887C0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C0DDE2-7A93-488A-98C6-67E8CE985C1B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409.5시간 · 474.8시간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6CA097B-11F1-4188-95B5-5AFB0C0A374E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B6E0D6B-4507-440A-BA2A-893FA951C14F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· float64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FE43844-51A2-408B-A936-EE3E9B7CABD7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A3FB686-5E29-45EB-BBFD-B572CEE747B8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한 달 동안 설비를 얼마나 많이 사용했는지 보여 줍니다.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2A4E035-D7E7-478A-88C7-85AE855BB207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C15C1BA-7881-4155-8436-E6DBC28ED6A1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값의 크기가 다른 숫자 열과 함께 쓰므로 전처리 단계에서 StandardScaler를 적용합니다.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1B8592B0-0F18-4B66-94D6-E370B5F79E39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CC24029-DA7B-47FB-A7BD-D4BB04B7ADC7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숫자형 입력 X · StandardScaler</a:t>
            </a:r>
          </a:p>
        </p:txBody>
      </p:sp>
    </p:spTree>
    <p:extLst>
      <p:ext uri="{BB962C8B-B14F-4D97-AF65-F5344CB8AC3E}">
        <p14:creationId xmlns:p14="http://schemas.microsoft.com/office/powerpoint/2010/main" val="164011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20356E89-1D44-4867-846A-76A4F26ACE82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93CC1C2-EB1C-433F-8859-2311D5827416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15/21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9A40443-F56E-4801-9E21-83AA41BA8D79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failure_count_90d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0A2F5E1-18CD-4E18-8662-71EAAFBC5D34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D40FA66-091F-4C1E-847E-D530AC344C3D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D020430-2504-4979-B779-72763003B0C3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A1AD014-1F6D-4531-9B90-62A37137C4DC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E7E7A66-019A-40A3-9393-8977DC5E1C30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최근 90일 고장 횟수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9D8D045-4208-4DB8-B90D-BE230379974E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failure_count_90d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A8A5A03-7842-4786-AEE0-BC3544F93DA7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6430744-7597-49F3-A5FE-6A58E818537E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99CDCD5-26AB-4E78-8557-E572BFB73B62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0 · 1 · 4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75BC7EA-2911-47DD-8775-E925AFC86EF3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A805ACC-E064-40AE-B4DB-91D77440AB5D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정수 · int64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7CDAF32-1E10-4378-A46C-CDFDCFFF5690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C235192-2503-42DE-8F7C-4760B7F3EF38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최근 반복 고장이 있었는지 보여 주는 운영 이력입니다.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389D70D-7717-41BA-8369-048F9ECC984C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1C90DEC-CE6A-4D60-ADF0-E6434DAD72AA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횟수는 0도 의미 있는 값입니다. 0을 결측값으로 취급하면 안 됩니다.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9D74B8E3-4016-440E-BC93-B787479FA265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766B5AA-B61C-48A0-A5A8-DAB25BF41619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숫자형 입력 X · 최근 이력 해석</a:t>
            </a:r>
          </a:p>
        </p:txBody>
      </p:sp>
    </p:spTree>
    <p:extLst>
      <p:ext uri="{BB962C8B-B14F-4D97-AF65-F5344CB8AC3E}">
        <p14:creationId xmlns:p14="http://schemas.microsoft.com/office/powerpoint/2010/main" val="17851408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7B5686C1-2A14-4171-88E7-8CD9C08EABDD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0AE47B7-2604-4366-8ECB-04CCC9A4C009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16/21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2EC4EB8-3EA2-4D57-89FC-A3B4DC3F2C61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maintenance_required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B2949C4-7558-498B-864A-77A04EFAC764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8E29533-8716-4C08-98CD-40A7D117092E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8286E63-ADA9-422F-8852-45D395EC2AA1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502F8C8-8EDD-4F17-9078-A2D26473A45B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258AB2E-C41C-42CD-A2F6-C511DABFE364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정비 필요 여부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8D13C9A-4287-47F8-B6FA-9C5F9C6FD87B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maintenance_required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B584B10-3968-4280-B7D9-2DFCB3CBA70D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4A09256-8056-4D23-829C-DCA7DBAB0D9F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AD36D8C-EFDB-451B-BE6B-78CFA54ACB84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False 143대 · True 97대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02BA103-BC35-4ED2-A97E-EA003C5E6FE8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69A808F-C323-4147-BDA1-1CB3DBC7F7DD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불리언 · bool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297701F-0DF4-4EA7-8723-01D0ABD20ABF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BC65FC9-10B0-41B9-AF3A-98E2D0477169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정보를 보고 맞히려는 교육용 정답 y입니다. True는 정비가 필요하다고 표시된 설비입니다.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F11CA4D-154A-4EEB-B67D-0E2F25DE142D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6F0A3D9-0C48-4E4E-B1FB-DD1A428BEA94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실제 고장 확정이나 안전 판정을 뜻하지 않습니다. 수업용 합성 데이터의 정답 열입니다.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2B89F95C-68F6-48C5-BB71-291F355AC891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0222E15-A18B-44B0-8632-58688C464EFC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y로 분리 · X에서 제거 · stratify 기준</a:t>
            </a:r>
          </a:p>
        </p:txBody>
      </p:sp>
    </p:spTree>
    <p:extLst>
      <p:ext uri="{BB962C8B-B14F-4D97-AF65-F5344CB8AC3E}">
        <p14:creationId xmlns:p14="http://schemas.microsoft.com/office/powerpoint/2010/main" val="14510964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4876AAC6-FBD1-4D01-8730-89BD5939B7CA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6D2952D-61BC-4E3F-BC30-ED1819B83DBE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추가 기준표 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5BB1BEE-6077-4280-A36B-6F2BD8A6F33D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추가 기준표 6열의 역할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CA285FC-9228-44B4-81AA-802FF4F34757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7126BDE-8986-4652-B965-5A24D2AAC6D4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10D7C27-76E3-450C-9F97-7F0C8BEFAFA3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979AAE5-0A04-4B58-A385-04243872C228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0022BFA-49C7-4FC0-A1E1-99686FD340B1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6667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manufacturing_specs.csv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38BF8EC-E154-4C5E-A5ED-D57185869FD9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연결 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9A68ADF-AF02-4E71-AC87-4ADB5CCD6BF5}"/>
              </a:ext>
            </a:extLst>
          </p:cNvPr>
          <p:cNvSpPr>
            <a:spLocks noGrp="1"/>
          </p:cNvSpPr>
          <p:nvPr/>
        </p:nvSpPr>
        <p:spPr>
          <a:xfrm>
            <a:off x="2857500" y="2381250"/>
            <a:ext cx="8191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equipment_id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E1DA10E-0B11-43F3-972A-D4EC7287E5D8}"/>
              </a:ext>
            </a:extLst>
          </p:cNvPr>
          <p:cNvSpPr>
            <a:spLocks noGrp="1"/>
          </p:cNvSpPr>
          <p:nvPr/>
        </p:nvSpPr>
        <p:spPr>
          <a:xfrm>
            <a:off x="2857500" y="2838450"/>
            <a:ext cx="81915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5F24249-9474-43A9-AC98-802D4E7ED113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센서 정보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8929C78-EFE5-4DCC-B106-2103E1CBFA21}"/>
              </a:ext>
            </a:extLst>
          </p:cNvPr>
          <p:cNvSpPr>
            <a:spLocks noGrp="1"/>
          </p:cNvSpPr>
          <p:nvPr/>
        </p:nvSpPr>
        <p:spPr>
          <a:xfrm>
            <a:off x="2857500" y="3162300"/>
            <a:ext cx="8191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sensor_model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C730CE7-32DD-4A77-BB1A-70B69F3F2C94}"/>
              </a:ext>
            </a:extLst>
          </p:cNvPr>
          <p:cNvSpPr>
            <a:spLocks noGrp="1"/>
          </p:cNvSpPr>
          <p:nvPr/>
        </p:nvSpPr>
        <p:spPr>
          <a:xfrm>
            <a:off x="2857500" y="3619500"/>
            <a:ext cx="81915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760FC5F-B14B-43A4-84D4-19B0F46ACED6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허용 기준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788D7DD-9EA1-41A2-893D-5F747892E845}"/>
              </a:ext>
            </a:extLst>
          </p:cNvPr>
          <p:cNvSpPr>
            <a:spLocks noGrp="1"/>
          </p:cNvSpPr>
          <p:nvPr/>
        </p:nvSpPr>
        <p:spPr>
          <a:xfrm>
            <a:off x="2857500" y="3943350"/>
            <a:ext cx="8191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temperature_upper_c · pressure_upper_bar · vibration_limit_mm_s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4282BDA-A3D8-434B-B17D-48D7AFD1B1A1}"/>
              </a:ext>
            </a:extLst>
          </p:cNvPr>
          <p:cNvSpPr>
            <a:spLocks noGrp="1"/>
          </p:cNvSpPr>
          <p:nvPr/>
        </p:nvSpPr>
        <p:spPr>
          <a:xfrm>
            <a:off x="2857500" y="4400550"/>
            <a:ext cx="81915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D80D17E-37EA-4641-B789-0D3B973F00A9}"/>
              </a:ext>
            </a:extLst>
          </p:cNvPr>
          <p:cNvSpPr>
            <a:spLocks noGrp="1"/>
          </p:cNvSpPr>
          <p:nvPr/>
        </p:nvSpPr>
        <p:spPr>
          <a:xfrm>
            <a:off x="685800" y="472440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점검 기준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5EE5156-5267-4D15-AA4A-19E709C3CC34}"/>
              </a:ext>
            </a:extLst>
          </p:cNvPr>
          <p:cNvSpPr>
            <a:spLocks noGrp="1"/>
          </p:cNvSpPr>
          <p:nvPr/>
        </p:nvSpPr>
        <p:spPr>
          <a:xfrm>
            <a:off x="2857500" y="4724400"/>
            <a:ext cx="8191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inspection_cycle_days</a:t>
            </a: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5905EB42-519F-4368-8DF6-F9E9EBF0412F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10477500" cy="400050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57C69DA-1C87-4F88-840C-F4C2ADA92B34}"/>
              </a:ext>
            </a:extLst>
          </p:cNvPr>
          <p:cNvSpPr>
            <a:spLocks noGrp="1"/>
          </p:cNvSpPr>
          <p:nvPr/>
        </p:nvSpPr>
        <p:spPr>
          <a:xfrm>
            <a:off x="876300" y="5705475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같은 ID 한 개에 추가 기준 한 행이 대응합니다.</a:t>
            </a:r>
          </a:p>
        </p:txBody>
      </p:sp>
    </p:spTree>
    <p:extLst>
      <p:ext uri="{BB962C8B-B14F-4D97-AF65-F5344CB8AC3E}">
        <p14:creationId xmlns:p14="http://schemas.microsoft.com/office/powerpoint/2010/main" val="19812059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B9691591-65FC-4350-A40F-2677810E80FD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9D78087-447D-469A-B29C-4F65041A7EE9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추가 기준표 17/21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081BC30-C82F-483F-9D50-0B36061F8B02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sensor_model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E121EC4-572A-4985-8E2F-E1C20DDADC77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0717DAE-AC0F-4AD7-BEEC-9EC130D2BF89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C481729-F8C4-4FE4-A8CF-5B742A05C0DD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6B9B3AC-5767-4D3D-B682-425878AF898A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88BA54B-0336-409E-9366-CB4487A0F366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장착 센서 모델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5D8DC2-B945-47FC-ABAD-A9C0B5C8E5DB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sensor_model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1B4E061-C178-446C-95EA-40B00F688D68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E73BC44-F0FD-45E4-9977-3E0F844B04E5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9F9C8B2-A777-4E77-BD0C-14A275471EB7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SEN-A · SEN-B · SEN-C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43A8738-C230-4785-98C6-10F5B4FB4519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8C657D1-5E3B-473E-8FCA-A299DAF06249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범주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사양표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62C00A3-59F9-4298-B3EC-6067B743D756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234E3D0-7EC9-458E-A655-DE9E1F1C6BC9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어떤 센서가 측정값을 만드는지 기록해 장비 호환성과 교체 이력을 확인합니다.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B3954E2-77F9-4005-A8A7-748618FA79D2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66DF750-528B-4D91-B65D-030086F2A2F0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이번 X에는 넣지 않지만 측정 오차나 센서 교체 문제를 분석할 때 중요한 기준이 됩니다.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67ED1FC5-F82A-44BE-9B33-E5C9480DEF85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D6620A-F2B5-4437-BD87-E1F49265FC75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equipment_id로 결합 · 원본 보존</a:t>
            </a:r>
          </a:p>
        </p:txBody>
      </p:sp>
    </p:spTree>
    <p:extLst>
      <p:ext uri="{BB962C8B-B14F-4D97-AF65-F5344CB8AC3E}">
        <p14:creationId xmlns:p14="http://schemas.microsoft.com/office/powerpoint/2010/main" val="17484245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1A273679-33B0-4219-9CE3-D244D310F2C4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5D38906-81E9-40E8-A6F8-8E7D868C3007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추가 기준표 18/21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4A1392D-CDCD-43B3-BF9C-AAB96CB63C39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temperature_upper_c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42E5AC1-CC81-4462-B501-FD7D7E711D3A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5B13AE-4894-4840-9DBA-3C82671A005D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5CA1C4B-978D-464B-8A41-8A4FFABFF711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2DD87D7-6894-4AF7-BACD-CFD1BEC3D15B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27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35141DC-93D1-4B09-9333-C2CFB4C8EBF6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허용 온도 상한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38ACFB-8F7D-40C4-BD6F-3B7D485A9203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temperature_upper_c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4708FC-1A30-4FCA-8F7D-87359DF316DC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ECDF05B-0DF9-4F86-AB87-1EE3096F78FE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ED92F2F-E788-4B84-934E-D79209033378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227.1°C · 213.9°C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72FF442-3383-40C4-A8AC-4F5EC19E4796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F94A482-9CD3-46D4-A5A9-7C6A81371208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· float64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사양표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2300FB2-8F76-48AB-92A0-46D08EDF9515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A6EDDA6-163D-4D05-842B-94FB3E252561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사양상 넘지 않아야 하는 온도 기준입니다.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5561E81-DA0D-4DA1-BA53-5FB37563ED1D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AEF70A3-16CF-462A-8158-22DD0049D64E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목표 온도와 상한 온도는 다릅니다. 상한은 경고 기준이고 목표는 평소 맞추려는 값입니다.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6824D476-4455-4031-9450-6119030F79A3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E2F8892-B768-4700-A832-638BAAF18B9F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숫자형 입력 X · 기준표 결합</a:t>
            </a:r>
          </a:p>
        </p:txBody>
      </p:sp>
    </p:spTree>
    <p:extLst>
      <p:ext uri="{BB962C8B-B14F-4D97-AF65-F5344CB8AC3E}">
        <p14:creationId xmlns:p14="http://schemas.microsoft.com/office/powerpoint/2010/main" val="6783230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51FDB596-4FB3-4EBD-BB6F-8600FDECFF9A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9B41CE9-5FFE-4A44-B808-4353996D48FA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추가 기준표 19/21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EA9D82-E4C1-4430-AE57-8CC3E18FA371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pressure_upper_bar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BCEBC47-AAF4-4CD0-8519-EBD8A120442B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D5D557D-F0C5-4E1D-AA34-0281B1EE1E4D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3C8ED32-77EB-4DFB-82EC-FB6778E00480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D84DE55-615A-4FAA-8705-FAF75F5D045B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28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18E69BE-3B60-449F-80F9-784FE2C7EB69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허용 압력 상한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B436271-5A08-4C47-86E8-23FBE015DB0D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pressure_upper_bar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FC109A5-A17C-44C3-9141-3B464F8A5A11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6757006-310F-4559-9EB5-13A1BCAF5047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5B6E768-C95D-4BDE-831A-BA7ED1087BF4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6.09bar · 5.47bar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6BA1547-C809-4FEB-B1B9-514793A4E9D1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DDBDB95-88C2-449C-AFD2-623279AE8766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· float64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사양표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5BA9970-71B1-483B-A00F-4DD963B9E23C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6BBB890-6550-4C72-8BDE-F5D6925162D5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사양에서 정한 최대 허용 압력입니다.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F879965-74A0-4DDF-B7D4-00D8A63B9D79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C566879-9799-4143-B052-817AB9F62E74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현재 과제의 X에는 넣지 않지만 목표 압력과 비교해 안전 여유를 계산하는 확장 과제에 쓸 수 있습니다.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EADE70A5-5F7B-482E-9016-202B31864B21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CE6E47B-0F2D-4E48-A35D-78B2259DE8B3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결합 결과 확인 · 선택 확장</a:t>
            </a:r>
          </a:p>
        </p:txBody>
      </p:sp>
    </p:spTree>
    <p:extLst>
      <p:ext uri="{BB962C8B-B14F-4D97-AF65-F5344CB8AC3E}">
        <p14:creationId xmlns:p14="http://schemas.microsoft.com/office/powerpoint/2010/main" val="12068810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3549B2F0-9C54-473F-B6A0-C42FDCEE88E1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918228-2985-4AC3-BFA3-EFB0C709F623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추가 기준표 20/21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B12207-DEA3-4EFA-AFF3-E951412DB241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vibration_limit_mm_s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FA8D6E0-B412-401F-ADA9-B81B66DF3054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1E4657A-AB8A-47C4-A0D0-2D0DAF5EFE64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1A87845-56DC-44FB-B1FA-285F8885C533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A5D063-BC13-4F8A-B37A-AA866FBF20C5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29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03E8694-DF66-422C-B6AD-306C29022A20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진동 허용 한계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BB31C31-7494-46D8-B386-EB30F7285D0F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vibration_limit_mm_s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54C4F7C-5113-4A00-9A59-B8561D6DB21B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0B571D-68E6-4372-9EB2-B6700466F6D5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8149704-5568-49A4-AB42-ACB85FEF3384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3.5 · 4.5 · 5.6 mm/s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5DD86AA-4BD9-4D46-B910-2E9AEFF60026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DFCBF50-D3C9-42FD-B20D-3E25694ED202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· float64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사양표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095BD63-140C-4E28-B6DD-7672C5667500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1C0E137-C4DC-446F-A1B9-02DF0847F93D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진동이 어느 수준까지 허용되는지 나타내는 기준값입니다.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EFC06D3-6B7D-497B-BC02-04F30B2E0781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21D8C17-E285-4927-B7EC-EBE7C9054264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단위 mm/s를 빼고 숫자만 비교하면 다른 단위의 데이터와 혼동할 수 있습니다.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35CEF6C9-8EDB-4213-A9A7-864066CD2541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D9B881C-A8FE-48CA-8535-726A848C4639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숫자형 입력 X · 단위 확인</a:t>
            </a:r>
          </a:p>
        </p:txBody>
      </p:sp>
    </p:spTree>
    <p:extLst>
      <p:ext uri="{BB962C8B-B14F-4D97-AF65-F5344CB8AC3E}">
        <p14:creationId xmlns:p14="http://schemas.microsoft.com/office/powerpoint/2010/main" val="215643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F58BF07B-1C56-4DD9-9D58-8A2F7E4F789A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67907A-4E4C-4202-AA2D-71C4CA2B94C8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추가 기준표 21/21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FED5B2B-DA53-47EB-A73B-7D22B0FB31BA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inspection_cycle_days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0190B73-408D-41C3-BBF9-734909A7892E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D2C1DA5-1FD5-4BBA-82A4-96F0E8B13A84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62614CB-4F20-48ED-822E-F58D7F8E906B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091FD71-ACDE-4A00-AF70-EC935E07C740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0B1E0A4-BB4F-4388-B9ED-233D79B6E90D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권장 점검 주기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7DA98BB-E822-4D87-AF2A-1AF7ED2DF8F7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inspection_cycle_days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72A507E-0C64-4C36-B19A-D7A66F9A5917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12E0F9A-5F29-46B1-8EBF-0EECAC5B302B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3957AC8-BD3A-427B-9AC6-1965F6933F95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30일 · 60일 · 90일 · 180일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27D1550-40D5-4EAD-95DA-B647009C2AFE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D559B28-7E67-4941-B909-E1F8CFDB79D6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정수 · int64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 사양표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BE6C94E-8027-4197-8BBF-13186A39BA75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3DD25F6-CE5E-47B7-9FCD-00468417E467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설비를 몇 일마다 점검하도록 정했는지 보여 주는 관리 기준입니다.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43F84C3-BD23-4579-9EC3-0A60FE83F429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7ED3EDF-B4C0-4FA1-810A-3C3E22FED49B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days_since_inspection과 비교하면 점검 기한이 지났는지 판단할 수 있습니다.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140BD504-F240-4DF4-875D-C8B9F4ED365D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86836DC-ACD1-403E-93F1-4DD0B3BE760E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선택 확장 · 점검 지연 플래그</a:t>
            </a:r>
          </a:p>
        </p:txBody>
      </p:sp>
    </p:spTree>
    <p:extLst>
      <p:ext uri="{BB962C8B-B14F-4D97-AF65-F5344CB8AC3E}">
        <p14:creationId xmlns:p14="http://schemas.microsoft.com/office/powerpoint/2010/main" val="14966316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C6199A2E-BD3B-4D37-B2FF-61AADA027C25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390ADE9-8062-4A36-97D2-DB90869E94A6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신규 데이터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7E5006E-FE08-4E57-A183-5FEBBA631AA3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신규 설비 40대에는 정답 열이 없습니다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B7F9629-06F9-45A8-A989-39981855A23D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4775ED8-FFD8-4FD4-85C0-F60C10F579AA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D1ABC7D-3D3A-473F-A772-CC6432A8D1EA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8B53051-1900-47D0-928C-93ECEE40D8C9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31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DA2378-3461-4E3F-8332-CF3F5403F187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667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manufacturing_equipment_new.csv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F8F1580-3EE0-49C3-A315-AFC6AC17718E}"/>
              </a:ext>
            </a:extLst>
          </p:cNvPr>
          <p:cNvSpPr>
            <a:spLocks noGrp="1"/>
          </p:cNvSpPr>
          <p:nvPr/>
        </p:nvSpPr>
        <p:spPr>
          <a:xfrm>
            <a:off x="723900" y="2524125"/>
            <a:ext cx="10287000" cy="2571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28600" indent="-114300">
              <a:spcAft>
                <a:spcPts val="1600"/>
              </a:spcAft>
              <a:buChar char="•"/>
              <a:defRPr sz="1725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기준표와 같은 15개 입력 열을 가지지만 maintenance_required는 없습니다.</a:t>
            </a:r>
          </a:p>
          <a:p>
            <a:pPr marL="228600" indent="-114300">
              <a:spcAft>
                <a:spcPts val="1600"/>
              </a:spcAft>
              <a:buChar char="•"/>
              <a:defRPr sz="1725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기존 240대에서 배운 중앙값과 범주 열 구조를 그대로 적용합니다.</a:t>
            </a:r>
          </a:p>
          <a:p>
            <a:pPr marL="228600" indent="-114300">
              <a:spcAft>
                <a:spcPts val="1600"/>
              </a:spcAft>
              <a:buChar char="•"/>
              <a:defRPr sz="1725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새 범주 레이저검사기가 있어도 handle_unknown='ignore'가 열 구조를 유지합니다.</a:t>
            </a:r>
          </a:p>
          <a:p>
            <a:pPr marL="228600" indent="-114300">
              <a:spcAft>
                <a:spcPts val="1600"/>
              </a:spcAft>
              <a:buChar char="•"/>
              <a:defRPr sz="1725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신규 설비에서 다시 fit하면 기존 설비와 비교 기준이 달라집니다.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90C81BDD-6859-42AE-BDAF-90BF273574B8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10477500" cy="571500"/>
          </a:xfrm>
          <a:prstGeom prst="roundRect">
            <a:avLst>
              <a:gd name="adj" fmla="val 13333"/>
            </a:avLst>
          </a:prstGeom>
          <a:solidFill>
            <a:srgbClr val="EDF4FF"/>
          </a:solidFill>
          <a:ln w="9525">
            <a:solidFill>
              <a:srgbClr val="2F80E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EA8F9A2-632E-4B50-82CD-77A7945CEDC1}"/>
              </a:ext>
            </a:extLst>
          </p:cNvPr>
          <p:cNvSpPr>
            <a:spLocks noGrp="1"/>
          </p:cNvSpPr>
          <p:nvPr/>
        </p:nvSpPr>
        <p:spPr>
          <a:xfrm>
            <a:off x="895350" y="5486400"/>
            <a:ext cx="10001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새 데이터는 정답을 맞히는 대상이므로 정답 열 y가 아직 없습니다.</a:t>
            </a:r>
          </a:p>
        </p:txBody>
      </p:sp>
    </p:spTree>
    <p:extLst>
      <p:ext uri="{BB962C8B-B14F-4D97-AF65-F5344CB8AC3E}">
        <p14:creationId xmlns:p14="http://schemas.microsoft.com/office/powerpoint/2010/main" val="1296782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CC02F8B0-C817-45D3-A4CD-EBC179278FEC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MANUFACTURING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47876C2-30DB-43B2-989A-BF6595633508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과제 체크리스트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E0F85A3-3E7A-4057-89CC-0891870D2839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과제에서 데이터를 다루는 순서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AE81FDE-9035-4EC6-9691-CE847F4D87B1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0801D8E-3D7D-40C1-ABFF-E71203C9E557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97C1939-E4A2-489D-8836-CC1FE211731D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029FD74-E8C9-4557-8EB2-3485F2AAC6E0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32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223B12A-95C8-4947-B69B-A8E46656908C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8763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Q1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9DB715-C847-46C1-ACD2-ABFFCD9E476E}"/>
              </a:ext>
            </a:extLst>
          </p:cNvPr>
          <p:cNvSpPr>
            <a:spLocks noGrp="1"/>
          </p:cNvSpPr>
          <p:nvPr/>
        </p:nvSpPr>
        <p:spPr>
          <a:xfrm>
            <a:off x="1619250" y="1800225"/>
            <a:ext cx="9525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Q1에서 세 CSV의 위치와 243행, 240행을 확인합니다.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66D0558-C3B7-40FF-AE78-469041877B03}"/>
              </a:ext>
            </a:extLst>
          </p:cNvPr>
          <p:cNvSpPr>
            <a:spLocks noGrp="1"/>
          </p:cNvSpPr>
          <p:nvPr/>
        </p:nvSpPr>
        <p:spPr>
          <a:xfrm>
            <a:off x="1619250" y="2314575"/>
            <a:ext cx="9525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518C1F6-C839-4C81-B948-6E716E93F757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8763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Q2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9E4C3C0-11B6-4001-BFEB-DBE7388C93E4}"/>
              </a:ext>
            </a:extLst>
          </p:cNvPr>
          <p:cNvSpPr>
            <a:spLocks noGrp="1"/>
          </p:cNvSpPr>
          <p:nvPr/>
        </p:nvSpPr>
        <p:spPr>
          <a:xfrm>
            <a:off x="1619250" y="2543175"/>
            <a:ext cx="9525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Q2에서 중복, 공장 표기, 문자 숫자, 결측값을 정리합니다.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1E7D7C6-C32F-4576-A4B1-A671E31E6E9F}"/>
              </a:ext>
            </a:extLst>
          </p:cNvPr>
          <p:cNvSpPr>
            <a:spLocks noGrp="1"/>
          </p:cNvSpPr>
          <p:nvPr/>
        </p:nvSpPr>
        <p:spPr>
          <a:xfrm>
            <a:off x="1619250" y="3057525"/>
            <a:ext cx="9525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4B579A3-BA6F-407B-A0E2-94D760C0CB10}"/>
              </a:ext>
            </a:extLst>
          </p:cNvPr>
          <p:cNvSpPr>
            <a:spLocks noGrp="1"/>
          </p:cNvSpPr>
          <p:nvPr/>
        </p:nvSpPr>
        <p:spPr>
          <a:xfrm>
            <a:off x="685800" y="3295650"/>
            <a:ext cx="8763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Q3~Q4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844507C-9740-48FD-ABF0-248C19ECF540}"/>
              </a:ext>
            </a:extLst>
          </p:cNvPr>
          <p:cNvSpPr>
            <a:spLocks noGrp="1"/>
          </p:cNvSpPr>
          <p:nvPr/>
        </p:nvSpPr>
        <p:spPr>
          <a:xfrm>
            <a:off x="1619250" y="3286125"/>
            <a:ext cx="9525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Q3과 Q4에서 설비 사양표를 붙이고 점검 경과일을 만듭니다.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58FDFAA-CF06-41E2-8FCB-DC39E7EB5D0F}"/>
              </a:ext>
            </a:extLst>
          </p:cNvPr>
          <p:cNvSpPr>
            <a:spLocks noGrp="1"/>
          </p:cNvSpPr>
          <p:nvPr/>
        </p:nvSpPr>
        <p:spPr>
          <a:xfrm>
            <a:off x="1619250" y="3800475"/>
            <a:ext cx="9525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00D9AEF-0556-424F-A520-9417C2CB52D5}"/>
              </a:ext>
            </a:extLst>
          </p:cNvPr>
          <p:cNvSpPr>
            <a:spLocks noGrp="1"/>
          </p:cNvSpPr>
          <p:nvPr/>
        </p:nvSpPr>
        <p:spPr>
          <a:xfrm>
            <a:off x="685800" y="4038600"/>
            <a:ext cx="8763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Q5~Q6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6858475-B5F2-4752-9EEB-F34FCEEC803C}"/>
              </a:ext>
            </a:extLst>
          </p:cNvPr>
          <p:cNvSpPr>
            <a:spLocks noGrp="1"/>
          </p:cNvSpPr>
          <p:nvPr/>
        </p:nvSpPr>
        <p:spPr>
          <a:xfrm>
            <a:off x="1619250" y="4029075"/>
            <a:ext cx="9525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Q5와 Q6에서 X와 y를 나누고 전처리 기준을 train에서 배웁니다.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3070666-14CD-4A84-A680-B3095A2BF4C7}"/>
              </a:ext>
            </a:extLst>
          </p:cNvPr>
          <p:cNvSpPr>
            <a:spLocks noGrp="1"/>
          </p:cNvSpPr>
          <p:nvPr/>
        </p:nvSpPr>
        <p:spPr>
          <a:xfrm>
            <a:off x="1619250" y="4543425"/>
            <a:ext cx="9525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C651905-A34D-4C88-A003-441229F282B4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8763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Q7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ED5430D-B1CC-420B-98D6-706B87239B27}"/>
              </a:ext>
            </a:extLst>
          </p:cNvPr>
          <p:cNvSpPr>
            <a:spLocks noGrp="1"/>
          </p:cNvSpPr>
          <p:nvPr/>
        </p:nvSpPr>
        <p:spPr>
          <a:xfrm>
            <a:off x="1619250" y="4772025"/>
            <a:ext cx="9525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Q7에서 신규 설비 40대에 같은 기준을 적용하고 결과를 저장합니다.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C8A93705-C372-466A-AD99-ACBF86DC7F7F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477500" cy="400050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B88FA14-57D0-4C42-88C3-C791B3E00144}"/>
              </a:ext>
            </a:extLst>
          </p:cNvPr>
          <p:cNvSpPr>
            <a:spLocks noGrp="1"/>
          </p:cNvSpPr>
          <p:nvPr/>
        </p:nvSpPr>
        <p:spPr>
          <a:xfrm>
            <a:off x="895350" y="5705475"/>
            <a:ext cx="10001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같은 처리 원리를 다른 분야의 대상과 열에 옮겨 보는 것이 이 선택과제의 핵심입니다.</a:t>
            </a:r>
          </a:p>
        </p:txBody>
      </p:sp>
    </p:spTree>
    <p:extLst>
      <p:ext uri="{BB962C8B-B14F-4D97-AF65-F5344CB8AC3E}">
        <p14:creationId xmlns:p14="http://schemas.microsoft.com/office/powerpoint/2010/main" val="78284515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Python Data Guide">
      <a:dk1>
        <a:srgbClr val="000000"/>
      </a:dk1>
      <a:lt1>
        <a:srgbClr val="FFFFFF"/>
      </a:lt1>
      <a:dk2>
        <a:srgbClr val="123A63"/>
      </a:dk2>
      <a:lt2>
        <a:srgbClr val="DCE4EB"/>
      </a:lt2>
      <a:accent1>
        <a:srgbClr val="2F80ED"/>
      </a:accent1>
      <a:accent2>
        <a:srgbClr val="159B6A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F80ED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ython Data Guid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Python Data Guide">
      <a:dk1>
        <a:srgbClr val="000000"/>
      </a:dk1>
      <a:lt1>
        <a:srgbClr val="FFFFFF"/>
      </a:lt1>
      <a:dk2>
        <a:srgbClr val="123A63"/>
      </a:dk2>
      <a:lt2>
        <a:srgbClr val="DCE4EB"/>
      </a:lt2>
      <a:accent1>
        <a:srgbClr val="2F80ED"/>
      </a:accent1>
      <a:accent2>
        <a:srgbClr val="159B6A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F80ED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ython Data Guid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7564</Words>
  <Application>Microsoft Macintosh PowerPoint</Application>
  <DocSecurity>0</DocSecurity>
  <PresentationFormat>와이드스크린</PresentationFormat>
  <Paragraphs>1110</Paragraphs>
  <Slides>32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6" baseType="lpstr">
      <vt:lpstr>Apple SD Gothic Neo</vt:lpstr>
      <vt:lpstr>Calibri</vt:lpstr>
      <vt:lpstr>Menlo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김윤이</cp:lastModifiedBy>
  <cp:revision>1</cp:revision>
  <dcterms:created xsi:type="dcterms:W3CDTF">2026-10-07T23:14:53Z</dcterms:created>
  <dcterms:modified xsi:type="dcterms:W3CDTF">2026-10-08T03:04:54Z</dcterms:modified>
</cp:coreProperties>
</file>