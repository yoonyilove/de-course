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자료의 목적]</a:t>
            </a:r>
          </a:p>
          <a:p>
            <a:r>
              <a:t>2주차 선택과제의 원천 로그와 최종 요약표 열을 초심자도 이해하도록 설명합니다.</a:t>
            </a:r>
          </a:p>
          <a:p>
            <a:endParaRPr/>
          </a:p>
          <a:p>
            <a:r>
              <a:t>[강사에게 드리는 말]</a:t>
            </a:r>
          </a:p>
          <a:p>
            <a:r>
              <a:t>1주차에는 대상 한 개가 한 행인 기준표를 정리했습니다. 2주차에는 같은 대상이 30일 동안 반복되는 로그를 모아 한 행으로 요약합니다.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1주차와 2주차의 행 단위가 어떻게 달라지는지 이해합니다.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7,200행을 240행으로 줄이면 기록을 버린 것일까요?</a:t>
            </a:r>
          </a:p>
          <a:p>
            <a:r>
              <a:t>[기대 답]</a:t>
            </a:r>
          </a:p>
          <a:p>
            <a:r>
              <a:t>원본은 보존하고, 비교와 서비스에 편한 대표값을 별도 요약표로 만든 것입니다.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설비 한 대의 상태는 기준표 한 줄만으로는 충분히 설명되지 않습니다.</a:t>
            </a:r>
          </a:p>
          <a:p>
            <a:endParaRPr/>
          </a:p>
          <a:p>
            <a:r>
              <a:t>[현장 상황]</a:t>
            </a:r>
          </a:p>
          <a:p>
            <a:r>
              <a:t>- 온도와 압력, 진동은 운전 중 계속 달라집니다.</a:t>
            </a:r>
          </a:p>
          <a:p>
            <a:r>
              <a:t>- 알람과 품질 결과를 날짜별로 남겨야 반복되는 문제를 찾을 수 있습니다.</a:t>
            </a:r>
          </a:p>
          <a:p>
            <a:r>
              <a:t>- 30일 로그를 설비별로 요약하면 정비 담당자가 한눈에 비교할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원천 로그와 기준표는 왜 따로 관리할까요?</a:t>
            </a:r>
          </a:p>
          <a:p>
            <a:r>
              <a:t>[기대 답]</a:t>
            </a:r>
          </a:p>
          <a:p>
            <a:r>
              <a:t>기준표는 대상의 비교적 안정적인 정보이고 로그는 시간에 따라 계속 쌓이는 기록이기 때문입니다.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열을 외우기 전에 데이터를 관리하는 업무 목적을 이해합니다.</a:t>
            </a:r>
          </a:p>
          <a:p>
            <a:endParaRPr/>
          </a:p>
          <a:p>
            <a:r>
              <a:t>[고장 징후 확인]</a:t>
            </a:r>
          </a:p>
          <a:p>
            <a:r>
              <a:t>평균과 최대 온도, 진동, 알람 횟수를 함께 보면 평소와 다른 설비를 찾기 쉽습니다.</a:t>
            </a:r>
          </a:p>
          <a:p>
            <a:endParaRPr/>
          </a:p>
          <a:p>
            <a:r>
              <a:t>[품질과 에너지 비교]</a:t>
            </a:r>
          </a:p>
          <a:p>
            <a:r>
              <a:t>품질 통과 비율과 에너지 합계를 설비별로 비교해 운영 상태를 살펴봅니다.</a:t>
            </a:r>
          </a:p>
          <a:p>
            <a:endParaRPr/>
          </a:p>
          <a:p>
            <a:r>
              <a:t>[수집 누락 발견]</a:t>
            </a:r>
          </a:p>
          <a:p>
            <a:r>
              <a:t>기록 수와 최근 센서 시각을 확인하면 빠진 배치나 멈춘 수집을 찾을 수 있습니다.</a:t>
            </a:r>
          </a:p>
          <a:p>
            <a:endParaRPr/>
          </a:p>
          <a:p>
            <a:r>
              <a:t>[3주차 서비스 준비]</a:t>
            </a:r>
          </a:p>
          <a:p>
            <a:r>
              <a:t>한 설비당 한 행으로 만든 표를 API, DB, Streamlit의 입력으로 이어 사용합니다.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원천 로그를 단순히 모으는 것과 사용할 수 있게 관리하는 것은 무엇이 다를까요?</a:t>
            </a:r>
          </a:p>
          <a:p>
            <a:r>
              <a:t>[기대 답]</a:t>
            </a:r>
          </a:p>
          <a:p>
            <a:r>
              <a:t>결측과 자료형을 정리하고 출처를 남기며 대상별 대표값으로 요약해야 비교와 서비스에 쓸 수 있습니다.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도메인 이름은 달라도 2주차의 파일 결합과 요약 원리가 같다는 점을 연결합니다.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member_id와 같은 역할을 하는 제조 선택과제의 ID는 무엇인가요?</a:t>
            </a:r>
          </a:p>
          <a:p>
            <a:r>
              <a:t>[기대 답]</a:t>
            </a:r>
          </a:p>
          <a:p>
            <a:r>
              <a:t>equipment_id입니다.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입력과 출력 파일의 역할을 구분합니다.</a:t>
            </a:r>
          </a:p>
          <a:p>
            <a:endParaRPr/>
          </a:p>
          <a:p>
            <a:r>
              <a:t>[sensor_batches/]</a:t>
            </a:r>
          </a:p>
          <a:p>
            <a:r>
              <a:t>CSV 12개. 각 파일 600행×11열. 설비 20대의 30일 센서 기록입니다.</a:t>
            </a:r>
          </a:p>
          <a:p>
            <a:endParaRPr/>
          </a:p>
          <a:p>
            <a:r>
              <a:t>[equipment_master_reference.csv]</a:t>
            </a:r>
          </a:p>
          <a:p>
            <a:r>
              <a:t>240행×16열. 1주차에서 정리한 설비 기준표입니다.</a:t>
            </a:r>
          </a:p>
          <a:p>
            <a:endParaRPr/>
          </a:p>
          <a:p>
            <a:r>
              <a:t>[outputs/와 artifacts/]</a:t>
            </a:r>
          </a:p>
          <a:p>
            <a:r>
              <a:t>과제 결과. 요약 CSV와 학습된 전처리기 파일이 저장됩니다.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outputs와 artifacts에는 같은 종류의 파일이 저장될까요?</a:t>
            </a:r>
          </a:p>
          <a:p>
            <a:r>
              <a:t>[기대 답]</a:t>
            </a:r>
          </a:p>
          <a:p>
            <a:r>
              <a:t>outputs에는 데이터 표, artifacts에는 학습한 전처리기 객체가 저장됩니다.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12개 파일과 7,200행이 만들어지는 계산을 이해합니다.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sensor_batch_01과 sensor_batch_02가 서로 다른 날짜 파일일까요?</a:t>
            </a:r>
          </a:p>
          <a:p>
            <a:r>
              <a:t>[기대 답]</a:t>
            </a:r>
          </a:p>
          <a:p>
            <a:r>
              <a:t>아닙니다. 서로 다른 대상 20개씩을 담은 묶음이며 각 파일 안에 30일 기록이 있습니다.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결측, 문자 숫자, 날짜, 출처와 반복 ID의 의미를 구분합니다.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같은 ID가 여러 번 나오면 항상 drop_duplicates를 해야 할까요?</a:t>
            </a:r>
          </a:p>
          <a:p>
            <a:r>
              <a:t>[기대 답]</a:t>
            </a:r>
          </a:p>
          <a:p>
            <a:r>
              <a:t>아닙니다. 로그에서는 같은 대상의 여러 시점 기록이므로 먼저 한 행의 뜻을 확인해야 합니다.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12개 원천 파일이 240행 결과표와 전처리기 파일로 바뀌는 전체 흐름을 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원천 7,200행과 결과 240행 중 어느 파일을 지켜야 할까요?</a:t>
            </a:r>
          </a:p>
          <a:p>
            <a:r>
              <a:t>[기대 답]</a:t>
            </a:r>
          </a:p>
          <a:p>
            <a:r>
              <a:t>용도가 다르므로 둘 다 보존합니다. 원천은 재처리 근거, 요약은 분석과 서비스 입력입니다.</a:t>
            </a:r>
          </a:p>
          <a:p>
            <a:endParaRPr/>
          </a:p>
          <a:p>
            <a:r>
              <a:t>[이미지 출처] 2주차_제조_선택과제_한눈에보기.png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배치 CSV의 11개 원본 열과 합칠 때 추가하는 source_file을 역할별로 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같은 대상 ID가 여러 행에 반복되는 이유는 무엇인가요?</a:t>
            </a:r>
          </a:p>
          <a:p>
            <a:r>
              <a:t>[기대 답]</a:t>
            </a:r>
          </a:p>
          <a:p>
            <a:r>
              <a:t>날짜별 로그이기 때문입니다.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event_id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센서 기록 한 건을 구분합니다.</a:t>
            </a:r>
          </a:p>
          <a:p>
            <a:endParaRPr/>
          </a:p>
          <a:p>
            <a:r>
              <a:t>[주의할 점]</a:t>
            </a:r>
          </a:p>
          <a:p>
            <a:r>
              <a:t>7,200행에서 모두 고유합니다. 설비 ID와 역할이 다릅니다.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event_id와 equipment_id는 무엇이 다를까요?</a:t>
            </a:r>
          </a:p>
          <a:p>
            <a:r>
              <a:t>[기대 답]</a:t>
            </a:r>
          </a:p>
          <a:p>
            <a:r>
              <a:t>event_id는 기록 한 건, equipment_id는 설비 한 대를 가리킵니다.</a:t>
            </a:r>
          </a:p>
          <a:p>
            <a:endParaRPr/>
          </a:p>
          <a:p>
            <a:r>
              <a:t>[과제 연결]</a:t>
            </a:r>
          </a:p>
          <a:p>
            <a:r>
              <a:t>로그 중복 확인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equipment_id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같은 설비의 30일 기록을 묶고 기준표와 연결합니다.</a:t>
            </a:r>
          </a:p>
          <a:p>
            <a:endParaRPr/>
          </a:p>
          <a:p>
            <a:r>
              <a:t>[주의할 점]</a:t>
            </a:r>
          </a:p>
          <a:p>
            <a:r>
              <a:t>240개 ID가 각각 30번 반복되는 것이 정상입니다.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같은 ID가 30번 나오면 중복 오류일까요?</a:t>
            </a:r>
          </a:p>
          <a:p>
            <a:r>
              <a:t>[기대 답]</a:t>
            </a:r>
          </a:p>
          <a:p>
            <a:r>
              <a:t>아닙니다. 같은 설비의 날짜별 기록이므로 정상입니다.</a:t>
            </a:r>
          </a:p>
          <a:p>
            <a:endParaRPr/>
          </a:p>
          <a:p>
            <a:r>
              <a:t>[과제 연결]</a:t>
            </a:r>
          </a:p>
          <a:p>
            <a:r>
              <a:t>groupby와 merge 기준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event_datetime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읽은 직후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측정이 언제 발생했는지 알려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시간 계산 전 datetime으로 바꿉니다.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문자열 날짜로 최근 시각을 구해도 될까요?</a:t>
            </a:r>
          </a:p>
          <a:p>
            <a:r>
              <a:t>[기대 답]</a:t>
            </a:r>
          </a:p>
          <a:p>
            <a:r>
              <a:t>먼저 datetime으로 변환해야 안전하게 비교할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pd.to_datetime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shift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주간과 야간의 운전 조건을 나눠 볼 수 있습니다.</a:t>
            </a:r>
          </a:p>
          <a:p>
            <a:endParaRPr/>
          </a:p>
          <a:p>
            <a:r>
              <a:t>[주의할 점]</a:t>
            </a:r>
          </a:p>
          <a:p>
            <a:r>
              <a:t>평균을 내는 숫자가 아니라 그룹을 나타내는 범주입니다.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주간과 야간을 1과 2로 더하면 의미가 있을까요?</a:t>
            </a:r>
          </a:p>
          <a:p>
            <a:r>
              <a:t>[기대 답]</a:t>
            </a:r>
          </a:p>
          <a:p>
            <a:r>
              <a:t>없습니다. 두 값은 계산량이 아니라 범주입니다.</a:t>
            </a:r>
          </a:p>
          <a:p>
            <a:endParaRPr/>
          </a:p>
          <a:p>
            <a:r>
              <a:t>[과제 연결]</a:t>
            </a:r>
          </a:p>
          <a:p>
            <a:r>
              <a:t>근무조별 비교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temperature_c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실제로 기록한 운전 온도입니다.</a:t>
            </a:r>
          </a:p>
          <a:p>
            <a:endParaRPr/>
          </a:p>
          <a:p>
            <a:r>
              <a:t>[주의할 점]</a:t>
            </a:r>
          </a:p>
          <a:p>
            <a:r>
              <a:t>빈칸 12개가 있으며 0°C와 뜻이 다릅니다.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빈칸을 0으로 채우면 어떤 문제가 생길까요?</a:t>
            </a:r>
          </a:p>
          <a:p>
            <a:r>
              <a:t>[기대 답]</a:t>
            </a:r>
          </a:p>
          <a:p>
            <a:r>
              <a:t>실제 온도 0°C로 오해되어 평균이 왜곡됩니다.</a:t>
            </a:r>
          </a:p>
          <a:p>
            <a:endParaRPr/>
          </a:p>
          <a:p>
            <a:r>
              <a:t>[과제 연결]</a:t>
            </a:r>
          </a:p>
          <a:p>
            <a:r>
              <a:t>결측 확인 · 평균과 최대값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pressure_bar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실제로 기록한 압력입니다.</a:t>
            </a:r>
          </a:p>
          <a:p>
            <a:endParaRPr/>
          </a:p>
          <a:p>
            <a:r>
              <a:t>[주의할 점]</a:t>
            </a:r>
          </a:p>
          <a:p>
            <a:r>
              <a:t>목표 압력과 실제 측정 압력은 별도 열입니다.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목표 압력과 측정 압력을 한 열로 합쳐도 될까요?</a:t>
            </a:r>
          </a:p>
          <a:p>
            <a:r>
              <a:t>[기대 답]</a:t>
            </a:r>
          </a:p>
          <a:p>
            <a:r>
              <a:t>안 됩니다. 설정값과 실제값은 의미가 다릅니다.</a:t>
            </a:r>
          </a:p>
          <a:p>
            <a:endParaRPr/>
          </a:p>
          <a:p>
            <a:r>
              <a:t>[과제 연결]</a:t>
            </a:r>
          </a:p>
          <a:p>
            <a:r>
              <a:t>평균 압력 계산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vibration_mm_s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문자열 혼합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흔들림의 크기를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미측정 18개 때문에 숫자 변환이 필요합니다.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미측정은 진동 0이라는 뜻일까요?</a:t>
            </a:r>
          </a:p>
          <a:p>
            <a:r>
              <a:t>[기대 답]</a:t>
            </a:r>
          </a:p>
          <a:p>
            <a:r>
              <a:t>아닙니다. 측정값을 모른다는 뜻입니다.</a:t>
            </a:r>
          </a:p>
          <a:p>
            <a:endParaRPr/>
          </a:p>
          <a:p>
            <a:r>
              <a:t>[과제 연결]</a:t>
            </a:r>
          </a:p>
          <a:p>
            <a:r>
              <a:t>to_numeric(errors='coerce')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cycle_time_sec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제품 한 개를 처리하는 실제 시간을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기준 사이클 시간과 비교할 수 있지만 이번 필수 요약에는 넣지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값이 클수록 생산이 더 빠를까요?</a:t>
            </a:r>
          </a:p>
          <a:p>
            <a:r>
              <a:t>[기대 답]</a:t>
            </a:r>
          </a:p>
          <a:p>
            <a:r>
              <a:t>아닙니다. 한 개 처리 시간이므로 일반적으로 값이 클수록 더 오래 걸립니다.</a:t>
            </a:r>
          </a:p>
          <a:p>
            <a:endParaRPr/>
          </a:p>
          <a:p>
            <a:r>
              <a:t>[과제 연결]</a:t>
            </a:r>
          </a:p>
          <a:p>
            <a:r>
              <a:t>기준 대비 지연 분석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energy_kwh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각 기록 구간의 에너지 사용량입니다.</a:t>
            </a:r>
          </a:p>
          <a:p>
            <a:endParaRPr/>
          </a:p>
          <a:p>
            <a:r>
              <a:t>[주의할 점]</a:t>
            </a:r>
          </a:p>
          <a:p>
            <a:r>
              <a:t>30일 합계로 바꿔 설비별 사용량을 비교합니다.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평균 대신 합계를 쓰는 이유는 무엇일까요?</a:t>
            </a:r>
          </a:p>
          <a:p>
            <a:r>
              <a:t>[기대 답]</a:t>
            </a:r>
          </a:p>
          <a:p>
            <a:r>
              <a:t>기간 전체 사용량을 알고 싶기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sum · total_energy_kwh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alarm_code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센서가 감지한 경보 종류를 기록합니다.</a:t>
            </a:r>
          </a:p>
          <a:p>
            <a:endParaRPr/>
          </a:p>
          <a:p>
            <a:r>
              <a:t>[주의할 점]</a:t>
            </a:r>
          </a:p>
          <a:p>
            <a:r>
              <a:t>없음은 결측이 아니라 알람이 없었다는 정상 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알람 없음과 빈칸은 같은 뜻일까요?</a:t>
            </a:r>
          </a:p>
          <a:p>
            <a:r>
              <a:t>[기대 답]</a:t>
            </a:r>
          </a:p>
          <a:p>
            <a:r>
              <a:t>아닙니다. 없음은 상태 기록이고 빈칸은 기록 누락입니다.</a:t>
            </a:r>
          </a:p>
          <a:p>
            <a:endParaRPr/>
          </a:p>
          <a:p>
            <a:r>
              <a:t>[과제 연결]</a:t>
            </a:r>
          </a:p>
          <a:p>
            <a:r>
              <a:t>없음이 아닌 행 개수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quality_pass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센서 배치 CSV DataFrame의 한 열입니다. 대괄호 한 겹으로 선택하면 Series가 됩니다. 자료형은 불리언 · bool입니다.</a:t>
            </a:r>
          </a:p>
          <a:p>
            <a:endParaRPr/>
          </a:p>
          <a:p>
            <a:r>
              <a:t>[업무 배경]</a:t>
            </a:r>
          </a:p>
          <a:p>
            <a:r>
              <a:t>그 기록과 연결된 품질 검사 통과 여부입니다.</a:t>
            </a:r>
          </a:p>
          <a:p>
            <a:endParaRPr/>
          </a:p>
          <a:p>
            <a:r>
              <a:t>[주의할 점]</a:t>
            </a:r>
          </a:p>
          <a:p>
            <a:r>
              <a:t>True 평균은 통과 비율로 해석할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불리언 평균이 왜 비율이 될까요?</a:t>
            </a:r>
          </a:p>
          <a:p>
            <a:r>
              <a:t>[기대 답]</a:t>
            </a:r>
          </a:p>
          <a:p>
            <a:r>
              <a:t>True가 1, False가 0처럼 계산되기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mean · quality_pass_rate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source_file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Q2에서 새로 만드는 열 DataFrame의 한 열입니다. 대괄호 한 겹으로 선택하면 Series가 됩니다.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문제가 생긴 행이 어느 배치에서 왔는지 추적합니다.</a:t>
            </a:r>
          </a:p>
          <a:p>
            <a:endParaRPr/>
          </a:p>
          <a:p>
            <a:r>
              <a:t>[주의할 점]</a:t>
            </a:r>
          </a:p>
          <a:p>
            <a:r>
              <a:t>CSV 원본에는 없고 파일을 합칠 때 코드가 추가합니다.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합친 뒤에도 출처를 남길 이유는 무엇일까요?</a:t>
            </a:r>
          </a:p>
          <a:p>
            <a:r>
              <a:t>[기대 답]</a:t>
            </a:r>
          </a:p>
          <a:p>
            <a:r>
              <a:t>오류가 난 배치 파일을 다시 찾아 확인할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file_path.name · 추적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1주차 기준표 16열과 2주차 요약 10열이 합쳐진 최종표를 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최종표에서 ID가 한 번만 나와야 하는 이유는 무엇인가요?</a:t>
            </a:r>
          </a:p>
          <a:p>
            <a:r>
              <a:t>[기대 답]</a:t>
            </a:r>
          </a:p>
          <a:p>
            <a:r>
              <a:t>분석과 API가 대상 한 개를 한 행으로 읽도록 요약했기 때문입니다.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equipment_id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한 대를 구분하고 로그 요약표와 연결합니다.</a:t>
            </a:r>
          </a:p>
          <a:p>
            <a:endParaRPr/>
          </a:p>
          <a:p>
            <a:r>
              <a:t>[주의할 점]</a:t>
            </a:r>
          </a:p>
          <a:p>
            <a:r>
              <a:t>최종표에서 고유값 240개여야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최종표에서 ID가 반복되면 무엇을 의심할까요?</a:t>
            </a:r>
          </a:p>
          <a:p>
            <a:r>
              <a:t>[기대 답]</a:t>
            </a:r>
          </a:p>
          <a:p>
            <a:r>
              <a:t>요약 또는 결합 과정에서 중복이 생겼는지 확인합니다.</a:t>
            </a:r>
          </a:p>
          <a:p>
            <a:endParaRPr/>
          </a:p>
          <a:p>
            <a:r>
              <a:t>[과제 연결]</a:t>
            </a:r>
          </a:p>
          <a:p>
            <a:r>
              <a:t>merge의 on 값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equipment_name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현장 담당자가 설비를 알아보기 쉽게 표시합니다.</a:t>
            </a:r>
          </a:p>
          <a:p>
            <a:endParaRPr/>
          </a:p>
          <a:p>
            <a:r>
              <a:t>[주의할 점]</a:t>
            </a:r>
          </a:p>
          <a:p>
            <a:r>
              <a:t>결합 기준은 이름이 아니라 ID입니다.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이름을 결합 기준으로 쓰지 않는 이유는 무엇일까요?</a:t>
            </a:r>
          </a:p>
          <a:p>
            <a:r>
              <a:t>[기대 답]</a:t>
            </a:r>
          </a:p>
          <a:p>
            <a:r>
              <a:t>이름은 바뀌거나 겹칠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화면과 보고서 표시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plant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공장별 설비와 정비 수요를 비교합니다.</a:t>
            </a:r>
          </a:p>
          <a:p>
            <a:endParaRPr/>
          </a:p>
          <a:p>
            <a:r>
              <a:t>[주의할 점]</a:t>
            </a:r>
          </a:p>
          <a:p>
            <a:r>
              <a:t>1주차에서 표기를 정리한 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공장명은 숫자형 입력일까요?</a:t>
            </a:r>
          </a:p>
          <a:p>
            <a:r>
              <a:t>[기대 답]</a:t>
            </a:r>
          </a:p>
          <a:p>
            <a:r>
              <a:t>아니요. 범주형 입력입니다.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line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같은 공장 안의 생산라인을 구분합니다.</a:t>
            </a:r>
          </a:p>
          <a:p>
            <a:endParaRPr/>
          </a:p>
          <a:p>
            <a:r>
              <a:t>[주의할 점]</a:t>
            </a:r>
          </a:p>
          <a:p>
            <a:r>
              <a:t>라인 이름의 숫자 크기에는 의미가 없습니다.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라인별로 나누어 볼 수 있는 요약은 무엇일까요?</a:t>
            </a:r>
          </a:p>
          <a:p>
            <a:r>
              <a:t>[기대 답]</a:t>
            </a:r>
          </a:p>
          <a:p>
            <a:r>
              <a:t>알람 수, 에너지 사용량, 정비 필요 비율 등을 비교할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equipment_type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유형에 따른 운전 특성을 구분합니다.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전처리기의 범주형 입력입니다.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설비 종류가 왜 평균 대상이 아닐까요?</a:t>
            </a:r>
          </a:p>
          <a:p>
            <a:r>
              <a:t>[기대 답]</a:t>
            </a:r>
          </a:p>
          <a:p>
            <a:r>
              <a:t>계산량이 아니라 그룹을 나타내는 이름이기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OneHotEncoder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manufacturer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부품과 정비 문의, 제조사별 문제 분석에 씁니다.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필수 입력 X에는 넣지 않지만 원본에 보존합니다.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사용하지 않는 열도 남기는 이유는 무엇일까요?</a:t>
            </a:r>
          </a:p>
          <a:p>
            <a:r>
              <a:t>[기대 답]</a:t>
            </a:r>
          </a:p>
          <a:p>
            <a:r>
              <a:t>현장 확인과 추가 분석에 다시 쓸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업무 확인용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install_date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날짜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사용기간을 계산할 수 있습니다.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필수 전처리 입력에는 포함하지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날짜 문자열을 바로 뺄 수 있을까요?</a:t>
            </a:r>
          </a:p>
          <a:p>
            <a:r>
              <a:t>[기대 답]</a:t>
            </a:r>
          </a:p>
          <a:p>
            <a:r>
              <a:t>아니요. datetime으로 바꿔야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설비 연령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last_inspection_date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날짜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점검 후 경과일을 계산할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최근 센서 시각과 다른 의미입니다.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latest_event_at과 무엇이 다를까요?</a:t>
            </a:r>
          </a:p>
          <a:p>
            <a:r>
              <a:t>[기대 답]</a:t>
            </a:r>
          </a:p>
          <a:p>
            <a:r>
              <a:t>하나는 점검일, 다른 하나는 센서 로그의 최근 시각입니다.</a:t>
            </a:r>
          </a:p>
          <a:p>
            <a:endParaRPr/>
          </a:p>
          <a:p>
            <a:r>
              <a:t>[과제 연결]</a:t>
            </a:r>
          </a:p>
          <a:p>
            <a:r>
              <a:t>점검 지연 분석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rated_cycle_sec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정제 기준표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설비의 정상 처리 속도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cycle_time_sec와 비교할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기준값과 실제값을 왜 따로 기록할까요?</a:t>
            </a:r>
          </a:p>
          <a:p>
            <a:r>
              <a:t>[기대 답]</a:t>
            </a:r>
          </a:p>
          <a:p>
            <a:r>
              <a:t>설정 기준과 실제 운전 결과를 비교하기 위해서입니다.</a:t>
            </a:r>
          </a:p>
          <a:p>
            <a:endParaRPr/>
          </a:p>
          <a:p>
            <a:r>
              <a:t>[과제 연결]</a:t>
            </a:r>
          </a:p>
          <a:p>
            <a:r>
              <a:t>기준 대비 차이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target_temperature_c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정제 기준표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정상 운전에서 맞추려는 온도입니다.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평균 온도와 구분합니다.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avg_temperature_c와 같은 값일까요?</a:t>
            </a:r>
          </a:p>
          <a:p>
            <a:r>
              <a:t>[기대 답]</a:t>
            </a:r>
          </a:p>
          <a:p>
            <a:r>
              <a:t>아닙니다. 하나는 목표, 다른 하나는 실제 평균입니다.</a:t>
            </a:r>
          </a:p>
          <a:p>
            <a:endParaRPr/>
          </a:p>
          <a:p>
            <a:r>
              <a:t>[과제 연결]</a:t>
            </a:r>
          </a:p>
          <a:p>
            <a:r>
              <a:t>목표 대비 편차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target_pressure_bar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정제 기준표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정상 운전에서 맞추려는 압력입니다.</a:t>
            </a:r>
          </a:p>
          <a:p>
            <a:endParaRPr/>
          </a:p>
          <a:p>
            <a:r>
              <a:t>[주의할 점]</a:t>
            </a:r>
          </a:p>
          <a:p>
            <a:r>
              <a:t>1주차 결측 처리가 끝난 기준값입니다.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avg_pressure_bar와 무엇을 비교할 수 있을까요?</a:t>
            </a:r>
          </a:p>
          <a:p>
            <a:r>
              <a:t>[기대 답]</a:t>
            </a:r>
          </a:p>
          <a:p>
            <a:r>
              <a:t>실제 평균 압력이 목표에서 얼마나 벗어났는지 볼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목표 대비 편차 확장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maintenance_grade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회사에서 정한 관리 등급입니다.</a:t>
            </a:r>
          </a:p>
          <a:p>
            <a:endParaRPr/>
          </a:p>
          <a:p>
            <a:r>
              <a:t>[주의할 점]</a:t>
            </a:r>
          </a:p>
          <a:p>
            <a:r>
              <a:t>글자 순서를 임의의 숫자 간격으로 해석하지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A, B, C를 바로 1, 2, 3으로 바꿔도 될까요?</a:t>
            </a:r>
          </a:p>
          <a:p>
            <a:r>
              <a:t>[기대 답]</a:t>
            </a:r>
          </a:p>
          <a:p>
            <a:r>
              <a:t>업무상 순서와 간격을 확인하기 전에는 안 됩니다.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operation_status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현재 설비의 운영 상태를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정비 필요 여부와 같은 뜻이 아닙니다.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점검 상태면 모두 maintenance_required=True일까요?</a:t>
            </a:r>
          </a:p>
          <a:p>
            <a:r>
              <a:t>[기대 답]</a:t>
            </a:r>
          </a:p>
          <a:p>
            <a:r>
              <a:t>아닙니다. 현재 상태와 정비 판단은 다른 정보입니다.</a:t>
            </a:r>
          </a:p>
          <a:p>
            <a:endParaRPr/>
          </a:p>
          <a:p>
            <a:r>
              <a:t>[과제 연결]</a:t>
            </a:r>
          </a:p>
          <a:p>
            <a:r>
              <a:t>업무 확인용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monthly_runtime_hours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한 달 동안 설비를 얼마나 사용했는지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전처리기의 숫자형 입력입니다.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운전시간과 로그 수가 같은 뜻일까요?</a:t>
            </a:r>
          </a:p>
          <a:p>
            <a:r>
              <a:t>[기대 답]</a:t>
            </a:r>
          </a:p>
          <a:p>
            <a:r>
              <a:t>아닙니다. 하나는 시간, 다른 하나는 기록 건수입니다.</a:t>
            </a:r>
          </a:p>
          <a:p>
            <a:endParaRPr/>
          </a:p>
          <a:p>
            <a:r>
              <a:t>[과제 연결]</a:t>
            </a:r>
          </a:p>
          <a:p>
            <a:r>
              <a:t>median · StandardScaler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failure_count_90d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최근 반복 고장 이력을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0은 결측이 아니라 고장 없음입니다.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0회와 빈칸은 왜 다를까요?</a:t>
            </a:r>
          </a:p>
          <a:p>
            <a:r>
              <a:t>[기대 답]</a:t>
            </a:r>
          </a:p>
          <a:p>
            <a:r>
              <a:t>0은 기록된 결과이고 빈칸은 알 수 없음입니다.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maintenance_required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1주차 기준표 DataFrame의 한 열입니다. 대괄호 한 겹으로 선택하면 Series가 됩니다. 자료형은 불리언 · bool입니다.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 정비 필요 판단 결과입니다.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2주차는 예측 모델보다 데이터 파이프라인 구축에 집중합니다.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센서 로그에서 새로 계산했을까요?</a:t>
            </a:r>
          </a:p>
          <a:p>
            <a:r>
              <a:t>[기대 답]</a:t>
            </a:r>
          </a:p>
          <a:p>
            <a:r>
              <a:t>아닙니다. 1주차 기준표에서 이어 온 교육용 판단 결과입니다.</a:t>
            </a:r>
          </a:p>
          <a:p>
            <a:endParaRPr/>
          </a:p>
          <a:p>
            <a:r>
              <a:t>[과제 연결]</a:t>
            </a:r>
          </a:p>
          <a:p>
            <a:r>
              <a:t>결과표 보존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record_count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설비별로 로그가 몇 건 들어왔는지 확인합니다.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데이터는 모두 30건이지만 실무에서는 누락 탐지에 씁니다.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기록 수가 29라면 무엇을 확인할까요?</a:t>
            </a:r>
          </a:p>
          <a:p>
            <a:r>
              <a:t>[기대 답]</a:t>
            </a:r>
          </a:p>
          <a:p>
            <a:r>
              <a:t>해당 설비의 날짜 누락이나 파일 수집 문제를 확인합니다.</a:t>
            </a:r>
          </a:p>
          <a:p>
            <a:endParaRPr/>
          </a:p>
          <a:p>
            <a:r>
              <a:t>[과제 연결]</a:t>
            </a:r>
          </a:p>
          <a:p>
            <a:r>
              <a:t>count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active_days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설비별로 며칠의 로그가 있는지 확인합니다.</a:t>
            </a:r>
          </a:p>
          <a:p>
            <a:endParaRPr/>
          </a:p>
          <a:p>
            <a:r>
              <a:t>[주의할 점]</a:t>
            </a:r>
          </a:p>
          <a:p>
            <a:r>
              <a:t>기록 건수와 날짜 수는 다른 개념입니다.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하루에 로그가 두 건이면 record_count와 active_days는 같을까요?</a:t>
            </a:r>
          </a:p>
          <a:p>
            <a:r>
              <a:t>[기대 답]</a:t>
            </a:r>
          </a:p>
          <a:p>
            <a:r>
              <a:t>같지 않을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날짜 고유값 수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avg_temperature_c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일별 온도를 설비 한 대의 대표값으로 요약합니다.</a:t>
            </a:r>
          </a:p>
          <a:p>
            <a:endParaRPr/>
          </a:p>
          <a:p>
            <a:r>
              <a:t>[주의할 점]</a:t>
            </a:r>
          </a:p>
          <a:p>
            <a:r>
              <a:t>빈칸을 제외한 평균이며 목표 온도와 구분합니다.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평균만 보면 순간 과열을 찾을 수 있을까요?</a:t>
            </a:r>
          </a:p>
          <a:p>
            <a:r>
              <a:t>[기대 답]</a:t>
            </a:r>
          </a:p>
          <a:p>
            <a:r>
              <a:t>어렵습니다. 최대값도 함께 봐야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mean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max_temperature_c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기간 중 가장 높은 온도를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한 번의 큰 값일 수 있으므로 평균과 함께 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평균과 최대를 함께 보는 이유는 무엇일까요?</a:t>
            </a:r>
          </a:p>
          <a:p>
            <a:r>
              <a:t>[기대 답]</a:t>
            </a:r>
          </a:p>
          <a:p>
            <a:r>
              <a:t>평소 수준과 순간적인 극단값을 구분하기 위해서입니다.</a:t>
            </a:r>
          </a:p>
          <a:p>
            <a:endParaRPr/>
          </a:p>
          <a:p>
            <a:r>
              <a:t>[과제 연결]</a:t>
            </a:r>
          </a:p>
          <a:p>
            <a:r>
              <a:t>max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avg_pressure_bar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 실제 압력 수준을 비교합니다.</a:t>
            </a:r>
          </a:p>
          <a:p>
            <a:endParaRPr/>
          </a:p>
          <a:p>
            <a:r>
              <a:t>[주의할 점]</a:t>
            </a:r>
          </a:p>
          <a:p>
            <a:r>
              <a:t>목표 압력과 단위가 같은지 확인합니다.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평균 압력이 목표와 다르면 무엇을 더 봐야 할까요?</a:t>
            </a:r>
          </a:p>
          <a:p>
            <a:r>
              <a:t>[기대 답]</a:t>
            </a:r>
          </a:p>
          <a:p>
            <a:r>
              <a:t>작업 조건과 센서 상태, 날짜별 변화를 함께 확인합니다.</a:t>
            </a:r>
          </a:p>
          <a:p>
            <a:endParaRPr/>
          </a:p>
          <a:p>
            <a:r>
              <a:t>[과제 연결]</a:t>
            </a:r>
          </a:p>
          <a:p>
            <a:r>
              <a:t>mean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avg_vibration_mm_s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 흔들림 수준을 비교합니다.</a:t>
            </a:r>
          </a:p>
          <a:p>
            <a:endParaRPr/>
          </a:p>
          <a:p>
            <a:r>
              <a:t>[주의할 점]</a:t>
            </a:r>
          </a:p>
          <a:p>
            <a:r>
              <a:t>미측정 18개는 평균 계산에서 제외됩니다.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미측정을 0으로 바꾸면 평균은 어떻게 될까요?</a:t>
            </a:r>
          </a:p>
          <a:p>
            <a:r>
              <a:t>[기대 답]</a:t>
            </a:r>
          </a:p>
          <a:p>
            <a:r>
              <a:t>실제보다 낮아져 설비가 더 안정적으로 보일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mean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alarm_count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없음이 아닌 알람 기록을 셉니다.</a:t>
            </a:r>
          </a:p>
          <a:p>
            <a:endParaRPr/>
          </a:p>
          <a:p>
            <a:r>
              <a:t>[주의할 점]</a:t>
            </a:r>
          </a:p>
          <a:p>
            <a:r>
              <a:t>알람 종류별 심각도까지 반영한 값은 아닙니다.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알람 10회가 항상 2회보다 위험할까요?</a:t>
            </a:r>
          </a:p>
          <a:p>
            <a:r>
              <a:t>[기대 답]</a:t>
            </a:r>
          </a:p>
          <a:p>
            <a:r>
              <a:t>종류와 맥락을 보지 않으면 단정할 수 없습니다.</a:t>
            </a:r>
          </a:p>
          <a:p>
            <a:endParaRPr/>
          </a:p>
          <a:p>
            <a:r>
              <a:t>[과제 연결]</a:t>
            </a:r>
          </a:p>
          <a:p>
            <a:r>
              <a:t>조건식과 sum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quality_pass_rate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30개 품질 결과 중 통과 비율을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0.90은 90%입니다.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0.90을 90으로 읽으면 안 되는 이유는 무엇일까요?</a:t>
            </a:r>
          </a:p>
          <a:p>
            <a:r>
              <a:t>[기대 답]</a:t>
            </a:r>
          </a:p>
          <a:p>
            <a:r>
              <a:t>0과 1 사이 비율로 저장되었기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bool 평균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total_energy_kwh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설비별 전체 에너지 사용량을 비교합니다.</a:t>
            </a:r>
          </a:p>
          <a:p>
            <a:endParaRPr/>
          </a:p>
          <a:p>
            <a:r>
              <a:t>[주의할 점]</a:t>
            </a:r>
          </a:p>
          <a:p>
            <a:r>
              <a:t>운전시간과 생산량 차이를 함께 고려해야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합계가 크면 효율이 낮다고 바로 말할 수 있을까요?</a:t>
            </a:r>
          </a:p>
          <a:p>
            <a:r>
              <a:t>[기대 답]</a:t>
            </a:r>
          </a:p>
          <a:p>
            <a:r>
              <a:t>아닙니다. 가동시간과 생산량도 함께 봐야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sum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latest_event_at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Q4에서 만든 요약 열 DataFrame의 한 열입니다. 대괄호 한 겹으로 선택하면 Series가 됩니다. 자료형은 datetime64입니다.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마지막으로 데이터가 들어온 시각을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최근 점검일과 다른 열입니다.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최근 센서 시각이 오래되면 무엇을 확인할까요?</a:t>
            </a:r>
          </a:p>
          <a:p>
            <a:r>
              <a:t>[기대 답]</a:t>
            </a:r>
          </a:p>
          <a:p>
            <a:r>
              <a:t>수집 중단이나 설비 비가동 여부를 확인합니다.</a:t>
            </a:r>
          </a:p>
          <a:p>
            <a:endParaRPr/>
          </a:p>
          <a:p>
            <a:r>
              <a:t>[과제 연결]</a:t>
            </a:r>
          </a:p>
          <a:p>
            <a:r>
              <a:t>max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CSV와 joblib, JSON 미리보기가 서로 다른 역할을 한다는 점을 이해합니다.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CSV만 저장하면 전처리기의 중앙값과 범주 열 순서도 함께 저장될까요?</a:t>
            </a:r>
          </a:p>
          <a:p>
            <a:r>
              <a:t>[기대 답]</a:t>
            </a:r>
          </a:p>
          <a:p>
            <a:r>
              <a:t>아닙니다. 학습된 전처리기 객체는 joblib 파일로 별도 저장합니다.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2주차 결과표가 파일로 끝나지 않고 다른 프로그램이 요청할 수 있는 데이터가 되는 흐름을 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api_app_student.py만 열면 서버가 자동으로 계속 실행될까요?</a:t>
            </a:r>
          </a:p>
          <a:p>
            <a:r>
              <a:t>[기대 답]</a:t>
            </a:r>
          </a:p>
          <a:p>
            <a:r>
              <a:t>아닙니다. 별도 터미널에서 uvicorn 명령을 실행해 서버 프로세스를 켜 두어야 합니다.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각 열 설명을 학생용 노트북 Q1부터 Q7까지 연결합니다.</a:t>
            </a:r>
          </a:p>
          <a:p>
            <a:endParaRPr/>
          </a:p>
          <a:p>
            <a:r>
              <a:t>[진행 순서]</a:t>
            </a:r>
          </a:p>
          <a:p>
            <a:r>
              <a:t>- Q1에서 sensor_batch_*.csv 12개를 찾습니다.</a:t>
            </a:r>
          </a:p>
          <a:p>
            <a:r>
              <a:t>- Q2에서 출처 열을 붙여 7,200행으로 합칩니다.</a:t>
            </a:r>
          </a:p>
          <a:p>
            <a:r>
              <a:t>- Q3에서 숫자와 날짜를 정리하고 작은 넓은 표를 만듭니다.</a:t>
            </a:r>
          </a:p>
          <a:p>
            <a:r>
              <a:t>- Q4에서 30일 로그를 설비 240행으로 요약합니다.</a:t>
            </a:r>
          </a:p>
          <a:p>
            <a:r>
              <a:t>- Q5에서 1주차 기준표와 ID로 연결합니다.</a:t>
            </a:r>
          </a:p>
          <a:p>
            <a:r>
              <a:t>- Q6에서 전처리기를 학습해 joblib로 저장합니다.</a:t>
            </a:r>
          </a:p>
          <a:p>
            <a:r>
              <a:t>- Q7에서 3주차용 CSV와 JSON 미리보기를 만듭니다.</a:t>
            </a:r>
          </a:p>
          <a:p>
            <a:endParaRPr/>
          </a:p>
          <a:p>
            <a:r>
              <a:t>[마무리 질문]</a:t>
            </a:r>
          </a:p>
          <a:p>
            <a:r>
              <a:t>1주차와 분야가 달라도 다시 사용할 수 있었던 처리 원리는 무엇인가요?</a:t>
            </a:r>
          </a:p>
          <a:p>
            <a:r>
              <a:t>[기대 답]</a:t>
            </a:r>
          </a:p>
          <a:p>
            <a:r>
              <a:t>파일 찾기, 출처 보존, 숫자와 날짜 변환, ID별 요약, 기준표 결합, 전처리기 저장입니다.</a:t>
            </a:r>
          </a:p>
          <a:p>
            <a:endParaRPr/>
          </a:p>
          <a:p>
            <a:r>
              <a:t>[근거 자료] 2주차_제조_데이터사전.md, sensor_batches 12개, equipment_master_reference.csv,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985AB68-3A32-415E-9FC0-66444F680BA0}"/>
              </a:ext>
            </a:extLst>
          </p:cNvPr>
          <p:cNvSpPr>
            <a:spLocks noGrp="1"/>
          </p:cNvSpPr>
          <p:nvPr/>
        </p:nvSpPr>
        <p:spPr>
          <a:xfrm>
            <a:off x="523875" y="333375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0A45BA-D340-4B80-9D84-610C4B36B23A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572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제조 선택과제</a:t>
            </a:r>
          </a:p>
          <a:p>
            <a:pPr>
              <a:def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데이터 열 이름과 뜻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1C2974-BDED-4586-A269-0E15DA0F8552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12개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센서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로그를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합쳐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설비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240대의 30일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요약표를</a:t>
            </a:r>
            <a:r>
              <a:rPr sz="1500" b="0" dirty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만듭니다</a:t>
            </a:r>
            <a:endParaRPr sz="1500" b="0" dirty="0">
              <a:solidFill>
                <a:srgbClr val="66748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FD3BAA-B3A9-4C34-ADB2-171D3504A23E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904875" cy="47625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6C2782-BC1A-4ED3-8F5D-1B60056CBC67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111442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EC1B13-EE4E-47D8-A681-C26E66B547E3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도메인 배경 · 원천 로그 · 최종 240행 요약표 · 3주차 연결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F90BB9-07F8-4D51-A35F-921F224B0FCC}"/>
              </a:ext>
            </a:extLst>
          </p:cNvPr>
          <p:cNvSpPr>
            <a:spLocks noGrp="1"/>
          </p:cNvSpPr>
          <p:nvPr/>
        </p:nvSpPr>
        <p:spPr>
          <a:xfrm>
            <a:off x="523875" y="6334125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개인정보나 운영기록이 아닌 수업용 합성 데이터입니다.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83AA90-6FE5-4FE5-8FDE-0BAD8E157829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2862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A98B7-9905-08FE-F71C-642995E0EED6}"/>
              </a:ext>
            </a:extLst>
          </p:cNvPr>
          <p:cNvSpPr txBox="1"/>
          <p:nvPr/>
        </p:nvSpPr>
        <p:spPr>
          <a:xfrm>
            <a:off x="609600" y="3802529"/>
            <a:ext cx="96774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기준표는 “어느 정도면 </a:t>
            </a:r>
            <a:r>
              <a:rPr lang="ko-KR" altLang="ko-KR" sz="1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위험한가”를</a:t>
            </a:r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말하고, 로그는 “실제로 어떤 일이 </a:t>
            </a:r>
            <a:r>
              <a:rPr lang="ko-KR" altLang="ko-KR" sz="1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있었나”를</a:t>
            </a:r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보여줌</a:t>
            </a:r>
            <a:endParaRPr lang="en-US" altLang="ko-KR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US" altLang="ko-KR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lvl="0"/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1주차 추가 기준표: 허용 </a:t>
            </a:r>
            <a:r>
              <a:rPr lang="ko-KR" altLang="ko-KR" sz="1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온도·압력·진동</a:t>
            </a:r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기준</a:t>
            </a:r>
          </a:p>
          <a:p>
            <a:pPr lvl="0"/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2주차 센서 로그: 실제 </a:t>
            </a:r>
            <a:r>
              <a:rPr lang="ko-KR" altLang="ko-KR" sz="1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온도·압력·진동</a:t>
            </a:r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기록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56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A0B964-A93F-4FB2-B9C4-AFA0BC9D555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54A333-F328-4265-9E88-DECDF69FE1E1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주차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C7B475-BEEB-4326-BE6C-641E5711DDCB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기준표에 30일 로그를 더합니다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2A37-BC19-45C1-97B3-8C4BA8015CB9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1B5E88-5773-43E4-9907-3C3DF80BDC17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2C1113-BBDF-4DC9-8B8F-F8D03C8FF9C7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37DAEA-93FD-4E11-943E-EC5371771AF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02B43B-D98C-4A08-9F38-A6AABA9038E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0C48DE-D44D-4630-8255-5AA43F37FF0F}"/>
              </a:ext>
            </a:extLst>
          </p:cNvPr>
          <p:cNvSpPr>
            <a:spLocks noGrp="1"/>
          </p:cNvSpPr>
          <p:nvPr/>
        </p:nvSpPr>
        <p:spPr>
          <a:xfrm>
            <a:off x="1381125" y="1809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8CCEA1-405F-4A86-9840-FA4C78403559}"/>
              </a:ext>
            </a:extLst>
          </p:cNvPr>
          <p:cNvSpPr>
            <a:spLocks noGrp="1"/>
          </p:cNvSpPr>
          <p:nvPr/>
        </p:nvSpPr>
        <p:spPr>
          <a:xfrm>
            <a:off x="3476625" y="1809750"/>
            <a:ext cx="762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대상 240개의 기본정보와 판단 결과를 한 행씩 정리했습니다.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4295EC-7989-41E3-A678-385014698634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C87A7B-D633-4860-B3C3-EE4372E25623}"/>
              </a:ext>
            </a:extLst>
          </p:cNvPr>
          <p:cNvSpPr>
            <a:spLocks noGrp="1"/>
          </p:cNvSpPr>
          <p:nvPr/>
        </p:nvSpPr>
        <p:spPr>
          <a:xfrm>
            <a:off x="1381125" y="27432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원천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236732-7936-47BC-BA92-3D289B4A10A8}"/>
              </a:ext>
            </a:extLst>
          </p:cNvPr>
          <p:cNvSpPr>
            <a:spLocks noGrp="1"/>
          </p:cNvSpPr>
          <p:nvPr/>
        </p:nvSpPr>
        <p:spPr>
          <a:xfrm>
            <a:off x="3476625" y="2743200"/>
            <a:ext cx="762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같은 대상이 30일 동안 반복되어 7,200행의 로그가 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A30D40-58AE-4164-A9B0-4A31CDFBFADC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550CEA-EF99-47A1-B5DD-9C3FF983FBEF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2주차 결과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7A9F88-E2B2-42B3-A961-660DD5326E7D}"/>
              </a:ext>
            </a:extLst>
          </p:cNvPr>
          <p:cNvSpPr>
            <a:spLocks noGrp="1"/>
          </p:cNvSpPr>
          <p:nvPr/>
        </p:nvSpPr>
        <p:spPr>
          <a:xfrm>
            <a:off x="3476625" y="3676650"/>
            <a:ext cx="762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로그를 ID별로 요약해 기준표에 붙이면 240행×26열이 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6BD0BE-41A2-4038-AA97-5A79BD2BB464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D5210E-88C7-4F56-8A23-58A4C2B06182}"/>
              </a:ext>
            </a:extLst>
          </p:cNvPr>
          <p:cNvSpPr>
            <a:spLocks noGrp="1"/>
          </p:cNvSpPr>
          <p:nvPr/>
        </p:nvSpPr>
        <p:spPr>
          <a:xfrm>
            <a:off x="1381125" y="46101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A776197-4F2B-498E-95BC-02610FD6EB0B}"/>
              </a:ext>
            </a:extLst>
          </p:cNvPr>
          <p:cNvSpPr>
            <a:spLocks noGrp="1"/>
          </p:cNvSpPr>
          <p:nvPr/>
        </p:nvSpPr>
        <p:spPr>
          <a:xfrm>
            <a:off x="3476625" y="4610100"/>
            <a:ext cx="762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 결과표를 API, SQLite, EDA, PCA, Streamlit에서 다시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30791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2F038E-6275-4584-A16A-B693D8A17B7C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85CDCB-02E7-4695-81E7-9EE4B57EDE55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도메인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B6E745-FBF5-4C25-A8D9-FBEE1C7AC85D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생산설비의 센서 로그를 왜 모을까요?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5E2A78-94BE-4BCE-9592-3236A80F134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3DF5C-5280-4373-B567-943042E610D3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6E13A1-5F2B-401A-BAD0-8C518D5C98FA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1828A6-24E3-49DB-A2BD-52957FCE974F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4B19A5-691C-4683-972C-9A6A6D89E07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설비 한 대의 상태는 기준표 한 줄만으로는 충분히 설명되지 않습니다.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BF9B62-D8AB-46A3-8A11-F2D5CA7CD121}"/>
              </a:ext>
            </a:extLst>
          </p:cNvPr>
          <p:cNvSpPr>
            <a:spLocks noGrp="1"/>
          </p:cNvSpPr>
          <p:nvPr/>
        </p:nvSpPr>
        <p:spPr>
          <a:xfrm>
            <a:off x="781050" y="261937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6FF5F3-0704-4E98-885E-4DA638F52DD1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온도와 압력, 진동은 운전 중 계속 달라집니다.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F823C2-FCB2-4AE6-A6CB-EF02BAD0E577}"/>
              </a:ext>
            </a:extLst>
          </p:cNvPr>
          <p:cNvSpPr>
            <a:spLocks noGrp="1"/>
          </p:cNvSpPr>
          <p:nvPr/>
        </p:nvSpPr>
        <p:spPr>
          <a:xfrm>
            <a:off x="781050" y="34004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896179-2398-40A0-9645-2C40C7CEC9A4}"/>
              </a:ext>
            </a:extLst>
          </p:cNvPr>
          <p:cNvSpPr>
            <a:spLocks noGrp="1"/>
          </p:cNvSpPr>
          <p:nvPr/>
        </p:nvSpPr>
        <p:spPr>
          <a:xfrm>
            <a:off x="1428750" y="3381375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알람과 품질 결과를 날짜별로 남겨야 반복되는 문제를 찾을 수 있습니다.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5EA8E3-0445-4CA6-B229-754BB0B42E06}"/>
              </a:ext>
            </a:extLst>
          </p:cNvPr>
          <p:cNvSpPr>
            <a:spLocks noGrp="1"/>
          </p:cNvSpPr>
          <p:nvPr/>
        </p:nvSpPr>
        <p:spPr>
          <a:xfrm>
            <a:off x="781050" y="418147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25AB87-382D-468A-BF40-6EEE82B104E3}"/>
              </a:ext>
            </a:extLst>
          </p:cNvPr>
          <p:cNvSpPr>
            <a:spLocks noGrp="1"/>
          </p:cNvSpPr>
          <p:nvPr/>
        </p:nvSpPr>
        <p:spPr>
          <a:xfrm>
            <a:off x="1428750" y="4162425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로그를 설비별로 요약하면 정비 담당자가 한눈에 비교할 수 있습니다.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A58D3C2-0302-4E12-8ED8-B583E2127C4E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572750" cy="552450"/>
          </a:xfrm>
          <a:prstGeom prst="roundRect">
            <a:avLst>
              <a:gd name="adj" fmla="val 13793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B42BF8-B799-41B5-92A3-68A4B16B5FFF}"/>
              </a:ext>
            </a:extLst>
          </p:cNvPr>
          <p:cNvSpPr>
            <a:spLocks noGrp="1"/>
          </p:cNvSpPr>
          <p:nvPr/>
        </p:nvSpPr>
        <p:spPr>
          <a:xfrm>
            <a:off x="876300" y="536257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핵심 질문: 한 대상의 여러 기록을 어떤 대표값으로 요약해야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47500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D94C2D-AE84-4110-8A6E-402A7C5006C8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AE3419-FDB9-49C8-B076-958DC7892D0B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업무 중요성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9B6FAA-DF0B-4154-BAFF-A37C2C32AFE0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데이터를 관리하는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35725-E20B-4D8E-9E46-82EFEF9457B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22951-46D3-43CB-A7A3-63886B2D0013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3FD886-FF0B-481D-99EA-20C990608F88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779C93-43D2-47F8-B72F-02459C7FF274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239C7B-3239-4A18-B8EB-98A2E02A771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5C3E47-35C3-452A-956F-67826921B840}"/>
              </a:ext>
            </a:extLst>
          </p:cNvPr>
          <p:cNvSpPr>
            <a:spLocks noGrp="1"/>
          </p:cNvSpPr>
          <p:nvPr/>
        </p:nvSpPr>
        <p:spPr>
          <a:xfrm>
            <a:off x="1381125" y="18097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고장 징후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05F714-2002-426A-917C-8C09161BA8E1}"/>
              </a:ext>
            </a:extLst>
          </p:cNvPr>
          <p:cNvSpPr>
            <a:spLocks noGrp="1"/>
          </p:cNvSpPr>
          <p:nvPr/>
        </p:nvSpPr>
        <p:spPr>
          <a:xfrm>
            <a:off x="4095750" y="1790700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평균과 최대 온도, 진동, 알람 횟수를 함께 보면 평소와 다른 설비를 찾기 쉽습니다.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B08AA2-9998-489F-B33F-921D12B2D64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A7AD42-62F7-4A58-9D7F-789DA76D39C3}"/>
              </a:ext>
            </a:extLst>
          </p:cNvPr>
          <p:cNvSpPr>
            <a:spLocks noGrp="1"/>
          </p:cNvSpPr>
          <p:nvPr/>
        </p:nvSpPr>
        <p:spPr>
          <a:xfrm>
            <a:off x="1381125" y="27051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품질과 에너지 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64488A-180A-438F-A920-6BD176467F24}"/>
              </a:ext>
            </a:extLst>
          </p:cNvPr>
          <p:cNvSpPr>
            <a:spLocks noGrp="1"/>
          </p:cNvSpPr>
          <p:nvPr/>
        </p:nvSpPr>
        <p:spPr>
          <a:xfrm>
            <a:off x="4095750" y="2686050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품질 통과 비율과 에너지 합계를 설비별로 비교해 운영 상태를 살펴봅니다.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2902BE-3771-4825-8CEF-040BF3EBF719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9A23AD-4939-4CFE-8A63-EBE1A06B4A79}"/>
              </a:ext>
            </a:extLst>
          </p:cNvPr>
          <p:cNvSpPr>
            <a:spLocks noGrp="1"/>
          </p:cNvSpPr>
          <p:nvPr/>
        </p:nvSpPr>
        <p:spPr>
          <a:xfrm>
            <a:off x="1381125" y="360045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수집 누락 발견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70EB9F-C386-4670-9811-D0F8E8A99911}"/>
              </a:ext>
            </a:extLst>
          </p:cNvPr>
          <p:cNvSpPr>
            <a:spLocks noGrp="1"/>
          </p:cNvSpPr>
          <p:nvPr/>
        </p:nvSpPr>
        <p:spPr>
          <a:xfrm>
            <a:off x="4095750" y="3581400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기록 수와 최근 센서 시각을 확인하면 빠진 배치나 멈춘 수집을 찾을 수 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FF2868-8819-487B-A580-4699CBAB3409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04984A-BFAB-4001-9EFF-B0E6FF27D855}"/>
              </a:ext>
            </a:extLst>
          </p:cNvPr>
          <p:cNvSpPr>
            <a:spLocks noGrp="1"/>
          </p:cNvSpPr>
          <p:nvPr/>
        </p:nvSpPr>
        <p:spPr>
          <a:xfrm>
            <a:off x="1381125" y="44958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 서비스 준비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623190-D681-4A9D-8349-781884E5C94D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한 설비당 한 행으로 만든 표를 API, DB, Streamlit의 입력으로 이어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87233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7926212-DCD0-4E2A-8328-45BBD7529056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377C10-C57B-41DC-9D0E-239B6170022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수업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73419B-AA84-4E40-A0EE-24273C0EFFDD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결혼정보회사 로그와 무엇이 대응할까요?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DEEC8E-3C0A-4159-9B13-0AC2FC3EC37C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317D8B-82FF-4E5B-A0BD-C82EB3D0C77C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157E7B-322B-4DD9-9EFD-5E4F8773E6F0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FBE70E-87D8-4A22-AD1B-D64C8FFE8F7B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571500" y="1695450"/>
          <a:ext cx="11049000" cy="4095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0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2주차 결혼정보회사 수업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제조 선택과제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배치 폴더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activity_batches 25개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sensor_batches 12개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회원 40명 × 30일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설비 20대 × 30일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로그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30,000행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7,200행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member_id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equipment_id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stay_time_min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vibration_mm_s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total_app_opens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total_energy_kwh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비율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없음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quality_pass_rate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 대상표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회원 1,000행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설비 240행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38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7D8CCF-EAA2-4160-807D-D1F7B7F65F3C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02ECEE-3049-44B9-812B-679912BAD4C9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FA0D99-EF14-4BC4-8382-E945045EC2D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입력 파일과 결과 폴더의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96C71B-FC47-49E5-A8B5-BDF30C9593FF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99033B-CBD5-4B33-B6C9-73553F26048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BD063A-AD72-49F3-AAEF-6E68B75A9DA1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F8D2DE-2FE1-4960-B7E4-FCDC12D57785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C106C7-0A9C-48AA-A06E-E6BC485F497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sensor_batches/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9A3DC2-9A0D-4512-96DE-D131669E3435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CSV 12개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E02552-FECF-4F12-9ED7-A476F352935E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각 파일 600행×11열. 설비 20대의 30일 센서 기록입니다.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6085BC-36AF-4160-AAA0-9BFC9FE36110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A53D83-903A-4D6D-A9B9-6DF041A0D177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equipment_master_reference.csv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AE8CA1-F8C1-4464-A8F1-085DF4D11D9E}"/>
              </a:ext>
            </a:extLst>
          </p:cNvPr>
          <p:cNvSpPr>
            <a:spLocks noGrp="1"/>
          </p:cNvSpPr>
          <p:nvPr/>
        </p:nvSpPr>
        <p:spPr>
          <a:xfrm>
            <a:off x="4953000" y="3067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240행×16열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65205F-2199-4249-AABD-F834B479D640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1주차에서 정리한 설비 기준표입니다.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9BC3A2-EE7F-4B88-9B61-036E2B96A317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D9D3D0-F8DC-47CF-92B4-A3DEB5E685F1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outputs/와 artifacts/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3076C3-4C23-437E-8851-C04041CD840F}"/>
              </a:ext>
            </a:extLst>
          </p:cNvPr>
          <p:cNvSpPr>
            <a:spLocks noGrp="1"/>
          </p:cNvSpPr>
          <p:nvPr/>
        </p:nvSpPr>
        <p:spPr>
          <a:xfrm>
            <a:off x="4953000" y="43243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213731-6079-4A0D-AA43-1BB9013D03F4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요약 CSV와 학습된 전처리기 파일이 저장됩니다.</a:t>
            </a:r>
          </a:p>
        </p:txBody>
      </p:sp>
    </p:spTree>
    <p:extLst>
      <p:ext uri="{BB962C8B-B14F-4D97-AF65-F5344CB8AC3E}">
        <p14:creationId xmlns:p14="http://schemas.microsoft.com/office/powerpoint/2010/main" val="110140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0E1292-A43C-4CDD-86F2-D664B748B6FB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4583E4-A6DD-4231-9EA0-02E51FC15AD0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분할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D476F4-3324-432B-8505-8FE726FDCC5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배치 CSV가 12개인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CEC7D9-8EEA-4A1D-AF28-F7EE6099CAD7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FDCFB0-D5A8-4674-9FBA-F3BB792BD4DD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D5D870-15D2-4573-9D57-E3D3EF99A6E2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31FDA0-B9F8-4392-87DE-5720A8197023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B8B48C-9C06-4492-BA40-BDA2778E2811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한 파일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446C1A-7EA3-4D21-BF36-0DA93AF40A04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설비 20대 × 30일 = 600행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093BBA-E5EF-46A9-85DE-F4B0466AE674}"/>
              </a:ext>
            </a:extLst>
          </p:cNvPr>
          <p:cNvSpPr>
            <a:spLocks noGrp="1"/>
          </p:cNvSpPr>
          <p:nvPr/>
        </p:nvSpPr>
        <p:spPr>
          <a:xfrm>
            <a:off x="714375" y="26860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12개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7AB649-56A8-4C7E-BC81-0D68E4FF75EF}"/>
              </a:ext>
            </a:extLst>
          </p:cNvPr>
          <p:cNvSpPr>
            <a:spLocks noGrp="1"/>
          </p:cNvSpPr>
          <p:nvPr/>
        </p:nvSpPr>
        <p:spPr>
          <a:xfrm>
            <a:off x="3048000" y="268605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설비 20대 × 12묶음 = 설비 240대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11566E-2538-4AF1-B8EF-A4A556927555}"/>
              </a:ext>
            </a:extLst>
          </p:cNvPr>
          <p:cNvSpPr>
            <a:spLocks noGrp="1"/>
          </p:cNvSpPr>
          <p:nvPr/>
        </p:nvSpPr>
        <p:spPr>
          <a:xfrm>
            <a:off x="714375" y="35623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전체 로그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62B3C1-995E-4ABD-A762-958EAFCB68B7}"/>
              </a:ext>
            </a:extLst>
          </p:cNvPr>
          <p:cNvSpPr>
            <a:spLocks noGrp="1"/>
          </p:cNvSpPr>
          <p:nvPr/>
        </p:nvSpPr>
        <p:spPr>
          <a:xfrm>
            <a:off x="3048000" y="356235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600행 × 12개 = 7,200행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32A58E-A062-4A94-B15D-3F27A62DB8C4}"/>
              </a:ext>
            </a:extLst>
          </p:cNvPr>
          <p:cNvSpPr>
            <a:spLocks noGrp="1"/>
          </p:cNvSpPr>
          <p:nvPr/>
        </p:nvSpPr>
        <p:spPr>
          <a:xfrm>
            <a:off x="714375" y="44386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분할 이유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59DC7F-F82E-48D6-B3FE-1AE653EAF6C8}"/>
              </a:ext>
            </a:extLst>
          </p:cNvPr>
          <p:cNvSpPr>
            <a:spLocks noGrp="1"/>
          </p:cNvSpPr>
          <p:nvPr/>
        </p:nvSpPr>
        <p:spPr>
          <a:xfrm>
            <a:off x="3048000" y="443865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여러 번 도착한 배치를 안전하게 모으는 실무 흐름을 연습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6ADBA94-9EFE-47BF-99B1-C5D77AA7C8C3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572750" cy="533400"/>
          </a:xfrm>
          <a:prstGeom prst="roundRect">
            <a:avLst>
              <a:gd name="adj" fmla="val 14286"/>
            </a:avLst>
          </a:prstGeom>
          <a:solidFill>
            <a:srgbClr val="EDF4FF"/>
          </a:solidFill>
          <a:ln w="9525">
            <a:solidFill>
              <a:srgbClr val="2F80E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3F2A0B-46C0-44B2-8A9A-5F7D3C264B0E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10096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파일 번호는 날짜가 아니라 대상 20개씩 나눈 묶음 번호입니다.</a:t>
            </a:r>
          </a:p>
        </p:txBody>
      </p:sp>
    </p:spTree>
    <p:extLst>
      <p:ext uri="{BB962C8B-B14F-4D97-AF65-F5344CB8AC3E}">
        <p14:creationId xmlns:p14="http://schemas.microsoft.com/office/powerpoint/2010/main" val="31258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6DC364-D52A-48D8-BA69-7A40B15CE806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8B29A8-D221-488D-A4FE-225313738F7A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데이터 품질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66B33B-7E64-45D5-B942-052AE2FB5246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처리 연습을 위해 넣은 현실적인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3EEED7-FB13-44EA-BA85-19E1F1013A79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243B14-E943-486C-913E-388F4F5E3892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715618-70F3-4465-B814-17C8DC2D5D2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C5DF4D-024D-4442-B147-00CC7C9E5AE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70E2BD-6846-44A2-B8E2-8CC401338C7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57275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temperature_c에 빈칸 12개가 들어 있습니다.</a:t>
            </a:r>
          </a:p>
          <a:p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vibration_mm_s에 미측정 18개가 섞여 있습니다.</a:t>
            </a:r>
          </a:p>
          <a:p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날짜는 CSV에서 문자열로 읽혀 datetime 변환이 필요합니다.</a:t>
            </a:r>
          </a:p>
          <a:p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12개 파일을 합친 뒤에도 source_file로 출처를 남깁니다.</a:t>
            </a:r>
          </a:p>
          <a:p>
            <a:pPr marL="266700" indent="-1270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설비 ID가 30번 반복되는 것은 날짜별 로그이므로 정상입니다.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7022252-BC13-4A8A-8BB1-909A475572B0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572750" cy="571500"/>
          </a:xfrm>
          <a:prstGeom prst="roundRect">
            <a:avLst>
              <a:gd name="adj" fmla="val 13333"/>
            </a:avLst>
          </a:prstGeom>
          <a:solidFill>
            <a:srgbClr val="FFF3E8"/>
          </a:solidFill>
          <a:ln w="9525">
            <a:solidFill>
              <a:srgbClr val="F0B4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96D2BF-0FA0-4CD3-90DF-F8A34568EE7C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오류를 없애는 것보다 무엇을 왜 고쳤는지 확인하는 습관이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92958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02C3588-8984-4ECF-8887-78365C9A9059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7821D9-F625-41E6-AC0A-F396DDC7818E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7CED18-967B-48AB-B1C1-34E6E17236B8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 데이터가 이동하는 전체 과정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0045B7-AC69-4D73-80C4-919C67D64AE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C35794-5776-4218-9A38-C0A14E6B5E6A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A6ACD-549F-4BAC-A8D1-496BD7474AB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D5A68C-1C73-4E1B-9B2A-708B75A8C38A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40951" y="1619250"/>
            <a:ext cx="7700573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9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FB4227-EF3D-4983-9D59-F9A3189DA118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C0ACEC-5362-4AC2-8659-1F3AA089B18E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58F9CA-BBB4-47EF-A5E5-7C0E5C669EB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원천 로그 12열의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539A2B-EB3C-46F0-9CBB-7F30DE4F70D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B8AD83-8E9F-4B64-82F3-9A46C36CC1D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739C5F-31EE-4773-B191-26DC5619AB7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6113C1-02CF-498E-8E82-EF5BBB9C714B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A078B6-86BC-49F3-A953-C401EFA258D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sensor_batches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88134F-AC0C-43E2-8775-392458A793EB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식별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9C220B-1820-4858-9F91-1A2BA1B53F55}"/>
              </a:ext>
            </a:extLst>
          </p:cNvPr>
          <p:cNvSpPr>
            <a:spLocks noGrp="1"/>
          </p:cNvSpPr>
          <p:nvPr/>
        </p:nvSpPr>
        <p:spPr>
          <a:xfrm>
            <a:off x="2952750" y="233362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event_id · equipment_id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846155-2293-4FC2-A73E-BA2E2B5B0617}"/>
              </a:ext>
            </a:extLst>
          </p:cNvPr>
          <p:cNvSpPr>
            <a:spLocks noGrp="1"/>
          </p:cNvSpPr>
          <p:nvPr/>
        </p:nvSpPr>
        <p:spPr>
          <a:xfrm>
            <a:off x="2952750" y="2733675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749FAB-71A1-443A-B428-287619D6373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시간과 작업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A83E44-5B3B-4152-957D-39E9A19B174C}"/>
              </a:ext>
            </a:extLst>
          </p:cNvPr>
          <p:cNvSpPr>
            <a:spLocks noGrp="1"/>
          </p:cNvSpPr>
          <p:nvPr/>
        </p:nvSpPr>
        <p:spPr>
          <a:xfrm>
            <a:off x="2952750" y="287655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event_datetime · shift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C68162-65DB-49FA-8B1C-1711FD878F37}"/>
              </a:ext>
            </a:extLst>
          </p:cNvPr>
          <p:cNvSpPr>
            <a:spLocks noGrp="1"/>
          </p:cNvSpPr>
          <p:nvPr/>
        </p:nvSpPr>
        <p:spPr>
          <a:xfrm>
            <a:off x="2952750" y="3276600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F1EAF1-8A99-4144-B241-31C5E74F4942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센서값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C095DF-6942-4B87-AE89-573056B10CB8}"/>
              </a:ext>
            </a:extLst>
          </p:cNvPr>
          <p:cNvSpPr>
            <a:spLocks noGrp="1"/>
          </p:cNvSpPr>
          <p:nvPr/>
        </p:nvSpPr>
        <p:spPr>
          <a:xfrm>
            <a:off x="2952750" y="341947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temperature_c · pressure_bar · vibration_mm_s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219A9B-7A99-4FD8-8FCE-848D9CE643E7}"/>
              </a:ext>
            </a:extLst>
          </p:cNvPr>
          <p:cNvSpPr>
            <a:spLocks noGrp="1"/>
          </p:cNvSpPr>
          <p:nvPr/>
        </p:nvSpPr>
        <p:spPr>
          <a:xfrm>
            <a:off x="2952750" y="3819525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5CF6808-77ED-41D2-AC77-CDDCE40FB186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운영값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C8477A-511C-4FF1-A0D6-9FF5A204B9D7}"/>
              </a:ext>
            </a:extLst>
          </p:cNvPr>
          <p:cNvSpPr>
            <a:spLocks noGrp="1"/>
          </p:cNvSpPr>
          <p:nvPr/>
        </p:nvSpPr>
        <p:spPr>
          <a:xfrm>
            <a:off x="2952750" y="39624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cycle_time_sec · energy_kwh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2926EB-6CFC-42A8-AC02-4FCDF274AD8E}"/>
              </a:ext>
            </a:extLst>
          </p:cNvPr>
          <p:cNvSpPr>
            <a:spLocks noGrp="1"/>
          </p:cNvSpPr>
          <p:nvPr/>
        </p:nvSpPr>
        <p:spPr>
          <a:xfrm>
            <a:off x="2952750" y="4362450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3DA9F0-BDC6-448A-955F-9B44B1996A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F26999-DBBA-4499-B791-C36B75D40EDD}"/>
              </a:ext>
            </a:extLst>
          </p:cNvPr>
          <p:cNvSpPr>
            <a:spLocks noGrp="1"/>
          </p:cNvSpPr>
          <p:nvPr/>
        </p:nvSpPr>
        <p:spPr>
          <a:xfrm>
            <a:off x="2952750" y="450532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alarm_code · quality_pass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119E87-DA9D-4C3C-B617-DDD5D100D86B}"/>
              </a:ext>
            </a:extLst>
          </p:cNvPr>
          <p:cNvSpPr>
            <a:spLocks noGrp="1"/>
          </p:cNvSpPr>
          <p:nvPr/>
        </p:nvSpPr>
        <p:spPr>
          <a:xfrm>
            <a:off x="2952750" y="4905375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5E1D96-1D58-46EB-9113-A55DB39DE22A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합칠 때 추가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B2B59D-7A2C-4258-B7C7-9B4FC6BD7ED5}"/>
              </a:ext>
            </a:extLst>
          </p:cNvPr>
          <p:cNvSpPr>
            <a:spLocks noGrp="1"/>
          </p:cNvSpPr>
          <p:nvPr/>
        </p:nvSpPr>
        <p:spPr>
          <a:xfrm>
            <a:off x="2952750" y="504825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source_file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C826249-0EFF-498B-A49E-3556F8815422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BEEFD8-98FC-421A-8C4E-2B7F1382D3DA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한 시점의 기록입니다.</a:t>
            </a:r>
          </a:p>
        </p:txBody>
      </p:sp>
    </p:spTree>
    <p:extLst>
      <p:ext uri="{BB962C8B-B14F-4D97-AF65-F5344CB8AC3E}">
        <p14:creationId xmlns:p14="http://schemas.microsoft.com/office/powerpoint/2010/main" val="1669444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92BE51-D151-4D6B-9394-09D265B14D3A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DD0CD-ACF4-49BD-BB42-7E49239AF6F8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01/12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22E835-BE8D-4EDD-AD3E-DA197C1D053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event_id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5D6EF7-5BFA-42A9-9D63-CCCEA75B0BB7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231E1B-445D-4CDD-BA07-0B24D8A88499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DC3AFD-C0C5-479F-A27A-898C68294F87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ABC7F8-E63C-4BF8-B802-0E2CEADCB95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E2EBBB-EEEA-4466-8DCB-D509C287CF4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로그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85E88E-270E-4A47-8094-30F21316665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event_id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FB2969-E5C2-4EAB-A789-7D559D4E2DD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B95370-5A4C-4757-8B0E-66575D7C143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D9C650-D7CF-418F-8713-91D82819845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EV0003099 · EV0002532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526D0A-0BE2-4D84-9EDE-E07DFB11419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CFB0F3-E87A-4351-B0CD-2129D3E625DD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B122A6-1A1A-42F7-B6E2-A732C63BE966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D2E2DC-0925-4C3D-8C1D-65878F8446A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기록 한 건을 구분합니다.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0B1AF9-B037-4477-954B-BE46F06DB6B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845CBE-30FF-40EA-9371-FD6BE17BF5F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7,200행에서 모두 고유합니다. 설비 ID와 역할이 다릅니다.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897EDF2-A0AE-4D8C-AE57-EF639002057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7F12E0-229C-4789-911E-1F36B5D3A2E9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로그 중복 확인</a:t>
            </a:r>
          </a:p>
        </p:txBody>
      </p:sp>
    </p:spTree>
    <p:extLst>
      <p:ext uri="{BB962C8B-B14F-4D97-AF65-F5344CB8AC3E}">
        <p14:creationId xmlns:p14="http://schemas.microsoft.com/office/powerpoint/2010/main" val="1080385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1E2C8A-93BD-4A20-AD7F-2870A1FA93C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E4EC01-B7E3-400B-A0E5-440AE9F2526A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02/12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A76B81-DA35-4C0E-BCC3-A67959D4616C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equipment_id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27CE8E-93A6-47DD-8F79-9B2429841D0F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D60F9A-C992-4227-98FB-BF6642792822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6A02D9-1538-4906-85F1-AD89F0DEF001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D4348C-0D9D-44C8-9014-88CDC54243AF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271C5F-6CED-4E67-A64C-8CD96DEBB2C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438000-2B65-402E-B0C1-E1CA5705CEC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equipment_id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F248FC-4B00-4A79-9A75-723E5430CEC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C8B158-CB28-4160-96E6-36A8663A74E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C68045-04A4-4E1C-BB91-07906C632442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EQ0104 · EQ0085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83E84A-1C32-49DC-9F80-DBB072210019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8ABD54-F8F6-48C5-BC0C-4975BFBA2F2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DC7283-5237-431E-89D8-A996F51F7A9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41B3A5-5ED7-4DBF-A4CB-A019658E6D92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설비의 30일 기록을 묶고 기준표와 연결합니다.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CED9D5-BDC4-4E92-B2C3-C9929B023CE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041295-1915-4E31-AC84-36CE6B97506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240개 ID가 각각 30번 반복되는 것이 정상입니다.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19AFFF7-BFE9-4B5A-A85A-2F93CDC1A10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2B1D83-5C90-4E1C-986F-B49549CE0A47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groupby와 merge 기준</a:t>
            </a:r>
          </a:p>
        </p:txBody>
      </p:sp>
    </p:spTree>
    <p:extLst>
      <p:ext uri="{BB962C8B-B14F-4D97-AF65-F5344CB8AC3E}">
        <p14:creationId xmlns:p14="http://schemas.microsoft.com/office/powerpoint/2010/main" val="60432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999A29-66E2-4E2F-84F8-3F4AB3C8741A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84957B-EE50-4158-8B52-554E71243ADD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03/12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5FF607-F516-4844-982F-8B34E75D970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event_datetime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FDA478-F88F-40D0-B96E-8E75338A0C18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394CF2-8C8D-44A2-8FCD-01727FA51ED6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C34613-E444-4B2E-954F-0D3C599AFE89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C33D39-227F-4267-96F9-3C8065B0611D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A6C348-897B-4E8A-A8C1-18E887358AF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기록 시각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A98656-1BA1-45C5-A283-3200FC4CD50B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event_datetime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FF8AA5-6D50-43DE-BEA0-7B917EE8C775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84C2A8-27A5-4A4F-B889-9F1C6420675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A2C60F-7A35-48D4-96A2-DDD803AEBBD3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2026-08-09 02:00:00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C3BE3A-5F5A-494E-BE6E-04E57562869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D11B68-E67D-40E5-AF06-C49B723F2A3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C4482A-8BA1-4DBB-8471-A921FD16BB8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915507-E813-4574-A4EC-BD80B5AD356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측정이 언제 발생했는지 알려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C5192F-0582-4A08-B996-7E8FCBBE20B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E74A5F-1AC4-4893-AD8E-7AF44AD4E14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시간 계산 전 datetime으로 바꿉니다.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2C6787B-8125-4DCA-AB3B-40298E4A164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A4BB5B-BD28-4112-8AA7-527A23F12C3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pd.to_datetime</a:t>
            </a:r>
          </a:p>
        </p:txBody>
      </p:sp>
    </p:spTree>
    <p:extLst>
      <p:ext uri="{BB962C8B-B14F-4D97-AF65-F5344CB8AC3E}">
        <p14:creationId xmlns:p14="http://schemas.microsoft.com/office/powerpoint/2010/main" val="313374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B45387-3B2A-4EB1-85F4-601C07AD9AB2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FB6C39-7B3A-43C3-892F-4E87945B58A8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04/12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8901E2-952D-42FE-8E13-E321BC275597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shift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36B3AD-2374-4F16-B7AA-C00A56B027C2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471AF8-741C-4AC0-BC48-8A2DBA7F0A6D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A6336F-4BFE-4194-8A3B-C416C502EC6D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E9AC4C-B311-4E22-A105-F024456FAFFE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6E08DF-6865-4267-9D7E-7B6B8793F70C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근무조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DF13EE-E2B5-4E1C-BD8D-BE446767AA99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shift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6C96-FC6F-44FD-A50E-148082337D9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DCE633-EBD3-4A7F-95B1-159E89A0A66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8E417C-E76E-4B2A-9F64-78E527D6FBF2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주간 · 야간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600E62-58E5-44C3-8912-1FE7960EC381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597236-4B85-460A-B277-661AC6B389CC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221833-3A22-487A-AA7C-B175B72A1C1E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5722D9-B794-4ECA-8810-3E6FBE5647AD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주간과 야간의 운전 조건을 나눠 볼 수 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28ED2B-E693-4D6A-A84C-B625C5A627A6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F0CFC0-082A-4886-BA7B-0B275549019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평균을 내는 숫자가 아니라 그룹을 나타내는 범주입니다.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7261E6E-70BE-4F09-8296-9305DDA054A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1A3A3F-C63C-4C2E-A706-91D64B3F9C9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근무조별 비교 확장</a:t>
            </a:r>
          </a:p>
        </p:txBody>
      </p:sp>
    </p:spTree>
    <p:extLst>
      <p:ext uri="{BB962C8B-B14F-4D97-AF65-F5344CB8AC3E}">
        <p14:creationId xmlns:p14="http://schemas.microsoft.com/office/powerpoint/2010/main" val="933060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7D156B-A8E7-4B26-8B07-04BC6172F84E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F77E5A-9312-4F97-8035-2B0C84B81D07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05/12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A5F8F4-7E5D-4F81-8C32-906906414131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temperature_c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7F7F3C-D5E8-4CE3-A4CE-2686AE404FC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B199F-115D-4B74-BD1F-48D16B72EE93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97B5EA-286E-4FE5-B71C-711A564763E4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71FE74-48E6-4D8E-B502-2F1F2AB90259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A916A0-8BE0-4C27-843D-9FB971EB7AF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측정 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BF14C-BD5F-495C-BB14-8830C1C7BC9A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temperature_c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53A944-EB5A-4288-B875-59BF1D22488F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673141-F3C3-4412-B212-11E672F2444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7CEA15-9247-4F69-BCA5-8BFC18EC846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171.5°C · 180.6°C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5A879F-639B-4B49-A659-86240F3077F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EA0DDC-9FA4-4F86-AE13-13919F63BD23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D13EFB-A4CB-4F91-BDDA-7974E8347646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88503E-F128-4B3B-84ED-F83C9CEE0AB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실제로 기록한 운전 온도입니다.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FBDBE0-E497-474D-A0DC-4C44EED29EE0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6953CB-8609-47F7-AD2C-CE8F913845B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빈칸 12개가 있으며 0°C와 뜻이 다릅니다.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B221042-FA08-455F-8891-489DB404027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341E4-662C-4A62-B517-EC55AC63C0E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결측 확인 · 평균과 최대값</a:t>
            </a:r>
          </a:p>
        </p:txBody>
      </p:sp>
    </p:spTree>
    <p:extLst>
      <p:ext uri="{BB962C8B-B14F-4D97-AF65-F5344CB8AC3E}">
        <p14:creationId xmlns:p14="http://schemas.microsoft.com/office/powerpoint/2010/main" val="684705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D329E1-025D-4652-BDA8-97BF7EEB3C3B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33F470-06D4-4CCB-946F-8FCB135748E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06/12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8C30F0-EACD-4DA2-9BCD-C6592929A7C4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pressure_bar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2A232C-21EB-4C09-953B-78E10AB35AD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1EF872-4047-4D08-844B-A593CFC19D35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439E60-B6B0-4813-8076-0A5E1EB33A43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D0AD93-F527-45A8-AD4D-96E3D0BCB592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5E1B65-0C57-47DF-A719-A817391C142E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측정 압력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EC725E-6181-4326-9484-3EDA1E502F9A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pressure_bar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5EFBAC-BA6C-43E2-B9E7-38A2D91E880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DA3814-F15B-4D4C-A9C0-1E17B3A0B2A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819765-BE69-44AB-9CAB-AD16529CE069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5.16bar · 5.54bar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3F8699-8331-4ACC-B585-5A40FD6489C1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B6306D-1736-4A65-813E-7044A0B828E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424271-F5D5-4703-BFA4-D217D97C9B9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0FE8EE-DEE7-4CC0-84C7-AB826317A36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실제로 기록한 압력입니다.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814F0D-C6D2-447E-8CB2-E6580BCF0FC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036EE2-7259-495F-A95E-9C604BAFD7A6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목표 압력과 실제 측정 압력은 별도 열입니다.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C9AD455-401E-4630-8461-6179D7D251C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73AB75-C23E-4606-8437-93E8CEEC6B02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평균 압력 계산</a:t>
            </a:r>
          </a:p>
        </p:txBody>
      </p:sp>
    </p:spTree>
    <p:extLst>
      <p:ext uri="{BB962C8B-B14F-4D97-AF65-F5344CB8AC3E}">
        <p14:creationId xmlns:p14="http://schemas.microsoft.com/office/powerpoint/2010/main" val="181347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0290EF-EA24-491A-BEED-6E9DC3DFB035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2C021E-9B16-4DB5-AACA-CB2B1A4E5678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07/12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95356F-8CC0-4BD7-BDAF-7468D5F4D98C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vibration_mm_s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7D5DA3-846D-48AD-92DB-C384ED46C037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48ED2A-F13F-4BC6-89C7-3044DCD37B0D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7D5188-D88A-426F-86C1-86934DBEA83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F14923-D805-4C73-85EF-9AF527D6D47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A3A213-79F1-4B5F-8D3B-2FDBE2081579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측정 진동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C68074-6F1F-4C7B-802D-3092E65059D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vibration_mm_s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D6F3CC-A303-40E5-9792-65F6D469F3D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8F2752-3E24-4E91-9EDE-038777E7A403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182594-08C5-457B-B9F2-F40942F10851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1.95 · 3.93 · 미측정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68F0A0-D87A-4625-A2BD-01AC90088BCB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9638CC-73F6-498D-8E1E-8F715664A040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혼합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220493-03C8-450E-B03A-B2F45247CF3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0787E4-D8E3-4C0C-8173-15B62526011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흔들림의 크기를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24BAAA-8B5E-4072-8BF6-32407EE71D22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9C624C-127C-4233-99DF-7C48450EF8D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미측정 18개 때문에 숫자 변환이 필요합니다.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9732CC0-A76A-4119-A297-1B83E1C99368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7A9BDF-3EAB-42E1-BE27-41501524D4C3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to_numeric(errors='coerce')</a:t>
            </a:r>
          </a:p>
        </p:txBody>
      </p:sp>
    </p:spTree>
    <p:extLst>
      <p:ext uri="{BB962C8B-B14F-4D97-AF65-F5344CB8AC3E}">
        <p14:creationId xmlns:p14="http://schemas.microsoft.com/office/powerpoint/2010/main" val="849472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9A80228-B606-4DA7-82AC-C83E29472930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A93E90-F008-4B84-9964-593A671CC693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08/12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DC039B-B634-4334-800E-E49F8CE98CA8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cycle_time_sec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2420C5-0D16-44A2-9DE9-7CFE124F42E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94B0D1-4B6C-44DE-9D03-9E401BC3277C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29768B-1ED3-49D4-B412-3DE6DBED5DDC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68E41F-93F6-4EC2-9F15-ABD3FDC582A6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68C95B-C10C-4899-9F1C-BB56E9388FB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실제 사이클 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48DB23-39EF-4EC7-BF44-E059C673C02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cycle_time_sec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484C48-0C17-469D-B3A6-12FAB49BCC1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07C352-47AF-4E8D-B39F-B61A6FFD44C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7CE7A2-A190-4DAC-B0EA-1212CB59F91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47.9초 · 59.7초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F58E71-2139-44DE-B67E-D71A202B0DD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CEE7E3-40DB-42B5-A277-7BAE5DB305F5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9DC15-777D-4D06-A1B0-A2F6B42E7C48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7C0B46-CEB6-4EA1-B80C-F9D3C7F45FD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제품 한 개를 처리하는 실제 시간을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8051C7-4714-4433-8DA5-13E80BBB4FF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BD960E-B98E-454E-B766-74B319B5BD6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 사이클 시간과 비교할 수 있지만 이번 필수 요약에는 넣지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378FA5B-B295-42DB-A53E-0A631750F7F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59FC8E-9F18-47AC-8EA7-30CB97CA0AF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기준 대비 지연 분석 확장</a:t>
            </a:r>
          </a:p>
        </p:txBody>
      </p:sp>
    </p:spTree>
    <p:extLst>
      <p:ext uri="{BB962C8B-B14F-4D97-AF65-F5344CB8AC3E}">
        <p14:creationId xmlns:p14="http://schemas.microsoft.com/office/powerpoint/2010/main" val="1955524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9099FA-6436-4018-904C-EDBE82E16B7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7A5843-CF98-485D-B951-4F8CE097E7AB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09/12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A77A9E-D324-4FCC-A136-76DCCE8F02C6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energy_kwh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E11D2B-8D92-4A28-8B1E-BA547FCB9B06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91EF91-41CD-4D1F-965F-22BA75D165E4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67B7F1-4439-4676-A0F6-12847893468D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6B85F7-3DAF-4D2C-9008-40613EBA62B3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183FA5-05EB-4CD6-8E96-9410505FE41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에너지 사용량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E3A6CD-F997-41BB-B6F6-4A72CEDD9FF6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energy_kwh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456DF0-3CA4-4BF1-86E5-E44C1C051F0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C44E8E-FF25-459A-BEB1-8EC7A6F117A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9E11A5-100A-4EAD-AD6F-829A6057C049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67.46kWh · 74.85kWh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889030-BE58-4F3B-BA9C-213D4DE294D5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F047A4-D5A4-4D0C-A36E-44F78CC3A21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1B7BDE-9682-41E9-AF0F-8BC713244D56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EBF502-C963-4548-A27D-1ED9620B24A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각 기록 구간의 에너지 사용량입니다.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B60BF3-88E4-4F7A-8D56-CA300F77B2CC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730856-ADE5-405A-BCC5-6C94966DD418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30일 합계로 바꿔 설비별 사용량을 비교합니다.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702C5BC-9131-4CC8-9840-DF0F33D3DF6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6130BE-8DC5-4145-A3DB-3B4479DD1E7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sum · total_energy_kwh</a:t>
            </a:r>
          </a:p>
        </p:txBody>
      </p:sp>
    </p:spTree>
    <p:extLst>
      <p:ext uri="{BB962C8B-B14F-4D97-AF65-F5344CB8AC3E}">
        <p14:creationId xmlns:p14="http://schemas.microsoft.com/office/powerpoint/2010/main" val="1857781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5BB522-3883-48C8-BA06-F3FA88DAD4E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F64F42-29F5-4AC0-BBE9-8E586D19D0D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10/12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DE7870-4A88-47B2-AEA4-F3C4B2EAEDDB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alarm_code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8F9145-D32E-43DF-80A6-CE5224A03BFC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1BA743-7093-4DFF-BA8B-F084A824921F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257B16-BA28-4163-AD4F-2B163DBA8B51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DC7774-5F1F-449B-95DA-418C201E8949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54D228-514B-41E5-AF52-26DDD6A4628F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알람 종류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FFE7C7-DBF3-4221-A5DE-E6E83DA9954C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alarm_code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6C8150-AB16-4EC2-80A4-09F02350D6B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E5B6DE-04DA-4B10-B8FA-04DF4F53ED84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642DBC-8ADC-4049-85EB-AEB984BDC3B2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없음 · 진동 · 압력 · 온도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B1F34A-2BD2-4547-95FA-CCA6E4F12EF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87DC48-DFE3-4886-BFD1-E74679353089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C69587-7A0E-485D-847A-648E7269C611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0A2F33-9154-452D-A506-65429CBC62D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센서가 감지한 경보 종류를 기록합니다.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458927-9A7D-498D-A9ED-7A8325A20CA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475601-097A-4ECD-BB8C-84407993AF9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없음은 결측이 아니라 알람이 없었다는 정상 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905C516-DA69-428E-A8FF-4FA7ADAF337C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1DD3BC-5E3B-4121-9513-66E622B31DB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없음이 아닌 행 개수</a:t>
            </a:r>
          </a:p>
        </p:txBody>
      </p:sp>
    </p:spTree>
    <p:extLst>
      <p:ext uri="{BB962C8B-B14F-4D97-AF65-F5344CB8AC3E}">
        <p14:creationId xmlns:p14="http://schemas.microsoft.com/office/powerpoint/2010/main" val="16982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3D892B-CC0F-4EEC-94A4-B36CB87B7AA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D64684-C972-4385-98E9-0D0C0705E5F9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11/12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28AD45-AAEF-4B8F-9A0F-F5B2DDA24C72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quality_pass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3001E7-45A3-4904-B6D8-B5316019B5C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B6FD74-02AE-425C-8250-1C6B99F76096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7F185C-E0B8-4AE1-A1EF-BA55EB8C1887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B62D86-7174-4B87-AB45-57A63F8BAD7F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E44CF7-351E-4A92-B3B1-98E2E671919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품질 통과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031058-6BF6-4286-B6DF-81C7A33D43C7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quality_pass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90E368-7C82-4661-B1D1-090DD738BEF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6D96FC-1BCA-4F2C-A5EE-350FFFFEFEA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3686E7-8D6A-4D35-85B7-0A459A2AF4C6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True · False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448F14-9752-427D-861B-6D72F3239B20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C99532-7852-43E5-8B97-0CEB7D533C7D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배치 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DCBFD6-3A00-4504-9E34-F36E3198482E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F3D3D6-C4FC-4827-A6E1-51629C4AE3FD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그 기록과 연결된 품질 검사 통과 여부입니다.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7965C34-A04D-4FF9-BEA7-59E797B870C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774F79-2331-49D8-9AF7-E651B39873B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True 평균은 통과 비율로 해석할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D0B1D39-4741-4A76-A9C8-77931CDF07AA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9AD4D4-7D56-4D97-B4A2-F7C39C3861C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 · quality_pass_rate</a:t>
            </a:r>
          </a:p>
        </p:txBody>
      </p:sp>
    </p:spTree>
    <p:extLst>
      <p:ext uri="{BB962C8B-B14F-4D97-AF65-F5344CB8AC3E}">
        <p14:creationId xmlns:p14="http://schemas.microsoft.com/office/powerpoint/2010/main" val="1300343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6C52C4-7280-4D08-84AB-307C1E81F46B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89398C-F27F-4B00-B1A6-2C2B373F6B23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원천 로그 12/12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A72C1F-2FBF-427A-A604-87CBED4120F9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source_file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4BBCEA-8957-4FAA-A9DB-B00986AC0CCA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6E124A-2AB3-49BE-9DE0-8738F1373D21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E2C82A-130E-4738-9178-D67D5F13E3BA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24CCF5-E6EC-44B7-8988-A4DF8B33B02A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77E17E-3A22-4B2F-B8FD-960985285562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원본 파일 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21262C-8781-4CE2-BCB9-722AAEAE1B4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source_file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E1AEA9-9927-4F21-AE58-053B7426C67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C7FA19-5055-4601-BFE3-BEAB45B438B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149290-6082-494C-A464-503948B1DEA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sensor_batch_01.csv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CE14A5-D4DE-48A7-AFE8-319334C3582F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A84BE0-9B9D-4D8D-BC35-FB0B6B67A7A5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새로 만드는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FBC651-725B-457E-9F08-465208BB424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AA3921-8E74-419F-9260-B834AF4C4BBD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문제가 생긴 행이 어느 배치에서 왔는지 추적합니다.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5D5A62-715F-42E4-B073-4D91A8D7ECFE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71C545-0630-4F90-A744-51BEF8E26B4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CSV 원본에는 없고 파일을 합칠 때 코드가 추가합니다.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B3F8CF6-50A3-4864-8A33-7FBC3BC15BFA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5A287E-1F15-49D8-BABC-8655F2F8F21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file_path.name · 추적</a:t>
            </a:r>
          </a:p>
        </p:txBody>
      </p:sp>
    </p:spTree>
    <p:extLst>
      <p:ext uri="{BB962C8B-B14F-4D97-AF65-F5344CB8AC3E}">
        <p14:creationId xmlns:p14="http://schemas.microsoft.com/office/powerpoint/2010/main" val="1300437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D8065B-D8E8-46E5-9ED5-60D500CC32F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A386EA-4BFF-4A28-9823-195B2465ADA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6D154F-E36C-4119-A051-BDEE949477E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최종 요약표 26열의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6DCAB3-E9A2-4E30-BE72-CA6592D5C816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CEDA5E-AF2E-4285-B33E-C662525F667F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3C8866-E55E-46F9-A7B5-5A23A60D2623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5BB7AC-9F74-4869-AE33-20A3F27E63EA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E7F5D0-553C-4DB6-B8B3-5A95FF93B6E7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manufacturing_equipment_summary.csv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51A412-F7C7-4AE0-A884-98069226E812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909A4B-23EC-4EC9-9CE9-C7565019FE98}"/>
              </a:ext>
            </a:extLst>
          </p:cNvPr>
          <p:cNvSpPr>
            <a:spLocks noGrp="1"/>
          </p:cNvSpPr>
          <p:nvPr/>
        </p:nvSpPr>
        <p:spPr>
          <a:xfrm>
            <a:off x="2952750" y="233362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설비 기본정보와 maintenance_required 16열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7FB449-F09A-4AC9-9430-8020EDBBD14A}"/>
              </a:ext>
            </a:extLst>
          </p:cNvPr>
          <p:cNvSpPr>
            <a:spLocks noGrp="1"/>
          </p:cNvSpPr>
          <p:nvPr/>
        </p:nvSpPr>
        <p:spPr>
          <a:xfrm>
            <a:off x="2952750" y="2733675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A27306-A789-40A8-A5CA-7A531BD60222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로그 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959FF4-8502-468C-82F6-3837F40159B3}"/>
              </a:ext>
            </a:extLst>
          </p:cNvPr>
          <p:cNvSpPr>
            <a:spLocks noGrp="1"/>
          </p:cNvSpPr>
          <p:nvPr/>
        </p:nvSpPr>
        <p:spPr>
          <a:xfrm>
            <a:off x="2952750" y="291465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record_count · active_days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60F45A-3D73-4E72-9631-5D6FE10EFC6D}"/>
              </a:ext>
            </a:extLst>
          </p:cNvPr>
          <p:cNvSpPr>
            <a:spLocks noGrp="1"/>
          </p:cNvSpPr>
          <p:nvPr/>
        </p:nvSpPr>
        <p:spPr>
          <a:xfrm>
            <a:off x="2952750" y="3314700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65100B-0A05-4FFF-9294-CA71F6A926FD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센서 대표값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4DFC6E-82CE-4B1E-A684-D50FB5D6950E}"/>
              </a:ext>
            </a:extLst>
          </p:cNvPr>
          <p:cNvSpPr>
            <a:spLocks noGrp="1"/>
          </p:cNvSpPr>
          <p:nvPr/>
        </p:nvSpPr>
        <p:spPr>
          <a:xfrm>
            <a:off x="2952750" y="349567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평균 온도 · 최고 온도 · 평균 압력 · 평균 진동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289905-CF2A-4748-964C-DD26732E2B23}"/>
              </a:ext>
            </a:extLst>
          </p:cNvPr>
          <p:cNvSpPr>
            <a:spLocks noGrp="1"/>
          </p:cNvSpPr>
          <p:nvPr/>
        </p:nvSpPr>
        <p:spPr>
          <a:xfrm>
            <a:off x="2952750" y="3895725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04FEBF-0887-4948-B623-EF65D09AB592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운영 결과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179114-5C31-4800-B73C-4CCF4BC3AB5C}"/>
              </a:ext>
            </a:extLst>
          </p:cNvPr>
          <p:cNvSpPr>
            <a:spLocks noGrp="1"/>
          </p:cNvSpPr>
          <p:nvPr/>
        </p:nvSpPr>
        <p:spPr>
          <a:xfrm>
            <a:off x="2952750" y="40767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alarm_count · quality_pass_rate · total_energy_kwh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D72DFC-7AE4-4CBB-BB1B-6826D0C697DE}"/>
              </a:ext>
            </a:extLst>
          </p:cNvPr>
          <p:cNvSpPr>
            <a:spLocks noGrp="1"/>
          </p:cNvSpPr>
          <p:nvPr/>
        </p:nvSpPr>
        <p:spPr>
          <a:xfrm>
            <a:off x="2952750" y="4476750"/>
            <a:ext cx="80962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E1EC5E-D144-4776-B802-E88EF3BE4712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최근 시각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776F1B-7A9E-4661-8D26-F0F0A2766B5F}"/>
              </a:ext>
            </a:extLst>
          </p:cNvPr>
          <p:cNvSpPr>
            <a:spLocks noGrp="1"/>
          </p:cNvSpPr>
          <p:nvPr/>
        </p:nvSpPr>
        <p:spPr>
          <a:xfrm>
            <a:off x="2952750" y="4657725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latest_event_at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2319A22-A178-4F99-95F3-E784958AC362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8E5E59-BF81-46CD-8466-124BFC5CAE93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설비 한 대입니다.</a:t>
            </a:r>
          </a:p>
        </p:txBody>
      </p:sp>
    </p:spTree>
    <p:extLst>
      <p:ext uri="{BB962C8B-B14F-4D97-AF65-F5344CB8AC3E}">
        <p14:creationId xmlns:p14="http://schemas.microsoft.com/office/powerpoint/2010/main" val="1991168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D4FA73-FFF4-46ED-A252-0E72954A46EC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992E7D-AFDA-4DF9-B169-2D41C215D0BD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01/26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A6862B-2A75-4710-A609-E0031E4E9FD5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equipment_id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B0947B-4D09-488D-8E63-9BECB6872A8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C4A341-3AE5-4413-B9B2-5A55F2087044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368FDE-E8EA-4F5B-8F1F-E6E128D231A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CEC14D-E2A6-49E6-890C-34C353C1AB0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8A292A-E5C7-4F4C-8179-E37F3039A5F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FFACEB-7B13-46E8-9D42-FCA5D6C1ED6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equipment_id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E513A3-2E8D-4AFD-809A-2E1E41DE9FB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7AF03C-219A-4E75-83C6-6AC6513B57E6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846EC7-519D-427A-AA40-47C0D470034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EQ0001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FBC71-BA1F-45A9-ACEE-96B1515808D1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BF602A-8387-4C12-9024-BBB412D87DE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E9C876-8EA9-4DCF-9177-BC3CE04ADBAD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4F9AA6-6604-4001-BBE4-D2098A40F220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한 대를 구분하고 로그 요약표와 연결합니다.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265D71-D9DE-4D5E-8C8B-90335BFB4BB0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4EA224-1B58-4CB0-85E6-BE6C074FD8EA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최종표에서 고유값 240개여야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1864F9B-00DB-4A90-9241-A260924F711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5ACCD1-C92C-4CF2-9DEE-808D1511DBC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merge의 on 값</a:t>
            </a:r>
          </a:p>
        </p:txBody>
      </p:sp>
    </p:spTree>
    <p:extLst>
      <p:ext uri="{BB962C8B-B14F-4D97-AF65-F5344CB8AC3E}">
        <p14:creationId xmlns:p14="http://schemas.microsoft.com/office/powerpoint/2010/main" val="1495010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CC3F9B-DB6E-4801-B4FA-4D5FA4322AB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067E1D-271E-41DB-8F04-E248E8C59743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02/26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C7CB17-1E86-4632-8E39-4B064FEC27D0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equipment_name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5B9CE5-59B2-4298-9610-C2E8E60AAB09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047397-B84D-4EF3-BDAB-AF801EA1BDFE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3C835C-860B-44F7-8EC3-C57B10C27AC9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DDD940-97B7-43E0-88F8-2E58D2D17CC2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CAD6F7-F991-4C8E-AD2E-2B800E9083C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8746B-FC2C-494A-9BCA-89BD53BEEF7A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equipment_name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5AFFB5-DCC1-4D1D-9A0D-4CFA5D504B5F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B10C98-B70D-4455-B7C3-56D7AFDF6B0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87F993-3538-482D-9990-1E31A30E494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설비-001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294557-3537-494D-9328-8FE1809BC1B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8ADDA4-B44B-436D-8345-92DC12C8239A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78E59E-00C3-479B-9FA2-8B0B71B906A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8B6725-106B-4FBB-A1F9-806E5F409A6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현장 담당자가 설비를 알아보기 쉽게 표시합니다.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A5645B-AAB9-4635-8118-3A4D4C89B57C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6D9C50-B2E9-4516-9F7B-EA4C3847E9C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결합 기준은 이름이 아니라 ID입니다.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05A8150-4F83-44C6-9D89-F038F3AF763E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84D577-C63A-43DC-ABAE-0E19B8F56D58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화면과 보고서 표시</a:t>
            </a:r>
          </a:p>
        </p:txBody>
      </p:sp>
    </p:spTree>
    <p:extLst>
      <p:ext uri="{BB962C8B-B14F-4D97-AF65-F5344CB8AC3E}">
        <p14:creationId xmlns:p14="http://schemas.microsoft.com/office/powerpoint/2010/main" val="604030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18B6A6-36D7-4B0D-8CA3-97DF302310C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F031EA-09DD-42D8-AE09-1E4D53864E96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03/26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B2BC3A-A1FA-4111-915E-6338B08BFB80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plant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05C5C9-7D8F-422E-A3E2-256FA813273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1DE41E-A364-4508-82F9-391FF04BFBFB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EB9B86-AD57-49A9-B6D7-00A69FA2183D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F1BE86-AF20-4754-B4C9-362B6DF512C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D0BE0D-0E3E-448D-8524-1AE29774D22F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공장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CDFEB5-7A17-428C-9732-10103B81050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plant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5FD43C-27A5-4871-86BB-8F1A2C41A4F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A9C239-B92D-47DC-A638-C07F75BD783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66AAB2-032B-4554-AB77-D348943273A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경기공장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31E2A0-DEB8-4DFB-A333-918FB4BC9798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06B6F-54BA-46CF-A69B-D23E9AE58640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DFF00D-F41A-457C-BFF8-5AD26C6016C8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D9F177-08E2-44A3-8E1B-4BA47260094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공장별 설비와 정비 수요를 비교합니다.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6D0BE0-D181-4CDE-BA86-FCE34A35C2DB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24C04D-3595-4EAA-A8B3-B6F60F11F78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1주차에서 표기를 정리한 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7F5F877-3471-410C-8529-4D6B72EEBEF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28AFB7-752B-4255-A4BF-CE8F11E81CB9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206230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B83B77-FCCE-47B6-98A4-DF57151BD76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4FC36A-2BE3-4DD9-93CA-0B349D255F02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04/26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840AB8-6EC1-4FF1-AA1F-5AF6AC952F2F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line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D75551-1B3D-41E9-8810-239183FEE67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5D902E-7099-46FB-96F7-4D16A4FB9183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489850-8A23-4DAD-8CCE-B74713950EB8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35A50-24AF-46C0-ADF1-4612373A7C59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0390DD-0307-46A5-A9AA-D91EF6E15B0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생산라인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BEC64F-70A2-4878-89A4-5FADC33F697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line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AA103C-E0D8-4AB1-852D-C2C82FC7A88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449EFA-2C41-4311-B00D-68551C8D27DA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A08412-7E53-4318-B5AC-CAC837952AA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D라인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23199F-6102-4B7D-A88C-A72DD6F88AFB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939143-1B1A-45B6-A562-FA5B1A10E4D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9749C3-B3A8-4D8A-9CE5-C624EE5BA01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53B83D-A469-4870-AD3C-69D78A35C66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공장 안의 생산라인을 구분합니다.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7D17F0-0F8D-4CC3-9341-B1A6B8990EA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56A5C5-9ABF-4D58-9757-343AEFBC1218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라인 이름의 숫자 크기에는 의미가 없습니다.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6F508EC-ACFB-4601-8F8A-E75D3BDE97D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92BDAE-5C0A-4763-AD78-D3B424D8A939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1047284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715E78-7E62-46F8-959D-B466529312F9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0DE68F-8B8B-4885-A6AE-4C3C1D1F5C20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05/26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013D84-7C5D-44B4-A1B9-4C2E51F28C4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equipment_type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7BCE50-1E81-49E2-A6D5-CDE1BBC06D4F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01601E-AE71-4843-AAA2-B5365435B80A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059E01-2D25-407D-85B4-326AD60E9A38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579CAA-961F-4F85-8D57-6C3CAE62C4E7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C5D9DA-6200-46CC-BD49-63D579BA395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종류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E44198-D097-4EF4-8ED8-6198D47EE8F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equipment_type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A83F00-8D3C-44BD-8BDE-BB51669816C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64D822-2432-44B0-9C4E-F95DA032833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7D6DF3-5533-40B2-B0C2-3BD4A9229CC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포장기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721B12-8350-463C-AD6B-B2C640E4D13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933193-AFD4-4C0B-84C2-CE5A05B8CC4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268291-598F-432E-AD73-F3B4BB5D1A4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6C9451-3339-4460-9835-A2FA1B300C0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유형에 따른 운전 특성을 구분합니다.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CBA32A-FF5B-464A-84BF-C0D687A5453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E9C6F1-D37C-462D-8DF3-85E383A56A8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전처리기의 범주형 입력입니다.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17EA3C0-64C3-472F-BD87-7C7348C85E2B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80E599-9931-423C-A629-E7EB47CA88A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OneHotEncoder</a:t>
            </a:r>
          </a:p>
        </p:txBody>
      </p:sp>
    </p:spTree>
    <p:extLst>
      <p:ext uri="{BB962C8B-B14F-4D97-AF65-F5344CB8AC3E}">
        <p14:creationId xmlns:p14="http://schemas.microsoft.com/office/powerpoint/2010/main" val="1881381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81DD03-53C0-40E0-878D-7D1594CBCBCD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1BF71D-236A-4F9D-A87B-FD1EB6FF1EFD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06/26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53A814-50A2-4E96-8FCB-0F6E24F4D112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manufacturer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4EA0DC-CF6E-42A1-80E1-D636EC9BA3F8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8AEDDA-9CAB-4DBB-96BF-349EF5AB6F65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A62213-1B7C-4B6F-B0D5-59BDC5FDE73B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96C99A-DB2A-4E66-AA02-77D3FDAF083D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AB5980-2114-42E5-8532-A58512DE4F5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제조사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F744E5-2CFC-432C-83DE-BCFC322E9E7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6C7E54-8880-42A4-A1F6-7878AD594C0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9449F0-AF3A-4BAF-9D8F-D4BF453D319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11C5FA-8C19-46C2-BED1-6A049717C44E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대한정밀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ECB05C-AFE4-4C9E-BA70-86FA544B5524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A0F999-4DD3-4551-A6D3-616D8894CC69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6C07C7-12E0-4E24-9378-77AAAED1F87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47E357-D30E-4F8F-ABC8-C4DF0F42ADB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부품과 정비 문의, 제조사별 문제 분석에 씁니다.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9E5A63-C9C3-4CC3-81B1-19834774011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552501-B019-449D-B403-6449D1B6205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필수 입력 X에는 넣지 않지만 원본에 보존합니다.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F725917-AFF3-4DC0-A503-74FBB234A32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012D8A-0743-44C4-9D98-FC45A1B80828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</a:t>
            </a:r>
          </a:p>
        </p:txBody>
      </p:sp>
    </p:spTree>
    <p:extLst>
      <p:ext uri="{BB962C8B-B14F-4D97-AF65-F5344CB8AC3E}">
        <p14:creationId xmlns:p14="http://schemas.microsoft.com/office/powerpoint/2010/main" val="126047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ACF30C-EE78-4777-B17B-31CE3A5D7CEA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FE27FB-9C31-4396-97DF-4F6C6CA2439A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07/26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DF1C80-BB57-415E-A6FE-68B4B980DCBF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install_date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14A519-EF65-4D6A-B018-88591B94503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9568E1-F77A-4251-BAD2-CC0E494589B2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1726EC-C759-459A-825F-EF470D84EDF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A9DC52-65D7-40CD-880F-129E233A0D8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A574B7-F1B0-43A0-91FB-5C5BE95D69E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설치일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CE06D3-D710-47DA-92AC-7A89A93EA10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install_date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BB2D59-89F6-4570-88A7-C08B20309A4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AEBBC4-EBD9-44C0-A89A-5F58CACFEDD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E5BF51-D94B-42BB-9943-85233B89D8F6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2022-08-22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F2370F-681D-4D72-B0A8-14590B95DC4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57E9F0-6501-49A0-9E5C-B54A8002EFA9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날짜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EF4589-A1C3-4610-AB6E-45AA6C4EC36C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708ADB-7102-4624-A6CD-CE22F896F5F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사용기간을 계산할 수 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3693C9-5016-4277-9ECC-28354F5E37B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617032-C096-4A62-8FED-E2D0F0703BD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필수 전처리 입력에는 포함하지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E3C9FC9-EC7C-41E1-9FCD-780804A283E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2A8CEF-C10B-4B0B-B3FA-2AE58C7EED0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설비 연령 확장</a:t>
            </a:r>
          </a:p>
        </p:txBody>
      </p:sp>
    </p:spTree>
    <p:extLst>
      <p:ext uri="{BB962C8B-B14F-4D97-AF65-F5344CB8AC3E}">
        <p14:creationId xmlns:p14="http://schemas.microsoft.com/office/powerpoint/2010/main" val="182465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B5681F-4D36-4F29-852A-1298BA0D8D7A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1F8330-3E97-478F-B69B-4AA811B334A9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08/26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D3A079-E3CA-4B02-BF3F-BEA8FD76F2B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last_inspection_date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5DF8EE-C406-47F3-B7C8-C55F2B15AA8F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EADAA2-65E2-4534-8B71-E27862FE92AE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51C740-70E1-4868-B642-E3BD3FAACFC1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74722E-730E-4843-8020-27FFD67AD6C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6957C5-2454-4602-AAD1-027CE187512E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점검일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1B6D8D-A8FC-46C8-A5A3-37E3E42F3D2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last_inspection_date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EDD521-1626-4E24-B287-57AE01B3333D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9B3CD7-4CBA-4CE0-8EFD-5235F73A4553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1C16C1-C7BE-455E-AC26-7F48BF8D207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2026-07-23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A539CE-4F78-49DE-9800-3356605F823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C8F1E0-9262-430B-9F2F-9920CC18040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날짜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EA9904-991A-44D3-ADB4-1B85370F255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2C2520-AC21-4AD2-AA49-9675315D1F4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점검 후 경과일을 계산할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1FDFAE-19BF-47F6-AE85-C9F828957E7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FAAA3C-7FCD-417C-BE40-956F5F7B2098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센서 시각과 다른 의미입니다.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C4DAA97-DE44-43EA-8989-0D10B8C5C1E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871A2F-1968-488A-BE9F-4A676D2FFFF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점검 지연 분석</a:t>
            </a:r>
          </a:p>
        </p:txBody>
      </p:sp>
    </p:spTree>
    <p:extLst>
      <p:ext uri="{BB962C8B-B14F-4D97-AF65-F5344CB8AC3E}">
        <p14:creationId xmlns:p14="http://schemas.microsoft.com/office/powerpoint/2010/main" val="1107167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4C0819-93D7-4B8F-9CAD-56C94414623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F148AC-5DF2-4B91-9C14-843D37CAC4B3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09/26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510080-376C-4701-8EED-D23168F0194F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rated_cycle_sec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A56538-C36B-4242-8FCB-59497E4B86C3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3F42C0-9FC1-46AD-884B-70B7ADA8E18F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083CC3-13CE-44F0-8342-005AC59F8101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E9A2AA-2ADC-4F87-AB1F-68F02A3193ED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C5730A-3D8F-4676-8DBE-9373CFC7507B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 사이클 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10359C-BDD9-4DFA-942F-17695C5C39E5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rated_cycle_sec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095F69-1C5F-49D5-BC4C-1A2388509766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0C1619-B359-4C61-8B90-9BB9F8940E8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B24CD3-6734-4EAD-A00C-4E344956F25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41.2초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DF38B-0D11-4F8F-AF5D-6785EA9BCC12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DF5153-A4E3-4AFE-9F06-EEA7824A9A05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710123-2F3C-489A-8D58-E1D3C83B197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7B202F-ACAF-45A9-A6AF-ED5A70E693A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설비의 정상 처리 속도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D83DBE-81C3-4E37-B02D-CA5A424EA376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547851-0616-4D63-8EDC-584B1C7FAA76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cycle_time_sec와 비교할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57625CA-3EF7-4F4B-B98B-DBE71093064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60B396-F43C-4166-9F2A-0BD05E237666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기준 대비 차이 확장</a:t>
            </a:r>
          </a:p>
        </p:txBody>
      </p:sp>
    </p:spTree>
    <p:extLst>
      <p:ext uri="{BB962C8B-B14F-4D97-AF65-F5344CB8AC3E}">
        <p14:creationId xmlns:p14="http://schemas.microsoft.com/office/powerpoint/2010/main" val="275369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B65B4C-0571-4085-AAB6-560555FC1E01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29D85E-604A-45B5-ACD1-84D9C2D1CD29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10/26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73D889-B6ED-473D-9858-519F476743A8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target_temperature_c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7B1D5-9250-41B5-8BA7-6EA40A9C2A14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05DEFB-0ED7-40C2-AAB4-F898568F2AFF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166F15-01E2-4DA4-B88B-2EBB928A4D4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8BA2B8-1279-4DF9-BDF8-0C4FEA498A9B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243A43-2A8A-4AAD-9007-A91F38399D6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목표 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2F68D5-932D-4E33-BC23-0A5D6407941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target_temperature_c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68CAAA-C181-48F3-A5D9-680C94FFDBB2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58C503-DDD4-414B-BC09-0BF986AB499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BA3EC5-02B6-45F3-B6EC-E0FD0E5B3BD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207.1°C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B9374A-945E-421E-93DF-9DD28DD88400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5FD2F3-CE69-476B-BB48-8BF7A8EF667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DE4DE0-569B-4AFA-80C7-F95FE2B3A931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CBBD53-C909-47A9-AFC3-ADBCEACA4AF6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정상 운전에서 맞추려는 온도입니다.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166DB8-C44F-47A6-A256-B4ADE8A9F1A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D43F97-35E4-4EA0-9FD7-C291EA55131F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평균 온도와 구분합니다.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2FEB050-5CC4-4DAA-8B3E-0878877BC70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C329C1-601D-48B3-B583-9231B2EA70A7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목표 대비 편차 확장</a:t>
            </a:r>
          </a:p>
        </p:txBody>
      </p:sp>
    </p:spTree>
    <p:extLst>
      <p:ext uri="{BB962C8B-B14F-4D97-AF65-F5344CB8AC3E}">
        <p14:creationId xmlns:p14="http://schemas.microsoft.com/office/powerpoint/2010/main" val="2036719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EEF95F-B3F1-49E0-88BF-3EF9853A770D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2DAB7E-9497-499D-B650-75E8621E3E65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11/26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456079-6048-462A-8C73-66C6BE8040F5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target_pressure_bar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27623B-8540-43B8-88D7-B3557D5F9CF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4D848A-3981-49E6-9B66-B016AEC565A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1D9BEA-D49F-4A77-8E3C-219F0901D748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2F6515-5C30-4FEE-8111-C4D2B148B0B9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348A26-81B8-4BCD-B979-37A23625B4B3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목표 압력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A12D02-A75E-4A00-B9B9-B979CB8A607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target_pressure_bar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CAF0C4-0EE6-4BC0-8E1D-3EF63B3F0E5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E7DDBE-5763-4AFD-94F9-058181E05874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D13055-EFDA-4CD8-8868-CE47F73D4E3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4.83bar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75894-C53F-4F77-9A92-85958A81019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1810D8-684C-49D4-A547-1C202CC20C0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정제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5EA2BB-5A24-49C5-8C80-1EEB54127958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C271E1-2B1D-4535-91F1-20859DB68BD3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정상 운전에서 맞추려는 압력입니다.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B040F-A210-47E8-A84E-9A4713E8DB21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1B95EA-6B86-470C-887E-68F11962080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1주차 결측 처리가 끝난 기준값입니다.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2349EE8-9CFB-4C59-AA5E-D5E9DA12832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82F7A1-6D38-4ACA-AE0E-30B83DDA687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목표 대비 편차 확장</a:t>
            </a:r>
          </a:p>
        </p:txBody>
      </p:sp>
    </p:spTree>
    <p:extLst>
      <p:ext uri="{BB962C8B-B14F-4D97-AF65-F5344CB8AC3E}">
        <p14:creationId xmlns:p14="http://schemas.microsoft.com/office/powerpoint/2010/main" val="1791836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087CC5-8253-49C7-9D7F-1248CEA94A0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FC76BD-EC36-4094-86D8-7B72D8FCE37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12/26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78774B-8B80-4C4E-B2B1-6A157C4FEA2D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maintenance_grade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DEC32E-D6E1-4FFF-9C5B-C005047E195D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0A0F90-79D0-48B1-B08D-4FE503738D2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6B3F84-2054-4F71-8B79-84D56521D8F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FFE65D-AA0D-45C9-82A8-0F5A535C902E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21CE10-90B5-442F-9705-9AF85B16D26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등급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3D340B-45C4-431C-952E-9F56F3D36A65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maintenance_grade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919819-11A9-4F1F-B254-64E9D5F3197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EA5895-A34C-46E7-8694-5BB6D96F1C6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1A675D-38F7-4D05-AA3D-0DD23F60E56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 · B · 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51FC63-BA3F-4BDB-8720-06DEDA6C01B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5DE8F8-CFA7-45F9-8C67-B275860B9B5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0F4C5F-65FE-4517-A6D8-878A76EEA43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49A39B-62A0-4AD0-B6A5-25076CAD87C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회사에서 정한 관리 등급입니다.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CDAD5D-77AF-44B3-96B1-365D84C2D83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5D88ED-8283-4D82-B31F-089B855DDD0C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글자 순서를 임의의 숫자 간격으로 해석하지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D924E91-2536-433A-88A0-3634E1485D1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049F4E-85D5-47B7-9997-BEEAA067A01B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1146384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01CD90-1DAF-4A47-976C-83DF7353D54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FC0473-0E0C-46A5-AA9C-D0C4C48D0699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13/26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702719-300D-4C92-977D-CE78264B012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operation_status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F81413-F308-4F96-A9C5-D93227EAFAD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EAEA9-18DD-4131-986E-BCDA757047EE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CB332A-7227-4FEE-8A57-76E062E7D74C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9A62CF-B71E-4456-AB1A-91ABE5BD01B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F7A6E6-1070-40D7-8DAC-E6031F0788C9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운전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99F9AE-1EE9-4BBD-AD79-6888C2FDB3E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operation_status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1A0D09-3F4A-4432-AC36-7904C569D642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4A85FE-1C00-4F17-8798-0E114B33AC7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128FAD-1E23-4729-AAEB-DDB416672D6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가동 · 대기 · 점검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CBD60F-210C-4633-8943-37513412C6E9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33DBA8-3575-48DE-A3AE-E4A9BB13FF8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3B850C-232C-4934-8EAC-0D04CBA51923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EF524-5B15-41E8-92FD-B251A3519F5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현재 설비의 운영 상태를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3044B8-02C2-4C02-90FB-3DFA9BE231F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A9483C-06E7-4871-B4DF-7681A53E0CDF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정비 필요 여부와 같은 뜻이 아닙니다.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5E9729B-7947-4306-9512-5C699965912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F81BEF-4D92-4811-87E0-605D45BE0431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</a:t>
            </a:r>
          </a:p>
        </p:txBody>
      </p:sp>
    </p:spTree>
    <p:extLst>
      <p:ext uri="{BB962C8B-B14F-4D97-AF65-F5344CB8AC3E}">
        <p14:creationId xmlns:p14="http://schemas.microsoft.com/office/powerpoint/2010/main" val="657880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E916DC-0BEC-49EF-8B9B-27685F756DC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69742A-F7C2-4E2C-890B-A5CD6E25D6B4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14/26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91D6F7-7266-4592-9BDC-CBD7449C9DB7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monthly_runtime_hours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C51563-E996-433A-B0F0-C4BB331220AC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DCD48D-F3F8-403A-B2DC-145B848900A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C8FEBA-DA78-49E1-BAA3-4D931419FB6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B55D06-8212-45E2-8AB6-8D50E53EF2D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35B898-D380-46E1-B225-1F6432A86DC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월간 운전시간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D80BE8-070A-476D-8D61-FEEF3AE5877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monthly_runtime_hours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087960-EF5B-45A6-BB54-4045277CAE6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9B7601-7E63-409B-8136-53970AE63FF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4D3997-7D48-4FC3-8804-214F86A22EE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409.5시간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71EEEC-A1C1-421B-8075-B15FB545308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D6E64A-5566-4B40-9DA8-042FB0B3D1E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54C804-3057-4385-BFF7-37EE1741E4C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A7FB7C-3F3A-4E95-8908-1053D1F1086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달 동안 설비를 얼마나 사용했는지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EC3D1F-DDE4-489F-B048-576C13A6E76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D62E18-0754-4A41-BA14-464EDD32284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전처리기의 숫자형 입력입니다.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70915AE-57E7-4550-B194-F0C1C86F6C76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EC9F74-C6F7-4257-9A8F-ED6FCC3CDBBB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median · StandardScaler</a:t>
            </a:r>
          </a:p>
        </p:txBody>
      </p:sp>
    </p:spTree>
    <p:extLst>
      <p:ext uri="{BB962C8B-B14F-4D97-AF65-F5344CB8AC3E}">
        <p14:creationId xmlns:p14="http://schemas.microsoft.com/office/powerpoint/2010/main" val="1467183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03C819-BD67-483C-9AD8-A1DC657B6A7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96BC4B-F948-4CA8-8F3D-33A23AF69FD1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15/26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96CF66-8E03-4315-A097-FD961D89BBB7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failure_count_90d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FC1A2-ACFD-4E27-96D5-5DC1945C540B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84A210-1402-4CD6-B01F-44648FDAC288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2F9DE5-FDA9-4C80-9EA0-BE1F02081F2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48BB56-8B61-43B8-8748-805AE63687D4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910DE1-0B14-42EE-B285-837109E6424A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90일 고장 횟수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EDBCDE-79BD-42FF-89D8-C57DE0FB85CA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failure_count_90d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8A0B3-010E-4123-B5D7-DC0FF5B432E6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B439F4-AD7B-4588-9C2E-C2662E462B1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53F436-6B0C-41A0-82FF-15D3E86B874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 · 1 · 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02001D-5562-44EB-9073-06DCAD56277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F16169-1431-4D6C-B1B8-F0E0012F65D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62D968-EB00-49F4-BA98-30620ACDE1C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3B12FC-4100-4450-8296-FCAFCC2EC90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반복 고장 이력을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6BC810-A2B0-4459-90C4-FADCE87326E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36B775-8D71-48E2-A363-E785E1A563B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0은 결측이 아니라 고장 없음입니다.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365767C-2659-4FA4-901B-4011D0F8611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763DA6-1F6E-4B53-B99D-954E1EE5D554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</a:t>
            </a:r>
          </a:p>
        </p:txBody>
      </p:sp>
    </p:spTree>
    <p:extLst>
      <p:ext uri="{BB962C8B-B14F-4D97-AF65-F5344CB8AC3E}">
        <p14:creationId xmlns:p14="http://schemas.microsoft.com/office/powerpoint/2010/main" val="3089584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592C2B-0696-4D38-B381-2AE13EDA7765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B4E65D-79E9-43E1-92F9-773564D0A9AE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16/26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8A156-E421-4039-958D-91F72F110861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maintenance_required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886A89-D011-4120-9EC2-302A573A49FC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37857F-811E-4265-89AA-AE206C91FF5A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780F9E-A9A9-409D-B9AF-77D949D637E2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745346-3972-4D8F-821D-65145AA56DE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CD0A37-CCE4-4E1A-9403-ACA6547639EC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필요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DFECF6-2388-44B1-A92C-5FBA8305A12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maintenance_required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D0EF1E-10F7-4DB0-A7BE-5EFB1AE477B8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14BC6B-F571-4193-B7C0-44B076A45CE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201CC1-08C0-4ED0-A241-0435CC736AC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False 143대 · True 97대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5D0AFA-48E2-44BA-88F4-2076C3DD3C3D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5C4839-D165-4554-BF1F-FEEE0841F8A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3C51AA-B785-4D33-A6DC-331F5A6F895E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A2CB7F-6E98-4ADE-8B90-F53BFD9855B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 정비 필요 판단 결과입니다.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4EEBE-6445-43DA-A464-45EBAE951AB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6C1610-E560-4910-A57B-FAD46DD5D8FF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2주차는 예측 모델보다 데이터 파이프라인 구축에 집중합니다.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0BB86F4-869C-42D8-827A-A8B94C54A1BE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05D31F-92E3-428F-9A90-6FEA4CE4EEC4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결과표 보존</a:t>
            </a:r>
          </a:p>
        </p:txBody>
      </p:sp>
    </p:spTree>
    <p:extLst>
      <p:ext uri="{BB962C8B-B14F-4D97-AF65-F5344CB8AC3E}">
        <p14:creationId xmlns:p14="http://schemas.microsoft.com/office/powerpoint/2010/main" val="17079312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215B95-8AFC-4EB3-B1AA-9BB08B18FA3A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B5584B-FA2C-48C6-88D1-54FFE209AA3B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17/26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704EA9-CDF9-4385-8554-6F03CB1EDB24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record_count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16D702-70E2-4368-8410-735376536872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00A06B-213B-42A2-A324-8DA7932E6255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A05833-D02F-4FD5-AAB9-9AFF169A38F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79D278-1AF8-441D-923C-68DC956762EE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205AFF-709B-4399-AED2-9A5B3D966A0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센서 기록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6EB338-9805-4E2F-97F5-D22214745C65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record_count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19841B-6A78-4388-904C-5A55829D4B4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0F1C22-B2CC-4A5B-9A54-E3897308CE3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0DE118-2E47-43BD-8303-E7C0E124673E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모든 설비 30건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9E1684-A3B7-4CC1-A1BE-C7CF95403C4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46044A-FD8F-47C3-80DB-AB612B274BC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4ADB6A-AD02-4D6B-887F-A0E6A660D713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7BFFDC-B534-4CCB-973B-B6FC1B1719DE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설비별로 로그가 몇 건 들어왔는지 확인합니다.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16E232-D33A-48B4-B36D-C16B7B6A6F2E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2423C8-3D66-43E2-A74D-678540A776A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데이터는 모두 30건이지만 실무에서는 누락 탐지에 씁니다.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309E07E-001F-4769-AFED-C92C409F58C6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197C21-9570-4BBE-B701-7E4A6E24DE07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count</a:t>
            </a:r>
          </a:p>
        </p:txBody>
      </p:sp>
    </p:spTree>
    <p:extLst>
      <p:ext uri="{BB962C8B-B14F-4D97-AF65-F5344CB8AC3E}">
        <p14:creationId xmlns:p14="http://schemas.microsoft.com/office/powerpoint/2010/main" val="1004211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DFC652-07E1-458C-9AE7-E3E6EA5E72A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EDAC73-B717-497D-9749-35F9CA4E1EAC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18/26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3CD5A-BEB5-497A-AB1A-CDA605E45595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active_days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644044-3F4A-4163-962A-79E17A5079E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719D5F-E273-4797-801E-8D4DB515E115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2C06BE-A73B-4535-80E0-D48B01474E93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B93C14-03CA-4E12-AB53-E5D0BD50FFA1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68E854-A683-4FE0-A430-068DF1D767A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기록이 있는 날짜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3AF377-FECB-4134-A333-F3FFF231EAF1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active_days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F02FCB-8F50-4353-90AA-667D4934D72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9C33A5-1D0D-49BA-B6C3-FE354E26F18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16033B-5D13-44B9-A183-A1D209A32DD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모든 설비 30일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D6DDA1-4B99-4D4E-AEFC-D42F1258448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E75F45-8E1A-460D-A2E6-8247B2ABB59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F718FE-73F5-4B4E-A4BF-AEB6437AAAE3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3E4D9-C9FB-4989-97CF-8A136F90EE1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설비별로 며칠의 로그가 있는지 확인합니다.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A40977-385A-447C-BE9D-25C330028D0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1621EA-E055-4C18-B9B2-71FADC577785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기록 건수와 날짜 수는 다른 개념입니다.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9A8AAAF-FD11-45A9-80F2-E6C38479054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95DC30-748C-4921-95A7-4D3959E191A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날짜 고유값 수</a:t>
            </a:r>
          </a:p>
        </p:txBody>
      </p:sp>
    </p:spTree>
    <p:extLst>
      <p:ext uri="{BB962C8B-B14F-4D97-AF65-F5344CB8AC3E}">
        <p14:creationId xmlns:p14="http://schemas.microsoft.com/office/powerpoint/2010/main" val="961349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0C1FA8-F938-49E0-B031-0C2F570485A4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87FFE6-DBFF-412A-9FCF-FAAC1D6A85C0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19/26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205DD1-7796-460A-A961-D37E73DBF8A8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avg_temperature_c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85C4FF-DAB9-4719-A309-8F9CFAF8A4B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A294DA-4A11-4006-8D75-A98FD31049DD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862A58-E7A4-489D-98C4-E8513B5A896B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705766-DFAA-4E1C-96FF-C3A64C6737FA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E5AB60-5316-4492-9D3A-A12EE03275F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평균 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0D109C-E8E7-4F8E-91B9-898CC93E9A0B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avg_temperature_c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F66AED-E029-4BE7-8ECF-FA2D3FFA8524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F94D15-42A0-45A6-B5C0-F9186C9BC4C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5E685B-CCF2-412F-948C-1308396FE20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EQ0001 196.4°C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9AF010-7E78-4423-8E9E-40E75171C76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289D15-5556-4FB1-AF79-8CFFBA6AF120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F52F7C-C2B5-461C-BBCB-6F592314E39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5EEC28-E5B3-4382-AEB8-7892E90B4E0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일별 온도를 설비 한 대의 대표값으로 요약합니다.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AF23F7-B3C5-41D3-B5F6-B551317C5F86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E9926C-7FC3-45A6-AA84-E659BA0630BC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빈칸을 제외한 평균이며 목표 온도와 구분합니다.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383135C-9F87-4019-87C8-140E68E1C92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1D852E-5F88-4F0E-9F6B-38CCB4AA79F2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</a:t>
            </a:r>
          </a:p>
        </p:txBody>
      </p:sp>
    </p:spTree>
    <p:extLst>
      <p:ext uri="{BB962C8B-B14F-4D97-AF65-F5344CB8AC3E}">
        <p14:creationId xmlns:p14="http://schemas.microsoft.com/office/powerpoint/2010/main" val="1712171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722279-6BA6-4140-B284-69712C99C87C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287906-643F-4CFE-B08C-EF61E2E8381D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20/26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5C0734-B2C0-4FC8-A31E-AFEB6192B1E2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max_temperature_c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1942AB-39DE-4C73-9788-55C2E747B790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68798F-39DF-4311-B867-59CE307E1C20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2A3925-14FF-4647-AE9F-DE1F0131A732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2D724F-804C-46A2-BE53-A26B9C81A3E9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D58780-3356-4948-9D5C-AC421B46469E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최고 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04B907-503E-4C72-90AB-375673EF4B6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max_temperature_c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E10F20-8254-4DC9-B15B-046C4B5C5E0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E22B47-71BA-4A2A-99C4-7A3285DC8F5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96560D-B2C2-4E13-BD4C-8C230A10A083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172.7~223.8°C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07AA63-6930-4912-A712-2576B1355E02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DB78DB-99EC-46CA-8956-E1C6B03EC33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2D3ACF-1776-4312-B958-10E2A43565AD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99B82B-F8A9-4EB5-845C-95F71D7223FC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기간 중 가장 높은 온도를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0034FB-307A-40F7-9988-D42BC4FBE8EF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1334EC-5A56-4C3B-BA79-823DB02DD4A6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한 번의 큰 값일 수 있으므로 평균과 함께 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2B0C518-1467-4091-9361-62D507DFFA1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F0E053-93D4-491B-A04E-B97946C92CE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max</a:t>
            </a:r>
          </a:p>
        </p:txBody>
      </p:sp>
    </p:spTree>
    <p:extLst>
      <p:ext uri="{BB962C8B-B14F-4D97-AF65-F5344CB8AC3E}">
        <p14:creationId xmlns:p14="http://schemas.microsoft.com/office/powerpoint/2010/main" val="548596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E8FD47-5787-4B34-9BCE-C40E8CF37329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D3D618-5A96-4739-A43B-5A813847EE08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21/26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22528F-F76E-4064-9BB8-9DA1FAC4EB62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avg_pressure_bar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BF0083-1BAD-4E17-95F5-DC6154EAA547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241BC-11A6-43D9-A3BD-DB095E5EE78A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F8ECF7-ACAC-4599-BDAA-00181F1ED820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B5E406-9BDB-4868-932F-145AC423C7DC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15BD7C-E739-4671-9E47-91889A254EB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평균 압력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FDC3CE-D3C6-434B-9469-8FE9503A9D7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avg_pressure_bar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9775F6-1D18-4756-8194-EF97FAAEF19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A5C134-EEF1-427F-BCC6-DDF94EFD39A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1B3DE8-A170-4B09-B011-B9B6BB54644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4.20~6.67bar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153087-BC3A-4E54-BF37-9C7EB6D6CFFD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671044-41E2-49B5-899C-88673255FA0D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B2D3C2-5ECC-44CC-B370-78B140D5C601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7E708A-B7C2-4076-8A21-0B7B9BCFC64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 실제 압력 수준을 비교합니다.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F85BDA-31AF-45D9-AC91-D61F18006AC5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D2DD94-0823-46DF-9486-7DCBFBDCB8B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목표 압력과 단위가 같은지 확인합니다.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7CF5854-8339-4B9A-AA90-2E825F665A9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B84C56-6668-4881-B058-2A76066A852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</a:t>
            </a:r>
          </a:p>
        </p:txBody>
      </p:sp>
    </p:spTree>
    <p:extLst>
      <p:ext uri="{BB962C8B-B14F-4D97-AF65-F5344CB8AC3E}">
        <p14:creationId xmlns:p14="http://schemas.microsoft.com/office/powerpoint/2010/main" val="767610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73ABD7-3052-46C1-BA56-8A9A9D55BC97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2373A0-48BE-49C3-B42B-5E6F4124F35C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22/26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0CFC32-5449-4367-8797-7E175DC0F86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avg_vibration_mm_s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29950E-788F-4570-81AC-F992413CFF8F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7537F7-DBF5-4BDD-986F-04FDEF602CF9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F08B66-4008-4591-987A-E833B928D98B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EF2265-041C-4CF1-9A78-AE4D16B9031A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EC8A6A-2F0D-4DB5-A666-21697105DA8C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평균 진동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DE4FED-32CC-438F-B157-F5E07601B93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avg_vibration_mm_s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91282F-9F65-48C4-AEA0-01D27B68643B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540FBA-072D-40B4-9999-63F67689D32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0AA757-C439-48FE-A93A-D40FFBA84BF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2.37~3.29mm/s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F8389A-7F52-44D4-B31C-D0BDBE93243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BA1960-B6DE-4A3B-9690-309B2E37C29A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F45B56-C067-41BD-A5AF-C91B5F46B58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5EC690-5155-4BD3-8041-3EB87C7EEB9F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 흔들림 수준을 비교합니다.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824AAA-90D4-4FA0-B455-34CA0B48FEEE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EDE45-FA76-4EEB-8FEB-25A39E0F292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미측정 18개는 평균 계산에서 제외됩니다.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C6F5BB5-22DD-40CA-B746-00ABF77CA43E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BC0326-5461-4FB4-97A6-51AFEB2FDC25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mean</a:t>
            </a:r>
          </a:p>
        </p:txBody>
      </p:sp>
    </p:spTree>
    <p:extLst>
      <p:ext uri="{BB962C8B-B14F-4D97-AF65-F5344CB8AC3E}">
        <p14:creationId xmlns:p14="http://schemas.microsoft.com/office/powerpoint/2010/main" val="164952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29EBC9-20BE-40B0-B3DE-74F29C8BFFB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89E205-EB91-4218-9EEB-F9811FFFD0EC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23/26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8EDC0A-5D91-4A84-B227-739303D74FE4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alarm_count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E01307-BD28-49CD-86E0-9AF8C6C0B2BA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7C5181-EB16-4578-8214-12F13700FC14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C0A79F-46B1-4D77-B4A6-800738F68F10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85E91E-8ACB-483A-9A8E-4B9BA7DA2BDB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9DAA6C-3EBA-4BF5-B491-DE961B48F26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알람 발생 횟수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6C7AC5-B592-4E0C-99C7-BC3CA000D95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alarm_count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E62F90-D547-4DC5-9854-72D86F6E824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6E4803-984F-4B64-842E-32BFE4A1ED4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54FAB9-DB56-4D11-8AF3-E55470B50D81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1~11회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2A08E99-BC4F-4EEB-9373-3780123CF05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7AFE6B-076C-4611-98EE-CEFCEA398EB5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0C54A3-65A1-4BFF-A408-737B8C3A3EC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14ECD0-60D8-4551-AA40-705C2A191A9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없음이 아닌 알람 기록을 셉니다.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CC4F95-726C-434F-A2AA-E9E06F9EF931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7FB149-ED33-48FE-A0F4-312C43E4860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알람 종류별 심각도까지 반영한 값은 아닙니다.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D38EB9E-32B8-49AA-A11F-96E7CEBE4CE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F264088-2E14-44B1-B985-8DED90B00C18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조건식과 sum</a:t>
            </a:r>
          </a:p>
        </p:txBody>
      </p:sp>
    </p:spTree>
    <p:extLst>
      <p:ext uri="{BB962C8B-B14F-4D97-AF65-F5344CB8AC3E}">
        <p14:creationId xmlns:p14="http://schemas.microsoft.com/office/powerpoint/2010/main" val="657332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6E8BA5A-7F94-4DEC-A94E-138AC09EEC99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1C3B2E-7C3B-49F6-8187-3C8E71C8EF8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24/26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772E6B-6336-48B4-81B8-D0DC3FD91009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quality_pass_rate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5D0289-1B87-4EF1-9ECB-D22E2BA1C2A4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07DC38-65BD-40F2-A502-396B4E2AA62C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95F06B-E751-4347-ABEE-79F60571907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5461B1-447D-4381-B371-7ADBAEFD5CE8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498856-0A9E-4E0E-9284-FED795BFB08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품질 통과 비율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921F18-94D7-45F9-9FAB-56F7500072F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quality_pass_rate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32671C-1AAD-4340-8A24-A03AEF44F3EF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BC70E7-C3FB-4CC2-AA20-E4F07CF9D7F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35A316-F00C-4894-B4B4-29A32B0C8A3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0.80~1.00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B24E46-DE02-41D1-9FED-1257EDBE9A1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EF68ED-CAAC-48F4-A4C6-FFEB0FD0FE4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527549-1FF0-4AD1-A0F5-9AFDE455C30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5C6F23-66EB-4A17-864A-7D739DECDD3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30개 품질 결과 중 통과 비율을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BC9841-5185-4AF5-86AD-85D003C0A9EA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4601CC-BF7F-4B12-9330-AF24B15E790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0.90은 90%입니다.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265F9C4-51EE-4F65-A68E-BDB039EF9E8B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B77458-1F55-4370-BB7C-7B80B83446C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bool 평균</a:t>
            </a:r>
          </a:p>
        </p:txBody>
      </p:sp>
    </p:spTree>
    <p:extLst>
      <p:ext uri="{BB962C8B-B14F-4D97-AF65-F5344CB8AC3E}">
        <p14:creationId xmlns:p14="http://schemas.microsoft.com/office/powerpoint/2010/main" val="1135406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F06ABB-8B47-46C1-B56D-28600AE374D3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9E8716-CE85-440C-873A-EFF43F3396C7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25/26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E80575-0EFC-4307-87C7-0C4439D53298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total_energy_kwh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0EB6E2-90ED-4891-8772-4797DFB174D7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61F1F4-A68F-436A-80D5-E2792A50F2B8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29BEB0-FAFE-43CC-9C98-56E1A83DCB47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E60CE-4B0F-47BC-8635-5ACC808BA37D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E64410-647D-4537-9413-735B77DF492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30일 에너지 합계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7A61EC-5EFA-440F-B71C-1FA018FF708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total_energy_kwh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EF9605-262B-4FB8-B184-FCE92CF2356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522D10-49DF-4081-A14D-AAF0C59FFEF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F439C9-B35B-42CC-9ACF-7A5A63DA866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범위 1,970.74~2,349.09kWh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0FDF4-C645-459B-BB93-3507E1ACAF0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EB527B-6C31-497E-8E03-65090BD554C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8E47D8-0F64-4A3B-9327-B83E87FB025A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AFCD45-64AC-4A42-946A-7CD3A90AE686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 전체 에너지 사용량을 비교합니다.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F9F2FC-DDFC-46B2-8F49-A3DEDDC637B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C5085D-9DE0-400E-A864-7FD9B5D19AB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운전시간과 생산량 차이를 함께 고려해야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8AF8051-F5E7-4BDF-BFB8-2B5E329F8CB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2DDD91-4C8E-40BE-9D83-D19979EFDCA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sum</a:t>
            </a:r>
          </a:p>
        </p:txBody>
      </p:sp>
    </p:spTree>
    <p:extLst>
      <p:ext uri="{BB962C8B-B14F-4D97-AF65-F5344CB8AC3E}">
        <p14:creationId xmlns:p14="http://schemas.microsoft.com/office/powerpoint/2010/main" val="18426419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97ED01-A00F-4B09-9369-7F960B820371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2A0A83-CBB1-4AB2-A9D8-750D330EB11F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최종 표 26/26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F1B02-E2AC-4EF9-A71C-0C14314C3E6F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latest_event_at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C56D77-6E9F-4BD9-8587-CFB494A1DC42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1FF08F-6AF1-4BCD-A76E-16A85C25B0E7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582E8A-984A-4E6E-A57A-80954262419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CD2F75-2F13-4619-BD32-9D35955DF486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1FEDDD-1C75-4591-9A8D-C12ED68F6D62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가장 최근 센서 시각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5B3590-3132-495E-AE1B-81C126D7658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latest_event_at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3FEB2B-C6A6-49C1-908F-D98AB644D8F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358666-CA35-4157-8F9A-9A2D6BAFD7B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5A864A-15A7-4A16-9509-96B5F614767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2026-08-30 20:00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A01A04-31BE-4AD5-99EB-E7008BE1CB8A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FABFCB-F6E4-437B-9576-4525EBD49A4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datetime64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만든 요약 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789480-48D4-4B9A-A6E7-BC55B60EB2B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716EBB-940E-4869-A3D0-5550A0201992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마지막으로 데이터가 들어온 시각을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B51562-8932-45D6-A34C-50370F983AB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2B2C65-D371-4895-953B-90CFB8EDA767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최근 점검일과 다른 열입니다.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726622B-F8D8-4B60-8AE1-80D00EA92A8B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834F77-E4FA-4C06-9470-AEA1F8617602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max</a:t>
            </a:r>
          </a:p>
        </p:txBody>
      </p:sp>
    </p:spTree>
    <p:extLst>
      <p:ext uri="{BB962C8B-B14F-4D97-AF65-F5344CB8AC3E}">
        <p14:creationId xmlns:p14="http://schemas.microsoft.com/office/powerpoint/2010/main" val="1631622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4187F1-EB95-443A-883D-DBCA4B232A16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79C256-800C-4DF2-942E-E8F2C6871C76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저장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46DE9C-2FD3-4E98-8055-347632EF9159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과제가 남기는 두 결과 파일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F8A327-9D08-43C4-BBB8-1FD47F594D21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E41727-D7EB-4D37-BA50-F5F96F9C5A56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ACCC2E-C8EC-430C-893E-6BCE5EB37136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30BAD9-E387-4A6A-8023-322F4ED2A97B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098B9E-0C1A-4E5E-8716-03254D2456FB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manufacturing_equipment_summary.csv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39CF27-7375-4D7F-A07B-3FDA7800DC10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DataFrame 240행×26열을 CSV로 저장합니다. 3주차 API와 DB가 읽습니다.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6E8D0A-3896-4FA5-8C44-89AF613DE3E0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10287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606BCD-5067-4BB8-89DB-D731D4691D7A}"/>
              </a:ext>
            </a:extLst>
          </p:cNvPr>
          <p:cNvSpPr>
            <a:spLocks noGrp="1"/>
          </p:cNvSpPr>
          <p:nvPr/>
        </p:nvSpPr>
        <p:spPr>
          <a:xfrm>
            <a:off x="704850" y="30956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manufacturing_preprocessor.joblib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BE64D7-73E9-4DE0-BDDE-F4ACC060CCCA}"/>
              </a:ext>
            </a:extLst>
          </p:cNvPr>
          <p:cNvSpPr>
            <a:spLocks noGrp="1"/>
          </p:cNvSpPr>
          <p:nvPr/>
        </p:nvSpPr>
        <p:spPr>
          <a:xfrm>
            <a:off x="704850" y="355282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전처리기가 숫자 11열과 문자 4열의 결측 처리, 스케일링, 범주 열 구조를 기억합니다.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9A3064-1A83-454E-84E8-EEEA33100876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10287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5C2B18-9640-45DE-8BF8-9002BDB9B3A3}"/>
              </a:ext>
            </a:extLst>
          </p:cNvPr>
          <p:cNvSpPr>
            <a:spLocks noGrp="1"/>
          </p:cNvSpPr>
          <p:nvPr/>
        </p:nvSpPr>
        <p:spPr>
          <a:xfrm>
            <a:off x="704850" y="42386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JSON 미리보기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66FB3D-4E90-44B2-89E2-8A439EF0CC77}"/>
              </a:ext>
            </a:extLst>
          </p:cNvPr>
          <p:cNvSpPr>
            <a:spLocks noGrp="1"/>
          </p:cNvSpPr>
          <p:nvPr/>
        </p:nvSpPr>
        <p:spPr>
          <a:xfrm>
            <a:off x="704850" y="469582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최종표 앞 3행을 list[dict] 모양으로 바꿔 API 응답 형태를 미리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189276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B18444C-6C95-4625-A4BB-BAD5A9BE138C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313AE5-F6CC-46F3-8561-4A1EB05F62D3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FastAPI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E1C62F-2C5C-45E7-85C1-62E8C9651142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선택 확장에서는 결과표를 API로 보여 줍니다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BE26F5-D0C9-4611-BCE7-43BBFA22F934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00D1F8-A709-4025-B9A7-C97544DEAC04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606042-9C2E-4024-9E44-A118353E0CE5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143543-EFE8-47DA-9E1D-C1A85FCDFF07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5DBF9E-1AA2-4EA3-9836-401ABF44E12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python -m uvicorn api_app_student:app --reload --host 127.0.0.1 --port 8010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9F4BA7-3024-46CF-AB9C-F964A79719E0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009650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/health에서 서버가 실행 중인지 확인합니다.</a:t>
            </a:r>
          </a:p>
          <a:p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/items?limit=3에서 결과표 앞 3행을 JSON으로 받습니다.</a:t>
            </a:r>
          </a:p>
          <a:p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/docs에서 FastAPI가 자동으로 만든 요청 문서를 확인합니다.</a:t>
            </a:r>
          </a:p>
          <a:p>
            <a:pPr marL="266700" indent="-127000">
              <a:spcAft>
                <a:spcPts val="1600"/>
              </a:spcAft>
              <a:buChar char="•"/>
              <a:def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3주차에는 같은 CSV를 SQLite와 Streamlit으로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63343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A76E19-53C3-434A-963D-728ED28F7F11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2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148892-14B2-44F6-9725-C4A91EE61DB8}"/>
              </a:ext>
            </a:extLst>
          </p:cNvPr>
          <p:cNvSpPr>
            <a:spLocks noGrp="1"/>
          </p:cNvSpPr>
          <p:nvPr/>
        </p:nvSpPr>
        <p:spPr>
          <a:xfrm>
            <a:off x="10096500" y="2667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체크리스트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7AC987-3A8F-4231-900C-6A801552FD16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과제에서 데이터를 다루는 순서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352119-2073-4ED2-ABC0-8D54B3BC2EE4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1A7F08-1934-4D8C-8AF1-3D0FAFAF16AA}"/>
              </a:ext>
            </a:extLst>
          </p:cNvPr>
          <p:cNvSpPr>
            <a:spLocks noGrp="1"/>
          </p:cNvSpPr>
          <p:nvPr/>
        </p:nvSpPr>
        <p:spPr>
          <a:xfrm>
            <a:off x="428625" y="6191250"/>
            <a:ext cx="1133475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0D03A-CB89-4674-A2C3-ACE0F2CEA80F}"/>
              </a:ext>
            </a:extLst>
          </p:cNvPr>
          <p:cNvSpPr>
            <a:spLocks noGrp="1"/>
          </p:cNvSpPr>
          <p:nvPr/>
        </p:nvSpPr>
        <p:spPr>
          <a:xfrm>
            <a:off x="523875" y="635317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이름보다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79179C-598D-408B-99D9-04B57E0B89C7}"/>
              </a:ext>
            </a:extLst>
          </p:cNvPr>
          <p:cNvSpPr>
            <a:spLocks noGrp="1"/>
          </p:cNvSpPr>
          <p:nvPr/>
        </p:nvSpPr>
        <p:spPr>
          <a:xfrm>
            <a:off x="11277600" y="6353175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CC84AB-22C5-4C7E-AFE0-899D6210446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A86114-32A7-41CF-8E1D-4517A7BCF83B}"/>
              </a:ext>
            </a:extLst>
          </p:cNvPr>
          <p:cNvSpPr>
            <a:spLocks noGrp="1"/>
          </p:cNvSpPr>
          <p:nvPr/>
        </p:nvSpPr>
        <p:spPr>
          <a:xfrm>
            <a:off x="1571625" y="168592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Q1에서 sensor_batch_*.csv 12개를 찾습니다.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07FE6C-11EA-483F-86B7-56CA3A1B8B19}"/>
              </a:ext>
            </a:extLst>
          </p:cNvPr>
          <p:cNvSpPr>
            <a:spLocks noGrp="1"/>
          </p:cNvSpPr>
          <p:nvPr/>
        </p:nvSpPr>
        <p:spPr>
          <a:xfrm>
            <a:off x="1571625" y="211455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0031B8-72E6-427D-957C-1EF2F450588D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CB40A9-4D31-4CEF-964F-D44E9B24780F}"/>
              </a:ext>
            </a:extLst>
          </p:cNvPr>
          <p:cNvSpPr>
            <a:spLocks noGrp="1"/>
          </p:cNvSpPr>
          <p:nvPr/>
        </p:nvSpPr>
        <p:spPr>
          <a:xfrm>
            <a:off x="1571625" y="22669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출처 열을 붙여 7,200행으로 합칩니다.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01DDDE-92F7-4D0D-B184-2871DAD9AEE6}"/>
              </a:ext>
            </a:extLst>
          </p:cNvPr>
          <p:cNvSpPr>
            <a:spLocks noGrp="1"/>
          </p:cNvSpPr>
          <p:nvPr/>
        </p:nvSpPr>
        <p:spPr>
          <a:xfrm>
            <a:off x="1571625" y="26955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74C2E9-2F4F-41CE-8945-3C592B2F8F9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753FD3-ED1F-4E22-8234-1E27A53619D6}"/>
              </a:ext>
            </a:extLst>
          </p:cNvPr>
          <p:cNvSpPr>
            <a:spLocks noGrp="1"/>
          </p:cNvSpPr>
          <p:nvPr/>
        </p:nvSpPr>
        <p:spPr>
          <a:xfrm>
            <a:off x="1571625" y="28479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Q3에서 숫자와 날짜를 정리하고 작은 넓은 표를 만듭니다.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2287F0-8297-4C70-BA59-7D93F2B7D1A2}"/>
              </a:ext>
            </a:extLst>
          </p:cNvPr>
          <p:cNvSpPr>
            <a:spLocks noGrp="1"/>
          </p:cNvSpPr>
          <p:nvPr/>
        </p:nvSpPr>
        <p:spPr>
          <a:xfrm>
            <a:off x="1571625" y="327660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F68129-458B-4D57-B144-85F9C54A4F50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04D3E9-333F-46C9-91D5-A82323C76DE7}"/>
              </a:ext>
            </a:extLst>
          </p:cNvPr>
          <p:cNvSpPr>
            <a:spLocks noGrp="1"/>
          </p:cNvSpPr>
          <p:nvPr/>
        </p:nvSpPr>
        <p:spPr>
          <a:xfrm>
            <a:off x="1571625" y="34290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Q4에서 30일 로그를 설비 240행으로 요약합니다.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C2B05A-F28B-489C-9A1E-FD23EFA58289}"/>
              </a:ext>
            </a:extLst>
          </p:cNvPr>
          <p:cNvSpPr>
            <a:spLocks noGrp="1"/>
          </p:cNvSpPr>
          <p:nvPr/>
        </p:nvSpPr>
        <p:spPr>
          <a:xfrm>
            <a:off x="1571625" y="385762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1FCB9B-3990-4E7F-A5C6-C4A84F4D8FA6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02FCAD-AFA5-4E05-9CF3-C7E66B7A7CEE}"/>
              </a:ext>
            </a:extLst>
          </p:cNvPr>
          <p:cNvSpPr>
            <a:spLocks noGrp="1"/>
          </p:cNvSpPr>
          <p:nvPr/>
        </p:nvSpPr>
        <p:spPr>
          <a:xfrm>
            <a:off x="1571625" y="401002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Q5에서 1주차 기준표와 ID로 연결합니다.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CE7B29-0D1B-4A07-A89C-2F8A3591E46D}"/>
              </a:ext>
            </a:extLst>
          </p:cNvPr>
          <p:cNvSpPr>
            <a:spLocks noGrp="1"/>
          </p:cNvSpPr>
          <p:nvPr/>
        </p:nvSpPr>
        <p:spPr>
          <a:xfrm>
            <a:off x="1571625" y="443865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EC10B1-9144-46DE-A650-2C61DAEF7321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Q6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0D2BA7-46D5-4546-A4DE-EAC77D74E942}"/>
              </a:ext>
            </a:extLst>
          </p:cNvPr>
          <p:cNvSpPr>
            <a:spLocks noGrp="1"/>
          </p:cNvSpPr>
          <p:nvPr/>
        </p:nvSpPr>
        <p:spPr>
          <a:xfrm>
            <a:off x="1571625" y="45910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Q6에서 전처리기를 학습해 joblib로 저장합니다.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9FFF45-BC65-4CE0-A022-05492A9180D8}"/>
              </a:ext>
            </a:extLst>
          </p:cNvPr>
          <p:cNvSpPr>
            <a:spLocks noGrp="1"/>
          </p:cNvSpPr>
          <p:nvPr/>
        </p:nvSpPr>
        <p:spPr>
          <a:xfrm>
            <a:off x="1571625" y="50196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6F7CFF-26AA-437C-9C8C-E041BF08EC7C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Q7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EEEA42C-0CFD-4D97-99A7-B0773B666A1D}"/>
              </a:ext>
            </a:extLst>
          </p:cNvPr>
          <p:cNvSpPr>
            <a:spLocks noGrp="1"/>
          </p:cNvSpPr>
          <p:nvPr/>
        </p:nvSpPr>
        <p:spPr>
          <a:xfrm>
            <a:off x="1571625" y="51720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Q7에서 3주차용 CSV와 JSON 미리보기를 만듭니다.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109E059D-3D54-4E5C-B94F-D4BBA62E1081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572750" cy="285750"/>
          </a:xfrm>
          <a:prstGeom prst="roundRect">
            <a:avLst>
              <a:gd name="adj" fmla="val 26667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08E986-A3E5-44C1-ADF6-B2FDCDDDAD3E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원천 7,200행은 보존하고, 분석과 서비스에 쓸 240행 요약표를 별도로 만듭니다.</a:t>
            </a:r>
          </a:p>
        </p:txBody>
      </p:sp>
    </p:spTree>
    <p:extLst>
      <p:ext uri="{BB962C8B-B14F-4D97-AF65-F5344CB8AC3E}">
        <p14:creationId xmlns:p14="http://schemas.microsoft.com/office/powerpoint/2010/main" val="7265555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10499</Words>
  <Application>Microsoft Macintosh PowerPoint</Application>
  <DocSecurity>0</DocSecurity>
  <PresentationFormat>와이드스크린</PresentationFormat>
  <Paragraphs>1814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7" baseType="lpstr">
      <vt:lpstr>Malgun Gothic</vt:lpstr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김윤이</cp:lastModifiedBy>
  <cp:revision>1</cp:revision>
  <dcterms:created xsi:type="dcterms:W3CDTF">2026-10-07T23:43:01Z</dcterms:created>
  <dcterms:modified xsi:type="dcterms:W3CDTF">2026-10-08T03:17:06Z</dcterms:modified>
</cp:coreProperties>
</file>