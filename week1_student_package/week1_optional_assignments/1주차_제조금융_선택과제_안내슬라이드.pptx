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0ceeff8f314432" /><Relationship Type="http://schemas.openxmlformats.org/officeDocument/2006/relationships/extended-properties" Target="/docProps/app.xml" Id="Rcefb664ad97c4de1" /><Relationship Type="http://schemas.openxmlformats.org/officeDocument/2006/relationships/officeDocument" Target="/ppt/presentation.xml" Id="R0ee5663a53044e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23d2b5e05044f0"/>
  </p:sldMasterIdLst>
  <p:notesMasterIdLst>
    <p:notesMasterId xmlns:r="http://schemas.openxmlformats.org/officeDocument/2006/relationships" r:id="R0bd76bb39b754e31"/>
  </p:notesMasterIdLst>
  <p:sldIdLst>
    <p:sldId xmlns:r="http://schemas.openxmlformats.org/officeDocument/2006/relationships" id="256" r:id="Rd1f82df1a9d742cf"/>
    <p:sldId xmlns:r="http://schemas.openxmlformats.org/officeDocument/2006/relationships" id="257" r:id="R4983d08fabda4d92"/>
    <p:sldId xmlns:r="http://schemas.openxmlformats.org/officeDocument/2006/relationships" id="258" r:id="R5ab80fcc81b34492"/>
    <p:sldId xmlns:r="http://schemas.openxmlformats.org/officeDocument/2006/relationships" id="259" r:id="Rc0ffbc8eb0f440c7"/>
    <p:sldId xmlns:r="http://schemas.openxmlformats.org/officeDocument/2006/relationships" id="260" r:id="Rc27e05b3402a415a"/>
    <p:sldId xmlns:r="http://schemas.openxmlformats.org/officeDocument/2006/relationships" id="261" r:id="R619f692045244443"/>
    <p:sldId xmlns:r="http://schemas.openxmlformats.org/officeDocument/2006/relationships" id="262" r:id="Re6acc8ff71e345f8"/>
    <p:sldId xmlns:r="http://schemas.openxmlformats.org/officeDocument/2006/relationships" id="263" r:id="Rd9b99ed388174053"/>
    <p:sldId xmlns:r="http://schemas.openxmlformats.org/officeDocument/2006/relationships" id="264" r:id="R84a9f32d97ff436c"/>
    <p:sldId xmlns:r="http://schemas.openxmlformats.org/officeDocument/2006/relationships" id="265" r:id="Rda7c3ad00ca74a69"/>
    <p:sldId xmlns:r="http://schemas.openxmlformats.org/officeDocument/2006/relationships" id="266" r:id="Ra30b73ff763c4c5f"/>
    <p:sldId xmlns:r="http://schemas.openxmlformats.org/officeDocument/2006/relationships" id="267" r:id="R3968254fbbd443a7"/>
    <p:sldId xmlns:r="http://schemas.openxmlformats.org/officeDocument/2006/relationships" id="268" r:id="Re5668afb45874e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19debc1722425f" /><Relationship Type="http://schemas.openxmlformats.org/officeDocument/2006/relationships/slideMaster" Target="/ppt/slideMasters/slideMaster1.xml" Id="R7e23d2b5e05044f0" /><Relationship Type="http://schemas.openxmlformats.org/officeDocument/2006/relationships/notesMaster" Target="/ppt/notesMasters/notesMaster1.xml" Id="R0bd76bb39b754e31" /><Relationship Type="http://schemas.openxmlformats.org/officeDocument/2006/relationships/presProps" Target="/ppt/presProps.xml" Id="R5994a117857a4218" /><Relationship Type="http://schemas.openxmlformats.org/officeDocument/2006/relationships/tableStyles" Target="/ppt/tableStyles.xml" Id="Rb455956b11b64e57" /><Relationship Type="http://schemas.openxmlformats.org/officeDocument/2006/relationships/slide" Target="/ppt/slides/slide1.xml" Id="Rd1f82df1a9d742cf" /><Relationship Type="http://schemas.openxmlformats.org/officeDocument/2006/relationships/slide" Target="/ppt/slides/slide2.xml" Id="R4983d08fabda4d92" /><Relationship Type="http://schemas.openxmlformats.org/officeDocument/2006/relationships/slide" Target="/ppt/slides/slide3.xml" Id="R5ab80fcc81b34492" /><Relationship Type="http://schemas.openxmlformats.org/officeDocument/2006/relationships/slide" Target="/ppt/slides/slide4.xml" Id="Rc0ffbc8eb0f440c7" /><Relationship Type="http://schemas.openxmlformats.org/officeDocument/2006/relationships/slide" Target="/ppt/slides/slide5.xml" Id="Rc27e05b3402a415a" /><Relationship Type="http://schemas.openxmlformats.org/officeDocument/2006/relationships/slide" Target="/ppt/slides/slide6.xml" Id="R619f692045244443" /><Relationship Type="http://schemas.openxmlformats.org/officeDocument/2006/relationships/slide" Target="/ppt/slides/slide7.xml" Id="Re6acc8ff71e345f8" /><Relationship Type="http://schemas.openxmlformats.org/officeDocument/2006/relationships/slide" Target="/ppt/slides/slide8.xml" Id="Rd9b99ed388174053" /><Relationship Type="http://schemas.openxmlformats.org/officeDocument/2006/relationships/slide" Target="/ppt/slides/slide9.xml" Id="R84a9f32d97ff436c" /><Relationship Type="http://schemas.openxmlformats.org/officeDocument/2006/relationships/slide" Target="/ppt/slides/slide10.xml" Id="Rda7c3ad00ca74a69" /><Relationship Type="http://schemas.openxmlformats.org/officeDocument/2006/relationships/slide" Target="/ppt/slides/slide11.xml" Id="Ra30b73ff763c4c5f" /><Relationship Type="http://schemas.openxmlformats.org/officeDocument/2006/relationships/slide" Target="/ppt/slides/slide12.xml" Id="R3968254fbbd443a7" /><Relationship Type="http://schemas.openxmlformats.org/officeDocument/2006/relationships/slide" Target="/ppt/slides/slide13.xml" Id="Re5668afb45874e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5b0b5660fe46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e03f32f72b4ad1" /><Relationship Type="http://schemas.openxmlformats.org/officeDocument/2006/relationships/notesMaster" Target="/ppt/notesMasters/notesMaster1.xml" Id="R76baedf643f14b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04644123d14a32" /><Relationship Type="http://schemas.openxmlformats.org/officeDocument/2006/relationships/notesMaster" Target="/ppt/notesMasters/notesMaster1.xml" Id="Raa509d3609194d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5d437577464fe8" /><Relationship Type="http://schemas.openxmlformats.org/officeDocument/2006/relationships/notesMaster" Target="/ppt/notesMasters/notesMaster1.xml" Id="R1102c8f5dab448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d5d2b798394a5a" /><Relationship Type="http://schemas.openxmlformats.org/officeDocument/2006/relationships/notesMaster" Target="/ppt/notesMasters/notesMaster1.xml" Id="Ra8717f679d7248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06c41240954b42" /><Relationship Type="http://schemas.openxmlformats.org/officeDocument/2006/relationships/notesMaster" Target="/ppt/notesMasters/notesMaster1.xml" Id="Rd1a1e8c3826c4c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5d9536eff84b51" /><Relationship Type="http://schemas.openxmlformats.org/officeDocument/2006/relationships/notesMaster" Target="/ppt/notesMasters/notesMaster1.xml" Id="R1bfaf06efbeb46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353a70f0554598" /><Relationship Type="http://schemas.openxmlformats.org/officeDocument/2006/relationships/notesMaster" Target="/ppt/notesMasters/notesMaster1.xml" Id="Ree2b70e8a14740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1943a4f99c4aa2" /><Relationship Type="http://schemas.openxmlformats.org/officeDocument/2006/relationships/notesMaster" Target="/ppt/notesMasters/notesMaster1.xml" Id="R45519d3cfd7847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010dc266e44fe9" /><Relationship Type="http://schemas.openxmlformats.org/officeDocument/2006/relationships/notesMaster" Target="/ppt/notesMasters/notesMaster1.xml" Id="R84ecf63cb8f34f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b3ee6be32f4134" /><Relationship Type="http://schemas.openxmlformats.org/officeDocument/2006/relationships/notesMaster" Target="/ppt/notesMasters/notesMaster1.xml" Id="R38ef220bc50645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63f3e53d53487b" /><Relationship Type="http://schemas.openxmlformats.org/officeDocument/2006/relationships/notesMaster" Target="/ppt/notesMasters/notesMaster1.xml" Id="R61e195e8cf584a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ef8611f7ed4386" /><Relationship Type="http://schemas.openxmlformats.org/officeDocument/2006/relationships/notesMaster" Target="/ppt/notesMasters/notesMaster1.xml" Id="R0c752e40d39b4d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0084668c6544e1" /><Relationship Type="http://schemas.openxmlformats.org/officeDocument/2006/relationships/notesMaster" Target="/ppt/notesMasters/notesMaster1.xml" Id="R77a21489ad5b4f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과제는 1주차 8교시를 대체하는 필수 과제가 아니라 선택 복습 과제입니다. 학생은 제조 또는 금융 중 하나만 고르면 됩니다. 결혼정보회사 데이터에서 했던 일을 다른 이름의 열과 다른 업무 상황에서도 할 수 있는지 확인하는 것이 목적입니다.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제조와 금융을 모두 할 필요는 없습니다. 제조의 정비 검토 여부와 금융의 수동 검토 여부는 실제 판단이 아니라 전처리·분할·파이프라인을 연습하기 위한 합성 라벨입니다. 학생의 관심 분야에 따라 하나를 선택하게 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장에서는 새 도메인의 용어를 외우게 하지 않습니다. 왼쪽의 수업 개념과 오른쪽 과제 개념을 일대일로 연결합니다. 학생에게 “이름만 바뀐 것은 무엇이고, 데이터 모양이 달라진 것은 무엇인가?”라고 물어보세요.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[사용 위치]</a:t>
            </a:r>
          </a:p>
          <a:p xmlns:a="http://schemas.openxmlformats.org/drawingml/2006/main">
            <a:r>
              <a:t>기존 3쪽의 “회원에서 설비·가맹점으로 바뀐다”는 큰 구조를 설명한 직후에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[이 장의 목표]</a:t>
            </a:r>
          </a:p>
          <a:p xmlns:a="http://schemas.openxmlformats.org/drawingml/2006/main">
            <a:r>
              <a:t>학생이 열 이름을 외우는 대신, 결혼정보회사 데이터에서 했던 처리 역할을 제조와 금융 데이터에서 다시 찾게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[표를 읽는 방법]</a:t>
            </a:r>
          </a:p>
          <a:p xmlns:a="http://schemas.openxmlformats.org/drawingml/2006/main">
            <a:r>
              <a:t>가로로 읽습니다. 예를 들어 대상을 구분하는 ID는 결혼정보 데이터의 member_id, 제조 데이터의 equipment_id, 금융 데이터의 merchant_id입니다. 세 열의 업무 의미는 다르지만 모두 한 대상을 식별하고 중복 확인과 표 결합의 기준으로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[꼭 설명할 주의점]</a:t>
            </a:r>
          </a:p>
          <a:p xmlns:a="http://schemas.openxmlformats.org/drawingml/2006/main">
            <a:r>
              <a:t>같은 행에 있다고 해서 현실 업무의 의미가 완전히 같은 것은 아닙니다. residence_region은 회원의 거주 지역이고 plant는 설비가 있는 공장입니다. 두 열은 모두 지역이나 위치를 나타내는 범주형 열이라서 표기 확인, 필터링, 그룹별 집계에 비슷하게 사용할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그대로 설명할 문장]</a:t>
            </a:r>
          </a:p>
          <a:p xmlns:a="http://schemas.openxmlformats.org/drawingml/2006/main">
            <a:r>
              <a:t>“과제에서는 처음 보는 영어 열 이름이 나오지만, 우리가 해야 할 일은 완전히 새롭지 않습니다. 회원 ID를 설비 ID나 가맹점 ID로 바꾸어 생각하고, 날짜는 날짜로 변환하고, 문자로 섞인 숫자는 계산 가능한 숫자로 바꾸면 됩니다. 이름이 아니라 이 열이 맡은 역할을 먼저 찾으세요.”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[행별 핵심 연결]</a:t>
            </a:r>
          </a:p>
          <a:p xmlns:a="http://schemas.openxmlformats.org/drawingml/2006/main">
            <a:r>
              <a:t>- member_id, equipment_id, merchant_id는 대상 식별과 merge의 기준입니다.</a:t>
            </a:r>
          </a:p>
          <a:p xmlns:a="http://schemas.openxmlformats.org/drawingml/2006/main">
            <a:r>
              <a:t>- signup_datetime, install_date, account_open_date는 시작 시점을 나타내므로 날짜 자료형으로 바꿉니다.</a:t>
            </a:r>
          </a:p>
          <a:p xmlns:a="http://schemas.openxmlformats.org/drawingml/2006/main">
            <a:r>
              <a:t>- annual_income_10k_krw, rated_cycle_sec, monthly_sales_10k_krw는 문자 값이 섞일 수 있어 숫자 변환과 결측 처리가 필요합니다.</a:t>
            </a:r>
          </a:p>
          <a:p xmlns:a="http://schemas.openxmlformats.org/drawingml/2006/main">
            <a:r>
              <a:t>- meeting_scheduled, maintenance_required, manual_review_required는 교육용 정답 y로 분리합니다.</a:t>
            </a:r>
          </a:p>
          <a:p xmlns:a="http://schemas.openxmlformats.org/drawingml/2006/main">
            <a:r>
              <a:t>- 신규 회원, 신규 설비, 신규 가맹점에는 train에서 만든 전처리 기준을 다시 학습하지 않고 transform만 적용합니다.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[학생에게 물을 질문]</a:t>
            </a:r>
          </a:p>
          <a:p xmlns:a="http://schemas.openxmlformats.org/drawingml/2006/main">
            <a:r>
              <a:t>“제조 데이터의 rated_cycle_sec를 보았을 때, 결혼정보 수업의 어느 열에서 했던 숫자 변환을 떠올릴 수 있나요?”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[기대 답]</a:t>
            </a:r>
          </a:p>
          <a:p xmlns:a="http://schemas.openxmlformats.org/drawingml/2006/main">
            <a:r>
              <a:t>annual_income_10k_krw처럼 문자와 숫자가 섞일 수 있는 열이므로 pd.to_numeric과 결측 처리를 떠올릴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[다음 장 연결]</a:t>
            </a:r>
          </a:p>
          <a:p xmlns:a="http://schemas.openxmlformats.org/drawingml/2006/main">
            <a:r>
              <a:t>다음 장에서 이 대응 관계를 실제 과제의 일곱 처리 단계에 적용합니다.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[자료 근거]</a:t>
            </a:r>
          </a:p>
          <a:p xmlns:a="http://schemas.openxmlformats.org/drawingml/2006/main">
            <a:r>
              <a:t>- course_materials/matchmaking_data/01_week1/00_데이터_열이름과뜻.md</a:t>
            </a:r>
          </a:p>
          <a:p xmlns:a="http://schemas.openxmlformats.org/drawingml/2006/main">
            <a:r>
              <a:t>- course_materials/assignments/week1/option1_manufacturing/1주차_제조_데이터사전.md</a:t>
            </a:r>
          </a:p>
          <a:p xmlns:a="http://schemas.openxmlformats.org/drawingml/2006/main">
            <a:r>
              <a:t>- course_materials/assignments/week1/option2_finance/1주차_금융_데이터사전.md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학생은 노트북 Q1부터 Q7까지 진행합니다. 각 Q에서 실행 전에 예상 결과를 적고, FILL_ME만 채웁니다. 정답 노트북은 제출 뒤 공개하세요.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폴더는 노트북과 함께 폴더째 배포합니다. 학생이 CSV를 다운로드 폴더에서 하나씩 옮기지 않게 하세요. 노트북의 경로 찾기 함수는 프로젝트 안에서 과제 폴더를 자동으로 찾습니다.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243행에는 설비가 243대 있다는 뜻이 아닙니다. 고유 equipment_id는 240개이며 세 행이 중복입니다. rated_cycle_sec의 ‘미측정’은 고장이 아니라 숫자로 계산할 수 없는 문자열 예시입니다.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transform과 fit_transform을 혼동하면 “새 설비의 값으로 자의 눈금을 다시 만들 것인가?”라고 물어보세요. 제조 과제는 안전 판단 시스템을 만드는 것이 아니라 동일 전처리 기준을 재사용하는 습관을 연습합니다.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금융 데이터라고 해서 회계나 투자 지식이 필요한 과제가 아닙니다. 가맹점 운영 데이터를 이용해 같은 Pandas·전처리 원리를 연습합니다. 실제 고객 신용 판단이나 금융 의사결정에는 사용하지 않는 합성 데이터입니다.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target을 X에 포함하면 답안 유출이 됩니다. manual_review_required는 y로 분리하고 입력에서는 제외해야 합니다. unknown 업종이나 지역이 들어와도 handle_unknown='ignore'가 열 구조를 유지합니다.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assert가 통과해도 학생이 과정을 이해했는지 짧은 설명을 함께 받습니다. 반대로 결과가 조금 다르더라도 원인을 찾은 기록이 있으면 과정 점수에 반영할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주차별 연계를 강조하세요. 1주차 결과가 대상의 기준정보이고, 2주차 로그는 같은 대상의 반복 기록입니다. 가능하면 학생은 1주차에 고른 도메인을 2주차에도 유지하게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학생에게 3주차까지 할 것을 지금 전부 요구하지 않습니다. 다만 지금 만드는 ID, 정제 규칙, 출력 CSV가 다음 주차에 버려지지 않고 다시 쓰인다는 큰 그림을 보여 주세요.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7f8e3382464c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57b99a62f64751" /><Relationship Type="http://schemas.openxmlformats.org/officeDocument/2006/relationships/slideLayout" Target="/ppt/slideLayouts/slideLayout1.xml" Id="Rdc5bf8e5e84046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5bf8e5e84046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56266ec6549d1" /><Relationship Type="http://schemas.openxmlformats.org/officeDocument/2006/relationships/notesSlide" Target="/ppt/notesSlides/notesSlide1.xml" Id="R5a40f56c228f44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d3d65ae25419a" /><Relationship Type="http://schemas.openxmlformats.org/officeDocument/2006/relationships/notesSlide" Target="/ppt/notesSlides/notesSlide2.xml" Id="R1971cfbf1da24c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d7fa9342244eb" /><Relationship Type="http://schemas.openxmlformats.org/officeDocument/2006/relationships/notesSlide" Target="/ppt/notesSlides/notesSlide3.xml" Id="Re51f7b9a4c2740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1e95cf6504b12" /><Relationship Type="http://schemas.openxmlformats.org/officeDocument/2006/relationships/notesSlide" Target="/ppt/notesSlides/notesSlide4.xml" Id="R142143f3eec34d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89e997c884c02" /><Relationship Type="http://schemas.openxmlformats.org/officeDocument/2006/relationships/notesSlide" Target="/ppt/notesSlides/notesSlide5.xml" Id="R00937e3f9e5e4e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483f379c6431b" /><Relationship Type="http://schemas.openxmlformats.org/officeDocument/2006/relationships/notesSlide" Target="/ppt/notesSlides/notesSlide6.xml" Id="R785c9ec4f00a4e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412a151de4ddd" /><Relationship Type="http://schemas.openxmlformats.org/officeDocument/2006/relationships/notesSlide" Target="/ppt/notesSlides/notesSlide7.xml" Id="R7dd56cfad4f44d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b7034712d4aa3" /><Relationship Type="http://schemas.openxmlformats.org/officeDocument/2006/relationships/notesSlide" Target="/ppt/notesSlides/notesSlide8.xml" Id="R10f6217e2fda45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5cc7595ae4673" /><Relationship Type="http://schemas.openxmlformats.org/officeDocument/2006/relationships/notesSlide" Target="/ppt/notesSlides/notesSlide9.xml" Id="R92918e55c4c548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f8eac956b431e" /><Relationship Type="http://schemas.openxmlformats.org/officeDocument/2006/relationships/notesSlide" Target="/ppt/notesSlides/notesSlide10.xml" Id="Rdf92ac5d4a9b45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b778ade4d4534" /><Relationship Type="http://schemas.openxmlformats.org/officeDocument/2006/relationships/notesSlide" Target="/ppt/notesSlides/notesSlide11.xml" Id="Recf408aa823248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3dd18f6054bdc" /><Relationship Type="http://schemas.openxmlformats.org/officeDocument/2006/relationships/notesSlide" Target="/ppt/notesSlides/notesSlide12.xml" Id="R50f479eb221e47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2eed3988f4b6c" /><Relationship Type="http://schemas.openxmlformats.org/officeDocument/2006/relationships/notesSlide" Target="/ppt/notesSlides/notesSlide13.xml" Id="R9a10c12732444a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E99C4-AD6B-4489-B760-52CE0165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데이터 엔지니어링 · 1주차 선택과제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8D45C-9A3F-42BA-963C-7166F3B2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10953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같은 데이터 처리 원리를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제조와 금융에 옮겨 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22A28-B5A4-46DD-9BBC-B2ED62C0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671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둘 중 하나를 골라 1주차 내용을 다시 적용합니다.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55F4F-8921-4BA1-9296-352A4E5C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86375"/>
            <a:ext cx="10953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243행 원본을 240행 기준표로 정리하고, 새 데이터 40행에 같은 전처리 기준을 적용합니다.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9A446-5878-4226-8732-0E680962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F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39236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8B464-A39D-45BD-B587-7D6F328F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1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7A45D-51B7-4D48-BBE8-22925575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선택과제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3EA83-451C-413A-8E4D-DD48E7E6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어떤 데이터를 선택할까요?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7FB55-4882-48A9-B8D3-0EA82204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48652-1155-48C7-BE14-3B2D4523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238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B2D4B-3DF8-4ABA-80ED-AB544A97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선택과제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66861-D618-4F44-B91C-3061AC6B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481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제조 · 설비 기준표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23BCC-764A-4409-B0DF-ADBCEF8C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48196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설비 240대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센서·점검 기준표 결합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정비 검토 라벨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2주차에는 30일 센서 로그로 확장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92CA1-79FA-42FB-8D8C-889380EF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33550"/>
            <a:ext cx="5238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266F7-7CB2-45E5-B6C2-00FB03B8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선택과제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A70CE-138C-4CB3-9792-746F3E1D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481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금융 · 가맹점 기준표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E81C3-1387-4768-9A32-5EA374AA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48196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가맹점 240곳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운영 규칙표 결합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수동 검토 라벨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2주차에는 30일 거래 로그로 확장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6CDF4-896C-4230-A32D-599192EF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관심 있는 도메인 하나만 골라도 학습하는 원리는 같습니다.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87A0F-B8A8-476A-B490-59208AF4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69786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621AB-C90A-4258-B55D-022A2B25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1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6F46F-9DF6-46AC-9239-2614B5DC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선택과제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88A91-969C-4A96-8515-E7A8BB66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결혼정보회사에서 배운 생각은 무엇으로 바뀔까요?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E28FE-2E59-4446-B535-A46F4DF0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518B9-3063-4FD5-B406-548A3BB0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238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D3538-53DB-431F-BBC0-C7DED860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선택과제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18ADE-33D0-4CA3-86AE-4F6493E0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481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회원 → 설비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8AA69-E0A0-4C25-82E2-F28957DB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48196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member_id → equipment_id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회원 기준표 → 설비 기준표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희망조건표 → 센서·점검 기준표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신규회원 → 신규설비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77BDA-37C4-4A61-9A03-8D282532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33550"/>
            <a:ext cx="5238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EA5E5-40F6-4DA2-8EB2-4C76DCA2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선택과제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96D40-CAED-4620-B549-99C154F5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481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회원 → 가맹점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94CA4-4818-4367-BB7D-EEDF6A75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48196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member_id → merchant_id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회원 기준표 → 가맹점 기준표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희망조건표 → 운영 규칙표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신규회원 → 신규가맹점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ACE52-B71A-4ED9-AD19-C26F48DD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열 이름은 달라도 ID로 연결하고, 숫자와 문자를 나누어 처리하는 원리는 같습니다.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EE17A6-F684-4569-8BDC-A99A7F9A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67274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621AB-C90A-4258-B55D-022A2B25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1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6F46F-9DF6-46AC-9239-2614B5DC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열별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88A91-969C-4A96-8515-E7A8BB66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결혼정보·제조·금융 데이터의 처리 역할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E28FE-2E59-4446-B535-A46F4DF0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ACE52-B71A-4ED9-AD19-C26F48DD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같은 행은 업무 의미가 완전히 같다는 뜻이 아니라, 수업에서 비슷한 방식으로 처리할 수 있다는 뜻입니다.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EE17A6-F684-4569-8BDC-A99A7F9A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graphicFrame>
        <p:nvGraphicFramePr>
          <p:cNvPr id="23" name="cross-domain-column-map"/>
          <p:cNvGraphicFramePr/>
          <p:nvPr/>
        </p:nvGraphicFramePr>
        <p:xfrm>
          <a:off xmlns:a="http://schemas.openxmlformats.org/drawingml/2006/main" x="438150" y="1524000"/>
          <a:ext xmlns:a="http://schemas.openxmlformats.org/drawingml/2006/main" cx="11315700" cy="44767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238375"/>
                <a:gridCol w="3143250"/>
                <a:gridCol w="2857500"/>
                <a:gridCol w="3076575"/>
              </a:tblGrid>
              <a:tr h="400050"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처리 역할</a:t>
                      </a:r>
                    </a:p>
                  </a:txBody>
                  <a:tcPr marL="76200" marR="76200" marT="47625" marB="47625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결혼정보 데이터</a:t>
                      </a:r>
                    </a:p>
                  </a:txBody>
                  <a:tcPr marL="76200" marR="76200" marT="47625" marB="47625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제조 데이터</a:t>
                      </a:r>
                    </a:p>
                  </a:txBody>
                  <a:tcPr marL="76200" marR="76200" marT="47625" marB="47625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금융 데이터</a:t>
                      </a:r>
                    </a:p>
                  </a:txBody>
                  <a:tcPr marL="76200" marR="76200" marT="47625" marB="47625">
                    <a:solidFill>
                      <a:srgbClr val="17324D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대상을 구분하는 ID</a:t>
                      </a:r>
                    </a:p>
                  </a:txBody>
                  <a:tcPr marL="76200" marR="76200" marT="47625" marB="47625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member_id</a:t>
                      </a:r>
                    </a:p>
                  </a:txBody>
                  <a:tcPr marL="76200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equipment_id</a:t>
                      </a:r>
                    </a:p>
                  </a:txBody>
                  <a:tcPr marL="76200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merchant_id</a:t>
                      </a:r>
                    </a:p>
                  </a:txBody>
                  <a:tcPr marL="76200" marR="76200" marT="47625" marB="47625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 이름</a:t>
                      </a:r>
                    </a:p>
                  </a:txBody>
                  <a:tcPr marL="76200" marR="76200" marT="47625" marB="47625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name</a:t>
                      </a:r>
                    </a:p>
                  </a:txBody>
                  <a:tcPr marL="76200" marR="76200" marT="47625" marB="47625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equipment_name</a:t>
                      </a:r>
                    </a:p>
                  </a:txBody>
                  <a:tcPr marL="76200" marR="76200" marT="47625" marB="47625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merchant_name</a:t>
                      </a:r>
                    </a:p>
                  </a:txBody>
                  <a:tcPr marL="76200" marR="76200" marT="47625" marB="47625">
                    <a:solidFill>
                      <a:srgbClr val="F7F9FC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지역·위치</a:t>
                      </a:r>
                    </a:p>
                  </a:txBody>
                  <a:tcPr marL="76200" marR="76200" marT="47625" marB="47625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residence_region</a:t>
                      </a:r>
                    </a:p>
                  </a:txBody>
                  <a:tcPr marL="76200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plant</a:t>
                      </a:r>
                    </a:p>
                  </a:txBody>
                  <a:tcPr marL="76200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region</a:t>
                      </a:r>
                    </a:p>
                  </a:txBody>
                  <a:tcPr marL="76200" marR="76200" marT="47625" marB="47625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시작 날짜</a:t>
                      </a:r>
                    </a:p>
                  </a:txBody>
                  <a:tcPr marL="76200" marR="76200" marT="47625" marB="47625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signup_datetime</a:t>
                      </a:r>
                    </a:p>
                  </a:txBody>
                  <a:tcPr marL="76200" marR="76200" marT="47625" marB="47625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install_date</a:t>
                      </a:r>
                    </a:p>
                  </a:txBody>
                  <a:tcPr marL="76200" marR="76200" marT="47625" marB="47625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account_open_date</a:t>
                      </a:r>
                    </a:p>
                  </a:txBody>
                  <a:tcPr marL="76200" marR="76200" marT="47625" marB="47625">
                    <a:solidFill>
                      <a:srgbClr val="F7F9FC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현재 상태</a:t>
                      </a:r>
                    </a:p>
                  </a:txBody>
                  <a:tcPr marL="76200" marR="76200" marT="47625" marB="47625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profile_status, is_active</a:t>
                      </a:r>
                    </a:p>
                  </a:txBody>
                  <a:tcPr marL="76200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operation_status</a:t>
                      </a:r>
                    </a:p>
                  </a:txBody>
                  <a:tcPr marL="76200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active_status</a:t>
                      </a:r>
                    </a:p>
                  </a:txBody>
                  <a:tcPr marL="76200" marR="76200" marT="47625" marB="47625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숫자로 바꿔야 하는 열</a:t>
                      </a:r>
                    </a:p>
                  </a:txBody>
                  <a:tcPr marL="76200" marR="76200" marT="47625" marB="47625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annual_income_10k_krw</a:t>
                      </a:r>
                    </a:p>
                  </a:txBody>
                  <a:tcPr marL="76200" marR="76200" marT="47625" marB="47625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rated_cycle_sec</a:t>
                      </a:r>
                    </a:p>
                  </a:txBody>
                  <a:tcPr marL="76200" marR="76200" marT="47625" marB="47625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monthly_sales_10k_krw</a:t>
                      </a:r>
                    </a:p>
                  </a:txBody>
                  <a:tcPr marL="76200" marR="76200" marT="47625" marB="47625">
                    <a:solidFill>
                      <a:srgbClr val="F7F9FC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추가 기준표 결합</a:t>
                      </a:r>
                    </a:p>
                  </a:txBody>
                  <a:tcPr marL="76200" marR="76200" marT="47625" marB="47625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선호조건표</a:t>
                      </a:r>
                    </a:p>
                  </a:txBody>
                  <a:tcPr marL="76200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설비 사양표</a:t>
                      </a:r>
                    </a:p>
                  </a:txBody>
                  <a:tcPr marL="76200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위험·운영 규칙표</a:t>
                      </a:r>
                    </a:p>
                  </a:txBody>
                  <a:tcPr marL="76200" marR="76200" marT="47625" marB="47625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날짜 점검</a:t>
                      </a:r>
                    </a:p>
                  </a:txBody>
                  <a:tcPr marL="76200" marR="76200" marT="47625" marB="47625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가입일·조건 수정일</a:t>
                      </a:r>
                    </a:p>
                  </a:txBody>
                  <a:tcPr marL="76200" marR="76200" marT="47625" marB="47625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설치일·점검일</a:t>
                      </a:r>
                    </a:p>
                  </a:txBody>
                  <a:tcPr marL="76200" marR="76200" marT="47625" marB="47625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계좌 개설일·KYC 검토일</a:t>
                      </a:r>
                    </a:p>
                  </a:txBody>
                  <a:tcPr marL="76200" marR="76200" marT="47625" marB="47625">
                    <a:solidFill>
                      <a:srgbClr val="F7F9FC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교육용 정답 y</a:t>
                      </a:r>
                    </a:p>
                  </a:txBody>
                  <a:tcPr marL="76200" marR="76200" marT="47625" marB="47625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meeting_scheduled</a:t>
                      </a:r>
                    </a:p>
                  </a:txBody>
                  <a:tcPr marL="76200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maintenance_required</a:t>
                      </a:r>
                    </a:p>
                  </a:txBody>
                  <a:tcPr marL="76200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manual_review_required</a:t>
                      </a:r>
                    </a:p>
                  </a:txBody>
                  <a:tcPr marL="76200" marR="76200" marT="47625" marB="47625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17324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새 데이터</a:t>
                      </a:r>
                    </a:p>
                  </a:txBody>
                  <a:tcPr marL="76200" marR="76200" marT="47625" marB="47625">
                    <a:solidFill>
                      <a:srgbClr val="EAF2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신규 회원 100명</a:t>
                      </a:r>
                    </a:p>
                  </a:txBody>
                  <a:tcPr marL="76200" marR="76200" marT="47625" marB="47625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신규 설비 40대</a:t>
                      </a:r>
                    </a:p>
                  </a:txBody>
                  <a:tcPr marL="76200" marR="76200" marT="47625" marB="47625">
                    <a:solidFill>
                      <a:srgbClr val="F7F9FC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253442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신규 가맹점 40곳</a:t>
                      </a:r>
                    </a:p>
                  </a:txBody>
                  <a:tcPr marL="76200" marR="76200" marT="47625" marB="47625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27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5FE134-AA8C-49CA-A2B5-1B62B43E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1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0C10C-BD17-48A4-8346-A8F96980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B7ACB-A481-43C3-AAB0-449234E2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과제는 일곱 단계로 진행합니다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B459C-39DD-4561-8613-6B2283B1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5E4D4-C3C3-4FED-A1DB-9441E142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14913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71538-329A-40AC-B5E0-EB823C11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24125"/>
            <a:ext cx="149134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읽기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944B6-045B-429A-9B06-AB8839A7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14700"/>
            <a:ext cx="149134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기준표와 보조표의 파일명·shape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ED3AB-D795-4017-8300-3BB51A41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943" y="2019300"/>
            <a:ext cx="14913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86435-197C-4E9F-8858-E4BDAAE0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943" y="2524125"/>
            <a:ext cx="149134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정리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543E8-3AFF-41D9-A5E6-7B080B5B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943" y="3314700"/>
            <a:ext cx="149134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중복 ID, 문자 공백, 숫자 아닌 값 정리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E0DD1-1B65-4E64-B1F5-BE297889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636" y="2019300"/>
            <a:ext cx="14913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0B79D-227E-42F6-B11A-60D20AAC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636" y="2524125"/>
            <a:ext cx="149134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결합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5F440-3D31-45A8-9A67-A5EEF7F5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636" y="3314700"/>
            <a:ext cx="149134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같은 ID끼리 left merge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48A14-2625-4E41-AE34-E8927D3D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329" y="2019300"/>
            <a:ext cx="14913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A15FA-0F0A-4DDE-A749-A2941875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329" y="2524125"/>
            <a:ext cx="149134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날짜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E0634-0BC9-41B4-A5FE-B22360EB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329" y="3314700"/>
            <a:ext cx="149134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datetime과 경과일 만들기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39A25-4054-46E1-BC2E-69B113A7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021" y="2019300"/>
            <a:ext cx="14913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48AF4-54D8-4EBF-A809-6FA8A833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021" y="2524125"/>
            <a:ext cx="149134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분할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A80B72-7C69-4924-A068-64CBA36A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021" y="3314700"/>
            <a:ext cx="149134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X/y와 train/test 구분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D195FD-1ABB-4FC9-888C-C4B04561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714" y="2019300"/>
            <a:ext cx="14913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32977C-EF05-4B79-A438-C86EA8A6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714" y="2524125"/>
            <a:ext cx="149134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전처리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BE765-EFDE-4022-93E0-286678F5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714" y="3314700"/>
            <a:ext cx="149134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숫자·문자 Pipeline 적용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1FBE1-44A0-4910-A124-11AF382A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407" y="2019300"/>
            <a:ext cx="1491343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54DF3C-5F20-4765-9228-B307BBFF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407" y="2524125"/>
            <a:ext cx="149134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새 데이터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61C952-4C17-4BAC-A735-7DA2B4FE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407" y="3314700"/>
            <a:ext cx="149134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40행에는 transform만 적용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71FA67-23C3-4182-A60B-65C3C759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빈칸은 함수를 맞히는 문제가 아니라 각 단계의 목표에 맞는 도구를 고르는 문제입니다.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1FDFE9-0717-4A67-8055-4F021AA4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657448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8AA125-0A0B-4041-8374-9DA66F4B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1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9CAF1-2EDF-4732-8819-F8013800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선택과제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168C7-6BD9-480D-9BB5-FB8CF758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어떤 파일이 과제 폴더에 들어 있나요?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C6781-03CA-45CB-B809-A78A6526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424FB-AB75-4325-9391-7B4B8165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학생은 무엇을 먼저 열어야 할까요?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62C8F-E138-4062-AF87-4A2BB3F3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40D17-EABB-4D47-B1D7-F32141F8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힌트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AD24B-0DBA-48AA-A5E6-F442EF61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학생이 먼저 받는 파일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8D4A3-37F6-4E1E-8103-DE9ECA44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학생용 빈칸 노트북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data 폴더의 CSV 3개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README와 데이터사전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과제 안내 슬라이드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7E5B4-22F2-4680-BE8F-D6AC7C00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7EBE2-4D0E-4F9D-B590-4B406347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9F39A-C11B-4085-BD8A-F2A432CD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과제 뒤 공개할 파일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DBB62-1E05-4462-83A2-E43D7930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정답 노트북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평가기준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정답 실행 결과 설명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2주차 같은 도메인 폴더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1E941-A05D-4E68-939E-6F6D9BD7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정답본은 과제 제출 전에는 배포하지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E537A-C5F1-4325-9C15-5EF02360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94626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D84476-2290-4ED2-8586-7BF17E1A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1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1751F-26F8-49F8-8810-A411A889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선택과제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42E87-1747-49EA-A8D5-34600372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제조 과제에서 먼저 확인할 것은 무엇일까요?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BFADF-3118-4054-8C3B-17B8D605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E25D0-7CBF-4303-BC34-A25D52D5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설비 기준표 243행이 왜 240행이 되어야 할까요?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D30FE-58E5-4CC4-9503-F21753F5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5821A-2F5A-4114-8B17-42420E8D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힌트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D9321-13E7-41CF-B4B8-2A8BC5C2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Q1~Q4 힌트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C29FD-3636-4940-9930-2A1EFE51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equipment_id 중복 3행 제거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rated_cycle_sec의 ‘미측정’을 숫자 결측으로 변환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equipment_id로 specs 표 결합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점검일을 datetime으로 바꾸고 경과일 계산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952CD-541F-4AC2-AF55-B8E36033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8D77E-BD06-4D9C-804E-B4E66670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1AA95-CDC9-4B71-B4A2-D36501B8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정상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5D43D-4E93-462F-9030-02275F10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고유 설비 240대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계산용 숫자 열 결측 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보조표 결합 뒤 240행 유지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날짜 오류는 NaT로 확인한 뒤 중앙값으로 보완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C26CF-E3D0-4F9B-AC14-942C3E25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삭제가 아니라 한 설비당 한 행이라는 기준을 되찾는 과정입니다.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53153E-9801-4029-A5F5-F56B5AD0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44092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D5187-5B8E-4289-BB4A-36D715BD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1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877EE-9E2D-4ACB-AAF2-D70681B0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선택과제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F8029-8D66-4E60-B594-A40F4CF0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제조 과제의 마지막 결과는 무엇일까요?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91C00-7528-4DC2-9CCD-9FFD2D90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1187A-F1DF-4F5C-BB5F-8BFBC86F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새 설비 40대에는 왜 fit_transform을 쓰지 않을까요?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F7E29-C7FD-4513-8558-9728988A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22177-1DED-4A54-B369-D8C871C1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힌트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83BCE-3A84-473A-A506-D3DBDC06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Q5~Q7 힌트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3481A-8CD9-47EB-9386-C59A6375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X 12열, y는 maintenance_required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train 192행·test 48행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train에서만 중앙값·평균·범주 학습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신규설비에는 transform만 적용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3105E-3AD9-435E-B60F-19B08942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9C1A1-E382-467F-A1CD-5FB5CEC8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549B02-AB6B-42B9-BC10-D2E2CBA0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제출할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81BD6-03CA-486D-9884-84266FDF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모든 assert 통과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새 데이터 40행 처리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outputs/manufacturing_master_clean.csv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가장 어려웠던 단계 3문장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A54BF-E6F2-42A3-B9EB-6D5FFDF6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새 데이터가 들어올 때마다 기준을 다시 만들지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E21B6-9329-47D8-B07C-78E5C73C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528561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0758E-87B2-48CE-B483-E6BD041E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1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80DDB-B9DF-4821-83E3-4F79D10A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선택과제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25EC1-4222-426B-826D-825E085B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금융 과제에서 먼저 확인할 것은 무엇일까요?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745AD-3FB4-4EFE-87B4-585CF2B4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AF2DA-EFC9-44FE-888F-F2548933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가맹점 기준표의 ‘확인중’은 왜 바로 합산할 수 없을까요?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7627E-CA99-415A-BB01-88C2F0A7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A7052-2068-4E84-8D81-B131DA72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힌트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48427-123F-44D4-B652-5818FA1B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Q1~Q4 힌트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56E77-AE06-4C11-A0D2-D7D3129A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merchant_id 중복 3행 제거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monthly_sales의 ‘확인중’을 숫자 결측으로 변환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merchant_id로 운영 규칙표 결합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KYC 검토일을 datetime으로 바꾸고 경과일 계산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B9AEC-F87E-441E-AA31-C48C5B23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490A0-5553-4AAC-AF68-8E04F770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94244-9F17-45E4-A15F-31BF2222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정상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C8E8D-0594-4A16-A2CF-91E59F18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고유 가맹점 240곳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계산용 숫자 열 결측 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보조표 결합 뒤 240행 유지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날짜 오류를 눈에 보이게 처리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D65D3-E7EB-48ED-AB3B-63B55F8F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문자와 숫자가 섞인 열은 먼저 계산 가능한 자료형으로 바꿉니다.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F297C-D5F4-4DBC-AD2D-A69F3F6C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363158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34216-67B4-4212-8C78-CABA3E9E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1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09924-AD13-4188-9AAF-9F0838C3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선택과제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B6E12-8EC7-4B5E-8F0A-11C8EE44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금융 과제의 마지막 결과는 무엇일까요?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D2853-21A8-4BC8-A46B-62C5B91F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EF8A5-B01D-4D28-9240-3610F5F2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새 가맹점 40곳에도 같은 열 구조를 만들 수 있을까요?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B3CA9-5EA5-44C0-9220-9B7D3F69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5E26C-377F-4615-B828-41D006E2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힌트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56CAB-7191-45F2-A9B3-131F3B55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Q5~Q7 힌트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CB633-03D2-4445-8586-35513023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X 12열, y는 manual_review_required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train 192행·test 48행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숫자·문자 처리 경로 분리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신규가맹점에는 transform만 적용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F8881-262E-47C6-B0D2-6BE6FBC8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526CD-DB6A-4FB7-A271-FF44AEA8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CCFD84-0283-4B14-BC94-4E723072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제출할 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CC8A2-47C4-4CCB-8736-764FFC81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모든 assert 통과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새 데이터 40행 처리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outputs/finance_merchant_master_clean.csv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과정 해석 3문장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CFD2D-F503-4904-902C-EECAD60F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수동 검토 라벨은 교육용 정답이며 실제 제재 결정을 뜻하지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49F0C-6D86-4323-992A-BE24D7C3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103433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CC585-EEF3-4769-B38C-B0707C27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1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DDE58-5C67-449D-A710-CA58C203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진행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E5563-41F5-40EE-BC79-32F2DE90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제출 전에 무엇을 확인할까요?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716AD-D5D1-478B-8241-9EF030D9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FE8F8-8CD6-420E-A3E6-C29863C9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21412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EBC54-43C0-4DB5-8997-B1B71967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24125"/>
            <a:ext cx="21412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빈칸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C2B62-325B-42BB-A68F-7E08A6DE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14700"/>
            <a:ext cx="214122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FILL_ME가 남지 않았는지 검색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6412A-C8AD-48E5-BDCF-F6B9C9B6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820" y="2019300"/>
            <a:ext cx="21412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9E8DF-A681-4CE4-B199-176081AA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820" y="2524125"/>
            <a:ext cx="21412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69B3B3-8500-47EB-AFBF-07C98515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820" y="3314700"/>
            <a:ext cx="214122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assert가 모두 조용히 통과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2E4AB-6B69-4E5A-8E08-922C31F3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2019300"/>
            <a:ext cx="21412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9BC4B-F0F8-4A6A-9849-9412D233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2524125"/>
            <a:ext cx="21412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저장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B73CA-F222-41C1-869D-AFD6A28B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390" y="3314700"/>
            <a:ext cx="214122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실행 결과가 남은 노트북 저장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DC84E-F6A5-4EA5-A50F-CBA6247E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019300"/>
            <a:ext cx="21412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A1107-0A18-4FD1-B6AD-165E161B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524125"/>
            <a:ext cx="21412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결과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7F8AAA-DFAE-46C4-BC07-7CCC4040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3314700"/>
            <a:ext cx="214122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outputs CSV가 실제로 존재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E7B7C0-B31D-45E8-939E-14037F69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530" y="2019300"/>
            <a:ext cx="21412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A27AA-52EB-4EC5-9136-53FB62F2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530" y="2524125"/>
            <a:ext cx="21412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설명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57B8E9-2731-4D08-A72A-104DCE2D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4530" y="3314700"/>
            <a:ext cx="214122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C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가장 어려웠던 단계 3문장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DB72FA-4882-446E-A037-0FAC2E41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코드가 실행된 것과 업무 결과가 맞는 것은 같은 말이 아닙니다.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E26831-D2F0-4614-900A-2E3AA4EE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433453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4FEAC-ED45-4D55-8DC6-5CC3C826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1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E8AD8-79CD-43C3-813F-A98227E7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선택과제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A4668-B36E-48FD-9292-7EE2D19B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2주차에는 같은 선택을 어떻게 이어 갈까요?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C8200-2D82-47ED-B0E6-E4526142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33BCB-E5CF-41F9-9ADD-961975AE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238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76794-7C02-4182-95BD-F67ED79F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선택과제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022BC-E68A-43CB-80AA-92676F08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481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제조 2주차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C9280-258F-4377-AEA1-5B41371E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48196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설비 240대 × 30일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센서 로그 7,200행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12개 CSV 병합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설비별 한 행으로 요약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657C0-1F23-40B5-96DE-FC9311A7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33550"/>
            <a:ext cx="5238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DBD8B-9EFD-4E62-A610-48BE8B64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481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선택과제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4B1AE-2B3D-421D-B309-4C794FA5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481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금융 2주차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6E282-83EF-4596-B21A-C67691C0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48196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가맹점 240곳 × 30일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거래 로그 7,200행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12개 CSV 병합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가맹점별 한 행으로 요약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5C01B-FCB3-41B0-A8F0-F652C361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1주차의 ID 240개가 2주차 로그에도 그대로 등장합니다.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2C384-E2F4-4277-9A2A-EC3F1281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675869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402CA-2237-4AC0-98E8-D28340A7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14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DATA ENGINEERING · WEEK 1 · OPTIONAL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E5AED-A8BC-404B-9820-C8A81FB8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1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선택과제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6364E-E339-4895-9CD3-0C28D544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2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3주차 개인 프로젝트로 어떻게 발전할까요?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08CD2-DC4E-4466-85C5-528E99EF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52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5861A-D3D7-4882-AC63-882B2A4E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365D"/>
                </a:solidFill>
                <a:latin typeface="Apple SD Gothic Neo"/>
                <a:ea typeface="Apple SD Gothic Neo"/>
                <a:cs typeface="Apple SD Gothic Neo"/>
              </a:rPr>
              <a:t>이번 과제의 CSV가 끝이 아니라면 다음 프로그램은 무엇을 할까요?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44455-B8AB-4D66-B3CC-CAC0F2DF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14805E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5DE2E-8BBC-4028-AFC4-E6536E81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805E"/>
                </a:solidFill>
                <a:latin typeface="Apple SD Gothic Neo"/>
                <a:ea typeface="Apple SD Gothic Neo"/>
                <a:cs typeface="Apple SD Gothic Neo"/>
              </a:rPr>
              <a:t>힌트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960D3-7B90-4D2E-962D-DDB89180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제조 확장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CFCEF-1010-460E-AD53-7F095EA1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설비 요약 FastAPI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SQLite 수집 이력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공장·라인 EDA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센서 PCA와 Streamlit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FEC99-59A1-441B-8CBB-726F72B6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7DF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ED89E-B52C-4D7A-8853-3F83B607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7DF6"/>
                </a:solidFill>
                <a:latin typeface="Apple SD Gothic Neo"/>
                <a:ea typeface="Apple SD Gothic Neo"/>
                <a:cs typeface="Apple SD Gothic Neo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2BF8C-9789-4A03-8F5F-153845DF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금융 확장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143E9-E96F-47D3-9ACC-CB50D858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724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가맹점 요약 FastAPI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SQLite 수집 이력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업종·지역 EDA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• 거래 PCA와 Streamlit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6E397-D16E-4510-BF9F-A3A823EE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96025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1주차는 개인 프로젝트의 기준표를 만드는 첫 단계입니다.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743D8F-ADDE-4576-90BD-86D65716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47180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76769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2026-09-25T00:06:27.7440000Z</dcterms:created>
  <dcterms:modified xsi:type="dcterms:W3CDTF">2026-09-25T00:06:27.7440000Z</dcterms:modified>
</coreProperties>
</file>