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78"/>
  </p:normalViewPr>
  <p:slideViewPr>
    <p:cSldViewPr snapToGrid="0">
      <p:cViewPr varScale="1">
        <p:scale>
          <a:sx n="150" d="100"/>
          <a:sy n="15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자료는 1주차 CSV의 열 이름을 처음 접하는 강사와 학생을 위한 데이터 안내서입니다. 영어 열 이름을 외우게 하기보다 값의 뜻, 자료형, 수업에서 사용하는 시점을 연결해 설명합니다.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회원표에는 고유 회원 1,000명과 의도적인 중복 행 3개가 있습니다. 선호조건표에는 회원별 조건이 한 행씩 있습니다. 신규 회원표는 회원표와 같은 21열이며 8교시 종합실습에서 처음 사용합니다.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실무 데이터는 처음부터 완벽하게 정리되어 있지 않습니다. 이 수업은 오류를 숨기지 않고 관찰, 판단, 수정, 검증의 순서로 처리하는 연습을 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 교시의 Python 변수가 다음 노트북으로 자동 전달되지는 않습니다. 각 교시는 같은 원본 파일을 다시 읽고, 그 교시의 목적에 맞는 작업을 새로 시작합니다.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4교시에는 matchmaking_members.csv를 처음 읽습니다. 아직 정제하기보다 표의 내용, 크기, 열 이름, 자료형, 빈칸을 관찰합니다. 끝부분에서는 신규 회원 파일을 읽어 같은 21열인지 비교합니다.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5교시에서는 원본을 members_raw로 보관하고 작업용 members를 만듭니다. 지역 표기를 통일하고 연봉을 숫자로 바꾸고 중복을 제거한 뒤, 조건 선택과 groupby 집계를 수행합니다.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6교시는 두 CSV를 함께 사용합니다. 이름이나 행 번호가 아니라 member_id를 기준으로 연결합니다. validate는 한 회원이 양쪽 표에 한 번씩만 있는지 검사합니다. 연결 후 날짜 문자열을 datetime으로 바꾸고 X와 y를 준비합니다.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7교시 노트북도 독립적이므로 두 CSV를 다시 읽고 결합합니다. 숫자 7열과 문자 7열만 모델 입력 X로 선택합니다. meeting_scheduled는 정답 y입니다. 모든 원본 열이 머신러닝 입력으로 사용되는 것은 아닙니다.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회원표의 각 행은 회원 한 명을 나타냅니다. 열마다 값의 뜻과 자료형이 다르므로, 같은 처리 방법을 모든 열에 적용하면 안 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member_id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문자열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“member_id은 회원 ID을 뜻합니다. 실제 값은 M001 · M002 · M003처럼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 한 명을 다른 회원과 구분하는 고유 번호입니다. 이름이 같아도 ID가 다르면 다른 회원입니다.</a:t>
            </a:r>
          </a:p>
          <a:p>
            <a:endParaRPr/>
          </a:p>
          <a:p>
            <a:r>
              <a:t>[주의할 점]</a:t>
            </a:r>
          </a:p>
          <a:p>
            <a:r>
              <a:t>matchmaking_members.csv에는 같은 member_id가 반복된 행 3개가 일부러 들어 있습니다.</a:t>
            </a:r>
          </a:p>
          <a:p>
            <a:endParaRPr/>
          </a:p>
          <a:p>
            <a:r>
              <a:t>[수업 연결]</a:t>
            </a:r>
          </a:p>
          <a:p>
            <a:r>
              <a:t>5교시 중복 확인 · 6교시 두 표 연결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name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문자열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“name은 회원 이름을 뜻합니다. 실제 값은 김철수 · 이영희 · 박민수처럼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사람에게 결과를 보여줄 때 쓰는 표시용 이름입니다.</a:t>
            </a:r>
          </a:p>
          <a:p>
            <a:endParaRPr/>
          </a:p>
          <a:p>
            <a:r>
              <a:t>[주의할 점]</a:t>
            </a:r>
          </a:p>
          <a:p>
            <a:r>
              <a:t>수업용 합성 이름이며, 분석 기준이나 두 표의 연결 기준으로 사용하지 않습니다.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표 내용 확인 · 6교시 X에서 제외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gender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“gender은 성별을 뜻합니다. 실제 값은 남성 · 여성처럼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정해진 몇 가지 값 중 하나를 갖는 범주형 열입니다.</a:t>
            </a:r>
          </a:p>
          <a:p>
            <a:endParaRPr/>
          </a:p>
          <a:p>
            <a:r>
              <a:t>[주의할 점]</a:t>
            </a:r>
          </a:p>
          <a:p>
            <a:r>
              <a:t>문자이므로 평균을 계산하지 않고, 7교시에서 OneHotEncoder로 처리합니다.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고유값 확인 · 7교시 문자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age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“age은 나이을 뜻합니다. 실제 값은 38 · 34 · 36처럼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회원의 나이를 나타내며 크기 비교와 평균 계산이 가능합니다.</a:t>
            </a:r>
          </a:p>
          <a:p>
            <a:endParaRPr/>
          </a:p>
          <a:p>
            <a:r>
              <a:t>[주의할 점]</a:t>
            </a:r>
          </a:p>
          <a:p>
            <a:r>
              <a:t>ID처럼 숫자로 보이기만 하는 값과 달리, 나이는 값 사이의 차이에 의미가 있습니다.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describe · 5교시 조건 선택 · 7교시 숫자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residence_region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“residence_region은 거주 지역을 뜻합니다. 실제 값은 서울␠ · 경기 · 인천처럼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회원이 거주하는 시·도 수준의 지역입니다.</a:t>
            </a:r>
          </a:p>
          <a:p>
            <a:endParaRPr/>
          </a:p>
          <a:p>
            <a:r>
              <a:t>[주의할 점]</a:t>
            </a:r>
          </a:p>
          <a:p>
            <a:r>
              <a:t>서울, Seoul, seoul, 뒤쪽 공백처럼 같은 지역이 여러 표기로 들어간 연습값이 있습니다.</a:t>
            </a:r>
          </a:p>
          <a:p>
            <a:endParaRPr/>
          </a:p>
          <a:p>
            <a:r>
              <a:t>[수업 연결]</a:t>
            </a:r>
          </a:p>
          <a:p>
            <a:r>
              <a:t>5교시 표기 통일·지역별 집계 · 7교시 문자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occupation_type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“occupation_type은 직업 유형을 뜻합니다. 실제 값은 대기업 · 금융 · 전문직처럼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직업을 수업용 범주로 묶은 열입니다.</a:t>
            </a:r>
          </a:p>
          <a:p>
            <a:endParaRPr/>
          </a:p>
          <a:p>
            <a:r>
              <a:t>[주의할 점]</a:t>
            </a:r>
          </a:p>
          <a:p>
            <a:r>
              <a:t>직업명을 숫자 크기로 비교하지 않고 범주로 처리합니다.</a:t>
            </a:r>
          </a:p>
          <a:p>
            <a:endParaRPr/>
          </a:p>
          <a:p>
            <a:r>
              <a:t>[수업 연결]</a:t>
            </a:r>
          </a:p>
          <a:p>
            <a:r>
              <a:t>5교시 값 종류 확인 · 7교시 문자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annual_income_10k_krw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현재 object · 결측 6입니다.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“annual_income_10k_krw은 연소득, 단위 만원을 뜻합니다. 실제 값은 8000 · 6500 · 미입력처럼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회원의 연소득을 만원 단위로 기록한 열입니다.</a:t>
            </a:r>
          </a:p>
          <a:p>
            <a:endParaRPr/>
          </a:p>
          <a:p>
            <a:r>
              <a:t>[주의할 점]</a:t>
            </a:r>
          </a:p>
          <a:p>
            <a:r>
              <a:t>숫자처럼 보여도 일부 문자열과 미입력이 섞여 있어 처음에는 object로 읽힙니다.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dtype·결측 확인 · 5교시 숫자 변환 · 7교시 중앙값 대체·표준화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membership_tier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“membership_tier은 회원권 등급을 뜻합니다. 실제 값은 베이직 · 프리미엄 · VIP처럼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회원이 이용하는 서비스 등급입니다.</a:t>
            </a:r>
          </a:p>
          <a:p>
            <a:endParaRPr/>
          </a:p>
          <a:p>
            <a:r>
              <a:t>[주의할 점]</a:t>
            </a:r>
          </a:p>
          <a:p>
            <a:r>
              <a:t>등급 이름은 숫자가 아니므로 평균 대신 개수·비율·그룹별 요약을 사용합니다.</a:t>
            </a:r>
          </a:p>
          <a:p>
            <a:endParaRPr/>
          </a:p>
          <a:p>
            <a:r>
              <a:t>[수업 연결]</a:t>
            </a:r>
          </a:p>
          <a:p>
            <a:r>
              <a:t>5교시 필터·등급별 집계 · 7교시 문자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signup_datetime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현재 문자열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“signup_datetime은 가입 날짜와 시간을 뜻합니다. 실제 값은 2025-02-07 20:53:00처럼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회원이 가입한 날짜와 시간을 한 값으로 기록합니다.</a:t>
            </a:r>
          </a:p>
          <a:p>
            <a:endParaRPr/>
          </a:p>
          <a:p>
            <a:r>
              <a:t>[주의할 점]</a:t>
            </a:r>
          </a:p>
          <a:p>
            <a:r>
              <a:t>처음에는 문자열이므로 날짜 계산 전에 pd.to_datetime으로 변환합니다. 잘못된 날짜 5개가 들어 있습니다.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datetime 변환·연도·월·가입 경과일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signup_channel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“signup_channel은 가입 경로을 뜻합니다. 실제 값은 검색광고 · SNS · 제휴처럼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회원이 어떤 경로를 통해 가입했는지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채널 이름은 계산할 숫자가 아니라 그룹을 구분하는 범주입니다.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값 확인 · 7교시 문자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profile_completion_rate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“profile_completion_rate은 프로필 완성도, 단위 %을 뜻합니다. 실제 값은 65 · 84 · 82처럼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필수 프로필 항목을 어느 정도 작성했는지 0~100으로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85는 0.85가 아니라 85%입니다. 단위를 함께 읽어야 합니다.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describe · 7교시 숫자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profile_status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“profile_status은 프로필 작성 상태을 뜻합니다. 실제 값은 완료 · 작성 중 · 미완료처럼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프로필 작성 진행 상태를 사람이 읽기 쉬운 이름으로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profile_completion_rate와 관련 있지만 같은 열은 아닙니다. 하나는 숫자, 하나는 상태 이름입니다.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값 확인 · 5교시 상태별 집계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is_active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불리언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“is_active은 현재 활성 회원 여부을 뜻합니다. 실제 값은 True · False처럼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현재 서비스 이용 대상으로 보는 회원이면 True입니다.</a:t>
            </a:r>
          </a:p>
          <a:p>
            <a:endParaRPr/>
          </a:p>
          <a:p>
            <a:r>
              <a:t>[주의할 점]</a:t>
            </a:r>
          </a:p>
          <a:p>
            <a:r>
              <a:t>문자열 "True"가 아니라 참·거짓 값입니다. 활성의 업무 기준은 수업 데이터가 정한 규칙을 따릅니다.</a:t>
            </a:r>
          </a:p>
          <a:p>
            <a:endParaRPr/>
          </a:p>
          <a:p>
            <a:r>
              <a:t>[수업 연결]</a:t>
            </a:r>
          </a:p>
          <a:p>
            <a:r>
              <a:t>5교시 활성 회원 조건 선택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login_week1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“login_week1은 첫째 주 로그인 일수을 뜻합니다. 실제 값은 2 · 1 · 1처럼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최근 네 주 중 첫째 주에 로그인한 날짜 수입니다.</a:t>
            </a:r>
          </a:p>
          <a:p>
            <a:endParaRPr/>
          </a:p>
          <a:p>
            <a:r>
              <a:t>[주의할 점]</a:t>
            </a:r>
          </a:p>
          <a:p>
            <a:r>
              <a:t>로그인 횟수가 아니라 로그인한 날짜 수로 해석합니다.</a:t>
            </a:r>
          </a:p>
          <a:p>
            <a:endParaRPr/>
          </a:p>
          <a:p>
            <a:r>
              <a:t>[수업 연결]</a:t>
            </a:r>
          </a:p>
          <a:p>
            <a:r>
              <a:t>3교시 NumPy 첫 번째 열 · 5교시 4주 합계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login_week2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“login_week2은 둘째 주 로그인 일수을 뜻합니다. 실제 값은 3 · 0 · 2처럼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최근 네 주 중 둘째 주에 로그인한 날짜 수입니다.</a:t>
            </a:r>
          </a:p>
          <a:p>
            <a:endParaRPr/>
          </a:p>
          <a:p>
            <a:r>
              <a:t>[주의할 점]</a:t>
            </a:r>
          </a:p>
          <a:p>
            <a:r>
              <a:t>네 로그인 열의 행 순서가 같아야 회원별 합계를 구할 수 있습니다.</a:t>
            </a:r>
          </a:p>
          <a:p>
            <a:endParaRPr/>
          </a:p>
          <a:p>
            <a:r>
              <a:t>[수업 연결]</a:t>
            </a:r>
          </a:p>
          <a:p>
            <a:r>
              <a:t>3교시 NumPy 두 번째 열 · 5교시 4주 합계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login_week3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“login_week3은 셋째 주 로그인 일수을 뜻합니다. 실제 값은 2 · 1 · 4처럼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최근 네 주 중 셋째 주에 로그인한 날짜 수입니다.</a:t>
            </a:r>
          </a:p>
          <a:p>
            <a:endParaRPr/>
          </a:p>
          <a:p>
            <a:r>
              <a:t>[주의할 점]</a:t>
            </a:r>
          </a:p>
          <a:p>
            <a:r>
              <a:t>NumPy에서 login_matrix[:, 2]는 모든 회원의 셋째 주 값을 뜻합니다.</a:t>
            </a:r>
          </a:p>
          <a:p>
            <a:endParaRPr/>
          </a:p>
          <a:p>
            <a:r>
              <a:t>[수업 연결]</a:t>
            </a:r>
          </a:p>
          <a:p>
            <a:r>
              <a:t>3교시 열 선택·축 이해 · 5교시 4주 합계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login_week4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“login_week4은 넷째 주 로그인 일수을 뜻합니다. 실제 값은 1 · 0 · 3처럼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최근 네 주 중 넷째 주에 로그인한 날짜 수입니다.</a:t>
            </a:r>
          </a:p>
          <a:p>
            <a:endParaRPr/>
          </a:p>
          <a:p>
            <a:r>
              <a:t>[주의할 점]</a:t>
            </a:r>
          </a:p>
          <a:p>
            <a:r>
              <a:t>네 열을 더할 때 axis=1을 사용해야 회원별 합계가 됩니다.</a:t>
            </a:r>
          </a:p>
          <a:p>
            <a:endParaRPr/>
          </a:p>
          <a:p>
            <a:r>
              <a:t>[수업 연결]</a:t>
            </a:r>
          </a:p>
          <a:p>
            <a:r>
              <a:t>3교시 NumPy 네 번째 열 · 5교시 4주 합계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profile_views_30d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“profile_views_30d은 최근 30일 프로필 조회 수을 뜻합니다. 실제 값은 45 · 8 · 56처럼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최근 30일 동안 프로필이 조회된 횟수입니다.</a:t>
            </a:r>
          </a:p>
          <a:p>
            <a:endParaRPr/>
          </a:p>
          <a:p>
            <a:r>
              <a:t>[주의할 점]</a:t>
            </a:r>
          </a:p>
          <a:p>
            <a:r>
              <a:t>큰 값이 보인다고 바로 삭제하지 않고 실제 활동인지 입력 오류인지 먼저 확인합니다.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범위·최댓값 확인 · 5교시 집계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recommendation_response_rate_prior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실수 · 결측 9입니다.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“recommendation_response_rate_prior은 이전 추천 응답률을 뜻합니다. 실제 값은 0.46 · 0.18 · 0.66처럼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이전 추천에 회원이 응답한 비율을 0~1로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0.72는 72%입니다. 미입력 9개는 0%와 뜻이 다릅니다.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결측 확인 · 5교시 평균 집계 · 7교시 숫자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consultation_count_prior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“consultation_count_prior은 이전 상담 완료 횟수을 뜻합니다. 실제 값은 1 · 0 · 4처럼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이전까지 완료된 상담 횟수를 셉니다.</a:t>
            </a:r>
          </a:p>
          <a:p>
            <a:endParaRPr/>
          </a:p>
          <a:p>
            <a:r>
              <a:t>[주의할 점]</a:t>
            </a:r>
          </a:p>
          <a:p>
            <a:r>
              <a:t>0은 상담이 없었다는 값이며, 결측과 구분합니다.</a:t>
            </a:r>
          </a:p>
          <a:p>
            <a:endParaRPr/>
          </a:p>
          <a:p>
            <a:r>
              <a:t>[수업 연결]</a:t>
            </a:r>
          </a:p>
          <a:p>
            <a:r>
              <a:t>4교시 수치 확인 · 7교시 숫자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meeting_scheduled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matchmaking_members.csv를 Pandas로 읽어 만든 DataFrame의 한 열입니다. 현재 저장 모습은 불리언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“meeting_scheduled은 만남 일정 예정 여부을 뜻합니다. 실제 값은 False · False · True처럼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회사에서 만남 일정이 잡힌 회원이면 True입니다.</a:t>
            </a:r>
          </a:p>
          <a:p>
            <a:endParaRPr/>
          </a:p>
          <a:p>
            <a:r>
              <a:t>[주의할 점]</a:t>
            </a:r>
          </a:p>
          <a:p>
            <a:r>
              <a:t>실제 만남 진행, 만족, 결혼 성공을 뜻하지 않습니다. 수업에서 예측할 정답 열입니다.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정답 y로 분리 · train/test 비율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course_materials/matchmaking_data/01_week1/matchmaking_members.csv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선호조건표의 각 행은 회원 한 명이 입력한 상대 조건입니다. 회원 본인의 특징과 상대에게 바라는 조건을 구분해서 읽어야 합니다.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member_id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문자열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“member_id은 조건을 작성한 회원 ID을 뜻합니다. 실제 값은 M001 · M002 · M003처럼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선호조건을 작성한 회원이 누구인지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회원표의 member_id와 같은 값을 사용해야 정확히 연결됩니다.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회원표와 one-to-one 결합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preferred_gender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“preferred_gender은 선호하는 상대 성별을 뜻합니다. 실제 값은 여성 · 남성처럼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회원이 선호한다고 입력한 상대 성별입니다.</a:t>
            </a:r>
          </a:p>
          <a:p>
            <a:endParaRPr/>
          </a:p>
          <a:p>
            <a:r>
              <a:t>[주의할 점]</a:t>
            </a:r>
          </a:p>
          <a:p>
            <a:r>
              <a:t>회원 본인의 gender와 다른 열입니다.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후 조건 의미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pref_age_min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“pref_age_min은 선호 나이 최솟값을 뜻합니다. 실제 값은 28 · 33 · 30처럼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선호하는 상대 나이 범위의 아래쪽 경계입니다.</a:t>
            </a:r>
          </a:p>
          <a:p>
            <a:endParaRPr/>
          </a:p>
          <a:p>
            <a:r>
              <a:t>[주의할 점]</a:t>
            </a:r>
          </a:p>
          <a:p>
            <a:r>
              <a:t>pref_age_max보다 크면 범위 오류입니다.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결합·범위 조건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pref_age_max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“pref_age_max은 선호 나이 최댓값을 뜻합니다. 실제 값은 44 · 41 · 40처럼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선호하는 상대 나이 범위의 위쪽 경계입니다.</a:t>
            </a:r>
          </a:p>
          <a:p>
            <a:endParaRPr/>
          </a:p>
          <a:p>
            <a:r>
              <a:t>[주의할 점]</a:t>
            </a:r>
          </a:p>
          <a:p>
            <a:r>
              <a:t>최솟값과 한 쌍으로 읽어야 합니다.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결합·범위 조건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pref_height_min_cm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“pref_height_min_cm은 선호 키 최솟값, 단위 cm을 뜻합니다. 실제 값은 159 · 173 · 157처럼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선호하는 상대 키 범위의 아래쪽 경계입니다.</a:t>
            </a:r>
          </a:p>
          <a:p>
            <a:endParaRPr/>
          </a:p>
          <a:p>
            <a:r>
              <a:t>[주의할 점]</a:t>
            </a:r>
          </a:p>
          <a:p>
            <a:r>
              <a:t>단위가 cm이며 최대값과의 순서를 확인합니다.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결합·범위 조건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pref_height_max_cm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“pref_height_max_cm은 선호 키 최댓값, 단위 cm을 뜻합니다. 실제 값은 171 · 183 · 167처럼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선호하는 상대 키 범위의 위쪽 경계입니다.</a:t>
            </a:r>
          </a:p>
          <a:p>
            <a:endParaRPr/>
          </a:p>
          <a:p>
            <a:r>
              <a:t>[주의할 점]</a:t>
            </a:r>
          </a:p>
          <a:p>
            <a:r>
              <a:t>최솟값보다 작으면 입력 범위 오류입니다.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결합·범위 조건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pref_income_min_10k_krw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실수 · 결측 5입니다.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“pref_income_min_10k_krw은 선호 상대 최소 연소득, 단위 만원을 뜻합니다. 실제 값은 7400 · 6600 · 7700처럼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상대에게 기대하는 최소 연소득 기준입니다.</a:t>
            </a:r>
          </a:p>
          <a:p>
            <a:endParaRPr/>
          </a:p>
          <a:p>
            <a:r>
              <a:t>[주의할 점]</a:t>
            </a:r>
          </a:p>
          <a:p>
            <a:r>
              <a:t>본인의 annual_income_10k_krw와 다른 열이며, 미입력은 0원과 다릅니다.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· 7교시 숫자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pref_education_min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“pref_education_min은 선호 상대 최소 학력을 뜻합니다. 실제 값은 학사 · 전문학사 · 무관처럼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상대에게 기대하는 최소 학력 조건입니다.</a:t>
            </a:r>
          </a:p>
          <a:p>
            <a:endParaRPr/>
          </a:p>
          <a:p>
            <a:r>
              <a:t>[주의할 점]</a:t>
            </a:r>
          </a:p>
          <a:p>
            <a:r>
              <a:t>학력 순서를 숫자로 자동 해석하지 않습니다. 수업에서는 범주로 처리합니다.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· 7교시 문자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preferred_regions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문자열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“preferred_regions은 선호 지역 목록을 뜻합니다. 실제 값은 서울|광주|경북|충북처럼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허용하는 지역 여러 개를 | 기호로 연결한 값입니다.</a:t>
            </a:r>
          </a:p>
          <a:p>
            <a:endParaRPr/>
          </a:p>
          <a:p>
            <a:r>
              <a:t>[주의할 점]</a:t>
            </a:r>
          </a:p>
          <a:p>
            <a:r>
              <a:t>한 칸에 여러 값이 들어 있으므로 단일 지역 범주와 다르게 다뤄야 합니다.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후 여러 값이 든 문자열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long_distance_ok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불리언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“long_distance_ok은 장거리 만남 허용 여부을 뜻합니다. 실제 값은 False · True처럼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거리가 먼 상대와의 만남을 허용하면 True입니다.</a:t>
            </a:r>
          </a:p>
          <a:p>
            <a:endParaRPr/>
          </a:p>
          <a:p>
            <a:r>
              <a:t>[주의할 점]</a:t>
            </a:r>
          </a:p>
          <a:p>
            <a:r>
              <a:t>거리 km 자체가 아니라 허용 여부만 기록합니다.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후 조건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acceptable_religions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문자열 범주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“acceptable_religions은 허용 종교을 뜻합니다. 실제 값은 무관 · 기독교처럼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상대 종교에 대한 허용 조건입니다.</a:t>
            </a:r>
          </a:p>
          <a:p>
            <a:endParaRPr/>
          </a:p>
          <a:p>
            <a:r>
              <a:t>[주의할 점]</a:t>
            </a:r>
          </a:p>
          <a:p>
            <a:r>
              <a:t>무관은 결측이 아니라 제한하지 않는다는 실제 값입니다.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후 조건 의미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smoking_ok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불리언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“smoking_ok은 흡연 상대 허용 여부을 뜻합니다. 실제 값은 True · False처럼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흡연하는 상대를 허용하면 True입니다.</a:t>
            </a:r>
          </a:p>
          <a:p>
            <a:endParaRPr/>
          </a:p>
          <a:p>
            <a:r>
              <a:t>[주의할 점]</a:t>
            </a:r>
          </a:p>
          <a:p>
            <a:r>
              <a:t>회원 본인의 흡연 여부가 아니라 상대 조건입니다.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후 조건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remarriage_ok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불리언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“remarriage_ok은 재혼 상대 허용 여부을 뜻합니다. 실제 값은 False · True처럼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재혼 이력이 있는 상대를 허용하면 True입니다.</a:t>
            </a:r>
          </a:p>
          <a:p>
            <a:endParaRPr/>
          </a:p>
          <a:p>
            <a:r>
              <a:t>[주의할 점]</a:t>
            </a:r>
          </a:p>
          <a:p>
            <a:r>
              <a:t>개인을 평가하는 점수가 아니라 회원이 입력한 조건입니다.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후 조건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children_ok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불리언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“children_ok은 자녀가 있는 상대 허용 여부을 뜻합니다. 실제 값은 True · False처럼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자녀가 있는 상대를 허용하면 True입니다.</a:t>
            </a:r>
          </a:p>
          <a:p>
            <a:endParaRPr/>
          </a:p>
          <a:p>
            <a:r>
              <a:t>[주의할 점]</a:t>
            </a:r>
          </a:p>
          <a:p>
            <a:r>
              <a:t>자녀 수가 아니라 허용 여부만 나타냅니다.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후 조건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deal_breakers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문자열 · 결측 397입니다.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“deal_breakers은 절대 피하고 싶은 조건을 뜻합니다. 실제 값은 흡연 · 재혼 · 흡연|장거리처럼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회원이 반드시 피하고 싶다고 입력한 조건입니다.</a:t>
            </a:r>
          </a:p>
          <a:p>
            <a:endParaRPr/>
          </a:p>
          <a:p>
            <a:r>
              <a:t>[주의할 점]</a:t>
            </a:r>
          </a:p>
          <a:p>
            <a:r>
              <a:t>빈칸은 입력하지 않았다는 뜻입니다. 여러 조건은 |로 연결되어 있습니다.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· 7교시 최빈값 대체·인코딩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preference_strictness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정수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“preference_strictness은 선호조건 엄격도, 1~5을 뜻합니다. 실제 값은 3 · 4 · 5처럼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선호조건이 얼마나 엄격한지 수업용 점수로 나타냅니다.</a:t>
            </a:r>
          </a:p>
          <a:p>
            <a:endParaRPr/>
          </a:p>
          <a:p>
            <a:r>
              <a:t>[주의할 점]</a:t>
            </a:r>
          </a:p>
          <a:p>
            <a:r>
              <a:t>1과 5의 의미가 정해진 범위 안에 있는지 먼저 확인합니다.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· 7교시 숫자 전처리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[이 장의 목표]</a:t>
            </a:r>
          </a:p>
          <a:p>
            <a:r>
              <a:t>preference_updated_at 열의 업무 의미와 자료형을 연결합니다.</a:t>
            </a:r>
          </a:p>
          <a:p>
            <a:endParaRPr/>
          </a:p>
          <a:p>
            <a:r>
              <a:t>[자료구조]</a:t>
            </a:r>
          </a:p>
          <a:p>
            <a:r>
              <a:t>이 열은 matchmaking_preferences.csv를 Pandas로 읽어 만든 DataFrame의 한 열입니다. 현재 저장 모습은 현재 문자열 · 결측 0입니다.</a:t>
            </a:r>
          </a:p>
          <a:p>
            <a:endParaRPr/>
          </a:p>
          <a:p>
            <a:r>
              <a:t>[쉽게 설명할 문장]</a:t>
            </a:r>
          </a:p>
          <a:p>
            <a:r>
              <a:t>“preference_updated_at은 선호조건 마지막 변경 일시을 뜻합니다. 실제 값은 2026-03-22 10:50:00처럼 보입니다.”</a:t>
            </a:r>
          </a:p>
          <a:p>
            <a:endParaRPr/>
          </a:p>
          <a:p>
            <a:r>
              <a:t>[왜 배우는가]</a:t>
            </a:r>
          </a:p>
          <a:p>
            <a:r>
              <a:t>회원이 선호조건을 마지막으로 수정한 날짜와 시간입니다.</a:t>
            </a:r>
          </a:p>
          <a:p>
            <a:endParaRPr/>
          </a:p>
          <a:p>
            <a:r>
              <a:t>[주의할 점]</a:t>
            </a:r>
          </a:p>
          <a:p>
            <a:r>
              <a:t>날짜 계산이 필요하면 datetime으로 변환해야 합니다.</a:t>
            </a:r>
          </a:p>
          <a:p>
            <a:endParaRPr/>
          </a:p>
          <a:p>
            <a:r>
              <a:t>[수업 연결]</a:t>
            </a:r>
          </a:p>
          <a:p>
            <a:r>
              <a:t>6교시 결합 후 날짜 열 확인</a:t>
            </a:r>
          </a:p>
          <a:p>
            <a:endParaRPr/>
          </a:p>
          <a:p>
            <a:r>
              <a:t>[학생에게 물을 질문]</a:t>
            </a:r>
          </a:p>
          <a:p>
            <a:r>
              <a:t>이 열은 계산할 숫자인가요, 그룹을 구분하는 문자인가요, 참·거짓인가요? 이 열을 사용하기 전에 무엇을 확인해야 할까요?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course_materials/matchmaking_data/01_week1/matchmaking_preferences.csv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노트북에서 낯선 열 이름이 나오면 이 자료의 해당 장을 먼저 펼쳐 보세요. 뜻, 자료형, 실제 값, 교시 연결을 확인한 뒤 코드를 읽으면 함수가 필요한 이유를 이해하기 쉽습니다.</a:t>
            </a:r>
          </a:p>
          <a:p>
            <a:endParaRPr/>
          </a:p>
          <a:p>
            <a:r>
              <a:t>[자료 출처]</a:t>
            </a:r>
          </a:p>
          <a:p>
            <a:r>
              <a:t>course_materials/matchmaking_data/01_week1/00_데이터_열이름과뜻.md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6388DE6-EDD2-4826-BED9-2E6A1A10804E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09EDA3-AFCB-4D77-BE74-5077511A326A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74295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35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1주차 데이터</a:t>
            </a:r>
          </a:p>
          <a:p>
            <a:pPr algn="l">
              <a:defRPr sz="435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열 이름과 뜻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E9B657-8546-4489-8C8C-C40718AF7690}"/>
              </a:ext>
            </a:extLst>
          </p:cNvPr>
          <p:cNvSpPr>
            <a:spLocks noGrp="1"/>
          </p:cNvSpPr>
          <p:nvPr/>
        </p:nvSpPr>
        <p:spPr>
          <a:xfrm>
            <a:off x="495300" y="3381375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회원표 21열 · 선호조건표 17열 · 4~7교시 사용 흐름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8B49CC-C811-4AAF-A093-3E2007A0FEE6}"/>
              </a:ext>
            </a:extLst>
          </p:cNvPr>
          <p:cNvSpPr>
            <a:spLocks noGrp="1"/>
          </p:cNvSpPr>
          <p:nvPr/>
        </p:nvSpPr>
        <p:spPr>
          <a:xfrm>
            <a:off x="495300" y="5191125"/>
            <a:ext cx="4333875" cy="133350"/>
          </a:xfrm>
          <a:prstGeom prst="rect">
            <a:avLst/>
          </a:prstGeom>
          <a:solidFill>
            <a:srgbClr val="448A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36C682-054F-4D43-88D0-E5662D21B8D6}"/>
              </a:ext>
            </a:extLst>
          </p:cNvPr>
          <p:cNvSpPr>
            <a:spLocks noGrp="1"/>
          </p:cNvSpPr>
          <p:nvPr/>
        </p:nvSpPr>
        <p:spPr>
          <a:xfrm>
            <a:off x="7620000" y="4953000"/>
            <a:ext cx="3810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8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dirty="0" err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열</a:t>
            </a:r>
            <a:r>
              <a:rPr sz="1800" b="1" dirty="0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이름</a:t>
            </a:r>
            <a:r>
              <a:rPr sz="1800" b="1" dirty="0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안내자료</a:t>
            </a:r>
            <a:endParaRPr sz="1800" b="1" dirty="0">
              <a:solidFill>
                <a:srgbClr val="11151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" name="직선 연결선[R] 5">
            <a:extLst>
              <a:ext uri="{FF2B5EF4-FFF2-40B4-BE49-F238E27FC236}">
                <a16:creationId xmlns:a16="http://schemas.microsoft.com/office/drawing/2014/main" id="{6D00083F-02AD-42B0-9AB3-888016260CEF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9B5EBD-7C13-4D0E-BC3B-7BDF47E7503E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실제 회원정보가 아닌 수업용 합성 데이터입니다.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48BA7A-4ED4-4073-AEF9-7B1F3AB4796C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9231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37D3F0-8933-42CF-B252-3C5635CE66A6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069AD5-18F9-4E44-97B7-B710FAB7046C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파일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954B86-4043-48A6-B21A-62A9E40C8197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1주차 데이터 파일 세 개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C31E1B5-DC85-4563-9C6C-581A648AB180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E7F53D-9488-44EE-8823-FA6E5C3501DD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matchmaking_members.csv  · 기존 회원 1,003행 × 21열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7606E3-B60C-4F59-942C-9E238C475102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matchmaking_preferences.csv  · 선호조건 1,000행 × 17열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AB2E76-2A26-4137-BF7A-9E08F8831401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matchmaking_members_new.csv  · 신규 회원 100행 × 21열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9F4538DF-9FF8-4037-87E2-B4368147B13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2E92AF-0219-4FAF-B9DF-A78E8B65F109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4~7교시는 기존 회원과 선호조건을 사용하고, 신규 회원 파일은 8교시에 사용합니다.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B6F243-2BC4-4E54-B911-B61C6FFB3C54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639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8A5E31-1716-47BF-8EC4-E57712AFECBE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1B02B2-B13C-4A35-A6F0-AA48A8236982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수업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3EDD3A-7E3F-4E91-A0ED-FF04D8F622B4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데이터가 일부러 완벽하지 않은 이유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3E423B35-233C-4E2F-B206-8F4C338C412F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406039-0982-4FB2-B0F3-8AB549D2FCF0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중복 회원 3행  · member_id 중복을 찾고 제거합니다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CD912-F256-4551-8D46-08C45F92CC13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결측과 문자형 숫자  · 비어 있는 값과 자료형을 정리합니다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E01325-C3BF-4D25-889D-483DD8B34874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지역 표기와 잘못된 날짜  · 업무 규칙을 정한 뒤 수정합니다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FC671850-6227-43D9-B593-8004FDE17CB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959D3E-7F68-42F8-8A73-697C18D1F3E6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이상한 값을 발견하면 바로 지우지 않고, 무엇이 이상한지 확인한 뒤 처리합니다.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DF983D-1660-4E9C-B08D-2647BE5F57B9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8893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BF2A0D-1750-426E-8EAE-AFD48BFF017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8214F8-6D33-4DF8-93B9-C089F3B888B4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수업 흐름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7704F8-DD10-4D54-B143-2AC3DB7F9AA8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4~7교시에서 데이터가 지나가는 순서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F3B6044B-21A1-41BD-9516-663C997E3EB2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4EF905-411B-49F6-9CFF-771F1BCC278D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4교시  · 회원표를 처음 읽고 크기·열 이름·자료형·결측을 확인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A767EB-0934-4CFF-B202-7A7499AB0A7D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5교시  · 같은 회원표의 표기·숫자·중복을 정리하고 집계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A9B945-62D5-4582-9C25-6D0E831DAC20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6교시  · 회원표와 선호조건표를 member_id로 결합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0E0F47-7013-424A-86FE-A3FEB7BF233A}"/>
              </a:ext>
            </a:extLst>
          </p:cNvPr>
          <p:cNvSpPr>
            <a:spLocks noGrp="1"/>
          </p:cNvSpPr>
          <p:nvPr/>
        </p:nvSpPr>
        <p:spPr>
          <a:xfrm>
            <a:off x="571500" y="38957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7교시  · 결합된 표에서 X와 y를 만들고 전처리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C4DB6855-1D51-4292-A9D7-62E50B8740E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AD5347-B2A4-457E-8C29-16CEC1D8F27D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각 교시 노트북은 독립적이므로 필요한 CSV를 다시 읽습니다.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973A89-0042-4F5D-A4D1-CD408ED3BB7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6641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ABA8A5-EF5F-484E-8852-ABCDAA100E50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625206-068E-4CCD-8911-5BCF00D2C4AD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교시별 사용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C43D31-07D7-46EE-9AB4-31B1A400FE9D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4교시 · 회원 CSV의 상태 확인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363A681-8328-4A6E-8F41-5223BF8B5E05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26F2C6-E3CD-4C51-BC6D-6ACDCC6C1EFD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입력  · matchmaking_members.csv, 1,003행 × 21열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622ED3-1C96-4CAD-B8CE-EE5DFC8832F7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확인  · head · shape · columns · info · dtypes · isna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5EC7A9-F61E-4C55-94E7-48B2EBAF3493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비교  · matchmaking_members_new.csv의 모양과 열 이름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517AE4C6-874A-4340-BDEC-4A2E194474DA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4417BC-12D2-4FEB-8281-1FC993F60AAD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분석하기 전에 어떤 표를 읽었고, 크기와 열 구성이 예상과 같은지 확인합니다.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C002BB-22CA-4B4C-B3FD-27F4D3C4EEB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758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3ED37B-B380-4E2D-AD44-E1FB742375A3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DB35E8C-70F8-4E10-8AF6-CB8EA1D47F34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교시별 사용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3CF2EA-09CF-49A4-BA8F-B64257854CB2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5교시 · 계산하기 전에 회원표 정리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CB167657-6494-40E7-9A93-80816500346E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C95A37-C8E0-4A27-80CF-AF600C7827A4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입력  · matchmaking_members.csv를 다시 읽어 원본 보존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E319AD-F876-49FC-9911-9EB355615289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정리  · 지역 표기, 연봉 자료형, member_id 중복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71906D-4783-4ADE-BE36-E8FA77794203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요약  · 조건 선택, 4주 로그인 합계, 지역별 집계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DA32628F-E0C7-49A1-AA0D-F04D1AE896B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8DE17C-20F9-4B24-9291-7602A6BF8DAD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같은 파일을 다시 읽지만 5교시의 목표는 정제와 집계입니다.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FCED1D-21CA-4BC4-9243-2B21622A159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8899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F21B74-A9B4-4559-9DC0-46FA6104F0D4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38F3F7-FAB4-4977-B3AE-9D8850518F02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교시별 사용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31CC6E-7AB2-4068-8128-870AE87989A3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6교시 · 회원 정보와 선호조건 연결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8BCFDA1-E9DA-4387-A1CB-0B77F87C7D43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A906B2-45F7-4D6E-9E30-4C7C85AB830C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왼쪽 표  · 중복을 제거한 회원 1,000행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683864-3CCB-4D1D-96C7-2B7ABDA78658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오른쪽 표  · matchmaking_preferences.csv 1,000행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F69E81-6C28-42B6-8C13-5186F2D02407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연결 기준  · 두 표에 공통으로 있는 member_id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75BDA1F3-4E38-499C-914E-4332A086198F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2CE04B-34CF-4ABC-84BF-FDA4880112D4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left merge와 validate="one_to_one"으로 1명당 한 행인지 확인합니다.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89C963-3024-4211-801F-6222BE1953D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3485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7D64C8-04ED-42BF-B2EA-36B04A43B4C2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44E34F-BEFF-4EA4-9B67-D15ECE44A3FD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교시별 사용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AAD060-C8EA-40ED-8A3D-5791E040B83B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7교시 · 결합된 표를 같은 규칙으로 전처리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6D24F2F-C065-42DA-ABF6-5F3AEEA7D977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ACCF18-677F-4B0C-9926-A967995CADBC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숫자 7열  · 결측 대체와 StandardScaler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6CEBDC-40E0-47CE-949F-7327AB0C6491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 7열  · 결측 대체와 OneHotEncoder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49F8BE-1F82-43D8-AE9A-08B2ECF664B5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적용  · train에서 기준을 배우고 test에는 같은 기준 사용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C09332CE-F147-4D5F-AA33-5A691FE48B76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5A36C5-361D-46AC-B31C-733A7DFF9AFA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회원표와 선호조건표를 다시 결합하고 14개 입력 열을 선택합니다.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6F5C2F-C2A5-4E91-A281-6F94A297E8D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446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B9B64E-E09B-4ADE-B373-6BAB1D40A5BB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24463D-2182-49A2-B154-BD4EA4D59245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열 목록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363F6BF-B6C3-4D48-9826-0649AF3BA35C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회원표 21열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CFC6D085-FB67-416B-8E21-D245A5CE7480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794987-0BD3-43DD-89D7-88DE7D5FBA1E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식별·기본정보  · member_id, name, gender, age, residence_region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290E51-C30F-4FA1-A6B3-D7206486B8C6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직업·회원권·가입  · occupation_type, annual_income, membership_tier, signup_datetime, signup_channel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3DDB2F-7BB9-4268-BA74-1721B57927B7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프로필·활동·결과  · 완성도, 상태, 활성, 로그인 4주, 조회, 응답, 상담, 일정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9D0236D3-0C95-4D64-8438-0BE257A9224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9DE181-940A-4368-BA07-707A63EDB6AA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다음 21장은 회원표의 열을 실제 CSV 순서대로 한 장씩 설명합니다.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1ED771-E963-4FAC-800B-DC3AC286524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2084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BAEA775-2854-425C-9B9D-BA50DC0BD1EB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66C4CF-DB4D-451F-BDEC-51F854C6D9F2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122D25-3EE1-4E51-BD33-8671DD939F49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member_id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E436480A-967E-4810-9B86-AC020F0D8144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2021CB-BC9F-4A98-9F92-F956500B9FDE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회원 ID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092A85-FB91-4956-B3EB-2A1ED37451B5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member_id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3B96AD12-3ACF-44BE-931D-E8F7BE363A14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9C2F1A-5A33-40BF-B743-843378253C0B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B88B64-E141-4844-8458-F267D98AEAE3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M001 · M002 · M003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03A3468-B4C4-4955-B83A-0FA299ED7066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593EC6B-F6E3-4561-917D-4C18B6B25B51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DA9D48-2B59-4194-A44C-5AE59B601ECD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matchmaking_members.csv에는 같은 member_id가 반복된 행 3개가 일부러 들어 있습니다.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00CA1B6-3052-4FEE-B909-66A6C8D3A618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36A2FC-1207-4380-BF8B-D5ECFB663DB3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5교시 중복 확인 · 6교시 두 표 연결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7D7CD5ED-9E5E-42AC-9034-4C3A0BFA1161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8C2F9C-427B-4259-8110-BAC7294BA094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A6FA5D-0E39-45CC-9D75-E6790E2CEF4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5717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5C71AF-EBAA-43DF-8F70-2AD40285D7B0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2D4FF-5B10-4EAF-882A-6AE834FC1041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02/21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C76389-7866-4A53-8EE1-A783CA4346C4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name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6704558C-A81D-4439-BB93-0149FF390757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28CC2B-3E15-4FB9-A7C5-CB994AF51872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회원 이름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AE0A72-76F2-4F1B-AB1F-860CD65C724A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name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B9C22740-D36E-46DE-819C-B90C9C28A363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341CBF-E6DC-4BBD-99AD-79959B966E6E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E9A974-5247-4C6E-BED8-2DF78AE3D62E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김철수 · 이영희 · 박민수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D5EE8F-C7C9-4AEA-892D-2975B371C188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A0D22F-50A1-4B40-898E-30FF1ED1AF83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AE5437-6B17-4B21-894B-6883D3E65D62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수업용 합성 이름이며, 분석 기준이나 두 표의 연결 기준으로 사용하지 않습니다.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4038F9C-8C9A-4783-993C-FEBF174AA05C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B4A00C-2F55-429F-BC0F-1D7B34ED2F5E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표 내용 확인 · 6교시 X에서 제외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BD41E18C-10F0-471C-B2EF-C4A764F7736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C5634C-50B7-4A9D-85BA-F6E207646FB7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033B41-587D-4803-85C3-6004BE30745F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406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A72746-02EC-4629-A36D-D6394763EB1B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B3299B-FB3C-4E98-9DA1-0817D9268F1C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03/21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8334F0-5280-4F60-B4EB-C57F0C8ED286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gender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38E7CD6-AE69-4555-AC75-E08B0D2B643A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4B6C77-BED2-46BD-A079-2024FA7C1A29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성별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4D5F8A-A5EE-4E6A-A754-8B16C14EC9F7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gender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BAA0251C-AC7B-4CCF-B556-3DF320B8FABF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33084B-1843-4B80-AD45-D663BF3C9BE7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D138A8-4A9B-490E-BF24-92AE69CAB48F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남성 · 여성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7088CE-6082-40F1-B038-ED0E67707C12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7C33A2-FB42-4B30-BB23-7963BF76151D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CC0B37-670B-473E-818A-E094AB8CDDB4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문자이므로 평균을 계산하지 않고, 7교시에서 OneHotEncoder로 처리합니다.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8315B2B-2343-4A7B-9BAC-EB8D6DF1B81C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9732A2-FF03-422F-A134-DDBA6A94A5EE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고유값 확인 · 7교시 문자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B1F7E0DD-3E19-400E-9E90-42E19AAC27B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459B12-BEF0-4506-BF82-E1AB716B7644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2051A74-6F02-425D-8700-2AF958BBE7FC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9116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03167F-9957-4BCF-AD83-51AC21CABA9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2626425-31A2-4B49-ABF6-7C264FE77F95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04/21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B6AC15-BD06-49BC-9A39-B57711B7CA3A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age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AFEEC585-5220-485C-86E6-A8EB9CB97437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9AB139-E0C4-438B-A3A3-92BDBFEEEADB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나이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C059F8-1E87-4777-931C-6059F0CF3640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age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42E75E66-7402-4540-8A52-D3E1D3A4654C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B4A63F-E07A-4278-8E2A-341BD4479988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EE43A5-61E8-47C4-8339-0697C6F4373F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38 · 34 · 36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663DFA-8CA1-44D7-AD6A-1935D71169BD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64033F-4462-4093-8617-637F7636879B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06F5A76-7BEB-4866-A348-193FD6E6231B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ID처럼 숫자로 보이기만 하는 값과 달리, 나이는 값 사이의 차이에 의미가 있습니다.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749B23A-D69D-45F1-A037-AB126F51AE04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D075E3-F81C-4846-B645-D7C02B748A9F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describe · 5교시 조건 선택 · 7교시 숫자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7F22FB2C-AC97-4AF1-AB81-F8C9F5671390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93239C-4989-4C0F-A4E2-777ECABAA28A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E9172D-3404-44D7-B4F4-196857F12C1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97133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C906CE-9D24-4FA2-8B18-4834EB2E8C1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4199C5-D9EF-44E2-B1AC-26648D395086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05/21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288FCF-4FE5-4834-89CA-60C7C4542F23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residence_region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3088AF7-4404-421B-90F4-1281A200AACB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CD1072-8084-406E-B9CB-CE6BE808A7A6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거주 지역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F8D0EC-A2D6-4BD8-8FFE-1B94142C0917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residence_region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41E08CC2-E9D4-4959-9F35-CA6F48DC24F2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6C3631-89A1-45AD-8434-F2EA65333931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8C1DA0-00AB-473B-AA63-B237A07A2DB0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서울␠ · 경기 · 인천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68C29B-9140-46AB-B49B-E88CDB6FADA2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886F54-2F21-435C-A922-580E8083C7F0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9A3917-24B1-4DF0-9D1C-31BB4179273A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서울, Seoul, seoul, 뒤쪽 공백처럼 같은 지역이 여러 표기로 들어간 연습값이 있습니다.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B5DA493-D877-4230-A6E9-78AC7E1B554E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AAD05C-7758-4BDD-8C53-E869B996D9C3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5교시 표기 통일·지역별 집계 · 7교시 문자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6B86DC6A-9B2F-45FC-AE89-D7CFDC0681F8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97D5AE-467B-436A-A8A4-090013AD81F2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3DCA7B-53F9-44BE-BE9B-1B756C4EF72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43801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0BB6DF3A-60FE-4263-BDFA-4BEB5390AF9C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8B3A7E-8998-45C3-AA01-3D94CEA6944C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06/21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F1DD16-BEAF-4EF7-B1A1-022F8531E37F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occupation_type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DE9B131-681B-4F6D-BB24-5F5A3D7794CE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1B51B2-B94E-4297-B03E-3BE9AE8BD543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직업 유형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0E49BF-8274-415F-AB90-F96D9FE9FE52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occupation_type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5E0D2ACE-0512-48C4-A7BB-CBC2DF36AF47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3391A1-2E6B-4A7F-98F7-A69B50965C2D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3BFE6B-7E19-4F3A-9578-423531D1A0DE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대기업 · 금융 · 전문직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FAC6F7-16BE-429F-9415-18BA4E89BA45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D09007-BE05-4936-9CCF-03B393EFD808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08B421-5FDD-4F97-A8B7-0BCE9C57E998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직업명을 숫자 크기로 비교하지 않고 범주로 처리합니다.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BA543C2-5690-4CF5-ACB6-6D10954E4A8E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DC3312-C4D9-4ECA-8BA6-4F7EB7C88F24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5교시 값 종류 확인 · 7교시 문자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BD34C3D1-8AD9-4341-8088-65C2241B95B1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AD4D1F-CDDC-4584-AECE-4AC68D8E7906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9A4975-820A-4F39-8CFE-7ECDD5A3E8F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8157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424E3B-176E-4B1B-A463-F7258885D33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BBC5ED-B02E-4FFA-A4DD-E70EEE0A4A03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07/21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346780-C95A-40CC-9EB1-AD7B52277A46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annual_income_10k_krw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E2DDCC62-A053-4D42-9087-EA3B7CED4BDB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3A62D5-C269-49D2-84F0-930F92E34DDF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연소득, 단위 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B2D140-F1C5-4E8B-B652-29CE0320CC49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annual_income_10k_krw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CE9AEA1D-E24B-4587-87CD-A69D490FFC46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0E050E-5F58-49E9-9F24-276900BC26C4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71F1D2-8ED5-42A4-9B1A-43094D4DE58C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8000 · 6500 · 미입력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5EE8D6-3B5D-45F9-99C8-6C027DF59AD2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7750B9-0325-42E3-9061-6869C7052984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현재 object · 결측 6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A43273-ACA3-483F-A73C-FF714FC7A33D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숫자처럼 보여도 일부 문자열과 미입력이 섞여 있어 처음에는 object로 읽힙니다.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07009EE-A731-45E9-8F16-6624126B450B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CA8CA4-C1CA-458F-AF46-40FE153FC34D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dtype·결측 확인 · 5교시 숫자 변환 · 7교시 중앙값 대체·표준화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48A00178-3659-4A01-BCB8-2D1B1200500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DA93E3-B7CF-4CC6-9280-65EABDC8BE39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09B8108-4075-4A14-B89A-B10D630EED5C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23926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1AA1AB-698A-4AF4-A9FC-AE1255165436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64922E-107B-407F-B6EB-0E18D7B77389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08/21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9D1A10D-FB21-4715-A9A4-E7A50481F292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membership_tier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8F62736-55C0-4651-83B0-3493917085B5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007674-8FD3-4A9C-85B5-3B0896428C08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회원권 등급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2647FD-C213-480C-A519-AC14D7DF701F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membership_tier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71F14DE2-4547-4004-AD90-9CFB67ECE5BB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40095E-0DEE-4A1A-BD2A-B7303336D8DC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875AE-8AEB-4E29-879E-0D83C5396604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베이직 · 프리미엄 · VIP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9EB68A-DA5A-408B-BC81-2B93D09AFD6B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6EDE1A-39B1-4265-90AB-99C8A1D8F4F0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88EB3C-14A6-47E7-BC6E-CD3AF279FFD3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등급 이름은 숫자가 아니므로 평균 대신 개수·비율·그룹별 요약을 사용합니다.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A4A1D2C-B02A-4930-92CB-C87442B4F708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23CA4D-A662-4ACA-BD1A-F4899E69C140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5교시 필터·등급별 집계 · 7교시 문자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400186DB-79D5-4D45-9485-7774D9002BC5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DC9D21B-C865-46A0-BF86-486436E56174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B1E229B-4EC8-49B3-9626-C4F20103F40E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52711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4FF4FC-DC32-4712-9719-D8029DF372D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EC0AA3-DABA-4412-9256-A64904649B8E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09/21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92874D-9423-4612-8F39-AE7967E1C70B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signup_datetime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DC3D5651-6E89-4D85-A01A-2789744E6B67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DC74F6-357E-4313-A879-9763659AD0C4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가입 날짜와 시간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F2A0EB-E10F-47F1-AD6C-3CA9C5E374A1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signup_datetime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7C1A50BB-86CC-4DF9-8C34-CA69C92A4F38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DA957B-AC61-4C93-8611-D8599737BCA5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EFD548-58B3-4B9E-B1CF-7CFD7F825817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2025-02-07 20:53:00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EF3EFF-A137-4541-9BD4-49F2BC7CBECD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A027EC-4342-4E9D-81B7-B83547A3AE2F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현재 문자열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CD2CCB-2D93-4D64-96AA-C52F340507A2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처음에는 문자열이므로 날짜 계산 전에 pd.to_datetime으로 변환합니다. 잘못된 날짜 5개가 들어 있습니다.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BA46A3C-B275-4B2C-B6FF-8A0569510D65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A319B6-71BA-4365-BE88-F8240782EF35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datetime 변환·연도·월·가입 경과일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18429BFF-3348-4186-B3BC-751DE91905A2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5FEBF1-2F5D-4D0B-9E03-3CB0656A90C1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CD64D2-3081-4967-9CD8-435B06C8FAFE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95554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312AA7-FEC6-4B7D-B5DA-99902E83EF22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75F3A7-A1D0-41C8-BD42-706A1CB1CBD9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10/21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502D8D-04D2-4EB3-9293-EFF4384FF529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signup_channel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C6A1CC0-7D0C-412B-B81C-56D2C2B5728A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2CBFF0-D40C-40A8-A67F-C46B55F2D806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가입 경로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823658-D243-426E-9B2C-87F1985441AF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signup_channel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945D397C-D379-4847-9DFB-63F4A934561E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FB54DA-A3FF-4D6A-A822-2FE50FD552AF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7CEF22-E480-4882-9278-80C3B87694AB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검색광고 · SNS · 제휴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83CEC36-EC6D-432B-9D4F-808DFDB86F3A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ECFE76-DBF7-4939-9960-D713F8F200EF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5A03D5-CA06-4F88-8FE7-F001686F4207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채널 이름은 계산할 숫자가 아니라 그룹을 구분하는 범주입니다.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2369F9D-6162-43E2-B16A-11B9A1C81E6F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F819AD-C9E8-4023-A600-4BFDFED03250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값 확인 · 7교시 문자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2346DC5E-ACF0-4BAC-A1BF-C48779E680A1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850421-ABEA-4EB7-BE4F-91BE95D2198A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795501F-44AF-4F18-9469-0F3153D68C45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9903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8EDF1A-E416-4266-A47E-D5563422CFCB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4ADA97-154E-4508-BF71-C829496F7440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8CE2DF-9411-4B14-B697-65FB451D2FDE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profile_completion_rate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720EC296-6C6A-4917-AE1D-C9A55ABAF911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E368E7-A71A-4286-9FF9-53A03ADE4EB2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프로필 완성도, 단위 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6C9517-EEB3-4BFD-89EE-0D7910115098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profile_completion_rate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837FDDD6-49E8-493C-9622-4A9A9E55428D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9E9D96-B358-4B23-89CD-54F42498E5D6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F0F752-AFE8-485E-A655-99FE2FB154D4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65 · 84 · 82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84D0B5-9E20-4F9B-B540-FBB2C31E8BD3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BA140D-595E-4F7C-96B9-D60AAFF181B1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BDE9CC-B7E7-4E74-8077-350E335B43A8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85는 0.85가 아니라 85%입니다. 단위를 함께 읽어야 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88D01EE-BE22-4B06-AD12-6545EBA05B55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C0EA3C-561A-49F7-A936-694D6A16A2F9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describe · 7교시 숫자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F4A7165E-C28E-40CC-B5F6-9B28DDF530B1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91F0EA-9253-44EE-94C8-CA225915FABE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213A87-D080-4B4E-8E67-9D4E6CCFEA15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30067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F90E68-F68B-43BC-87A5-E2D31001BF1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9B0319-4A14-414E-97D1-88CE702D902F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12/21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0E33EB-5E0A-4021-98E6-CC2934AAA341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profile_status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E1B8A4C3-1679-4DCB-A504-418168FE620D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F1496B-D571-4573-83B9-1459C7A45667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프로필 작성 상태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63D573-DD37-454E-B8B4-4FE5CD97E1C3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profile_status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2F1F534A-0D50-4C8B-96A8-2B8B7AB42F53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7BAB4B-0998-4AE3-B2DF-1C80260D472A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EB9C86-8EF9-437B-B403-A679269C2486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완료 · 작성 중 · 미완료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DE601C-75BC-42DF-BE53-91EA4C340AE8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862AFB-8720-4D1B-94F0-7FFF52D930E6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84C99F-0736-4119-AC77-F19C2BE4CD78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profile_completion_rate와 관련 있지만 같은 열은 아닙니다. 하나는 숫자, 하나는 상태 이름입니다.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A2DF9AC-1C31-4E6E-96EB-8A113F405134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FD33EA-DBD8-498B-BE2A-94051782F2C7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값 확인 · 5교시 상태별 집계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50E4FB05-3DE0-48C3-BCF3-5CCA2EC11A1E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F90073-31AF-465F-8842-ADB2FEF7C957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E6417B-8C2F-41A1-BB83-7D8CBCC717FA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39916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8ECE0A-AE0A-4900-A89C-28D3936E340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F69E43-24BF-4CDC-8B22-5E957111EEB3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13/21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D37078-5380-4578-AC0D-D3561A669D3D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is_active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9C260D6A-A53B-4663-A537-47BFFB7718D9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FB1A05-4847-4452-95FD-0EC66E8C1EFB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현재 활성 회원 여부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1458C4-65A4-41A2-B59A-1EB1E5554A8C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is_active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D981FD7F-565E-4214-9A91-24C9F7769035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8C6998-1DE6-428F-9841-2A797240B4C0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6AD23B-0834-4A6F-8EA0-C987B50FEC42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True · False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2B8121-E821-43EC-B1D7-90BB93FFDC33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7BBDCF-3591-46CC-A760-79675145C3C2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불리언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F32B9F-AFFC-40FF-BEEB-5D03D8FD92DA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문자열 "True"가 아니라 참·거짓 값입니다. 활성의 업무 기준은 수업 데이터가 정한 규칙을 따릅니다.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77640C8-580E-41FB-88F8-10C9DF43E64D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9D1FAB-6DA4-46A6-8A5B-877D828D092B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5교시 활성 회원 조건 선택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E7DA5AD4-B542-4F92-96AB-0B7CBF71A1A0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184FDE-2EBC-417D-B338-3EBB71D23B0C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06E2EDB-98D8-4DF5-88A7-BD0DD7B13C7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39910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D689AD-83A9-40D7-8FA6-30D79437FAA8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1AC2A46-07CA-4F8A-BE5B-676690FE988D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14/21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A17DD2-2626-412B-92CC-F421BD358050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login_week1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F70D7A27-40E2-4CDC-9AB6-8840E884A212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B3C898-C4B3-4392-92E1-FDEF4FDFB29F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첫째 주 로그인 일수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EA679D-63DF-42C2-B795-B73D14ABF8BC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login_week1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65003EB6-C3F1-42F1-8CF1-DC9C4797AF6D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1E828B-1904-4CD3-9E86-AF38CE90A677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25882C-EE2D-4A47-96AF-6FCFD9CA4655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 · 1 · 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5006FA-A691-4D6D-A1FF-0F567D9E06B3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36B94C-0E74-45D4-B1C6-1A41360C9324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F74BC6-91F0-402E-B303-36356E3C29F5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로그인 횟수가 아니라 로그인한 날짜 수로 해석합니다.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C38C206-71EE-4851-ADCA-ABDE04AC4965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C39BCB-DB03-4D85-8CF3-8FD8105093BA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3교시 NumPy 첫 번째 열 · 5교시 4주 합계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A946342E-0D24-481E-8FC7-2C07C231F9C3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3BC56B-3311-4AF9-8D6E-9C27B388A074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A04841-FE76-458C-A3A1-C14999AE03B7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22047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D996E5-5069-4887-ADBA-7C578327C04B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123493-2194-4EDB-AF7D-BE4E36203489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15/21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4BC88C-9019-4B5A-BC94-135C618FD925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login_week2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207B35F3-B9DE-41CF-B70B-567E4E252608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717D56D-97AC-478B-9F9E-7D1601A5C89E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둘째 주 로그인 일수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4BB62D-8684-4896-8BD5-E6E06F65DD3E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login_week2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84F7AB62-8001-4F94-9CA7-4624EEA79BA3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53D72F-DE92-4C19-B23E-A99CE616FF9A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B3994-8965-4851-AAB8-089A62F43BB9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 · 0 · 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9B7CBB-B2C1-46B7-BD9E-7BE3282A05B4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9BD6A4-52D8-4E17-B037-201BDA18A4D6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974BE-E812-40CB-8A94-35C0ABE20FB9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네 로그인 열의 행 순서가 같아야 회원별 합계를 구할 수 있습니다.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D072602-8E4A-42C9-A060-E94E5FE6BBF1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6FF665-37B2-4691-B78D-A5AB47DD1E60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3교시 NumPy 두 번째 열 · 5교시 4주 합계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CA9B114B-8E90-42CB-8CD2-E941DE4FE74E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50AB8D-B240-4E34-B64E-30BB79267807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C4756A-E9BB-428D-9D86-D4C6079FA2D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20224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CA226B-62CA-4DB3-9228-CF2DC10D229E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8A4E607-C90E-4538-BE6E-43E3416FACD9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16/21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799D04-3976-4D3F-B3CE-541078B73FC6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login_week3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E9FB5A2B-99DB-4B90-BF78-07FF22DC5CCA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6EE91E-7EC7-4F73-B9C1-D3A24745F947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셋째 주 로그인 일수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322FAA-15EC-4B00-8BA1-21EB5A2CC26D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login_week3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4140EB5C-514A-4865-B2BC-8D07E768053E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889D83-0A5A-4ADF-9DE2-8FD5FF3D660C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62B612-2F7E-4BC0-8D97-ADF97039594E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 · 1 · 4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920EBD-6DA3-4966-8C93-7AD1FD9922EE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E5B82D-0B20-4EB5-84DC-A01B59AA7491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DBD708-E487-4D0C-94E6-96A1B2E12732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NumPy에서 login_matrix[:, 2]는 모든 회원의 셋째 주 값을 뜻합니다.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1D88949-2D2A-4804-A608-036C183AAC69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A25B9B-F453-4EBC-AF86-C7928A05B760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3교시 열 선택·축 이해 · 5교시 4주 합계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C4AAE6F7-CCCF-471A-AF6B-1FE77F47D233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562FC3-46E3-42CC-B09F-FDA08F1A0978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C0D760-3411-41A3-B2CB-D87367518A20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5443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51AE9C-944B-4DEB-BF71-5BE1C564FEA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D4F038-39BC-4353-94B5-C89D4142D1E3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17/21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B3AAC8-A324-4405-9448-A67F1A8AC0B5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login_week4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F0FB7C31-087D-4576-B6C0-8967546DB80C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AAE5D1-EEEC-4CE9-AEE3-0DD4BEE243F6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넷째 주 로그인 일수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A4BFED-85A6-47DB-B581-40F405DD25F5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login_week4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D6EE08D4-3255-402C-980B-EA0C4CA674F5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888101-0B04-483C-91E4-9E9BC2266ED3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F38453-CDCD-4FDD-8288-802BA15E40BC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 · 0 · 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375FCE-DF3A-4DBB-B6AF-323161C1BDEA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255735-5C34-45B9-92AC-FEEA99D3B3B2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9F2AD8-5540-458D-B4B4-8F2EA553E85A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네 열을 더할 때 axis=1을 사용해야 회원별 합계가 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DB4A6BC-0E82-4D3E-8F1D-EA6FD042ADFB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A9888D-E43D-4CB4-A4A7-7878A0CA80AB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3교시 NumPy 네 번째 열 · 5교시 4주 합계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F73D1F47-3A0D-4447-9120-D8FC1DADC738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CDBF09-C0A4-4540-9A23-C89D10024B97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7D0E61-1324-4DC4-BAB3-E00D18B2D98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79295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D12E52-1BF0-4D52-9474-CFB4167ECEB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3AC50E-6477-4B36-B555-B6AB88F2F0BA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18/21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0FEBD1-1A45-48A3-B493-D98ABE00364D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profile_views_30d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CD35684A-23D4-4AA2-98C4-EFB3E4D1E7A6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651B1C-E383-4970-85FB-B26F564A8D0B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최근 30일 프로필 조회 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A06FA5-C6BC-4065-9A3E-62550C42DA81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profile_views_30d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44EE371D-8CA7-44AA-AB5C-25083103B4C0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E16787-1679-49A8-BDC7-ED548D214CF6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559BE4-8195-4E1A-B84D-4710F80539D6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45 · 8 · 56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FF5255-EA87-414A-8FF8-2BE05A1FF8B9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723DC8-8230-4A05-B2AE-82E5EA3E3B7A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A51F06-20F5-44A1-8962-58274B56484D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큰 값이 보인다고 바로 삭제하지 않고 실제 활동인지 입력 오류인지 먼저 확인합니다.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7779B78-712E-4569-A8B8-20EB45E2E3C9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EF5DA8-2D40-4384-BFC9-06634FA9D983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범위·최댓값 확인 · 5교시 집계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6B9B4DC8-2018-446C-AF3B-EC783BA782C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76D860B-6F5A-4D6B-BD17-75BCC535B6D1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F03BDB-93FF-451A-833F-3F9E0905AD9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72023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C85675-A9DA-4874-9F39-7F4102B43D88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0DA905-1F55-4ADB-BD6B-DD3BFE9F260E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19/21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80A03-01DB-4B3F-B592-E77B214A8F32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recommendation_response_rate_prior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815E4B0B-40A0-4B25-A7B0-FCC5BB6A15B0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7D9E35-53A1-4D52-BD44-CE0030B95395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이전 추천 응답률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59D331-E015-4DB9-869F-038035BEF8D8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recommendation_response_rate_prior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FA1FE5F2-9E22-4E5C-8722-1EDC2A50C170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802A3E-C66C-4AA4-AA56-3EA2A00CDDF6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238D28-4C0B-48D7-914A-716F144A781E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0.46 · 0.18 · 0.66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C37876-4B89-4959-838F-A6F3FDD226BE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56A43B-D6BA-47B9-8C8A-657A6DB90FC4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실수 · 결측 9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A16ABD-E959-4AC8-AFA7-0A11F1775688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0.72는 72%입니다. 미입력 9개는 0%와 뜻이 다릅니다.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33C5CEB-E49E-4E21-82F1-AC58A33F1DCC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968AFA-8216-4D2F-97ED-FBE7C9CEDBF2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결측 확인 · 5교시 평균 집계 · 7교시 숫자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32BB6CAD-8127-4536-8608-2095877962ED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7AD625-1738-4C4A-81E8-0A98E8A63F90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040F10-236F-4988-B783-F4A9A4AA672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04293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042F5E-153A-4AA6-A71D-824D85A1F568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03F31D-5173-4253-872D-6B4E413FE9F4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20/21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8FBB06-D4F9-4651-8185-072652568E88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consultation_count_prior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C399F5B0-6A04-42E1-947A-8B5156723611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82F613-2499-4564-AD0B-570D7B156BBA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이전 상담 완료 횟수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FA71E5-051A-4BA8-872C-6B2BBECA63F4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consultation_count_prior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86BDB90F-8470-4AA2-9BAA-483231444C38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A04F07-971C-47C2-8830-A51A8F4A8D0F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3AFEE4-7CC0-4820-A695-F52B4137AEC7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 · 0 · 4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6F029B-22BD-4E04-8079-3FBE8C690C0B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3852DF-99CC-46A4-A632-CE8668AA4560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5ED7F6-DD49-46DE-BF61-E3577A82E4D5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0은 상담이 없었다는 값이며, 결측과 구분합니다.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E8E83DF-8BAB-462B-B8B7-E5FD02945388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9C0F50-E727-4011-8061-E27CAB8494C6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4교시 수치 확인 · 7교시 숫자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7000192C-92BB-4C55-96BD-5A1C7E857420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9BACC0-84F5-42EA-B636-6B2787E0FA9F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81EC02-7933-464A-B672-26DE25F82AFA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54378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DFBB39-E2E2-456F-A256-5F1DC5E8B6B8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1145BCC-7CB0-46B4-9FDF-1BC9DCBF0A7D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회원표 · 21/21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C11ED9-CEAF-46A3-A41D-3C48E4909AE3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meeting_scheduled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BAEB24FC-B136-4AC4-A316-0A22FAF7DC68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0DDFB0-5EA5-4B80-BA2B-00B213E2B8A8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만남 일정 예정 여부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FD822E-F189-4315-843E-BDA511C310FC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meeting_scheduled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95B968A8-C386-4355-BA9B-D37DF0211677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2B1344-DED1-402B-9DEC-A4902EE34F57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FC63A9-2C55-4C11-B94B-14612384B5A9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False · False · True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CF5198-1DAD-428E-BA84-BDB5531F213C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829921-328A-494A-B2C0-01F2C6C98AA4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불리언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F89D6B-5394-4403-BEFB-2C00E98C5B64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실제 만남 진행, 만족, 결혼 성공을 뜻하지 않습니다. 수업에서 예측할 정답 열입니다.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8DEB890-9758-4FD7-9496-29F92A8074CD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6B0B80-B050-48C5-AE6B-E3B0C9B8D698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정답 y로 분리 · train/test 비율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3F9C80DA-05DC-4789-BC14-5D4E7F6C2F1C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887FBC-E178-46F9-A316-D4A122135834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0A31CF-80BF-4FF7-BD54-4676C684A1BC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645653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66F558-D16D-4DC4-A4AB-B74699EA170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325028-6725-4E9B-B781-F4AB9D48BF0D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열 목록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EA99FE-A752-4D7C-8A70-2689E12F2720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선호조건표 17열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7F8AC075-6B27-4EB7-BCAD-FEE2BCFA8E3E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D94C07-E157-471F-AA9E-CE42922B0204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연결 기준  · member_id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201666-8DFF-42A9-B3E1-52B23D6DDD39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범위 조건  · 나이·키·최소 연소득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A1E24D-5DD9-4F05-BE13-2DC21C38DF7E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허용 조건  · 지역·종교·장거리·흡연·재혼·자녀·절대조건</a:t>
            </a:r>
          </a:p>
        </p:txBody>
      </p:sp>
      <p:sp>
        <p:nvSpPr>
          <p:cNvPr id="8" name="직선 연결선[R] 7">
            <a:extLst>
              <a:ext uri="{FF2B5EF4-FFF2-40B4-BE49-F238E27FC236}">
                <a16:creationId xmlns:a16="http://schemas.microsoft.com/office/drawing/2014/main" id="{6CBCA1BC-4626-4890-9BDD-4AF08D6C8A2B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E123F6-B964-4F46-BD2B-9CB3ED13A5F1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다음 17장은 선호조건표의 열을 실제 CSV 순서대로 한 장씩 설명합니다.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076439-CB76-4417-A6F8-137C5B3F4477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851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58C0A9-030D-4B2C-BEEB-7507A4558394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D0FC79-D37C-441C-852F-AA62DB85548D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01/17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F430AE-21E7-4D8A-8DE6-1E3A06CC7D34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member_id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EC5861DE-3C28-4C97-B713-D19810DA2A90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461CF8-38E1-4974-8D17-61CEB4844E3A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조건을 작성한 회원 ID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87AEA0-A766-4026-BB93-BD41F1E3206E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member_id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CCDF45F8-E163-469B-A66F-567675B7878B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2D4742-19AA-4F87-BDE9-DD71CF517DE0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0288C3-6B8B-4A97-BD24-2A3CA0CEBC5C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M001 · M002 · M003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F61666-7C38-4858-9F47-612833B7E1EA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DE562E-42E6-42FE-81D7-282DA0B581C6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525F7A-5A83-4953-8E3F-5D34D1E68E17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회원표의 member_id와 같은 값을 사용해야 정확히 연결됩니다.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EC65798-DDE8-49C7-AA4C-3A93CF67E6DB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F19167-DB22-4473-ABF1-42038EA1E323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회원표와 one-to-one 결합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880DF6CA-2012-4C47-BD7D-18F161CF1C18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21827D-755B-44C3-BC66-E01C4EAA3CAA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A13DEEC-EF82-4A68-9B34-71D774C1E5B4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12220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EAEE88-CF49-4FBC-8292-075E26FF90E7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C34450-3111-4107-A489-EF090F9E4CFE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02/17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D42183-4329-48B4-A1CB-D427448BF585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preferred_gender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757064C3-8B08-4392-9B65-D5407C51AE9C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5CCBD3-B80E-4741-8346-809BFC635E69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선호하는 상대 성별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214037-7C5C-45C2-B641-EB017A7A94EE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preferred_gender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5014BFD6-5A63-4229-8B5A-CDA5B8F5046D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52BCE3-DB0A-4134-9C69-A799AA43AF7F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2AA011-6A1E-44EC-A67A-88B535D08362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여성 · 남성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AE234B-3345-4754-8164-521E21BA7E31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41AB7A-954E-4A57-A455-5707B0B78854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69E135-4236-4112-9A81-5B1F47B28F4B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회원 본인의 gender와 다른 열입니다.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F4483F2-5FF3-49CD-A17C-F2765CD1ACA2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7CBF72-CD83-470E-83C5-C8D8216979AB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후 조건 의미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15FE8860-121B-42BC-AE7F-7F85A21EEE91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980EBA-A7FE-4839-9B28-64CB2C1DB38A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2CF57A-3861-4D4C-B20B-EB64FF92AF3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087175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AACE28-201A-4A81-96EB-8E01FAD6FC3C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11BCB8-0062-4EAF-8A88-298E02576196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03/17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D16E00C-5BB1-47DA-BF4C-6C3C766AF15D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pref_age_min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246C103F-ADC0-4A9B-960C-8C2E1B8F3064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A0B514-509F-44B6-9B74-9DECC029C260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 나이 최솟값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104793-4B31-4741-A0EF-2BD39793B804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pref_age_min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570DD085-09EF-4124-A022-E003BE3A2515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D608B4-6F69-4008-B30A-A1D20AE7BFA9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4848F2F-2D99-4FB6-8F64-3331A64E4305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28 · 33 · 30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835C8D-BBE8-4F9E-8951-EB6C587685D4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221B3F-3911-47D4-90D7-F0DE7CECE9E0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8CF4A2-C449-4BE1-B6D6-FCDC896B4C04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pref_age_max보다 크면 범위 오류입니다.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3D94E5D-4F81-4946-BCD2-5957359D9FFF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2EA45A-EAE9-44CB-ADFC-BE66FCEAD4C5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결합·범위 조건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EE08966E-57B8-49AD-A7B7-3B4FF5D6E7F3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8AB8CD-8299-41BA-8D01-FE60BD0B3BF0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413A9C-144B-4A32-81D1-DDDBAFA3A546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00270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9EDFC4-5C3B-4959-8848-8F97C386F49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7EEDB5-1D74-4476-AACF-5D442E70ED86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04/17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7FB95A-5C6D-46ED-8FE2-F583D7702636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pref_age_max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62A9EBED-F78F-4FB8-BF54-FB1A50B6798B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537516-4CA6-48CB-BEAB-096D1BC0F290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 나이 최댓값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64B5A8-1AB6-4818-B6F2-53A2A5818989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pref_age_max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A9112C3C-58A1-41A5-AD95-E00E45D1CC13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5E698E-58E3-4F07-A35C-DC7DC4ACB3FF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C7901F-33AC-44A9-A944-565AEBBF1789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44 · 41 · 40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C9B382-44D3-48D7-9D96-68F476AB511C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DF927C-2181-4849-A514-A3A9DA938DCA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EF451F-7A23-40D9-A426-915FF5DF4C8E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최솟값과 한 쌍으로 읽어야 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DF5C5A5-44C5-4B9E-B10F-87535B8B5EAB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B83409A-D0AD-4D42-81A7-E20181236B9E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결합·범위 조건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41EB67C0-1441-4143-A423-74E0E877B3EA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B7AAC7-E1C4-4816-98EF-D91D5C8A411D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3A9654-30C1-478B-B728-DF0A287716DA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806154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8E8B5D-D80C-4E69-9330-62FB45517E42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412657-C532-423C-8B43-8DFC06974802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05/17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ACE1C1D-7D16-467E-95D9-047C7A31BE74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pref_height_min_cm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8A4EB8CF-0840-4FDB-9DEE-23F290664B01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E2AB34-5CA8-487D-9EDC-885FE4B117D3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 키 최솟값, 단위 cm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1A8AC4-7A15-49F8-9EDB-C1A491B7E12F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pref_height_min_cm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BB32D6F3-5C4E-437A-B4C9-53A34C9EF633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8F4FA3-FAEF-45CE-BACD-1A089039E10B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B18A27-6B39-4615-8D9C-041523E0E846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159 · 173 · 157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DAAB4C-19E1-4887-8F94-8536D90CDC3A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F99DE3-9914-49B4-A6FA-F2DA53A307C3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5652E1-19E5-404F-BCAF-2DC42B724719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단위가 cm이며 최대값과의 순서를 확인합니다.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24EA55D6-D69B-4371-BA42-A91A7479FA06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186E54-4158-4CDD-B272-8C55D70B5B26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결합·범위 조건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B91C613B-0183-4828-A361-7C37FA1E9F70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DE6F61-2681-48A2-9C1B-D2BF132069F9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539FC4-3058-4918-BF25-08EDD7C7EB9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814964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1EB9C34-2B50-4D9B-BFF4-F73D556F7983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52B972-2AFE-442C-8D85-DFD3449D8230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06/17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EBA3DF-8689-4065-B178-B25BE0E3F9A7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pref_height_max_cm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9575F97E-8BF1-47BC-A225-C59626EB812C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95AD6E-CA51-4AA2-973D-AFFEF4609937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 키 최댓값, 단위 cm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D8DEE2-C963-4327-8804-769F35AC6C6D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pref_height_max_cm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F726A96A-BCC2-4EB0-B393-12CEE1F1BB35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3A0B2D-655B-42D8-99A9-7535012E1A14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1CD0FE1-1816-48B0-9517-1ADA5D4774AA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171 · 183 · 167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416B84-E54A-41ED-89F3-E98F6F740EB4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9B7B22-7804-4D31-B9D5-F8ECB43C379E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D0F33A-4FF9-4EE9-ACFE-E673904BD885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최솟값보다 작으면 입력 범위 오류입니다.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7DBE717-98B6-4730-92A6-AE3332F0A8E6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D3EE66-2479-490B-945B-91AA615BBD5F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결합·범위 조건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BD49CDAC-6E42-4D96-9B4A-82FCCD2B59F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04A45B-9A9C-4C86-96A5-DEB98BE7D44A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4DEDAB-8FD5-4BCA-9EF3-E58051A91296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314246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2216EB-1C04-44D5-9C16-48B8A7341A14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72397A-04E5-4A10-9DD2-4C161EFB33E4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07/17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A05290-28C2-43F6-BF2D-1EF2013A7CA3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pref_income_min_10k_krw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5A325A15-52D6-41F2-AEAB-2C27A4125031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5777A6-C758-4436-867D-B16BFA19E924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 상대 최소 연소득, 단위 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98A68F-A755-45DA-9336-CAA724E0EE72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pref_income_min_10k_krw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4617653B-6579-446D-8BCD-1D9ABEF4232B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7DF4E4-522B-4807-AC75-671440841DBB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7EEC4D-332C-42BA-AA8D-2F3846499F13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7400 · 6600 · 7700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A450A5-6C97-41D9-A5DF-D35D21E88A2C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FDC934-84E0-4F73-9EFA-355D98EB0665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실수 · 결측 5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30DB0B-5928-4C36-ACB6-70FB7E053105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본인의 annual_income_10k_krw와 다른 열이며, 미입력은 0원과 다릅니다.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6EEEDB7-A0E6-46F0-BE84-F6482A8DBA44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B2263-2125-483B-A99D-B65E01114CB1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· 7교시 숫자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4438DB9A-6256-4E59-9695-B5EF5CCD3D93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F4BDAB-7731-4EF0-A726-F0C94B3CBEC8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1D11CF3-D444-456C-971C-91F8C955F4B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17764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CA4E7A-A933-40A6-9874-8E2C156F0DE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801217-F20F-4DD8-A4B6-268641A0C3CA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08/17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6A9F96-39B7-4DA9-8C82-AA91BD529D47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pref_education_min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49AE8E9D-FF28-4ECE-8402-23CC493E1072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905D65-C21D-42E4-A49F-F47221F73B75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 상대 최소 학력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D89715-D363-4D1C-854A-48D2967858BD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pref_education_min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CC3F33CD-2495-4E11-80C6-F554BF008033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7C6DCC-D3E3-4878-BFE7-4B0550B1FE87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1D899E-8364-40E5-9746-471BC2E0898B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학사 · 전문학사 · 무관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5BDA8A-299E-4B6B-9047-546760F5CB4B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9C746D-0B5B-4577-B736-2B4DCA3474AB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77ABD7-8865-4E3E-A13D-D049402EF693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학력 순서를 숫자로 자동 해석하지 않습니다. 수업에서는 범주로 처리합니다.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A59899A-947A-44BE-9A55-F966F325CD80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ADC6AD-3599-47FC-BD12-1648F68A0779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· 7교시 문자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36C5121E-2C17-4218-AE89-0D59D3363345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6157F0-1BF9-47DC-879B-F7188A9DA70D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70D988-DEC3-48FB-8E95-46D230AB3B45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8744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28B7A4-4FA9-402D-B99B-3667F6B8A26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4E0626-9378-4D3C-9572-1BEA62F1241A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09/17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124342-5685-4807-8D41-DDAECAFA332A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preferred_regions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3174BE6C-50C2-47BF-A6E6-0125D2D51818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0906EE-1051-4731-B573-921F3E80D1EE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 지역 목록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8C40F6-BFC4-4950-A32B-7F2D70EB6010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preferred_regions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0597087B-BFBF-49CA-82B6-D565A4E47B0F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860F3C-1AC9-4A7A-9A67-750AE4FD3FD3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EA3EFD-AA14-4CBC-A309-31EBCF44A82C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서울|광주|경북|충북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B375E7-D1E2-4BF5-B1FF-EB5A34796BCA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EDE8A6-F6D1-4982-949F-65A857A4F45F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4BDD99-E32C-4EB0-AC09-C9C8D04C54DE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한 칸에 여러 값이 들어 있으므로 단일 지역 범주와 다르게 다뤄야 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AE26EC9-ADDD-4614-B585-205EA93AEE59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2ACF99-23AC-479B-82E7-019A07AD3CEF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후 여러 값이 든 문자열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75D03531-ED01-464A-A225-E974CA196641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3393D2-48F6-4938-BC42-09332AD9D9EA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F0F0CD-AA65-4A1D-89F1-A9658AD5D52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954331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8DD86F-F4CC-4BB4-B0A5-581FA0388BD8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9B9850-557E-4879-8EB3-9C13BA298684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10/17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842980-E340-4DC3-AE42-76F1F3EB499D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long_distance_ok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3F7E7CA7-C5E3-494D-A7F2-37072BF27CCE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418092-8933-4630-83C1-20D2B2BC32A9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장거리 만남 허용 여부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FD233A-516B-41D3-B5D1-49866DFA1522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long_distance_ok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6C5DF13F-5B79-42B9-894F-87704F01EA22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899BF7-49B7-4171-8D7E-44C96971ECC6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F4139B-2BA2-42C8-86FD-A432A0B2D43E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False · True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DCE4AAF-F97A-4F68-9AB3-0252ED8BAC62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320AE5-52CB-43C5-970B-77C7F7E97F08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불리언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0D5D4D-8A83-4BB7-AEFA-8CE9E99DFB4A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거리 km 자체가 아니라 허용 여부만 기록합니다.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95A0B1C-AB00-4F69-8C3E-2FD104083CF5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FD410B-0DC0-40F8-82CF-EFC78097F370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후 조건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B8686298-AC24-41D6-BED4-C00E72FD8888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3DC4D4-EDA5-4D26-A9F1-BA71E7E113B4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E1C6DF-8AF8-42F5-8054-4AB4ED6ECE61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320346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03CA45-17BB-450C-87D5-A600F751F158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0402D9-0703-482F-844F-42CD3CCF2334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11/17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8EAE48-EBBB-4814-BD44-DA2E980D9290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acceptable_religions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D923E41B-97DC-4872-B084-C85D98A88361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036397-5545-4E8E-9E98-7EF503BF396A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허용 종교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71E0E6-37AD-4742-84AB-902CC0FEC688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acceptable_religions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E17DFA87-6F53-4EB4-8CAE-4CBE6D29B265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369DA5-659F-49D1-971C-412E40B7ADA2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BD419C-6EE6-4168-8ABA-6A4CAB03B59B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무관 · 기독교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8DB85F-A7E3-4671-8A6F-0163E57118B7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DFC985-6ECA-4B69-86EC-A43E87330785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범주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C362C5-C8B7-433F-B28E-B89E679B9F08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무관은 결측이 아니라 제한하지 않는다는 실제 값입니다.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61E31F6-D56B-4A27-BD4F-9F00C34C3250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E1747B-184C-440A-BB3B-BC4AC00352EF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후 조건 의미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CE4C09B5-A500-430E-AA2C-067C7D26F63B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E97D27-B66C-46C4-BE4D-C860EE80C25E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4CF8FB-B6EE-4A8F-BB89-AF00B154BAA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643554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80C8CF-029A-409D-8AE2-2FD42605C97D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768F68-E131-43D8-9CB9-289E861C0E36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12/17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D4CF92-0291-4B93-9C72-F1D7A0A19EA5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smoking_ok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2D38A5E2-E9A1-4180-803F-12BF37C21F68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97ED3B-1BA8-4883-9285-F9BD5B3A2DEC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흡연 상대 허용 여부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C17A1A-F8A1-4530-A359-D3DC8034B7FD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smoking_ok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E9B8BF81-A949-4B9E-87C3-07FD48186E08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1E4904-3218-47BD-8BE4-E9BDBBDC2FD3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3EFE9E-1B1D-4D42-8468-129E48A5024D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True · False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5E0B59-47FC-4E2E-AF5F-58523D838A89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B4D8CA-411B-4951-AC4F-D8F09900FD44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불리언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CB59CFE-4CF7-41E1-83BA-CA4A37D366F2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회원 본인의 흡연 여부가 아니라 상대 조건입니다.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CAF27DD-1FFA-46D6-823E-00C7B7603C54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C4A9E8-50D9-4C62-A7AD-6778D6DCC168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후 조건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463BA5CA-1D44-44CC-A0FB-22642F186FFE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7E95F9-36EE-47F5-8A57-A9E5E43081BE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7E0659A-D6FF-491A-B130-313A33F5F2FA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333509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CB07549-E134-4D20-9AED-BC9146163A02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D66761-FF12-433B-8E84-E1A778792DD3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13/17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35E803-B88D-41EB-9090-46624B14D0DE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remarriage_ok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31413914-5A07-4A8F-A1C0-C2B3C9A12266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11FF83-E39C-42AE-B896-97C738B8636D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재혼 상대 허용 여부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448937-4308-438F-880A-0DBC2975889B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remarriage_ok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83E9041C-F229-4083-B644-89EE50B408E5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44C0B9-23EA-4B8A-8A5B-74A89E281E38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DF482E-EA6D-4F89-B774-4250D9D917C3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False · True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B4DF94-3ED3-436C-93A1-692331BE7772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A8F20D-81B6-4E56-A749-E6FC8CD6C855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불리언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C36F02-E5DE-4C55-8B51-0B0265A1D4FB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개인을 평가하는 점수가 아니라 회원이 입력한 조건입니다.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2B086BE-A17D-4F12-A06F-90D1A01AE1B2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25CCBA-AD7B-4FD1-8060-2ECECFA0489D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후 조건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42E875E7-3A0D-45AC-9F32-8993AB1A8CB7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217330-D7A8-4E52-813C-AD67D60E126C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C243817-B4A2-4EBA-AB18-2F36B36B082E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1785212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24A485-1001-4FA1-BE5C-4F1221A2DF0B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50FDF4-0DE0-408F-A5BA-871CF16AF171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14/17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F32319-B94E-4E74-9F5C-9D225F5AD63B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children_ok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15F9AA78-CEAC-4AD3-895D-6A805EE2E82C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79AFCC-8A34-48AF-BF66-4869F600298F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자녀가 있는 상대 허용 여부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8BCDC5-3A95-40FA-BD2A-969F05099E59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children_ok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0BE03BFF-A0B9-4D35-86A1-8FE38650E1C1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7512B-0675-448E-8975-2EE4EDE97791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5399BB-229A-457E-B808-9A018A199338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True · False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1A74AB-A705-46EF-8610-F1DD28493D3F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A3C53C-503F-41E5-925B-D42B630728B5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불리언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C358E9-E27B-4061-9DD5-496B3250030A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자녀 수가 아니라 허용 여부만 나타냅니다.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8DC1A30-6518-4463-9AEE-BAB209303527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46F452-A5BA-479E-BA14-842A4FE8F0B5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후 조건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A9CCD7F7-E1E6-44AC-8B1B-8198FD14FCBE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670C83-A1D7-45BA-8CF8-3D0613988FA8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E891B8-1FE7-4B5C-B72D-25A988C7E9CF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5159130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B008307-7957-4C9B-ABA8-6C71611FBD63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6C961B-378F-422B-B44D-BD10E38D0CB4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15/17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0D6307-0A15-4895-A55F-0E079028F6FC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deal_breakers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FC8E6E2E-2760-493A-B709-42F072F579B0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5A0139-E9BA-41F8-8CB5-D10785D1D2F3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절대 피하고 싶은 조건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E020F9-9CB8-45F1-B539-53CE2483A056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deal_breakers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CA497DCE-3516-4FF7-B290-B765BAEC04AD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E64212D-A83E-4A01-A6C0-AF85FB541666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A7E7D5-105E-4033-AF87-9552A8F62B3F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흡연 · 재혼 · 흡연|장거리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A2156B-D83A-4732-B68A-8BC98D5A85A4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6E620D-098D-4D8C-A3CE-8067CC8B5D12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문자열 · 결측 397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3539B3-7DD9-4F0B-9FFD-A4762E33AF3E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빈칸은 입력하지 않았다는 뜻입니다. 여러 조건은 |로 연결되어 있습니다.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C8503AD-0FAB-4C4F-AE72-DEEC383912CE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6410FD-32E7-4A9F-9C7A-9F6A4BA42C08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· 7교시 최빈값 대체·인코딩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9A7CB2EE-7C9A-43B0-A361-0307F8145F0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1FBC64-2960-4DEC-9F8B-AAC7F58A4B75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5DBAC2-C306-49D6-BB7A-3E9646B4912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14474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5C309E-28C3-4FF8-816D-E6FBDD046880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105F8AB-7936-4C70-9218-4E45B0701D13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16/17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4BF179-8E66-439A-9627-F8503E6BFC86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preference_strictness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00C6425B-2F6C-4047-8693-966B4E8D8873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C24EFE-1FF5-4C3A-A045-FA09B3C0C63A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선호조건 엄격도, 1~5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9E2CAB-DA8E-45D0-9DB6-5005913EAA94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preference_strictness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6475DC1D-BBD9-4800-B580-2F171501F5E6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DCC2D0-34A1-4BFF-8166-D58ED272DE5C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C76365-758B-4D64-ABA4-8F09EF3E18C1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 · 4 · 5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04CAF4D-5806-4D1C-AA36-725CAF58BA99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F0C318-2692-4F9F-9DDD-E89F6C266E60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정수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F8476F-CE72-4CB7-A4E9-0AEE1BAEC6A6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1과 5의 의미가 정해진 범위 안에 있는지 먼저 확인합니다.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6C70159-19EE-41EB-A205-FF18D1F49455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746F1A-2280-409B-86AA-505AA53D4A6E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· 7교시 숫자 전처리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1678DEF9-CCC0-494F-B277-C81DC608F1B5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7E6993-091A-43AC-B397-0821A0583F7C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E3982A-CD7D-40FC-8F50-5895A38DA4B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6091608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38EA3B-2CEE-41F8-8767-E0C7BE98AF64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69E7D0-2580-4242-A0AB-A696CCDA1865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선호조건표 · 17/17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78923E-61DB-451B-9235-BFC947110A4F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preference_updated_at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B221665A-7D40-4880-A8E7-A792D9F83646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C4A9F8-7FB2-4D91-ACA0-8694A1FE302C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선호조건 마지막 변경 일시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814677-EB00-4A59-A3F7-9B29F5DBEA1B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448AFF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448AFF"/>
                </a:solidFill>
                <a:latin typeface="Menlo"/>
                <a:ea typeface="Menlo"/>
                <a:cs typeface="Menlo"/>
              </a:rPr>
              <a:t>preference_updated_at</a:t>
            </a:r>
          </a:p>
        </p:txBody>
      </p:sp>
      <p:sp>
        <p:nvSpPr>
          <p:cNvPr id="7" name="직선 연결선[R] 6">
            <a:extLst>
              <a:ext uri="{FF2B5EF4-FFF2-40B4-BE49-F238E27FC236}">
                <a16:creationId xmlns:a16="http://schemas.microsoft.com/office/drawing/2014/main" id="{58999D1A-9E7C-404A-AB32-B06688602B97}"/>
              </a:ext>
            </a:extLst>
          </p:cNvPr>
          <p:cNvSpPr>
            <a:spLocks noGrp="1"/>
          </p:cNvSpPr>
          <p:nvPr/>
        </p:nvSpPr>
        <p:spPr>
          <a:xfrm>
            <a:off x="571500" y="3000375"/>
            <a:ext cx="110490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D3F21B-C639-4D9D-AF88-1ED7726F99CB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실제 값의 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F7E491-BA1B-4642-93A8-7F83F846A48D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5000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2026-03-22 10:50:00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50675F-18BD-4E9B-8E11-AC59F930CABA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현재 저장 모습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58CCA35-39F5-4A03-BE7C-813E25914A03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현재 문자열 · 결측 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1F8584-7388-4B84-8E3B-5D16D083F8D7}"/>
              </a:ext>
            </a:extLst>
          </p:cNvPr>
          <p:cNvSpPr>
            <a:spLocks noGrp="1"/>
          </p:cNvSpPr>
          <p:nvPr/>
        </p:nvSpPr>
        <p:spPr>
          <a:xfrm>
            <a:off x="6191250" y="4257675"/>
            <a:ext cx="504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날짜 계산이 필요하면 datetime으로 변환해야 합니다.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EBB3FF1-2F95-4C0D-A4B7-A9EF05AB5E73}"/>
              </a:ext>
            </a:extLst>
          </p:cNvPr>
          <p:cNvSpPr>
            <a:spLocks noGrp="1"/>
          </p:cNvSpPr>
          <p:nvPr/>
        </p:nvSpPr>
        <p:spPr>
          <a:xfrm>
            <a:off x="571500" y="52959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E8F5EF"/>
          </a:solidFill>
          <a:ln w="9525">
            <a:solidFill>
              <a:srgbClr val="0B8A5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D3E34E-7E87-436E-8DF6-1C389DDF4878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1057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수업에서 사용: 6교시 결합 후 날짜 열 확인</a:t>
            </a:r>
          </a:p>
        </p:txBody>
      </p:sp>
      <p:sp>
        <p:nvSpPr>
          <p:cNvPr id="15" name="직선 연결선[R] 14">
            <a:extLst>
              <a:ext uri="{FF2B5EF4-FFF2-40B4-BE49-F238E27FC236}">
                <a16:creationId xmlns:a16="http://schemas.microsoft.com/office/drawing/2014/main" id="{60F0F763-6EDC-4EBA-949D-B9F6568A2E39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2067FB-8503-4B4D-82B0-8A3D23961F16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이름은 코드에서 그대로 사용하고, 한국어 뜻은 데이터의 의미를 확인할 때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41BBA77-CCFB-4402-94EA-F1C06C7453B9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2205627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BA45B4-E8C6-497F-809D-59399C3A9FF7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PYTHON DATA · WEEK 1 · DATA GUIDE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0DE9CA-C668-47BC-A2B0-23B642FE3C17}"/>
              </a:ext>
            </a:extLst>
          </p:cNvPr>
          <p:cNvSpPr>
            <a:spLocks noGrp="1"/>
          </p:cNvSpPr>
          <p:nvPr/>
        </p:nvSpPr>
        <p:spPr>
          <a:xfrm>
            <a:off x="8620125" y="22860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8A5B"/>
                </a:solidFill>
                <a:latin typeface="Apple SD Gothic Neo"/>
                <a:ea typeface="Apple SD Gothic Neo"/>
                <a:cs typeface="Apple SD Gothic Neo"/>
              </a:rPr>
              <a:t>마무리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043DC9-5437-4A95-803B-C64E94B62411}"/>
              </a:ext>
            </a:extLst>
          </p:cNvPr>
          <p:cNvSpPr>
            <a:spLocks noGrp="1"/>
          </p:cNvSpPr>
          <p:nvPr/>
        </p:nvSpPr>
        <p:spPr>
          <a:xfrm>
            <a:off x="419100" y="657225"/>
            <a:ext cx="1133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1151B"/>
                </a:solidFill>
                <a:latin typeface="Apple SD Gothic Neo"/>
                <a:ea typeface="Apple SD Gothic Neo"/>
                <a:cs typeface="Apple SD Gothic Neo"/>
              </a:rPr>
              <a:t>열을 만났을 때 확인할 네 가지</a:t>
            </a:r>
          </a:p>
        </p:txBody>
      </p:sp>
      <p:sp>
        <p:nvSpPr>
          <p:cNvPr id="4" name="직선 연결선[R] 3">
            <a:extLst>
              <a:ext uri="{FF2B5EF4-FFF2-40B4-BE49-F238E27FC236}">
                <a16:creationId xmlns:a16="http://schemas.microsoft.com/office/drawing/2014/main" id="{EC6A6655-D477-445C-8304-9B59637D18D0}"/>
              </a:ext>
            </a:extLst>
          </p:cNvPr>
          <p:cNvSpPr>
            <a:spLocks noGrp="1"/>
          </p:cNvSpPr>
          <p:nvPr/>
        </p:nvSpPr>
        <p:spPr>
          <a:xfrm>
            <a:off x="419100" y="1438275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5E8368-30C7-4F94-BA42-821975862079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1. 이 값은 누구의 무엇을 뜻하는가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52AFF7-6E35-4D34-B5BA-25D795228002}"/>
              </a:ext>
            </a:extLst>
          </p:cNvPr>
          <p:cNvSpPr>
            <a:spLocks noGrp="1"/>
          </p:cNvSpPr>
          <p:nvPr/>
        </p:nvSpPr>
        <p:spPr>
          <a:xfrm>
            <a:off x="571500" y="26003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2. 숫자·문자·날짜·참거짓 중 어떤 종류인가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B4E50E-AE28-43B0-989A-E90A0D3ABAA9}"/>
              </a:ext>
            </a:extLst>
          </p:cNvPr>
          <p:cNvSpPr>
            <a:spLocks noGrp="1"/>
          </p:cNvSpPr>
          <p:nvPr/>
        </p:nvSpPr>
        <p:spPr>
          <a:xfrm>
            <a:off x="571500" y="32480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3. 결측·중복·표기 차이가 있는가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F5DF23-136C-46C5-B84F-4E1F29DBE26F}"/>
              </a:ext>
            </a:extLst>
          </p:cNvPr>
          <p:cNvSpPr>
            <a:spLocks noGrp="1"/>
          </p:cNvSpPr>
          <p:nvPr/>
        </p:nvSpPr>
        <p:spPr>
          <a:xfrm>
            <a:off x="571500" y="3895725"/>
            <a:ext cx="11049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4. 어느 교시의 어떤 코드에서 사용하는가</a:t>
            </a:r>
          </a:p>
        </p:txBody>
      </p:sp>
      <p:sp>
        <p:nvSpPr>
          <p:cNvPr id="9" name="직선 연결선[R] 8">
            <a:extLst>
              <a:ext uri="{FF2B5EF4-FFF2-40B4-BE49-F238E27FC236}">
                <a16:creationId xmlns:a16="http://schemas.microsoft.com/office/drawing/2014/main" id="{6BFBCE85-7FB0-4C83-A8FB-7D8812DF78C4}"/>
              </a:ext>
            </a:extLst>
          </p:cNvPr>
          <p:cNvSpPr>
            <a:spLocks noGrp="1"/>
          </p:cNvSpPr>
          <p:nvPr/>
        </p:nvSpPr>
        <p:spPr>
          <a:xfrm>
            <a:off x="419100" y="6191250"/>
            <a:ext cx="11353800" cy="0"/>
          </a:xfrm>
          <a:prstGeom prst="line">
            <a:avLst/>
          </a:prstGeom>
          <a:noFill/>
          <a:ln w="9525">
            <a:solidFill>
              <a:srgbClr val="D6DE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7CE06B-161A-4F78-B081-12DAF570FF01}"/>
              </a:ext>
            </a:extLst>
          </p:cNvPr>
          <p:cNvSpPr>
            <a:spLocks noGrp="1"/>
          </p:cNvSpPr>
          <p:nvPr/>
        </p:nvSpPr>
        <p:spPr>
          <a:xfrm>
            <a:off x="419100" y="6381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열 이름을 외우기보다 값의 뜻과 처리 목적을 연결합니다.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356E53-37CC-4782-9D6B-CB6775F6D76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080"/>
                </a:solidFill>
                <a:latin typeface="Apple SD Gothic Neo"/>
                <a:ea typeface="Apple SD Gothic Neo"/>
                <a:cs typeface="Apple SD Gothic Neo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1026774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DE5BF60-1B2E-916C-41A5-9E59D177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738476"/>
            <a:ext cx="11589415" cy="504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064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10819</Words>
  <Application>Microsoft Macintosh PowerPoint</Application>
  <DocSecurity>0</DocSecurity>
  <PresentationFormat>와이드스크린</PresentationFormat>
  <Paragraphs>1539</Paragraphs>
  <Slides>50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Apple SD Gothic Neo</vt:lpstr>
      <vt:lpstr>Calibri</vt:lpstr>
      <vt:lpstr>Menlo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김윤이</cp:lastModifiedBy>
  <cp:revision>2</cp:revision>
  <dcterms:created xsi:type="dcterms:W3CDTF">2026-09-19T06:03:02Z</dcterms:created>
  <dcterms:modified xsi:type="dcterms:W3CDTF">2026-09-21T03:32:40Z</dcterms:modified>
</cp:coreProperties>
</file>